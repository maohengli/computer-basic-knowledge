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8" r:id="rId3"/>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B57866A-81D8-435D-A157-3367722211F8}" type="doc">
      <dgm:prSet loTypeId="urn:microsoft.com/office/officeart/2005/8/layout/vList2" loCatId="list" qsTypeId="urn:microsoft.com/office/officeart/2005/8/quickstyle/simple5" qsCatId="simple" csTypeId="urn:microsoft.com/office/officeart/2005/8/colors/accent1_2" csCatId="accent1"/>
      <dgm:spPr/>
      <dgm:t>
        <a:bodyPr/>
        <a:lstStyle/>
        <a:p>
          <a:endParaRPr lang="zh-CN" altLang="en-US"/>
        </a:p>
      </dgm:t>
    </dgm:pt>
    <dgm:pt modelId="{F0192AC8-43E3-4FF5-BF2A-87982BAF281B}">
      <dgm:prSet/>
      <dgm:spPr/>
      <dgm:t>
        <a:bodyPr/>
        <a:lstStyle/>
        <a:p>
          <a:pPr rtl="0"/>
          <a:r>
            <a:rPr lang="zh-CN" b="1" baseline="0" dirty="0" smtClean="0"/>
            <a:t>计算机应用基础</a:t>
          </a:r>
          <a:endParaRPr lang="zh-CN" b="1" baseline="0" dirty="0"/>
        </a:p>
      </dgm:t>
    </dgm:pt>
    <dgm:pt modelId="{C4E4E130-DCB0-428A-9FE5-22BBBE910632}" cxnId="{5429AF45-1512-4598-A42E-4AC4E8485839}" type="parTrans">
      <dgm:prSet/>
      <dgm:spPr/>
      <dgm:t>
        <a:bodyPr/>
        <a:lstStyle/>
        <a:p>
          <a:endParaRPr lang="zh-CN" altLang="en-US"/>
        </a:p>
      </dgm:t>
    </dgm:pt>
    <dgm:pt modelId="{1BC3EF03-A09B-4381-B408-FE7B1882FC32}" cxnId="{5429AF45-1512-4598-A42E-4AC4E8485839}" type="sibTrans">
      <dgm:prSet/>
      <dgm:spPr/>
      <dgm:t>
        <a:bodyPr/>
        <a:lstStyle/>
        <a:p>
          <a:endParaRPr lang="zh-CN" altLang="en-US"/>
        </a:p>
      </dgm:t>
    </dgm:pt>
    <dgm:pt modelId="{6F362D5F-0BCD-44B4-A7B1-B3D64175853D}" type="pres">
      <dgm:prSet presAssocID="{1B57866A-81D8-435D-A157-3367722211F8}" presName="linear" presStyleCnt="0">
        <dgm:presLayoutVars>
          <dgm:animLvl val="lvl"/>
          <dgm:resizeHandles val="exact"/>
        </dgm:presLayoutVars>
      </dgm:prSet>
      <dgm:spPr/>
      <dgm:t>
        <a:bodyPr/>
        <a:lstStyle/>
        <a:p>
          <a:endParaRPr lang="zh-CN" altLang="en-US"/>
        </a:p>
      </dgm:t>
    </dgm:pt>
    <dgm:pt modelId="{97527EBF-0E0A-4225-BED5-15810BA395FC}" type="pres">
      <dgm:prSet presAssocID="{F0192AC8-43E3-4FF5-BF2A-87982BAF281B}" presName="parentText" presStyleLbl="node1" presStyleIdx="0" presStyleCnt="1">
        <dgm:presLayoutVars>
          <dgm:chMax val="0"/>
          <dgm:bulletEnabled val="1"/>
        </dgm:presLayoutVars>
      </dgm:prSet>
      <dgm:spPr/>
      <dgm:t>
        <a:bodyPr/>
        <a:lstStyle/>
        <a:p>
          <a:endParaRPr lang="zh-CN" altLang="en-US"/>
        </a:p>
      </dgm:t>
    </dgm:pt>
  </dgm:ptLst>
  <dgm:cxnLst>
    <dgm:cxn modelId="{DF225CA3-4BE6-4838-BD2C-E27B259528E6}" type="presOf" srcId="{1B57866A-81D8-435D-A157-3367722211F8}" destId="{6F362D5F-0BCD-44B4-A7B1-B3D64175853D}" srcOrd="0" destOrd="0" presId="urn:microsoft.com/office/officeart/2005/8/layout/vList2"/>
    <dgm:cxn modelId="{5429AF45-1512-4598-A42E-4AC4E8485839}" srcId="{1B57866A-81D8-435D-A157-3367722211F8}" destId="{F0192AC8-43E3-4FF5-BF2A-87982BAF281B}" srcOrd="0" destOrd="0" parTransId="{C4E4E130-DCB0-428A-9FE5-22BBBE910632}" sibTransId="{1BC3EF03-A09B-4381-B408-FE7B1882FC32}"/>
    <dgm:cxn modelId="{F164CD36-7D63-4D81-8FA8-91497452450D}" type="presOf" srcId="{F0192AC8-43E3-4FF5-BF2A-87982BAF281B}" destId="{97527EBF-0E0A-4225-BED5-15810BA395FC}" srcOrd="0" destOrd="0" presId="urn:microsoft.com/office/officeart/2005/8/layout/vList2"/>
    <dgm:cxn modelId="{500DE62B-56FB-4020-BAC1-0C1105E5CE35}" type="presParOf" srcId="{6F362D5F-0BCD-44B4-A7B1-B3D64175853D}" destId="{97527EBF-0E0A-4225-BED5-15810BA395FC}"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9AAF1A2-0432-47C5-BC99-CD7BDACA04AD}"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zh-CN" altLang="en-US"/>
        </a:p>
      </dgm:t>
    </dgm:pt>
    <dgm:pt modelId="{731B419C-900E-452C-8493-0F251BA93CC4}">
      <dgm:prSet custT="1"/>
      <dgm:spPr/>
      <dgm:t>
        <a:bodyPr/>
        <a:lstStyle/>
        <a:p>
          <a:pPr algn="l" rtl="0"/>
          <a:r>
            <a:rPr lang="en-US" altLang="zh-CN" sz="1600" dirty="0" smtClean="0">
              <a:solidFill>
                <a:schemeClr val="bg1"/>
              </a:solidFill>
            </a:rPr>
            <a:t>    </a:t>
          </a:r>
          <a:r>
            <a:rPr lang="zh-CN" sz="1600" dirty="0" smtClean="0">
              <a:solidFill>
                <a:schemeClr val="bg1"/>
              </a:solidFill>
            </a:rPr>
            <a:t>计算机安全是指计算机系统的硬件、软件、数据受到保护</a:t>
          </a:r>
          <a:r>
            <a:rPr lang="en-US" sz="1600" dirty="0" smtClean="0">
              <a:solidFill>
                <a:schemeClr val="bg1"/>
              </a:solidFill>
            </a:rPr>
            <a:t>,</a:t>
          </a:r>
          <a:r>
            <a:rPr lang="zh-CN" sz="1600" dirty="0" smtClean="0">
              <a:solidFill>
                <a:schemeClr val="bg1"/>
              </a:solidFill>
            </a:rPr>
            <a:t>即计算机信息系统资源和信息资源不受自然和人为等因素的威胁和危害</a:t>
          </a:r>
          <a:r>
            <a:rPr lang="en-US" sz="1600" dirty="0" smtClean="0">
              <a:solidFill>
                <a:schemeClr val="bg1"/>
              </a:solidFill>
            </a:rPr>
            <a:t>,</a:t>
          </a:r>
          <a:r>
            <a:rPr lang="zh-CN" sz="1600" dirty="0" smtClean="0">
              <a:solidFill>
                <a:schemeClr val="bg1"/>
              </a:solidFill>
            </a:rPr>
            <a:t>不因意外的因素而遭到破坏、更改、泄露</a:t>
          </a:r>
          <a:r>
            <a:rPr lang="en-US" sz="1600" dirty="0" smtClean="0">
              <a:solidFill>
                <a:schemeClr val="bg1"/>
              </a:solidFill>
            </a:rPr>
            <a:t>,</a:t>
          </a:r>
          <a:r>
            <a:rPr lang="zh-CN" sz="1600" dirty="0" smtClean="0">
              <a:solidFill>
                <a:schemeClr val="bg1"/>
              </a:solidFill>
            </a:rPr>
            <a:t>系统能够连续正常运行。</a:t>
          </a:r>
          <a:endParaRPr lang="zh-CN" sz="1600" dirty="0">
            <a:solidFill>
              <a:schemeClr val="bg1"/>
            </a:solidFill>
          </a:endParaRPr>
        </a:p>
      </dgm:t>
    </dgm:pt>
    <dgm:pt modelId="{06AC0E33-6E62-496E-9E25-E7C3627AB79A}" cxnId="{0AECCD99-0CFC-465A-98F0-2EB0099FE279}" type="parTrans">
      <dgm:prSet/>
      <dgm:spPr/>
      <dgm:t>
        <a:bodyPr/>
        <a:lstStyle/>
        <a:p>
          <a:endParaRPr lang="zh-CN" altLang="en-US" sz="1400"/>
        </a:p>
      </dgm:t>
    </dgm:pt>
    <dgm:pt modelId="{D551A107-AEE7-4296-97E1-C2C6429A5B35}" cxnId="{0AECCD99-0CFC-465A-98F0-2EB0099FE279}" type="sibTrans">
      <dgm:prSet/>
      <dgm:spPr/>
      <dgm:t>
        <a:bodyPr/>
        <a:lstStyle/>
        <a:p>
          <a:endParaRPr lang="zh-CN" altLang="en-US" sz="1400"/>
        </a:p>
      </dgm:t>
    </dgm:pt>
    <dgm:pt modelId="{B448617A-3844-4D0E-A22F-7FE46D56CD38}" type="pres">
      <dgm:prSet presAssocID="{B9AAF1A2-0432-47C5-BC99-CD7BDACA04AD}" presName="linear" presStyleCnt="0">
        <dgm:presLayoutVars>
          <dgm:animLvl val="lvl"/>
          <dgm:resizeHandles val="exact"/>
        </dgm:presLayoutVars>
      </dgm:prSet>
      <dgm:spPr/>
      <dgm:t>
        <a:bodyPr/>
        <a:lstStyle/>
        <a:p>
          <a:endParaRPr lang="zh-CN" altLang="en-US"/>
        </a:p>
      </dgm:t>
    </dgm:pt>
    <dgm:pt modelId="{191C1678-3C4B-4B53-8B66-338AE857ECE5}" type="pres">
      <dgm:prSet presAssocID="{731B419C-900E-452C-8493-0F251BA93CC4}" presName="parentText" presStyleLbl="node1" presStyleIdx="0" presStyleCnt="1">
        <dgm:presLayoutVars>
          <dgm:chMax val="0"/>
          <dgm:bulletEnabled val="1"/>
        </dgm:presLayoutVars>
      </dgm:prSet>
      <dgm:spPr/>
      <dgm:t>
        <a:bodyPr/>
        <a:lstStyle/>
        <a:p>
          <a:endParaRPr lang="zh-CN" altLang="en-US"/>
        </a:p>
      </dgm:t>
    </dgm:pt>
  </dgm:ptLst>
  <dgm:cxnLst>
    <dgm:cxn modelId="{8E46F532-40A9-45DA-8D2C-CB3D44F888CE}" type="presOf" srcId="{731B419C-900E-452C-8493-0F251BA93CC4}" destId="{191C1678-3C4B-4B53-8B66-338AE857ECE5}" srcOrd="0" destOrd="0" presId="urn:microsoft.com/office/officeart/2005/8/layout/vList2"/>
    <dgm:cxn modelId="{A1A0FE59-B920-43A0-9A3D-36E64B046A61}" type="presOf" srcId="{B9AAF1A2-0432-47C5-BC99-CD7BDACA04AD}" destId="{B448617A-3844-4D0E-A22F-7FE46D56CD38}" srcOrd="0" destOrd="0" presId="urn:microsoft.com/office/officeart/2005/8/layout/vList2"/>
    <dgm:cxn modelId="{0AECCD99-0CFC-465A-98F0-2EB0099FE279}" srcId="{B9AAF1A2-0432-47C5-BC99-CD7BDACA04AD}" destId="{731B419C-900E-452C-8493-0F251BA93CC4}" srcOrd="0" destOrd="0" parTransId="{06AC0E33-6E62-496E-9E25-E7C3627AB79A}" sibTransId="{D551A107-AEE7-4296-97E1-C2C6429A5B35}"/>
    <dgm:cxn modelId="{84E297AE-69E0-45E5-8D27-7E25EB922B24}" type="presParOf" srcId="{B448617A-3844-4D0E-A22F-7FE46D56CD38}" destId="{191C1678-3C4B-4B53-8B66-338AE857ECE5}"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C211F8F-588E-4A41-B37B-0E7B071CDE3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zh-CN" altLang="en-US"/>
        </a:p>
      </dgm:t>
    </dgm:pt>
    <dgm:pt modelId="{68372C0F-2735-4072-9D74-AAA4461BF91F}">
      <dgm:prSet/>
      <dgm:spPr/>
      <dgm:t>
        <a:bodyPr/>
        <a:lstStyle/>
        <a:p>
          <a:pPr rtl="0"/>
          <a:r>
            <a:rPr lang="zh-CN" dirty="0" smtClean="0"/>
            <a:t>计算机安全通常包含保密性、完整性、可用性、可控性和不可抵赖性等属性。</a:t>
          </a:r>
          <a:endParaRPr lang="zh-CN" dirty="0"/>
        </a:p>
      </dgm:t>
    </dgm:pt>
    <dgm:pt modelId="{22FD28D8-83D2-4D76-93AC-0AA517D1F274}" cxnId="{48AD28CC-A174-49FE-B572-89214590A387}" type="parTrans">
      <dgm:prSet/>
      <dgm:spPr/>
      <dgm:t>
        <a:bodyPr/>
        <a:lstStyle/>
        <a:p>
          <a:endParaRPr lang="zh-CN" altLang="en-US"/>
        </a:p>
      </dgm:t>
    </dgm:pt>
    <dgm:pt modelId="{AA814E24-B59F-4725-8961-6045C3EC118F}" cxnId="{48AD28CC-A174-49FE-B572-89214590A387}" type="sibTrans">
      <dgm:prSet/>
      <dgm:spPr/>
      <dgm:t>
        <a:bodyPr/>
        <a:lstStyle/>
        <a:p>
          <a:endParaRPr lang="zh-CN" altLang="en-US"/>
        </a:p>
      </dgm:t>
    </dgm:pt>
    <dgm:pt modelId="{07FEDDC0-C8FF-483C-A288-82C5C3B9BEC5}" type="pres">
      <dgm:prSet presAssocID="{7C211F8F-588E-4A41-B37B-0E7B071CDE30}" presName="linear" presStyleCnt="0">
        <dgm:presLayoutVars>
          <dgm:animLvl val="lvl"/>
          <dgm:resizeHandles val="exact"/>
        </dgm:presLayoutVars>
      </dgm:prSet>
      <dgm:spPr/>
      <dgm:t>
        <a:bodyPr/>
        <a:lstStyle/>
        <a:p>
          <a:endParaRPr lang="zh-CN" altLang="en-US"/>
        </a:p>
      </dgm:t>
    </dgm:pt>
    <dgm:pt modelId="{96BB9C4B-F64A-418B-9824-A2E46C6F7A50}" type="pres">
      <dgm:prSet presAssocID="{68372C0F-2735-4072-9D74-AAA4461BF91F}" presName="parentText" presStyleLbl="node1" presStyleIdx="0" presStyleCnt="1" custLinFactNeighborY="-40532">
        <dgm:presLayoutVars>
          <dgm:chMax val="0"/>
          <dgm:bulletEnabled val="1"/>
        </dgm:presLayoutVars>
      </dgm:prSet>
      <dgm:spPr/>
      <dgm:t>
        <a:bodyPr/>
        <a:lstStyle/>
        <a:p>
          <a:endParaRPr lang="zh-CN" altLang="en-US"/>
        </a:p>
      </dgm:t>
    </dgm:pt>
  </dgm:ptLst>
  <dgm:cxnLst>
    <dgm:cxn modelId="{875F69A1-4AC0-4860-BB66-380F5E8BD6AD}" type="presOf" srcId="{7C211F8F-588E-4A41-B37B-0E7B071CDE30}" destId="{07FEDDC0-C8FF-483C-A288-82C5C3B9BEC5}" srcOrd="0" destOrd="0" presId="urn:microsoft.com/office/officeart/2005/8/layout/vList2"/>
    <dgm:cxn modelId="{48AD28CC-A174-49FE-B572-89214590A387}" srcId="{7C211F8F-588E-4A41-B37B-0E7B071CDE30}" destId="{68372C0F-2735-4072-9D74-AAA4461BF91F}" srcOrd="0" destOrd="0" parTransId="{22FD28D8-83D2-4D76-93AC-0AA517D1F274}" sibTransId="{AA814E24-B59F-4725-8961-6045C3EC118F}"/>
    <dgm:cxn modelId="{7E14A235-F9DE-4910-B968-4C76AB71A7E3}" type="presOf" srcId="{68372C0F-2735-4072-9D74-AAA4461BF91F}" destId="{96BB9C4B-F64A-418B-9824-A2E46C6F7A50}" srcOrd="0" destOrd="0" presId="urn:microsoft.com/office/officeart/2005/8/layout/vList2"/>
    <dgm:cxn modelId="{46E54130-C2B6-4E03-862B-55093C54E505}" type="presParOf" srcId="{07FEDDC0-C8FF-483C-A288-82C5C3B9BEC5}" destId="{96BB9C4B-F64A-418B-9824-A2E46C6F7A50}" srcOrd="0"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2E9E0FB-8B6A-4DB7-9500-0475DD2B1F1B}" type="doc">
      <dgm:prSet loTypeId="urn:microsoft.com/office/officeart/2005/8/layout/vList2" loCatId="list" qsTypeId="urn:microsoft.com/office/officeart/2005/8/quickstyle/simple1" qsCatId="simple" csTypeId="urn:microsoft.com/office/officeart/2005/8/colors/colorful4" csCatId="colorful"/>
      <dgm:spPr/>
      <dgm:t>
        <a:bodyPr/>
        <a:lstStyle/>
        <a:p>
          <a:endParaRPr lang="zh-CN" altLang="en-US"/>
        </a:p>
      </dgm:t>
    </dgm:pt>
    <dgm:pt modelId="{EC875D75-97F0-4834-959B-3318F7E3AAB2}">
      <dgm:prSet/>
      <dgm:spPr/>
      <dgm:t>
        <a:bodyPr/>
        <a:lstStyle/>
        <a:p>
          <a:pPr rtl="0"/>
          <a:r>
            <a:rPr lang="zh-CN" dirty="0" smtClean="0">
              <a:solidFill>
                <a:schemeClr val="tx1"/>
              </a:solidFill>
            </a:rPr>
            <a:t>影响计算机安全的因素很多</a:t>
          </a:r>
          <a:r>
            <a:rPr lang="en-US" dirty="0" smtClean="0">
              <a:solidFill>
                <a:schemeClr val="tx1"/>
              </a:solidFill>
            </a:rPr>
            <a:t>,</a:t>
          </a:r>
          <a:r>
            <a:rPr lang="zh-CN" dirty="0" smtClean="0">
              <a:solidFill>
                <a:schemeClr val="tx1"/>
              </a:solidFill>
            </a:rPr>
            <a:t>包括人为因素、自然因素、系统设计因素和网络因素。</a:t>
          </a:r>
          <a:endParaRPr lang="zh-CN" dirty="0">
            <a:solidFill>
              <a:schemeClr val="tx1"/>
            </a:solidFill>
          </a:endParaRPr>
        </a:p>
      </dgm:t>
    </dgm:pt>
    <dgm:pt modelId="{7FA3BDC3-7187-4342-9EB1-53A37BB9B4EE}" cxnId="{029FEEA8-0BA7-4906-A216-F0ADF12EE280}" type="parTrans">
      <dgm:prSet/>
      <dgm:spPr/>
      <dgm:t>
        <a:bodyPr/>
        <a:lstStyle/>
        <a:p>
          <a:endParaRPr lang="zh-CN" altLang="en-US">
            <a:solidFill>
              <a:schemeClr val="tx1"/>
            </a:solidFill>
          </a:endParaRPr>
        </a:p>
      </dgm:t>
    </dgm:pt>
    <dgm:pt modelId="{F26BCF9B-42D0-466A-8F98-139E463B0CF3}" cxnId="{029FEEA8-0BA7-4906-A216-F0ADF12EE280}" type="sibTrans">
      <dgm:prSet/>
      <dgm:spPr/>
      <dgm:t>
        <a:bodyPr/>
        <a:lstStyle/>
        <a:p>
          <a:endParaRPr lang="zh-CN" altLang="en-US">
            <a:solidFill>
              <a:schemeClr val="tx1"/>
            </a:solidFill>
          </a:endParaRPr>
        </a:p>
      </dgm:t>
    </dgm:pt>
    <dgm:pt modelId="{DFA739A3-31F6-403E-8176-7DAB3228B47F}" type="pres">
      <dgm:prSet presAssocID="{42E9E0FB-8B6A-4DB7-9500-0475DD2B1F1B}" presName="linear" presStyleCnt="0">
        <dgm:presLayoutVars>
          <dgm:animLvl val="lvl"/>
          <dgm:resizeHandles val="exact"/>
        </dgm:presLayoutVars>
      </dgm:prSet>
      <dgm:spPr/>
      <dgm:t>
        <a:bodyPr/>
        <a:lstStyle/>
        <a:p>
          <a:endParaRPr lang="zh-CN" altLang="en-US"/>
        </a:p>
      </dgm:t>
    </dgm:pt>
    <dgm:pt modelId="{CB6D9F22-6A1C-486D-AD79-203B49E9D785}" type="pres">
      <dgm:prSet presAssocID="{EC875D75-97F0-4834-959B-3318F7E3AAB2}" presName="parentText" presStyleLbl="node1" presStyleIdx="0" presStyleCnt="1">
        <dgm:presLayoutVars>
          <dgm:chMax val="0"/>
          <dgm:bulletEnabled val="1"/>
        </dgm:presLayoutVars>
      </dgm:prSet>
      <dgm:spPr/>
      <dgm:t>
        <a:bodyPr/>
        <a:lstStyle/>
        <a:p>
          <a:endParaRPr lang="zh-CN" altLang="en-US"/>
        </a:p>
      </dgm:t>
    </dgm:pt>
  </dgm:ptLst>
  <dgm:cxnLst>
    <dgm:cxn modelId="{4F3B14B9-A81D-43CF-81DD-10082F491DAF}" type="presOf" srcId="{EC875D75-97F0-4834-959B-3318F7E3AAB2}" destId="{CB6D9F22-6A1C-486D-AD79-203B49E9D785}" srcOrd="0" destOrd="0" presId="urn:microsoft.com/office/officeart/2005/8/layout/vList2"/>
    <dgm:cxn modelId="{916E4768-F30E-4E15-B38B-F2E809BAF848}" type="presOf" srcId="{42E9E0FB-8B6A-4DB7-9500-0475DD2B1F1B}" destId="{DFA739A3-31F6-403E-8176-7DAB3228B47F}" srcOrd="0" destOrd="0" presId="urn:microsoft.com/office/officeart/2005/8/layout/vList2"/>
    <dgm:cxn modelId="{029FEEA8-0BA7-4906-A216-F0ADF12EE280}" srcId="{42E9E0FB-8B6A-4DB7-9500-0475DD2B1F1B}" destId="{EC875D75-97F0-4834-959B-3318F7E3AAB2}" srcOrd="0" destOrd="0" parTransId="{7FA3BDC3-7187-4342-9EB1-53A37BB9B4EE}" sibTransId="{F26BCF9B-42D0-466A-8F98-139E463B0CF3}"/>
    <dgm:cxn modelId="{AC84544F-94C7-421C-9E2D-A6B8E88AD87C}" type="presParOf" srcId="{DFA739A3-31F6-403E-8176-7DAB3228B47F}" destId="{CB6D9F22-6A1C-486D-AD79-203B49E9D785}" srcOrd="0" destOrd="0" presId="urn:microsoft.com/office/officeart/2005/8/layout/vList2"/>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37F82F1-C886-45AA-AD52-D0B840191512}" type="doc">
      <dgm:prSet loTypeId="urn:microsoft.com/office/officeart/2005/8/layout/vList6" loCatId="list" qsTypeId="urn:microsoft.com/office/officeart/2005/8/quickstyle/simple1" qsCatId="simple" csTypeId="urn:microsoft.com/office/officeart/2005/8/colors/colorful4" csCatId="colorful" phldr="1"/>
      <dgm:spPr/>
      <dgm:t>
        <a:bodyPr/>
        <a:lstStyle/>
        <a:p>
          <a:endParaRPr lang="zh-CN" altLang="en-US"/>
        </a:p>
      </dgm:t>
    </dgm:pt>
    <dgm:pt modelId="{A1C7A544-8A9D-4EF9-A923-4E0947134F73}">
      <dgm:prSet custT="1"/>
      <dgm:spPr/>
      <dgm:t>
        <a:bodyPr/>
        <a:lstStyle/>
        <a:p>
          <a:pPr rtl="0"/>
          <a:r>
            <a:rPr lang="en-US" sz="1800" dirty="0" smtClean="0">
              <a:solidFill>
                <a:schemeClr val="tx1"/>
              </a:solidFill>
            </a:rPr>
            <a:t>(1)IP</a:t>
          </a:r>
          <a:r>
            <a:rPr lang="zh-CN" sz="1800" dirty="0" smtClean="0">
              <a:solidFill>
                <a:schemeClr val="tx1"/>
              </a:solidFill>
            </a:rPr>
            <a:t>地址</a:t>
          </a:r>
          <a:endParaRPr lang="zh-CN" sz="1800" dirty="0">
            <a:solidFill>
              <a:schemeClr val="tx1"/>
            </a:solidFill>
          </a:endParaRPr>
        </a:p>
      </dgm:t>
    </dgm:pt>
    <dgm:pt modelId="{91171338-B194-4BD9-858D-F65946EDB335}" cxnId="{5BAE4AA9-FECF-4AD3-9066-A706E8890F66}" type="parTrans">
      <dgm:prSet/>
      <dgm:spPr/>
      <dgm:t>
        <a:bodyPr/>
        <a:lstStyle/>
        <a:p>
          <a:endParaRPr lang="zh-CN" altLang="en-US">
            <a:solidFill>
              <a:schemeClr val="tx1"/>
            </a:solidFill>
          </a:endParaRPr>
        </a:p>
      </dgm:t>
    </dgm:pt>
    <dgm:pt modelId="{761F1B60-B01A-466A-B7DD-440BC4574773}" cxnId="{5BAE4AA9-FECF-4AD3-9066-A706E8890F66}" type="sibTrans">
      <dgm:prSet/>
      <dgm:spPr/>
      <dgm:t>
        <a:bodyPr/>
        <a:lstStyle/>
        <a:p>
          <a:endParaRPr lang="zh-CN" altLang="en-US">
            <a:solidFill>
              <a:schemeClr val="tx1"/>
            </a:solidFill>
          </a:endParaRPr>
        </a:p>
      </dgm:t>
    </dgm:pt>
    <dgm:pt modelId="{02AF09CC-D7C2-4B59-9857-9D828C6DE0D8}">
      <dgm:prSet custT="1"/>
      <dgm:spPr/>
      <dgm:t>
        <a:bodyPr/>
        <a:lstStyle/>
        <a:p>
          <a:pPr rtl="0"/>
          <a:r>
            <a:rPr lang="en-US" sz="1800" dirty="0" smtClean="0">
              <a:solidFill>
                <a:schemeClr val="tx1"/>
              </a:solidFill>
            </a:rPr>
            <a:t>(2)</a:t>
          </a:r>
          <a:r>
            <a:rPr lang="zh-CN" sz="1800" dirty="0" smtClean="0">
              <a:solidFill>
                <a:schemeClr val="tx1"/>
              </a:solidFill>
            </a:rPr>
            <a:t>域名</a:t>
          </a:r>
          <a:endParaRPr lang="zh-CN" sz="1800" dirty="0">
            <a:solidFill>
              <a:schemeClr val="tx1"/>
            </a:solidFill>
          </a:endParaRPr>
        </a:p>
      </dgm:t>
    </dgm:pt>
    <dgm:pt modelId="{D633D6FA-99F9-4022-B301-8E74CFDC7086}" cxnId="{F91ADD93-2EFE-41D4-A78A-AFBAA0A16A36}" type="parTrans">
      <dgm:prSet/>
      <dgm:spPr/>
      <dgm:t>
        <a:bodyPr/>
        <a:lstStyle/>
        <a:p>
          <a:endParaRPr lang="zh-CN" altLang="en-US">
            <a:solidFill>
              <a:schemeClr val="tx1"/>
            </a:solidFill>
          </a:endParaRPr>
        </a:p>
      </dgm:t>
    </dgm:pt>
    <dgm:pt modelId="{B4588397-457F-4FE9-9397-E491ABCD42A2}" cxnId="{F91ADD93-2EFE-41D4-A78A-AFBAA0A16A36}" type="sibTrans">
      <dgm:prSet/>
      <dgm:spPr/>
      <dgm:t>
        <a:bodyPr/>
        <a:lstStyle/>
        <a:p>
          <a:endParaRPr lang="zh-CN" altLang="en-US">
            <a:solidFill>
              <a:schemeClr val="tx1"/>
            </a:solidFill>
          </a:endParaRPr>
        </a:p>
      </dgm:t>
    </dgm:pt>
    <dgm:pt modelId="{93FEB25A-AAB8-4CBC-9C76-B7E9BE628682}">
      <dgm:prSet custT="1"/>
      <dgm:spPr/>
      <dgm:t>
        <a:bodyPr/>
        <a:lstStyle/>
        <a:p>
          <a:pPr rtl="0"/>
          <a:r>
            <a:rPr lang="en-US" sz="1800" dirty="0" smtClean="0">
              <a:solidFill>
                <a:schemeClr val="tx1"/>
              </a:solidFill>
            </a:rPr>
            <a:t>(3)</a:t>
          </a:r>
          <a:r>
            <a:rPr lang="zh-CN" sz="1800" dirty="0" smtClean="0">
              <a:solidFill>
                <a:schemeClr val="tx1"/>
              </a:solidFill>
            </a:rPr>
            <a:t>协议</a:t>
          </a:r>
          <a:endParaRPr lang="zh-CN" sz="1800" dirty="0">
            <a:solidFill>
              <a:schemeClr val="tx1"/>
            </a:solidFill>
          </a:endParaRPr>
        </a:p>
      </dgm:t>
    </dgm:pt>
    <dgm:pt modelId="{BADE692D-9C4B-44D2-9BEC-DBB487D67054}" cxnId="{3EB37B7E-9926-4CB2-821E-22CDD988C9A3}" type="parTrans">
      <dgm:prSet/>
      <dgm:spPr/>
      <dgm:t>
        <a:bodyPr/>
        <a:lstStyle/>
        <a:p>
          <a:endParaRPr lang="zh-CN" altLang="en-US">
            <a:solidFill>
              <a:schemeClr val="tx1"/>
            </a:solidFill>
          </a:endParaRPr>
        </a:p>
      </dgm:t>
    </dgm:pt>
    <dgm:pt modelId="{62214230-5383-4DAB-B96A-A6CCFF8384E0}" cxnId="{3EB37B7E-9926-4CB2-821E-22CDD988C9A3}" type="sibTrans">
      <dgm:prSet/>
      <dgm:spPr/>
      <dgm:t>
        <a:bodyPr/>
        <a:lstStyle/>
        <a:p>
          <a:endParaRPr lang="zh-CN" altLang="en-US">
            <a:solidFill>
              <a:schemeClr val="tx1"/>
            </a:solidFill>
          </a:endParaRPr>
        </a:p>
      </dgm:t>
    </dgm:pt>
    <dgm:pt modelId="{A518A112-8EEF-4EDC-8C8A-E7F844A27D82}">
      <dgm:prSet/>
      <dgm:spPr/>
      <dgm:t>
        <a:bodyPr/>
        <a:lstStyle/>
        <a:p>
          <a:pPr algn="l" rtl="0"/>
          <a:r>
            <a:rPr lang="zh-CN" dirty="0" smtClean="0">
              <a:solidFill>
                <a:schemeClr val="tx1"/>
              </a:solidFill>
            </a:rPr>
            <a:t>互联网上的每台计算机被分配了一个唯一的地址</a:t>
          </a:r>
          <a:r>
            <a:rPr lang="en-US" dirty="0" smtClean="0">
              <a:solidFill>
                <a:schemeClr val="tx1"/>
              </a:solidFill>
            </a:rPr>
            <a:t>,</a:t>
          </a:r>
          <a:r>
            <a:rPr lang="zh-CN" dirty="0" smtClean="0">
              <a:solidFill>
                <a:schemeClr val="tx1"/>
              </a:solidFill>
            </a:rPr>
            <a:t>如果公司外部的某个</a:t>
          </a:r>
          <a:r>
            <a:rPr lang="en-US" dirty="0" smtClean="0">
              <a:solidFill>
                <a:schemeClr val="tx1"/>
              </a:solidFill>
            </a:rPr>
            <a:t>IP</a:t>
          </a:r>
          <a:r>
            <a:rPr lang="zh-CN" dirty="0" smtClean="0">
              <a:solidFill>
                <a:schemeClr val="tx1"/>
              </a:solidFill>
            </a:rPr>
            <a:t>地址从服务器读取了过多文件</a:t>
          </a:r>
          <a:r>
            <a:rPr lang="en-US" dirty="0" smtClean="0">
              <a:solidFill>
                <a:schemeClr val="tx1"/>
              </a:solidFill>
            </a:rPr>
            <a:t>,</a:t>
          </a:r>
          <a:r>
            <a:rPr lang="zh-CN" dirty="0" smtClean="0">
              <a:solidFill>
                <a:schemeClr val="tx1"/>
              </a:solidFill>
            </a:rPr>
            <a:t>则防火墙可以阻止与该</a:t>
          </a:r>
          <a:r>
            <a:rPr lang="en-US" dirty="0" smtClean="0">
              <a:solidFill>
                <a:schemeClr val="tx1"/>
              </a:solidFill>
            </a:rPr>
            <a:t>IP</a:t>
          </a:r>
          <a:r>
            <a:rPr lang="zh-CN" dirty="0" smtClean="0">
              <a:solidFill>
                <a:schemeClr val="tx1"/>
              </a:solidFill>
            </a:rPr>
            <a:t>地址之间的所有通信。</a:t>
          </a:r>
          <a:endParaRPr lang="zh-CN" altLang="en-US" dirty="0">
            <a:solidFill>
              <a:schemeClr val="tx1"/>
            </a:solidFill>
          </a:endParaRPr>
        </a:p>
      </dgm:t>
    </dgm:pt>
    <dgm:pt modelId="{2431AC88-5487-4CCA-A859-3AF1B3434656}" cxnId="{AD0464ED-BDBF-41B6-A30C-D8A605A97D59}" type="parTrans">
      <dgm:prSet/>
      <dgm:spPr/>
      <dgm:t>
        <a:bodyPr/>
        <a:lstStyle/>
        <a:p>
          <a:endParaRPr lang="zh-CN" altLang="en-US">
            <a:solidFill>
              <a:schemeClr val="tx1"/>
            </a:solidFill>
          </a:endParaRPr>
        </a:p>
      </dgm:t>
    </dgm:pt>
    <dgm:pt modelId="{3597E807-8C26-4E9B-BB85-2A1A4F80D066}" cxnId="{AD0464ED-BDBF-41B6-A30C-D8A605A97D59}" type="sibTrans">
      <dgm:prSet/>
      <dgm:spPr/>
      <dgm:t>
        <a:bodyPr/>
        <a:lstStyle/>
        <a:p>
          <a:endParaRPr lang="zh-CN" altLang="en-US">
            <a:solidFill>
              <a:schemeClr val="tx1"/>
            </a:solidFill>
          </a:endParaRPr>
        </a:p>
      </dgm:t>
    </dgm:pt>
    <dgm:pt modelId="{E8181C00-7BE3-44C4-A543-9ECF1B92699E}">
      <dgm:prSet/>
      <dgm:spPr/>
      <dgm:t>
        <a:bodyPr/>
        <a:lstStyle/>
        <a:p>
          <a:pPr rtl="0"/>
          <a:r>
            <a:rPr lang="zh-CN" dirty="0" smtClean="0">
              <a:solidFill>
                <a:schemeClr val="tx1"/>
              </a:solidFill>
            </a:rPr>
            <a:t>防火墙可以阻止特定域名访问。</a:t>
          </a:r>
          <a:endParaRPr lang="zh-CN" altLang="en-US" dirty="0">
            <a:solidFill>
              <a:schemeClr val="tx1"/>
            </a:solidFill>
          </a:endParaRPr>
        </a:p>
      </dgm:t>
    </dgm:pt>
    <dgm:pt modelId="{9AC77AB1-EA30-43C4-89A8-CD71AD30CD04}" cxnId="{BD68DA15-8E44-4C7D-B896-185A86BF0963}" type="parTrans">
      <dgm:prSet/>
      <dgm:spPr/>
      <dgm:t>
        <a:bodyPr/>
        <a:lstStyle/>
        <a:p>
          <a:endParaRPr lang="zh-CN" altLang="en-US">
            <a:solidFill>
              <a:schemeClr val="tx1"/>
            </a:solidFill>
          </a:endParaRPr>
        </a:p>
      </dgm:t>
    </dgm:pt>
    <dgm:pt modelId="{072E3787-1665-45D2-B869-45A26AF30686}" cxnId="{BD68DA15-8E44-4C7D-B896-185A86BF0963}" type="sibTrans">
      <dgm:prSet/>
      <dgm:spPr/>
      <dgm:t>
        <a:bodyPr/>
        <a:lstStyle/>
        <a:p>
          <a:endParaRPr lang="zh-CN" altLang="en-US">
            <a:solidFill>
              <a:schemeClr val="tx1"/>
            </a:solidFill>
          </a:endParaRPr>
        </a:p>
      </dgm:t>
    </dgm:pt>
    <dgm:pt modelId="{74449F8A-F390-4867-ADC3-0507F728AA99}">
      <dgm:prSet/>
      <dgm:spPr/>
      <dgm:t>
        <a:bodyPr/>
        <a:lstStyle/>
        <a:p>
          <a:pPr rtl="0"/>
          <a:endParaRPr lang="zh-CN" altLang="en-US" dirty="0">
            <a:solidFill>
              <a:schemeClr val="tx1"/>
            </a:solidFill>
          </a:endParaRPr>
        </a:p>
      </dgm:t>
    </dgm:pt>
    <dgm:pt modelId="{DDBCA37A-7C0B-4AAB-B969-22F73ABBF28F}" cxnId="{3ABDEEC4-FAF1-4C6F-B97E-0DF141653F00}" type="parTrans">
      <dgm:prSet/>
      <dgm:spPr/>
      <dgm:t>
        <a:bodyPr/>
        <a:lstStyle/>
        <a:p>
          <a:endParaRPr lang="zh-CN" altLang="en-US">
            <a:solidFill>
              <a:schemeClr val="tx1"/>
            </a:solidFill>
          </a:endParaRPr>
        </a:p>
      </dgm:t>
    </dgm:pt>
    <dgm:pt modelId="{5AA5FF88-3D79-4C7E-A5A8-3769B1E0F185}" cxnId="{3ABDEEC4-FAF1-4C6F-B97E-0DF141653F00}" type="sibTrans">
      <dgm:prSet/>
      <dgm:spPr/>
      <dgm:t>
        <a:bodyPr/>
        <a:lstStyle/>
        <a:p>
          <a:endParaRPr lang="zh-CN" altLang="en-US">
            <a:solidFill>
              <a:schemeClr val="tx1"/>
            </a:solidFill>
          </a:endParaRPr>
        </a:p>
      </dgm:t>
    </dgm:pt>
    <dgm:pt modelId="{D0BB0E12-2D1F-4FA5-B159-01CC837B524B}">
      <dgm:prSet/>
      <dgm:spPr/>
      <dgm:t>
        <a:bodyPr/>
        <a:lstStyle/>
        <a:p>
          <a:pPr rtl="0"/>
          <a:r>
            <a:rPr lang="zh-CN" dirty="0" smtClean="0">
              <a:solidFill>
                <a:schemeClr val="tx1"/>
              </a:solidFill>
            </a:rPr>
            <a:t>防火墙可以只设置一台或两台计算机来处理特定协议</a:t>
          </a:r>
          <a:r>
            <a:rPr lang="en-US" dirty="0" smtClean="0">
              <a:solidFill>
                <a:schemeClr val="tx1"/>
              </a:solidFill>
            </a:rPr>
            <a:t>,</a:t>
          </a:r>
          <a:r>
            <a:rPr lang="zh-CN" dirty="0" smtClean="0">
              <a:solidFill>
                <a:schemeClr val="tx1"/>
              </a:solidFill>
            </a:rPr>
            <a:t>而在其他所有计算机上禁用该协议。</a:t>
          </a:r>
          <a:endParaRPr lang="zh-CN" altLang="en-US" dirty="0">
            <a:solidFill>
              <a:schemeClr val="tx1"/>
            </a:solidFill>
          </a:endParaRPr>
        </a:p>
      </dgm:t>
    </dgm:pt>
    <dgm:pt modelId="{1A72F2A7-B0D6-4DA2-8FA7-F9CD3952D16E}" cxnId="{04D413B6-62DE-44E1-AA07-31D38C0B23AC}" type="parTrans">
      <dgm:prSet/>
      <dgm:spPr/>
      <dgm:t>
        <a:bodyPr/>
        <a:lstStyle/>
        <a:p>
          <a:endParaRPr lang="zh-CN" altLang="en-US">
            <a:solidFill>
              <a:schemeClr val="tx1"/>
            </a:solidFill>
          </a:endParaRPr>
        </a:p>
      </dgm:t>
    </dgm:pt>
    <dgm:pt modelId="{95228ECC-0FB5-4085-A9D0-0EA9C3587460}" cxnId="{04D413B6-62DE-44E1-AA07-31D38C0B23AC}" type="sibTrans">
      <dgm:prSet/>
      <dgm:spPr/>
      <dgm:t>
        <a:bodyPr/>
        <a:lstStyle/>
        <a:p>
          <a:endParaRPr lang="zh-CN" altLang="en-US">
            <a:solidFill>
              <a:schemeClr val="tx1"/>
            </a:solidFill>
          </a:endParaRPr>
        </a:p>
      </dgm:t>
    </dgm:pt>
    <dgm:pt modelId="{88AF8E56-13E6-408E-A7E9-B83AC8A2CC1B}" type="pres">
      <dgm:prSet presAssocID="{737F82F1-C886-45AA-AD52-D0B840191512}" presName="Name0" presStyleCnt="0">
        <dgm:presLayoutVars>
          <dgm:dir/>
          <dgm:animLvl val="lvl"/>
          <dgm:resizeHandles/>
        </dgm:presLayoutVars>
      </dgm:prSet>
      <dgm:spPr/>
      <dgm:t>
        <a:bodyPr/>
        <a:lstStyle/>
        <a:p>
          <a:endParaRPr lang="zh-CN" altLang="en-US"/>
        </a:p>
      </dgm:t>
    </dgm:pt>
    <dgm:pt modelId="{EB765247-D394-40B5-BB9C-AF1085CF12F8}" type="pres">
      <dgm:prSet presAssocID="{A1C7A544-8A9D-4EF9-A923-4E0947134F73}" presName="linNode" presStyleCnt="0"/>
      <dgm:spPr/>
    </dgm:pt>
    <dgm:pt modelId="{E7F1FF80-AFC0-4DDD-84BB-BD90B2523F26}" type="pres">
      <dgm:prSet presAssocID="{A1C7A544-8A9D-4EF9-A923-4E0947134F73}" presName="parentShp" presStyleLbl="node1" presStyleIdx="0" presStyleCnt="3" custScaleX="66981" custLinFactNeighborX="-2516">
        <dgm:presLayoutVars>
          <dgm:bulletEnabled val="1"/>
        </dgm:presLayoutVars>
      </dgm:prSet>
      <dgm:spPr/>
      <dgm:t>
        <a:bodyPr/>
        <a:lstStyle/>
        <a:p>
          <a:endParaRPr lang="zh-CN" altLang="en-US"/>
        </a:p>
      </dgm:t>
    </dgm:pt>
    <dgm:pt modelId="{EB9FE11A-D235-4D73-A340-DD7FFEDAE86B}" type="pres">
      <dgm:prSet presAssocID="{A1C7A544-8A9D-4EF9-A923-4E0947134F73}" presName="childShp" presStyleLbl="bgAccFollowNode1" presStyleIdx="0" presStyleCnt="3" custScaleX="120126">
        <dgm:presLayoutVars>
          <dgm:bulletEnabled val="1"/>
        </dgm:presLayoutVars>
      </dgm:prSet>
      <dgm:spPr/>
      <dgm:t>
        <a:bodyPr/>
        <a:lstStyle/>
        <a:p>
          <a:endParaRPr lang="zh-CN" altLang="en-US"/>
        </a:p>
      </dgm:t>
    </dgm:pt>
    <dgm:pt modelId="{BA7E5C36-B7C3-4534-AA9A-F5DEEF2E8874}" type="pres">
      <dgm:prSet presAssocID="{761F1B60-B01A-466A-B7DD-440BC4574773}" presName="spacing" presStyleCnt="0"/>
      <dgm:spPr/>
    </dgm:pt>
    <dgm:pt modelId="{AACF86B4-547F-4CE3-9197-0823E11834AB}" type="pres">
      <dgm:prSet presAssocID="{02AF09CC-D7C2-4B59-9857-9D828C6DE0D8}" presName="linNode" presStyleCnt="0"/>
      <dgm:spPr/>
    </dgm:pt>
    <dgm:pt modelId="{8D22A17B-17FD-4266-B3E9-36AA3BCEE6A8}" type="pres">
      <dgm:prSet presAssocID="{02AF09CC-D7C2-4B59-9857-9D828C6DE0D8}" presName="parentShp" presStyleLbl="node1" presStyleIdx="1" presStyleCnt="3" custScaleX="66981" custLinFactNeighborX="-9434">
        <dgm:presLayoutVars>
          <dgm:bulletEnabled val="1"/>
        </dgm:presLayoutVars>
      </dgm:prSet>
      <dgm:spPr/>
      <dgm:t>
        <a:bodyPr/>
        <a:lstStyle/>
        <a:p>
          <a:endParaRPr lang="zh-CN" altLang="en-US"/>
        </a:p>
      </dgm:t>
    </dgm:pt>
    <dgm:pt modelId="{06366FE9-003A-489D-968E-9AF133878001}" type="pres">
      <dgm:prSet presAssocID="{02AF09CC-D7C2-4B59-9857-9D828C6DE0D8}" presName="childShp" presStyleLbl="bgAccFollowNode1" presStyleIdx="1" presStyleCnt="3" custScaleX="120126">
        <dgm:presLayoutVars>
          <dgm:bulletEnabled val="1"/>
        </dgm:presLayoutVars>
      </dgm:prSet>
      <dgm:spPr/>
      <dgm:t>
        <a:bodyPr/>
        <a:lstStyle/>
        <a:p>
          <a:endParaRPr lang="zh-CN" altLang="en-US"/>
        </a:p>
      </dgm:t>
    </dgm:pt>
    <dgm:pt modelId="{73D9E974-AF5D-415D-9612-1AD7769EEAB9}" type="pres">
      <dgm:prSet presAssocID="{B4588397-457F-4FE9-9397-E491ABCD42A2}" presName="spacing" presStyleCnt="0"/>
      <dgm:spPr/>
    </dgm:pt>
    <dgm:pt modelId="{FBCC76D3-5479-4340-B0AA-2B2F7757D063}" type="pres">
      <dgm:prSet presAssocID="{93FEB25A-AAB8-4CBC-9C76-B7E9BE628682}" presName="linNode" presStyleCnt="0"/>
      <dgm:spPr/>
    </dgm:pt>
    <dgm:pt modelId="{87CD8930-79E4-44CC-9649-D3AC172357FC}" type="pres">
      <dgm:prSet presAssocID="{93FEB25A-AAB8-4CBC-9C76-B7E9BE628682}" presName="parentShp" presStyleLbl="node1" presStyleIdx="2" presStyleCnt="3" custScaleX="66981" custLinFactNeighborX="-9434">
        <dgm:presLayoutVars>
          <dgm:bulletEnabled val="1"/>
        </dgm:presLayoutVars>
      </dgm:prSet>
      <dgm:spPr/>
      <dgm:t>
        <a:bodyPr/>
        <a:lstStyle/>
        <a:p>
          <a:endParaRPr lang="zh-CN" altLang="en-US"/>
        </a:p>
      </dgm:t>
    </dgm:pt>
    <dgm:pt modelId="{1B2D0A38-10A2-44C5-A110-B2FF1D6258CB}" type="pres">
      <dgm:prSet presAssocID="{93FEB25A-AAB8-4CBC-9C76-B7E9BE628682}" presName="childShp" presStyleLbl="bgAccFollowNode1" presStyleIdx="2" presStyleCnt="3" custScaleX="120126">
        <dgm:presLayoutVars>
          <dgm:bulletEnabled val="1"/>
        </dgm:presLayoutVars>
      </dgm:prSet>
      <dgm:spPr/>
      <dgm:t>
        <a:bodyPr/>
        <a:lstStyle/>
        <a:p>
          <a:endParaRPr lang="zh-CN" altLang="en-US"/>
        </a:p>
      </dgm:t>
    </dgm:pt>
  </dgm:ptLst>
  <dgm:cxnLst>
    <dgm:cxn modelId="{AD0464ED-BDBF-41B6-A30C-D8A605A97D59}" srcId="{A1C7A544-8A9D-4EF9-A923-4E0947134F73}" destId="{A518A112-8EEF-4EDC-8C8A-E7F844A27D82}" srcOrd="0" destOrd="0" parTransId="{2431AC88-5487-4CCA-A859-3AF1B3434656}" sibTransId="{3597E807-8C26-4E9B-BB85-2A1A4F80D066}"/>
    <dgm:cxn modelId="{036944B1-6CE7-47C7-BCF5-C616D493D591}" type="presOf" srcId="{E8181C00-7BE3-44C4-A543-9ECF1B92699E}" destId="{06366FE9-003A-489D-968E-9AF133878001}" srcOrd="0" destOrd="1" presId="urn:microsoft.com/office/officeart/2005/8/layout/vList6"/>
    <dgm:cxn modelId="{F91ADD93-2EFE-41D4-A78A-AFBAA0A16A36}" srcId="{737F82F1-C886-45AA-AD52-D0B840191512}" destId="{02AF09CC-D7C2-4B59-9857-9D828C6DE0D8}" srcOrd="1" destOrd="0" parTransId="{D633D6FA-99F9-4022-B301-8E74CFDC7086}" sibTransId="{B4588397-457F-4FE9-9397-E491ABCD42A2}"/>
    <dgm:cxn modelId="{B87D58D4-13DF-49B0-994A-8A01844D6F6D}" type="presOf" srcId="{02AF09CC-D7C2-4B59-9857-9D828C6DE0D8}" destId="{8D22A17B-17FD-4266-B3E9-36AA3BCEE6A8}" srcOrd="0" destOrd="0" presId="urn:microsoft.com/office/officeart/2005/8/layout/vList6"/>
    <dgm:cxn modelId="{3ABDEEC4-FAF1-4C6F-B97E-0DF141653F00}" srcId="{02AF09CC-D7C2-4B59-9857-9D828C6DE0D8}" destId="{74449F8A-F390-4867-ADC3-0507F728AA99}" srcOrd="0" destOrd="0" parTransId="{DDBCA37A-7C0B-4AAB-B969-22F73ABBF28F}" sibTransId="{5AA5FF88-3D79-4C7E-A5A8-3769B1E0F185}"/>
    <dgm:cxn modelId="{3EB37B7E-9926-4CB2-821E-22CDD988C9A3}" srcId="{737F82F1-C886-45AA-AD52-D0B840191512}" destId="{93FEB25A-AAB8-4CBC-9C76-B7E9BE628682}" srcOrd="2" destOrd="0" parTransId="{BADE692D-9C4B-44D2-9BEC-DBB487D67054}" sibTransId="{62214230-5383-4DAB-B96A-A6CCFF8384E0}"/>
    <dgm:cxn modelId="{04D413B6-62DE-44E1-AA07-31D38C0B23AC}" srcId="{93FEB25A-AAB8-4CBC-9C76-B7E9BE628682}" destId="{D0BB0E12-2D1F-4FA5-B159-01CC837B524B}" srcOrd="0" destOrd="0" parTransId="{1A72F2A7-B0D6-4DA2-8FA7-F9CD3952D16E}" sibTransId="{95228ECC-0FB5-4085-A9D0-0EA9C3587460}"/>
    <dgm:cxn modelId="{3A50BB16-B698-4D10-AB01-0B4BBB10E62B}" type="presOf" srcId="{A518A112-8EEF-4EDC-8C8A-E7F844A27D82}" destId="{EB9FE11A-D235-4D73-A340-DD7FFEDAE86B}" srcOrd="0" destOrd="0" presId="urn:microsoft.com/office/officeart/2005/8/layout/vList6"/>
    <dgm:cxn modelId="{5B40D6EA-497F-4CBE-9ADA-C0CD1500C327}" type="presOf" srcId="{93FEB25A-AAB8-4CBC-9C76-B7E9BE628682}" destId="{87CD8930-79E4-44CC-9649-D3AC172357FC}" srcOrd="0" destOrd="0" presId="urn:microsoft.com/office/officeart/2005/8/layout/vList6"/>
    <dgm:cxn modelId="{A8725AE8-C777-42C0-A1DA-6EE3B9FD0A6A}" type="presOf" srcId="{74449F8A-F390-4867-ADC3-0507F728AA99}" destId="{06366FE9-003A-489D-968E-9AF133878001}" srcOrd="0" destOrd="0" presId="urn:microsoft.com/office/officeart/2005/8/layout/vList6"/>
    <dgm:cxn modelId="{5BAE4AA9-FECF-4AD3-9066-A706E8890F66}" srcId="{737F82F1-C886-45AA-AD52-D0B840191512}" destId="{A1C7A544-8A9D-4EF9-A923-4E0947134F73}" srcOrd="0" destOrd="0" parTransId="{91171338-B194-4BD9-858D-F65946EDB335}" sibTransId="{761F1B60-B01A-466A-B7DD-440BC4574773}"/>
    <dgm:cxn modelId="{FFFCDB7F-9991-4E05-AB2E-A20F1F15C9EB}" type="presOf" srcId="{A1C7A544-8A9D-4EF9-A923-4E0947134F73}" destId="{E7F1FF80-AFC0-4DDD-84BB-BD90B2523F26}" srcOrd="0" destOrd="0" presId="urn:microsoft.com/office/officeart/2005/8/layout/vList6"/>
    <dgm:cxn modelId="{BD68DA15-8E44-4C7D-B896-185A86BF0963}" srcId="{02AF09CC-D7C2-4B59-9857-9D828C6DE0D8}" destId="{E8181C00-7BE3-44C4-A543-9ECF1B92699E}" srcOrd="1" destOrd="0" parTransId="{9AC77AB1-EA30-43C4-89A8-CD71AD30CD04}" sibTransId="{072E3787-1665-45D2-B869-45A26AF30686}"/>
    <dgm:cxn modelId="{B4F8535D-9843-401A-BD62-2683CB6B2D9C}" type="presOf" srcId="{737F82F1-C886-45AA-AD52-D0B840191512}" destId="{88AF8E56-13E6-408E-A7E9-B83AC8A2CC1B}" srcOrd="0" destOrd="0" presId="urn:microsoft.com/office/officeart/2005/8/layout/vList6"/>
    <dgm:cxn modelId="{4D85760F-22D1-4FC8-B7F1-921CF561DE4A}" type="presOf" srcId="{D0BB0E12-2D1F-4FA5-B159-01CC837B524B}" destId="{1B2D0A38-10A2-44C5-A110-B2FF1D6258CB}" srcOrd="0" destOrd="0" presId="urn:microsoft.com/office/officeart/2005/8/layout/vList6"/>
    <dgm:cxn modelId="{8792B83E-B029-4F0E-AF8C-7B1333935C6F}" type="presParOf" srcId="{88AF8E56-13E6-408E-A7E9-B83AC8A2CC1B}" destId="{EB765247-D394-40B5-BB9C-AF1085CF12F8}" srcOrd="0" destOrd="0" presId="urn:microsoft.com/office/officeart/2005/8/layout/vList6"/>
    <dgm:cxn modelId="{D7F38C93-1D52-4358-8C01-CAEBA6D4FBE9}" type="presParOf" srcId="{EB765247-D394-40B5-BB9C-AF1085CF12F8}" destId="{E7F1FF80-AFC0-4DDD-84BB-BD90B2523F26}" srcOrd="0" destOrd="0" presId="urn:microsoft.com/office/officeart/2005/8/layout/vList6"/>
    <dgm:cxn modelId="{0CDBAF01-3804-41D5-8730-09E8EFD76782}" type="presParOf" srcId="{EB765247-D394-40B5-BB9C-AF1085CF12F8}" destId="{EB9FE11A-D235-4D73-A340-DD7FFEDAE86B}" srcOrd="1" destOrd="0" presId="urn:microsoft.com/office/officeart/2005/8/layout/vList6"/>
    <dgm:cxn modelId="{9922E0BD-5FB3-4A3B-AE13-B947730A2240}" type="presParOf" srcId="{88AF8E56-13E6-408E-A7E9-B83AC8A2CC1B}" destId="{BA7E5C36-B7C3-4534-AA9A-F5DEEF2E8874}" srcOrd="1" destOrd="0" presId="urn:microsoft.com/office/officeart/2005/8/layout/vList6"/>
    <dgm:cxn modelId="{82A94527-3BC8-4EBD-B796-E53511CF7C96}" type="presParOf" srcId="{88AF8E56-13E6-408E-A7E9-B83AC8A2CC1B}" destId="{AACF86B4-547F-4CE3-9197-0823E11834AB}" srcOrd="2" destOrd="0" presId="urn:microsoft.com/office/officeart/2005/8/layout/vList6"/>
    <dgm:cxn modelId="{59DEE027-703C-4840-AAC4-A840F7AAF8D6}" type="presParOf" srcId="{AACF86B4-547F-4CE3-9197-0823E11834AB}" destId="{8D22A17B-17FD-4266-B3E9-36AA3BCEE6A8}" srcOrd="0" destOrd="0" presId="urn:microsoft.com/office/officeart/2005/8/layout/vList6"/>
    <dgm:cxn modelId="{DD94503A-C714-4C4B-81DA-2578AE1DE25A}" type="presParOf" srcId="{AACF86B4-547F-4CE3-9197-0823E11834AB}" destId="{06366FE9-003A-489D-968E-9AF133878001}" srcOrd="1" destOrd="0" presId="urn:microsoft.com/office/officeart/2005/8/layout/vList6"/>
    <dgm:cxn modelId="{91C0638A-C091-4645-B377-F6C6A7FAA4AA}" type="presParOf" srcId="{88AF8E56-13E6-408E-A7E9-B83AC8A2CC1B}" destId="{73D9E974-AF5D-415D-9612-1AD7769EEAB9}" srcOrd="3" destOrd="0" presId="urn:microsoft.com/office/officeart/2005/8/layout/vList6"/>
    <dgm:cxn modelId="{53B28218-F21D-487F-98CE-E93FAE4C8E8C}" type="presParOf" srcId="{88AF8E56-13E6-408E-A7E9-B83AC8A2CC1B}" destId="{FBCC76D3-5479-4340-B0AA-2B2F7757D063}" srcOrd="4" destOrd="0" presId="urn:microsoft.com/office/officeart/2005/8/layout/vList6"/>
    <dgm:cxn modelId="{40DEBE3E-35CF-4FB6-A808-8DDA3E1498C0}" type="presParOf" srcId="{FBCC76D3-5479-4340-B0AA-2B2F7757D063}" destId="{87CD8930-79E4-44CC-9649-D3AC172357FC}" srcOrd="0" destOrd="0" presId="urn:microsoft.com/office/officeart/2005/8/layout/vList6"/>
    <dgm:cxn modelId="{9CBECE0A-B996-4FFC-BEF2-08AC0BA596E0}" type="presParOf" srcId="{FBCC76D3-5479-4340-B0AA-2B2F7757D063}" destId="{1B2D0A38-10A2-44C5-A110-B2FF1D6258CB}"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172200" cy="1944216"/>
        <a:chOff x="0" y="0"/>
        <a:chExt cx="6172200" cy="1944216"/>
      </a:xfrm>
    </dsp:grpSpPr>
    <dsp:sp modelId="{97527EBF-0E0A-4225-BED5-15810BA395FC}">
      <dsp:nvSpPr>
        <dsp:cNvPr id="3" name="圆角矩形 2"/>
        <dsp:cNvSpPr/>
      </dsp:nvSpPr>
      <dsp:spPr bwMode="white">
        <a:xfrm>
          <a:off x="0" y="162800"/>
          <a:ext cx="6172200" cy="1618615"/>
        </a:xfrm>
        <a:prstGeom prst="roundRect">
          <a:avLst/>
        </a:prstGeom>
      </dsp:spPr>
      <dsp:style>
        <a:lnRef idx="0">
          <a:schemeClr val="lt1"/>
        </a:lnRef>
        <a:fillRef idx="3">
          <a:schemeClr val="accent1"/>
        </a:fillRef>
        <a:effectRef idx="3">
          <a:scrgbClr r="0" g="0" b="0"/>
        </a:effectRef>
        <a:fontRef idx="minor">
          <a:schemeClr val="lt1"/>
        </a:fontRef>
      </dsp:style>
      <dsp:txBody>
        <a:bodyPr lIns="232410" tIns="232410" rIns="232410" bIns="232410" anchor="ctr"/>
        <a:lstStyle>
          <a:lvl1pPr algn="l">
            <a:defRPr sz="6100"/>
          </a:lvl1pPr>
          <a:lvl2pPr marL="285750" indent="-285750" algn="l">
            <a:defRPr sz="4700"/>
          </a:lvl2pPr>
          <a:lvl3pPr marL="571500" indent="-285750" algn="l">
            <a:defRPr sz="4700"/>
          </a:lvl3pPr>
          <a:lvl4pPr marL="857250" indent="-285750" algn="l">
            <a:defRPr sz="4700"/>
          </a:lvl4pPr>
          <a:lvl5pPr marL="1143000" indent="-285750" algn="l">
            <a:defRPr sz="4700"/>
          </a:lvl5pPr>
          <a:lvl6pPr marL="1428750" indent="-285750" algn="l">
            <a:defRPr sz="4700"/>
          </a:lvl6pPr>
          <a:lvl7pPr marL="1714500" indent="-285750" algn="l">
            <a:defRPr sz="4700"/>
          </a:lvl7pPr>
          <a:lvl8pPr marL="2000250" indent="-285750" algn="l">
            <a:defRPr sz="4700"/>
          </a:lvl8pPr>
          <a:lvl9pPr marL="2286000" indent="-285750" algn="l">
            <a:defRPr sz="4700"/>
          </a:lvl9pPr>
        </a:lstStyle>
        <a:p>
          <a:pPr lvl="0" rtl="0">
            <a:lnSpc>
              <a:spcPct val="100000"/>
            </a:lnSpc>
            <a:spcBef>
              <a:spcPct val="0"/>
            </a:spcBef>
            <a:spcAft>
              <a:spcPct val="35000"/>
            </a:spcAft>
          </a:pPr>
          <a:r>
            <a:rPr lang="zh-CN" b="1" baseline="0" dirty="0" smtClean="0"/>
            <a:t>计算机应用基础</a:t>
          </a:r>
          <a:endParaRPr lang="zh-CN" b="1" baseline="0" dirty="0"/>
        </a:p>
      </dsp:txBody>
      <dsp:txXfrm>
        <a:off x="0" y="162800"/>
        <a:ext cx="6172200" cy="161861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786742" cy="928694"/>
        <a:chOff x="0" y="0"/>
        <a:chExt cx="7786742" cy="928694"/>
      </a:xfrm>
    </dsp:grpSpPr>
    <dsp:sp modelId="{191C1678-3C4B-4B53-8B66-338AE857ECE5}">
      <dsp:nvSpPr>
        <dsp:cNvPr id="3" name="圆角矩形 2"/>
        <dsp:cNvSpPr/>
      </dsp:nvSpPr>
      <dsp:spPr bwMode="white">
        <a:xfrm>
          <a:off x="0" y="0"/>
          <a:ext cx="7786742" cy="928694"/>
        </a:xfrm>
        <a:prstGeom prst="roundRect">
          <a:avLst/>
        </a:prstGeom>
      </dsp:spPr>
      <dsp:style>
        <a:lnRef idx="2">
          <a:schemeClr val="lt1"/>
        </a:lnRef>
        <a:fillRef idx="1">
          <a:schemeClr val="accent2"/>
        </a:fillRef>
        <a:effectRef idx="0">
          <a:scrgbClr r="0" g="0" b="0"/>
        </a:effectRef>
        <a:fontRef idx="minor">
          <a:schemeClr val="lt1"/>
        </a:fontRef>
      </dsp:style>
      <dsp:txBody>
        <a:bodyPr lIns="60960" tIns="60960" rIns="60960" bIns="60960" anchor="ctr"/>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gn="l" rtl="0">
            <a:lnSpc>
              <a:spcPct val="100000"/>
            </a:lnSpc>
            <a:spcBef>
              <a:spcPct val="0"/>
            </a:spcBef>
            <a:spcAft>
              <a:spcPct val="35000"/>
            </a:spcAft>
          </a:pPr>
          <a:r>
            <a:rPr lang="en-US" altLang="zh-CN" sz="1600" dirty="0" smtClean="0">
              <a:solidFill>
                <a:schemeClr val="bg1"/>
              </a:solidFill>
            </a:rPr>
            <a:t>    </a:t>
          </a:r>
          <a:r>
            <a:rPr lang="zh-CN" sz="1600" dirty="0" smtClean="0">
              <a:solidFill>
                <a:schemeClr val="bg1"/>
              </a:solidFill>
            </a:rPr>
            <a:t>计算机安全是指计算机系统的硬件、软件、数据受到保护</a:t>
          </a:r>
          <a:r>
            <a:rPr lang="en-US" sz="1600" dirty="0" smtClean="0">
              <a:solidFill>
                <a:schemeClr val="bg1"/>
              </a:solidFill>
            </a:rPr>
            <a:t>,</a:t>
          </a:r>
          <a:r>
            <a:rPr lang="zh-CN" sz="1600" dirty="0" smtClean="0">
              <a:solidFill>
                <a:schemeClr val="bg1"/>
              </a:solidFill>
            </a:rPr>
            <a:t>即计算机信息系统资源和信息资源不受自然和人为等因素的威胁和危害</a:t>
          </a:r>
          <a:r>
            <a:rPr lang="en-US" sz="1600" dirty="0" smtClean="0">
              <a:solidFill>
                <a:schemeClr val="bg1"/>
              </a:solidFill>
            </a:rPr>
            <a:t>,</a:t>
          </a:r>
          <a:r>
            <a:rPr lang="zh-CN" sz="1600" dirty="0" smtClean="0">
              <a:solidFill>
                <a:schemeClr val="bg1"/>
              </a:solidFill>
            </a:rPr>
            <a:t>不因意外的因素而遭到破坏、更改、泄露</a:t>
          </a:r>
          <a:r>
            <a:rPr lang="en-US" sz="1600" dirty="0" smtClean="0">
              <a:solidFill>
                <a:schemeClr val="bg1"/>
              </a:solidFill>
            </a:rPr>
            <a:t>,</a:t>
          </a:r>
          <a:r>
            <a:rPr lang="zh-CN" sz="1600" dirty="0" smtClean="0">
              <a:solidFill>
                <a:schemeClr val="bg1"/>
              </a:solidFill>
            </a:rPr>
            <a:t>系统能够连续正常运行。</a:t>
          </a:r>
          <a:endParaRPr lang="zh-CN" sz="1600" dirty="0">
            <a:solidFill>
              <a:schemeClr val="bg1"/>
            </a:solidFill>
          </a:endParaRPr>
        </a:p>
      </dsp:txBody>
      <dsp:txXfrm>
        <a:off x="0" y="0"/>
        <a:ext cx="7786742" cy="928694"/>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786742" cy="751794"/>
        <a:chOff x="0" y="0"/>
        <a:chExt cx="7786742" cy="751794"/>
      </a:xfrm>
    </dsp:grpSpPr>
    <dsp:sp modelId="{96BB9C4B-F64A-418B-9824-A2E46C6F7A50}">
      <dsp:nvSpPr>
        <dsp:cNvPr id="3" name="圆角矩形 2"/>
        <dsp:cNvSpPr/>
      </dsp:nvSpPr>
      <dsp:spPr bwMode="white">
        <a:xfrm>
          <a:off x="0" y="0"/>
          <a:ext cx="7786742" cy="477520"/>
        </a:xfrm>
        <a:prstGeom prst="roundRect">
          <a:avLst/>
        </a:prstGeom>
      </dsp:spPr>
      <dsp:style>
        <a:lnRef idx="2">
          <a:schemeClr val="lt1"/>
        </a:lnRef>
        <a:fillRef idx="1">
          <a:schemeClr val="accent1"/>
        </a:fillRef>
        <a:effectRef idx="0">
          <a:scrgbClr r="0" g="0" b="0"/>
        </a:effectRef>
        <a:fontRef idx="minor">
          <a:schemeClr val="lt1"/>
        </a:fontRef>
      </dsp:style>
      <dsp:txBody>
        <a:bodyPr lIns="68580" tIns="68580" rIns="68580" bIns="68580" anchor="ctr"/>
        <a:lstStyle>
          <a:lvl1pPr algn="l">
            <a:defRPr sz="18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rtl="0">
            <a:lnSpc>
              <a:spcPct val="100000"/>
            </a:lnSpc>
            <a:spcBef>
              <a:spcPct val="0"/>
            </a:spcBef>
            <a:spcAft>
              <a:spcPct val="35000"/>
            </a:spcAft>
          </a:pPr>
          <a:r>
            <a:rPr lang="zh-CN" dirty="0" smtClean="0"/>
            <a:t>计算机安全通常包含保密性、完整性、可用性、可控性和不可抵赖性等属性。</a:t>
          </a:r>
          <a:endParaRPr lang="zh-CN" dirty="0"/>
        </a:p>
      </dsp:txBody>
      <dsp:txXfrm>
        <a:off x="0" y="0"/>
        <a:ext cx="7786742" cy="477520"/>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001056" cy="646331"/>
        <a:chOff x="0" y="0"/>
        <a:chExt cx="8001056" cy="646331"/>
      </a:xfrm>
    </dsp:grpSpPr>
    <dsp:sp modelId="{CB6D9F22-6A1C-486D-AD79-203B49E9D785}">
      <dsp:nvSpPr>
        <dsp:cNvPr id="3" name="圆角矩形 2"/>
        <dsp:cNvSpPr/>
      </dsp:nvSpPr>
      <dsp:spPr bwMode="white">
        <a:xfrm>
          <a:off x="0" y="98058"/>
          <a:ext cx="8001056" cy="450215"/>
        </a:xfrm>
        <a:prstGeom prst="roundRect">
          <a:avLst/>
        </a:prstGeom>
      </dsp:spPr>
      <dsp:style>
        <a:lnRef idx="2">
          <a:schemeClr val="lt1"/>
        </a:lnRef>
        <a:fillRef idx="1">
          <a:schemeClr val="accent4"/>
        </a:fillRef>
        <a:effectRef idx="0">
          <a:scrgbClr r="0" g="0" b="0"/>
        </a:effectRef>
        <a:fontRef idx="minor">
          <a:schemeClr val="lt1"/>
        </a:fontRef>
      </dsp:style>
      <dsp:txBody>
        <a:bodyPr lIns="64769" tIns="64769" rIns="64769" bIns="64769" anchor="ctr"/>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rtl="0">
            <a:lnSpc>
              <a:spcPct val="100000"/>
            </a:lnSpc>
            <a:spcBef>
              <a:spcPct val="0"/>
            </a:spcBef>
            <a:spcAft>
              <a:spcPct val="35000"/>
            </a:spcAft>
          </a:pPr>
          <a:r>
            <a:rPr lang="zh-CN" dirty="0" smtClean="0">
              <a:solidFill>
                <a:schemeClr val="tx1"/>
              </a:solidFill>
            </a:rPr>
            <a:t>影响计算机安全的因素很多</a:t>
          </a:r>
          <a:r>
            <a:rPr lang="en-US" dirty="0" smtClean="0">
              <a:solidFill>
                <a:schemeClr val="tx1"/>
              </a:solidFill>
            </a:rPr>
            <a:t>,</a:t>
          </a:r>
          <a:r>
            <a:rPr lang="zh-CN" dirty="0" smtClean="0">
              <a:solidFill>
                <a:schemeClr val="tx1"/>
              </a:solidFill>
            </a:rPr>
            <a:t>包括人为因素、自然因素、系统设计因素和网络因素。</a:t>
          </a:r>
          <a:endParaRPr lang="zh-CN" dirty="0">
            <a:solidFill>
              <a:schemeClr val="tx1"/>
            </a:solidFill>
          </a:endParaRPr>
        </a:p>
      </dsp:txBody>
      <dsp:txXfrm>
        <a:off x="0" y="98058"/>
        <a:ext cx="8001056" cy="450215"/>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572428" cy="3590766"/>
        <a:chOff x="0" y="0"/>
        <a:chExt cx="7572428" cy="3590766"/>
      </a:xfrm>
    </dsp:grpSpPr>
    <dsp:sp modelId="{EB9FE11A-D235-4D73-A340-DD7FFEDAE86B}">
      <dsp:nvSpPr>
        <dsp:cNvPr id="4" name="右箭头 3"/>
        <dsp:cNvSpPr/>
      </dsp:nvSpPr>
      <dsp:spPr bwMode="white">
        <a:xfrm>
          <a:off x="2071695" y="0"/>
          <a:ext cx="5457873" cy="1122114"/>
        </a:xfrm>
        <a:prstGeom prst="rightArrow">
          <a:avLst>
            <a:gd name="adj1" fmla="val 75000"/>
            <a:gd name="adj2" fmla="val 50000"/>
          </a:avLst>
        </a:prstGeom>
      </dsp:spPr>
      <dsp:style>
        <a:lnRef idx="2">
          <a:schemeClr val="accent4">
            <a:tint val="40000"/>
            <a:alpha val="90000"/>
            <a:hueOff val="0"/>
            <a:satOff val="0"/>
            <a:lumOff val="0"/>
            <a:alpha val="90196"/>
          </a:schemeClr>
        </a:lnRef>
        <a:fillRef idx="1">
          <a:schemeClr val="accent4">
            <a:tint val="40000"/>
            <a:alpha val="90000"/>
            <a:hueOff val="0"/>
            <a:satOff val="0"/>
            <a:lumOff val="0"/>
            <a:alpha val="90196"/>
          </a:schemeClr>
        </a:fillRef>
        <a:effectRef idx="0">
          <a:scrgbClr r="0" g="0" b="0"/>
        </a:effectRef>
        <a:fontRef idx="minor"/>
      </dsp:style>
      <dsp:txBody>
        <a:bodyPr lIns="10795" tIns="10795" rIns="10795" bIns="10795" anchor="t"/>
        <a:lstStyle>
          <a:lvl1pPr algn="l">
            <a:defRPr sz="17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1" algn="l" rtl="0">
            <a:lnSpc>
              <a:spcPct val="100000"/>
            </a:lnSpc>
            <a:spcBef>
              <a:spcPct val="0"/>
            </a:spcBef>
            <a:spcAft>
              <a:spcPct val="15000"/>
            </a:spcAft>
            <a:buChar char="•"/>
          </a:pPr>
          <a:r>
            <a:rPr lang="zh-CN" dirty="0" smtClean="0">
              <a:solidFill>
                <a:schemeClr val="tx1"/>
              </a:solidFill>
            </a:rPr>
            <a:t>互联网上的每台计算机被分配了一个唯一的地址</a:t>
          </a:r>
          <a:r>
            <a:rPr lang="en-US" dirty="0" smtClean="0">
              <a:solidFill>
                <a:schemeClr val="tx1"/>
              </a:solidFill>
            </a:rPr>
            <a:t>,</a:t>
          </a:r>
          <a:r>
            <a:rPr lang="zh-CN" dirty="0" smtClean="0">
              <a:solidFill>
                <a:schemeClr val="tx1"/>
              </a:solidFill>
            </a:rPr>
            <a:t>如果公司外部的某个</a:t>
          </a:r>
          <a:r>
            <a:rPr lang="en-US" dirty="0" smtClean="0">
              <a:solidFill>
                <a:schemeClr val="tx1"/>
              </a:solidFill>
            </a:rPr>
            <a:t>IP</a:t>
          </a:r>
          <a:r>
            <a:rPr lang="zh-CN" dirty="0" smtClean="0">
              <a:solidFill>
                <a:schemeClr val="tx1"/>
              </a:solidFill>
            </a:rPr>
            <a:t>地址从服务器读取了过多文件</a:t>
          </a:r>
          <a:r>
            <a:rPr lang="en-US" dirty="0" smtClean="0">
              <a:solidFill>
                <a:schemeClr val="tx1"/>
              </a:solidFill>
            </a:rPr>
            <a:t>,</a:t>
          </a:r>
          <a:r>
            <a:rPr lang="zh-CN" dirty="0" smtClean="0">
              <a:solidFill>
                <a:schemeClr val="tx1"/>
              </a:solidFill>
            </a:rPr>
            <a:t>则防火墙可以阻止与该</a:t>
          </a:r>
          <a:r>
            <a:rPr lang="en-US" dirty="0" smtClean="0">
              <a:solidFill>
                <a:schemeClr val="tx1"/>
              </a:solidFill>
            </a:rPr>
            <a:t>IP</a:t>
          </a:r>
          <a:r>
            <a:rPr lang="zh-CN" dirty="0" smtClean="0">
              <a:solidFill>
                <a:schemeClr val="tx1"/>
              </a:solidFill>
            </a:rPr>
            <a:t>地址之间的所有通信。</a:t>
          </a:r>
          <a:endParaRPr lang="zh-CN" altLang="en-US" dirty="0">
            <a:solidFill>
              <a:schemeClr val="tx1"/>
            </a:solidFill>
          </a:endParaRPr>
        </a:p>
      </dsp:txBody>
      <dsp:txXfrm>
        <a:off x="2071695" y="0"/>
        <a:ext cx="5457873" cy="1122114"/>
      </dsp:txXfrm>
    </dsp:sp>
    <dsp:sp modelId="{E7F1FF80-AFC0-4DDD-84BB-BD90B2523F26}">
      <dsp:nvSpPr>
        <dsp:cNvPr id="3" name="圆角矩形 2"/>
        <dsp:cNvSpPr/>
      </dsp:nvSpPr>
      <dsp:spPr bwMode="white">
        <a:xfrm>
          <a:off x="0" y="0"/>
          <a:ext cx="2028835" cy="1122114"/>
        </a:xfrm>
        <a:prstGeom prst="roundRect">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800" dirty="0" smtClean="0">
              <a:solidFill>
                <a:schemeClr val="tx1"/>
              </a:solidFill>
            </a:rPr>
            <a:t>(1)IP</a:t>
          </a:r>
          <a:r>
            <a:rPr lang="zh-CN" sz="1800" dirty="0" smtClean="0">
              <a:solidFill>
                <a:schemeClr val="tx1"/>
              </a:solidFill>
            </a:rPr>
            <a:t>地址</a:t>
          </a:r>
          <a:endParaRPr lang="zh-CN" sz="1800" dirty="0">
            <a:solidFill>
              <a:schemeClr val="tx1"/>
            </a:solidFill>
          </a:endParaRPr>
        </a:p>
      </dsp:txBody>
      <dsp:txXfrm>
        <a:off x="0" y="0"/>
        <a:ext cx="2028835" cy="1122114"/>
      </dsp:txXfrm>
    </dsp:sp>
    <dsp:sp modelId="{06366FE9-003A-489D-968E-9AF133878001}">
      <dsp:nvSpPr>
        <dsp:cNvPr id="6" name="右箭头 5"/>
        <dsp:cNvSpPr/>
      </dsp:nvSpPr>
      <dsp:spPr bwMode="white">
        <a:xfrm>
          <a:off x="2071695" y="1234326"/>
          <a:ext cx="5457873" cy="1122114"/>
        </a:xfrm>
        <a:prstGeom prst="rightArrow">
          <a:avLst>
            <a:gd name="adj1" fmla="val 75000"/>
            <a:gd name="adj2" fmla="val 50000"/>
          </a:avLst>
        </a:prstGeom>
      </dsp:spPr>
      <dsp:style>
        <a:lnRef idx="2">
          <a:schemeClr val="accent4">
            <a:tint val="40000"/>
            <a:alpha val="90000"/>
            <a:hueOff val="2100000"/>
            <a:satOff val="784"/>
            <a:lumOff val="-195"/>
            <a:alpha val="90196"/>
          </a:schemeClr>
        </a:lnRef>
        <a:fillRef idx="1">
          <a:schemeClr val="accent4">
            <a:tint val="40000"/>
            <a:alpha val="90000"/>
            <a:hueOff val="2100000"/>
            <a:satOff val="784"/>
            <a:lumOff val="-195"/>
            <a:alpha val="90196"/>
          </a:schemeClr>
        </a:fillRef>
        <a:effectRef idx="0">
          <a:scrgbClr r="0" g="0" b="0"/>
        </a:effectRef>
        <a:fontRef idx="minor"/>
      </dsp:style>
      <dsp:txBody>
        <a:bodyPr lIns="10795" tIns="10795" rIns="10795" bIns="10795" anchor="t"/>
        <a:lstStyle>
          <a:lvl1pPr algn="l">
            <a:defRPr sz="17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1" rtl="0">
            <a:lnSpc>
              <a:spcPct val="100000"/>
            </a:lnSpc>
            <a:spcBef>
              <a:spcPct val="0"/>
            </a:spcBef>
            <a:spcAft>
              <a:spcPct val="15000"/>
            </a:spcAft>
            <a:buChar char="•"/>
          </a:pPr>
          <a:endParaRPr lang="zh-CN" altLang="en-US" dirty="0">
            <a:solidFill>
              <a:schemeClr val="tx1"/>
            </a:solidFill>
          </a:endParaRPr>
        </a:p>
        <a:p>
          <a:pPr lvl="1" rtl="0">
            <a:lnSpc>
              <a:spcPct val="100000"/>
            </a:lnSpc>
            <a:spcBef>
              <a:spcPct val="0"/>
            </a:spcBef>
            <a:spcAft>
              <a:spcPct val="15000"/>
            </a:spcAft>
            <a:buChar char="•"/>
          </a:pPr>
          <a:r>
            <a:rPr lang="zh-CN" dirty="0" smtClean="0">
              <a:solidFill>
                <a:schemeClr val="tx1"/>
              </a:solidFill>
            </a:rPr>
            <a:t>防火墙可以阻止特定域名访问。</a:t>
          </a:r>
          <a:endParaRPr lang="zh-CN" altLang="en-US" dirty="0">
            <a:solidFill>
              <a:schemeClr val="tx1"/>
            </a:solidFill>
          </a:endParaRPr>
        </a:p>
      </dsp:txBody>
      <dsp:txXfrm>
        <a:off x="2071695" y="1234326"/>
        <a:ext cx="5457873" cy="1122114"/>
      </dsp:txXfrm>
    </dsp:sp>
    <dsp:sp modelId="{8D22A17B-17FD-4266-B3E9-36AA3BCEE6A8}">
      <dsp:nvSpPr>
        <dsp:cNvPr id="5" name="圆角矩形 4"/>
        <dsp:cNvSpPr/>
      </dsp:nvSpPr>
      <dsp:spPr bwMode="white">
        <a:xfrm>
          <a:off x="0" y="1234326"/>
          <a:ext cx="2028835" cy="1122114"/>
        </a:xfrm>
        <a:prstGeom prst="roundRect">
          <a:avLst/>
        </a:prstGeom>
      </dsp:spPr>
      <dsp:style>
        <a:lnRef idx="2">
          <a:schemeClr val="lt1"/>
        </a:lnRef>
        <a:fillRef idx="1">
          <a:schemeClr val="accent4">
            <a:hueOff val="2400000"/>
            <a:satOff val="5882"/>
            <a:lumOff val="-1568"/>
            <a:alpha val="100000"/>
          </a:schemeClr>
        </a:fillRef>
        <a:effectRef idx="0">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800" dirty="0" smtClean="0">
              <a:solidFill>
                <a:schemeClr val="tx1"/>
              </a:solidFill>
            </a:rPr>
            <a:t>(2)</a:t>
          </a:r>
          <a:r>
            <a:rPr lang="zh-CN" sz="1800" dirty="0" smtClean="0">
              <a:solidFill>
                <a:schemeClr val="tx1"/>
              </a:solidFill>
            </a:rPr>
            <a:t>域名</a:t>
          </a:r>
          <a:endParaRPr lang="zh-CN" sz="1800" dirty="0">
            <a:solidFill>
              <a:schemeClr val="tx1"/>
            </a:solidFill>
          </a:endParaRPr>
        </a:p>
      </dsp:txBody>
      <dsp:txXfrm>
        <a:off x="0" y="1234326"/>
        <a:ext cx="2028835" cy="1122114"/>
      </dsp:txXfrm>
    </dsp:sp>
    <dsp:sp modelId="{1B2D0A38-10A2-44C5-A110-B2FF1D6258CB}">
      <dsp:nvSpPr>
        <dsp:cNvPr id="8" name="右箭头 7"/>
        <dsp:cNvSpPr/>
      </dsp:nvSpPr>
      <dsp:spPr bwMode="white">
        <a:xfrm>
          <a:off x="2071695" y="2468652"/>
          <a:ext cx="5457873" cy="1122114"/>
        </a:xfrm>
        <a:prstGeom prst="rightArrow">
          <a:avLst>
            <a:gd name="adj1" fmla="val 75000"/>
            <a:gd name="adj2" fmla="val 50000"/>
          </a:avLst>
        </a:prstGeom>
      </dsp:spPr>
      <dsp:style>
        <a:lnRef idx="2">
          <a:schemeClr val="accent4">
            <a:tint val="40000"/>
            <a:alpha val="90000"/>
            <a:hueOff val="4200000"/>
            <a:satOff val="1569"/>
            <a:lumOff val="-391"/>
            <a:alpha val="90196"/>
          </a:schemeClr>
        </a:lnRef>
        <a:fillRef idx="1">
          <a:schemeClr val="accent4">
            <a:tint val="40000"/>
            <a:alpha val="90000"/>
            <a:hueOff val="4200000"/>
            <a:satOff val="1569"/>
            <a:lumOff val="-391"/>
            <a:alpha val="90196"/>
          </a:schemeClr>
        </a:fillRef>
        <a:effectRef idx="0">
          <a:scrgbClr r="0" g="0" b="0"/>
        </a:effectRef>
        <a:fontRef idx="minor"/>
      </dsp:style>
      <dsp:txBody>
        <a:bodyPr lIns="10795" tIns="10795" rIns="10795" bIns="10795" anchor="t"/>
        <a:lstStyle>
          <a:lvl1pPr algn="l">
            <a:defRPr sz="17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1" rtl="0">
            <a:lnSpc>
              <a:spcPct val="100000"/>
            </a:lnSpc>
            <a:spcBef>
              <a:spcPct val="0"/>
            </a:spcBef>
            <a:spcAft>
              <a:spcPct val="15000"/>
            </a:spcAft>
            <a:buChar char="•"/>
          </a:pPr>
          <a:r>
            <a:rPr lang="zh-CN" dirty="0" smtClean="0">
              <a:solidFill>
                <a:schemeClr val="tx1"/>
              </a:solidFill>
            </a:rPr>
            <a:t>防火墙可以只设置一台或两台计算机来处理特定协议</a:t>
          </a:r>
          <a:r>
            <a:rPr lang="en-US" dirty="0" smtClean="0">
              <a:solidFill>
                <a:schemeClr val="tx1"/>
              </a:solidFill>
            </a:rPr>
            <a:t>,</a:t>
          </a:r>
          <a:r>
            <a:rPr lang="zh-CN" dirty="0" smtClean="0">
              <a:solidFill>
                <a:schemeClr val="tx1"/>
              </a:solidFill>
            </a:rPr>
            <a:t>而在其他所有计算机上禁用该协议。</a:t>
          </a:r>
          <a:endParaRPr lang="zh-CN" altLang="en-US" dirty="0">
            <a:solidFill>
              <a:schemeClr val="tx1"/>
            </a:solidFill>
          </a:endParaRPr>
        </a:p>
      </dsp:txBody>
      <dsp:txXfrm>
        <a:off x="2071695" y="2468652"/>
        <a:ext cx="5457873" cy="1122114"/>
      </dsp:txXfrm>
    </dsp:sp>
    <dsp:sp modelId="{87CD8930-79E4-44CC-9649-D3AC172357FC}">
      <dsp:nvSpPr>
        <dsp:cNvPr id="7" name="圆角矩形 6"/>
        <dsp:cNvSpPr/>
      </dsp:nvSpPr>
      <dsp:spPr bwMode="white">
        <a:xfrm>
          <a:off x="0" y="2468652"/>
          <a:ext cx="2028835" cy="1122114"/>
        </a:xfrm>
        <a:prstGeom prst="roundRect">
          <a:avLst/>
        </a:prstGeom>
      </dsp:spPr>
      <dsp:style>
        <a:lnRef idx="2">
          <a:schemeClr val="lt1"/>
        </a:lnRef>
        <a:fillRef idx="1">
          <a:schemeClr val="accent4">
            <a:hueOff val="4800000"/>
            <a:satOff val="11765"/>
            <a:lumOff val="-3136"/>
            <a:alpha val="100000"/>
          </a:schemeClr>
        </a:fillRef>
        <a:effectRef idx="0">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800" dirty="0" smtClean="0">
              <a:solidFill>
                <a:schemeClr val="tx1"/>
              </a:solidFill>
            </a:rPr>
            <a:t>(3)</a:t>
          </a:r>
          <a:r>
            <a:rPr lang="zh-CN" sz="1800" dirty="0" smtClean="0">
              <a:solidFill>
                <a:schemeClr val="tx1"/>
              </a:solidFill>
            </a:rPr>
            <a:t>协议</a:t>
          </a:r>
          <a:endParaRPr lang="zh-CN" sz="1800" dirty="0">
            <a:solidFill>
              <a:schemeClr val="tx1"/>
            </a:solidFill>
          </a:endParaRPr>
        </a:p>
      </dsp:txBody>
      <dsp:txXfrm>
        <a:off x="0" y="2468652"/>
        <a:ext cx="2028835" cy="112211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type="rightArrow" r:blip="" rot="180"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632BC719-7C55-4B95-8FD5-639CCFF7729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diagramData" Target="../diagrams/data3.xml"/><Relationship Id="rId8" Type="http://schemas.microsoft.com/office/2007/relationships/diagramDrawing" Target="../diagrams/drawing2.xml"/><Relationship Id="rId7" Type="http://schemas.openxmlformats.org/officeDocument/2006/relationships/diagramColors" Target="../diagrams/colors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3" Type="http://schemas.openxmlformats.org/officeDocument/2006/relationships/image" Target="../media/image4.jpeg"/><Relationship Id="rId2" Type="http://schemas.openxmlformats.org/officeDocument/2006/relationships/image" Target="../media/image3.jpeg"/><Relationship Id="rId19" Type="http://schemas.openxmlformats.org/officeDocument/2006/relationships/slideLayout" Target="../slideLayouts/slideLayout2.xml"/><Relationship Id="rId18" Type="http://schemas.microsoft.com/office/2007/relationships/diagramDrawing" Target="../diagrams/drawing4.xml"/><Relationship Id="rId17" Type="http://schemas.openxmlformats.org/officeDocument/2006/relationships/diagramColors" Target="../diagrams/colors4.xml"/><Relationship Id="rId16" Type="http://schemas.openxmlformats.org/officeDocument/2006/relationships/diagramQuickStyle" Target="../diagrams/quickStyle4.xml"/><Relationship Id="rId15" Type="http://schemas.openxmlformats.org/officeDocument/2006/relationships/diagramLayout" Target="../diagrams/layout4.xml"/><Relationship Id="rId14" Type="http://schemas.openxmlformats.org/officeDocument/2006/relationships/diagramData" Target="../diagrams/data4.xml"/><Relationship Id="rId13" Type="http://schemas.microsoft.com/office/2007/relationships/diagramDrawing" Target="../diagrams/drawing3.xml"/><Relationship Id="rId12" Type="http://schemas.openxmlformats.org/officeDocument/2006/relationships/diagramColors" Target="../diagrams/colors3.xml"/><Relationship Id="rId11" Type="http://schemas.openxmlformats.org/officeDocument/2006/relationships/diagramQuickStyle" Target="../diagrams/quickStyle3.xml"/><Relationship Id="rId10" Type="http://schemas.openxmlformats.org/officeDocument/2006/relationships/diagramLayout" Target="../diagrams/layout3.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microsoft.com/office/2007/relationships/diagramDrawing" Target="../diagrams/drawing5.xml"/><Relationship Id="rId7" Type="http://schemas.openxmlformats.org/officeDocument/2006/relationships/diagramColors" Target="../diagrams/colors5.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mailto:my_mail@163.com" TargetMode="Externa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aphicFrame>
        <p:nvGraphicFramePr>
          <p:cNvPr id="5" name="图示 4"/>
          <p:cNvGraphicFramePr/>
          <p:nvPr/>
        </p:nvGraphicFramePr>
        <p:xfrm>
          <a:off x="3191034" y="2276872"/>
          <a:ext cx="6172200" cy="19442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副标题 2"/>
          <p:cNvSpPr>
            <a:spLocks noGrp="1"/>
          </p:cNvSpPr>
          <p:nvPr>
            <p:ph type="subTitle" idx="1"/>
          </p:nvPr>
        </p:nvSpPr>
        <p:spPr/>
        <p:txBody>
          <a:bodyPr/>
          <a:lstStyle/>
          <a:p>
            <a:r>
              <a:rPr lang="zh-CN" altLang="en-US" dirty="0" smtClean="0">
                <a:solidFill>
                  <a:schemeClr val="accent1">
                    <a:lumMod val="75000"/>
                  </a:schemeClr>
                </a:solidFill>
                <a:effectLst>
                  <a:outerShdw blurRad="38100" dist="38100" dir="2700000" algn="tl">
                    <a:srgbClr val="000000">
                      <a:alpha val="43137"/>
                    </a:srgbClr>
                  </a:outerShdw>
                </a:effectLst>
              </a:rPr>
              <a:t> </a:t>
            </a:r>
            <a:endParaRPr lang="zh-CN" altLang="en-US" dirty="0">
              <a:solidFill>
                <a:schemeClr val="accent1">
                  <a:lumMod val="75000"/>
                </a:schemeClr>
              </a:solidFill>
              <a:effectLst>
                <a:outerShdw blurRad="38100" dist="38100" dir="2700000" algn="tl">
                  <a:srgbClr val="000000">
                    <a:alpha val="43137"/>
                  </a:srgbClr>
                </a:outerShdw>
              </a:effectLst>
            </a:endParaRPr>
          </a:p>
        </p:txBody>
      </p:sp>
      <p:sp>
        <p:nvSpPr>
          <p:cNvPr id="4" name="TextBox 3"/>
          <p:cNvSpPr txBox="1"/>
          <p:nvPr/>
        </p:nvSpPr>
        <p:spPr>
          <a:xfrm>
            <a:off x="5303912" y="188640"/>
            <a:ext cx="5184576" cy="368300"/>
          </a:xfrm>
          <a:prstGeom prst="rect">
            <a:avLst/>
          </a:prstGeom>
          <a:noFill/>
        </p:spPr>
        <p:txBody>
          <a:bodyPr wrap="square" rtlCol="0">
            <a:spAutoFit/>
          </a:bodyPr>
          <a:lstStyle/>
          <a:p>
            <a:pPr algn="r"/>
            <a:r>
              <a:rPr lang="en-US" altLang="zh-CN" dirty="0" smtClean="0">
                <a:solidFill>
                  <a:schemeClr val="accent1">
                    <a:lumMod val="75000"/>
                  </a:schemeClr>
                </a:solidFill>
              </a:rPr>
              <a:t> </a:t>
            </a:r>
            <a:endParaRPr lang="zh-CN" altLang="zh-CN" dirty="0">
              <a:solidFill>
                <a:schemeClr val="accent1">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7" name="8A0.EPS" descr="id:2147497546;FounderCES"/>
          <p:cNvPicPr/>
          <p:nvPr/>
        </p:nvPicPr>
        <p:blipFill>
          <a:blip r:embed="rId2"/>
          <a:stretch>
            <a:fillRect/>
          </a:stretch>
        </p:blipFill>
        <p:spPr>
          <a:xfrm>
            <a:off x="3238480" y="1571612"/>
            <a:ext cx="6500858" cy="4786346"/>
          </a:xfrm>
          <a:prstGeom prst="rect">
            <a:avLst/>
          </a:prstGeom>
        </p:spPr>
        <p:style>
          <a:lnRef idx="1">
            <a:schemeClr val="accent1"/>
          </a:lnRef>
          <a:fillRef idx="3">
            <a:schemeClr val="accent1"/>
          </a:fillRef>
          <a:effectRef idx="2">
            <a:schemeClr val="accent1"/>
          </a:effectRef>
          <a:fontRef idx="minor">
            <a:schemeClr val="lt1"/>
          </a:fontRef>
        </p:style>
      </p:pic>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3"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4" cstate="print"/>
          <a:srcRect/>
          <a:stretch>
            <a:fillRect/>
          </a:stretch>
        </p:blipFill>
        <p:spPr bwMode="auto">
          <a:xfrm>
            <a:off x="1524000" y="0"/>
            <a:ext cx="180975" cy="104775"/>
          </a:xfrm>
          <a:prstGeom prst="rect">
            <a:avLst/>
          </a:prstGeom>
          <a:noFill/>
        </p:spPr>
      </p:pic>
      <p:pic>
        <p:nvPicPr>
          <p:cNvPr id="6" name="知识导论.EPS" descr="id:2147497539;FounderCES"/>
          <p:cNvPicPr/>
          <p:nvPr/>
        </p:nvPicPr>
        <p:blipFill>
          <a:blip r:embed="rId5"/>
          <a:stretch>
            <a:fillRect/>
          </a:stretch>
        </p:blipFill>
        <p:spPr>
          <a:xfrm>
            <a:off x="1952596" y="2000240"/>
            <a:ext cx="1928826" cy="571504"/>
          </a:xfrm>
          <a:prstGeom prst="rect">
            <a:avLst/>
          </a:prstGeom>
        </p:spPr>
        <p:style>
          <a:lnRef idx="1">
            <a:schemeClr val="accent1"/>
          </a:lnRef>
          <a:fillRef idx="3">
            <a:schemeClr val="accent1"/>
          </a:fillRef>
          <a:effectRef idx="2">
            <a:schemeClr val="accent1"/>
          </a:effectRef>
          <a:fontRef idx="minor">
            <a:schemeClr val="lt1"/>
          </a:fontRef>
        </p:style>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8.1</a:t>
            </a:r>
            <a:r>
              <a:rPr lang="zh-CN" altLang="en-US" dirty="0" smtClean="0"/>
              <a:t>　计算机安全概述</a:t>
            </a:r>
            <a:endParaRPr lang="en-US" altLang="zh-CN" dirty="0" smtClean="0"/>
          </a:p>
          <a:p>
            <a:pPr>
              <a:lnSpc>
                <a:spcPct val="150000"/>
              </a:lnSpc>
            </a:pPr>
            <a:endParaRPr lang="en-US" altLang="zh-CN" dirty="0" smtClean="0"/>
          </a:p>
          <a:p>
            <a:pPr>
              <a:lnSpc>
                <a:spcPct val="150000"/>
              </a:lnSpc>
            </a:pPr>
            <a:endParaRPr lang="zh-CN" altLang="en-US" dirty="0" smtClean="0"/>
          </a:p>
          <a:p>
            <a:pPr>
              <a:lnSpc>
                <a:spcPct val="150000"/>
              </a:lnSpc>
              <a:buNone/>
            </a:pPr>
            <a:r>
              <a:rPr lang="en-US" sz="2000" dirty="0" smtClean="0"/>
              <a:t>※ </a:t>
            </a:r>
            <a:r>
              <a:rPr lang="zh-CN" altLang="en-US" sz="2000" dirty="0" smtClean="0"/>
              <a:t>了解计算机安全所涵盖的内容</a:t>
            </a:r>
            <a:r>
              <a:rPr lang="en-US" sz="2000" dirty="0" smtClean="0"/>
              <a:t>;</a:t>
            </a:r>
            <a:endParaRPr lang="zh-CN" altLang="en-US" sz="2000" dirty="0" smtClean="0"/>
          </a:p>
          <a:p>
            <a:pPr>
              <a:lnSpc>
                <a:spcPct val="150000"/>
              </a:lnSpc>
              <a:buNone/>
            </a:pPr>
            <a:r>
              <a:rPr lang="en-US" sz="2000" dirty="0" smtClean="0"/>
              <a:t>※ </a:t>
            </a:r>
            <a:r>
              <a:rPr lang="zh-CN" altLang="en-US" sz="2000" dirty="0" smtClean="0"/>
              <a:t>了解计算机安全的属性</a:t>
            </a:r>
            <a:r>
              <a:rPr lang="en-US" sz="2000" dirty="0" smtClean="0"/>
              <a:t>;</a:t>
            </a:r>
            <a:endParaRPr lang="zh-CN" altLang="en-US" sz="2000" dirty="0" smtClean="0"/>
          </a:p>
          <a:p>
            <a:pPr>
              <a:lnSpc>
                <a:spcPct val="150000"/>
              </a:lnSpc>
              <a:buNone/>
            </a:pPr>
            <a:r>
              <a:rPr lang="en-US" sz="2000" dirty="0" smtClean="0"/>
              <a:t>※ </a:t>
            </a:r>
            <a:r>
              <a:rPr lang="zh-CN" altLang="en-US" sz="2000" dirty="0" smtClean="0"/>
              <a:t>了解影响计算机安全的主要因素。</a:t>
            </a:r>
            <a:endParaRPr lang="zh-CN" altLang="en-US" sz="2000" dirty="0" smtClean="0"/>
          </a:p>
          <a:p>
            <a:pPr>
              <a:lnSpc>
                <a:spcPct val="150000"/>
              </a:lnSpc>
              <a:buNone/>
            </a:pPr>
            <a:endParaRPr lang="zh-CN" altLang="en-US" dirty="0"/>
          </a:p>
        </p:txBody>
      </p:sp>
      <p:pic>
        <p:nvPicPr>
          <p:cNvPr id="6" name="学习目标.EPS" descr="id:2147497561;FounderCES"/>
          <p:cNvPicPr/>
          <p:nvPr/>
        </p:nvPicPr>
        <p:blipFill>
          <a:blip r:embed="rId4"/>
          <a:stretch>
            <a:fillRect/>
          </a:stretch>
        </p:blipFill>
        <p:spPr>
          <a:xfrm>
            <a:off x="2309786" y="2500306"/>
            <a:ext cx="1714512" cy="5715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30000"/>
              </a:lnSpc>
            </a:pPr>
            <a:r>
              <a:rPr lang="en-US" dirty="0" smtClean="0"/>
              <a:t>8.1.1</a:t>
            </a:r>
            <a:r>
              <a:rPr lang="zh-CN" altLang="en-US" dirty="0" smtClean="0"/>
              <a:t>　计算机安全所涵盖的内容</a:t>
            </a:r>
            <a:endParaRPr lang="en-US" altLang="zh-CN" dirty="0" smtClean="0"/>
          </a:p>
          <a:p>
            <a:pPr>
              <a:lnSpc>
                <a:spcPct val="130000"/>
              </a:lnSpc>
            </a:pPr>
            <a:endParaRPr lang="zh-CN" altLang="en-US" dirty="0" smtClean="0"/>
          </a:p>
          <a:p>
            <a:pPr>
              <a:lnSpc>
                <a:spcPct val="130000"/>
              </a:lnSpc>
              <a:buNone/>
            </a:pPr>
            <a:r>
              <a:rPr lang="zh-CN" altLang="en-US" sz="2000" dirty="0" smtClean="0"/>
              <a:t>      </a:t>
            </a:r>
            <a:endParaRPr lang="zh-CN" altLang="en-US" sz="2000" dirty="0" smtClean="0"/>
          </a:p>
          <a:p>
            <a:pPr>
              <a:lnSpc>
                <a:spcPct val="130000"/>
              </a:lnSpc>
            </a:pPr>
            <a:r>
              <a:rPr lang="en-US" dirty="0" smtClean="0"/>
              <a:t>8.1.2</a:t>
            </a:r>
            <a:r>
              <a:rPr lang="zh-CN" altLang="en-US" dirty="0" smtClean="0"/>
              <a:t>　计算机安全的属性</a:t>
            </a:r>
            <a:endParaRPr lang="en-US" altLang="zh-CN" dirty="0" smtClean="0"/>
          </a:p>
          <a:p>
            <a:pPr>
              <a:lnSpc>
                <a:spcPct val="130000"/>
              </a:lnSpc>
            </a:pPr>
            <a:endParaRPr lang="zh-CN" altLang="en-US" dirty="0" smtClean="0"/>
          </a:p>
          <a:p>
            <a:pPr>
              <a:lnSpc>
                <a:spcPct val="130000"/>
              </a:lnSpc>
            </a:pPr>
            <a:endParaRPr lang="en-US" dirty="0" smtClean="0"/>
          </a:p>
          <a:p>
            <a:pPr>
              <a:lnSpc>
                <a:spcPct val="130000"/>
              </a:lnSpc>
            </a:pPr>
            <a:r>
              <a:rPr lang="en-US" dirty="0" smtClean="0"/>
              <a:t>8.1.3</a:t>
            </a:r>
            <a:r>
              <a:rPr lang="zh-CN" altLang="en-US" dirty="0" smtClean="0"/>
              <a:t>　影响计算机安全的因素</a:t>
            </a:r>
            <a:endParaRPr lang="zh-CN" altLang="en-US" dirty="0" smtClean="0"/>
          </a:p>
          <a:p>
            <a:pPr>
              <a:lnSpc>
                <a:spcPct val="130000"/>
              </a:lnSpc>
              <a:buNone/>
            </a:pPr>
            <a:r>
              <a:rPr lang="zh-CN" altLang="en-US" sz="2000" dirty="0" smtClean="0"/>
              <a:t>      </a:t>
            </a:r>
            <a:endParaRPr lang="zh-CN" altLang="en-US" sz="2000" dirty="0"/>
          </a:p>
        </p:txBody>
      </p:sp>
      <p:graphicFrame>
        <p:nvGraphicFramePr>
          <p:cNvPr id="7" name="图示 6"/>
          <p:cNvGraphicFramePr/>
          <p:nvPr/>
        </p:nvGraphicFramePr>
        <p:xfrm>
          <a:off x="2095472" y="2214554"/>
          <a:ext cx="7786742" cy="92869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0" name="图示 9"/>
          <p:cNvGraphicFramePr/>
          <p:nvPr/>
        </p:nvGraphicFramePr>
        <p:xfrm>
          <a:off x="2095472" y="4034528"/>
          <a:ext cx="7786742" cy="75179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12" name="图示 11"/>
          <p:cNvGraphicFramePr/>
          <p:nvPr/>
        </p:nvGraphicFramePr>
        <p:xfrm>
          <a:off x="2024034" y="5286388"/>
          <a:ext cx="8001056" cy="646331"/>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30000"/>
              </a:lnSpc>
            </a:pPr>
            <a:r>
              <a:rPr lang="en-US" dirty="0" smtClean="0"/>
              <a:t>8.1.4</a:t>
            </a:r>
            <a:r>
              <a:rPr lang="zh-CN" altLang="en-US" dirty="0" smtClean="0"/>
              <a:t>　计算机安全的等级标准</a:t>
            </a:r>
            <a:endParaRPr lang="zh-CN" altLang="en-US" dirty="0" smtClean="0"/>
          </a:p>
          <a:p>
            <a:pPr>
              <a:lnSpc>
                <a:spcPct val="130000"/>
              </a:lnSpc>
              <a:buNone/>
            </a:pPr>
            <a:r>
              <a:rPr lang="zh-CN" altLang="en-US" sz="2000" dirty="0" smtClean="0"/>
              <a:t>       为了保证计算机的安全各国制定了计算机安全的等级标准。</a:t>
            </a:r>
            <a:endParaRPr lang="zh-CN" altLang="en-US" sz="2000" dirty="0" smtClean="0"/>
          </a:p>
          <a:p>
            <a:pPr>
              <a:lnSpc>
                <a:spcPct val="130000"/>
              </a:lnSpc>
              <a:buFont typeface="Wingdings" panose="05000000000000000000" pitchFamily="2" charset="2"/>
              <a:buChar char="Ø"/>
            </a:pPr>
            <a:r>
              <a:rPr lang="en-US" sz="2000" dirty="0" smtClean="0"/>
              <a:t>1.</a:t>
            </a:r>
            <a:r>
              <a:rPr lang="zh-CN" altLang="en-US" sz="2000" dirty="0" smtClean="0"/>
              <a:t>中国计算机信息系统安全保护等级划分 </a:t>
            </a:r>
            <a:endParaRPr lang="zh-CN" altLang="en-US" sz="2000" dirty="0" smtClean="0"/>
          </a:p>
          <a:p>
            <a:pPr>
              <a:lnSpc>
                <a:spcPct val="130000"/>
              </a:lnSpc>
              <a:buNone/>
            </a:pPr>
            <a:r>
              <a:rPr lang="en-US" sz="2000" dirty="0" smtClean="0"/>
              <a:t>(1)</a:t>
            </a:r>
            <a:r>
              <a:rPr lang="zh-CN" altLang="en-US" sz="2000" dirty="0" smtClean="0"/>
              <a:t>第一级</a:t>
            </a:r>
            <a:r>
              <a:rPr lang="en-US" sz="2000" dirty="0" smtClean="0"/>
              <a:t>:</a:t>
            </a:r>
            <a:r>
              <a:rPr lang="zh-CN" altLang="en-US" sz="2000" dirty="0" smtClean="0"/>
              <a:t>用户自主保护级。    </a:t>
            </a:r>
            <a:r>
              <a:rPr lang="en-US" sz="2000" dirty="0" smtClean="0"/>
              <a:t>(2)</a:t>
            </a:r>
            <a:r>
              <a:rPr lang="zh-CN" altLang="en-US" sz="2000" dirty="0" smtClean="0"/>
              <a:t>第二级</a:t>
            </a:r>
            <a:r>
              <a:rPr lang="en-US" sz="2000" dirty="0" smtClean="0"/>
              <a:t>:</a:t>
            </a:r>
            <a:r>
              <a:rPr lang="zh-CN" altLang="en-US" sz="2000" dirty="0" smtClean="0"/>
              <a:t>系统审计保护级。</a:t>
            </a:r>
            <a:endParaRPr lang="zh-CN" altLang="en-US" sz="2000" dirty="0" smtClean="0"/>
          </a:p>
          <a:p>
            <a:pPr>
              <a:lnSpc>
                <a:spcPct val="130000"/>
              </a:lnSpc>
              <a:buNone/>
            </a:pPr>
            <a:r>
              <a:rPr lang="en-US" sz="2000" dirty="0" smtClean="0"/>
              <a:t>(3)</a:t>
            </a:r>
            <a:r>
              <a:rPr lang="zh-CN" altLang="en-US" sz="2000" dirty="0" smtClean="0"/>
              <a:t>第三级</a:t>
            </a:r>
            <a:r>
              <a:rPr lang="en-US" sz="2000" dirty="0" smtClean="0"/>
              <a:t>:</a:t>
            </a:r>
            <a:r>
              <a:rPr lang="zh-CN" altLang="en-US" sz="2000" dirty="0" smtClean="0"/>
              <a:t>安全标记保护级。    </a:t>
            </a:r>
            <a:r>
              <a:rPr lang="en-US" sz="2000" dirty="0" smtClean="0"/>
              <a:t>(4)</a:t>
            </a:r>
            <a:r>
              <a:rPr lang="zh-CN" altLang="en-US" sz="2000" dirty="0" smtClean="0"/>
              <a:t>第四级</a:t>
            </a:r>
            <a:r>
              <a:rPr lang="en-US" sz="2000" dirty="0" smtClean="0"/>
              <a:t>:</a:t>
            </a:r>
            <a:r>
              <a:rPr lang="zh-CN" altLang="en-US" sz="2000" dirty="0" smtClean="0"/>
              <a:t>机构化保护级。</a:t>
            </a:r>
            <a:endParaRPr lang="zh-CN" altLang="en-US" sz="2000" dirty="0" smtClean="0"/>
          </a:p>
          <a:p>
            <a:pPr>
              <a:lnSpc>
                <a:spcPct val="130000"/>
              </a:lnSpc>
              <a:buNone/>
            </a:pPr>
            <a:r>
              <a:rPr lang="en-US" sz="2000" dirty="0" smtClean="0"/>
              <a:t>(5)</a:t>
            </a:r>
            <a:r>
              <a:rPr lang="zh-CN" altLang="en-US" sz="2000" dirty="0" smtClean="0"/>
              <a:t>第五级</a:t>
            </a:r>
            <a:r>
              <a:rPr lang="en-US" sz="2000" dirty="0" smtClean="0"/>
              <a:t>:</a:t>
            </a:r>
            <a:r>
              <a:rPr lang="zh-CN" altLang="en-US" sz="2000" dirty="0" smtClean="0"/>
              <a:t>访问验证保护级。</a:t>
            </a:r>
            <a:endParaRPr lang="zh-CN" altLang="en-US" sz="2000" dirty="0" smtClean="0"/>
          </a:p>
          <a:p>
            <a:pPr>
              <a:lnSpc>
                <a:spcPct val="130000"/>
              </a:lnSpc>
              <a:buFont typeface="Wingdings" panose="05000000000000000000" pitchFamily="2" charset="2"/>
              <a:buChar char="Ø"/>
            </a:pPr>
            <a:r>
              <a:rPr lang="en-US" sz="2000" dirty="0" smtClean="0"/>
              <a:t>2.</a:t>
            </a:r>
            <a:r>
              <a:rPr lang="zh-CN" altLang="en-US" sz="2000" dirty="0" smtClean="0"/>
              <a:t>美国计算机安全保护等级划分</a:t>
            </a:r>
            <a:endParaRPr lang="zh-CN" altLang="en-US" sz="2000" dirty="0" smtClean="0"/>
          </a:p>
          <a:p>
            <a:pPr>
              <a:lnSpc>
                <a:spcPct val="130000"/>
              </a:lnSpc>
              <a:buNone/>
            </a:pPr>
            <a:r>
              <a:rPr lang="zh-CN" altLang="en-US" sz="2000" dirty="0" smtClean="0"/>
              <a:t>      美国国防部于</a:t>
            </a:r>
            <a:r>
              <a:rPr lang="en-US" sz="2000" dirty="0" smtClean="0"/>
              <a:t>1985</a:t>
            </a:r>
            <a:r>
              <a:rPr lang="zh-CN" altLang="en-US" sz="2000" dirty="0" smtClean="0"/>
              <a:t>年颁布了计算机安全等级标准</a:t>
            </a:r>
            <a:r>
              <a:rPr lang="en-US" sz="2000" dirty="0" smtClean="0"/>
              <a:t>,</a:t>
            </a:r>
            <a:r>
              <a:rPr lang="zh-CN" altLang="en-US" sz="2000" dirty="0" smtClean="0"/>
              <a:t>共划分为四类七级</a:t>
            </a:r>
            <a:r>
              <a:rPr lang="en-US" sz="2000" dirty="0" smtClean="0"/>
              <a:t>,</a:t>
            </a:r>
            <a:r>
              <a:rPr lang="zh-CN" altLang="en-US" sz="2000" dirty="0" smtClean="0"/>
              <a:t>这七个等级从低到高依次为</a:t>
            </a:r>
            <a:r>
              <a:rPr lang="en-US" sz="2000" dirty="0" smtClean="0"/>
              <a:t>D(D1)</a:t>
            </a:r>
            <a:r>
              <a:rPr lang="zh-CN" altLang="en-US" sz="2000" dirty="0" smtClean="0"/>
              <a:t>、</a:t>
            </a:r>
            <a:r>
              <a:rPr lang="en-US" sz="2000" dirty="0" smtClean="0"/>
              <a:t>C(C1</a:t>
            </a:r>
            <a:r>
              <a:rPr lang="zh-CN" altLang="en-US" sz="2000" dirty="0" smtClean="0"/>
              <a:t>、</a:t>
            </a:r>
            <a:r>
              <a:rPr lang="en-US" sz="2000" dirty="0" smtClean="0"/>
              <a:t>C2)</a:t>
            </a:r>
            <a:r>
              <a:rPr lang="zh-CN" altLang="en-US" sz="2000" dirty="0" smtClean="0"/>
              <a:t>、</a:t>
            </a:r>
            <a:r>
              <a:rPr lang="en-US" sz="2000" dirty="0" smtClean="0"/>
              <a:t>B(B1</a:t>
            </a:r>
            <a:r>
              <a:rPr lang="zh-CN" altLang="en-US" sz="2000" dirty="0" smtClean="0"/>
              <a:t>、</a:t>
            </a:r>
            <a:r>
              <a:rPr lang="en-US" sz="2000" dirty="0" smtClean="0"/>
              <a:t>B2</a:t>
            </a:r>
            <a:r>
              <a:rPr lang="zh-CN" altLang="en-US" sz="2000" dirty="0" smtClean="0"/>
              <a:t>、</a:t>
            </a:r>
            <a:r>
              <a:rPr lang="en-US" sz="2000" dirty="0" smtClean="0"/>
              <a:t>B3)</a:t>
            </a:r>
            <a:r>
              <a:rPr lang="zh-CN" altLang="en-US" sz="2000" dirty="0" smtClean="0"/>
              <a:t>、</a:t>
            </a:r>
            <a:r>
              <a:rPr lang="en-US" sz="2000" dirty="0" smtClean="0"/>
              <a:t>A(A1)</a:t>
            </a:r>
            <a:r>
              <a:rPr lang="zh-CN" altLang="en-US" sz="2000" dirty="0" smtClean="0"/>
              <a:t>。</a:t>
            </a:r>
            <a:endParaRPr lang="zh-CN" alt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8.2</a:t>
            </a:r>
            <a:r>
              <a:rPr lang="zh-CN" altLang="en-US" dirty="0" smtClean="0"/>
              <a:t>　计算机安全服务的主要技术</a:t>
            </a:r>
            <a:endParaRPr lang="en-US" altLang="zh-CN" dirty="0" smtClean="0"/>
          </a:p>
          <a:p>
            <a:pPr>
              <a:lnSpc>
                <a:spcPct val="150000"/>
              </a:lnSpc>
            </a:pPr>
            <a:endParaRPr lang="en-US" altLang="zh-CN" dirty="0" smtClean="0"/>
          </a:p>
          <a:p>
            <a:pPr>
              <a:lnSpc>
                <a:spcPct val="150000"/>
              </a:lnSpc>
            </a:pPr>
            <a:endParaRPr lang="zh-CN" altLang="en-US" dirty="0" smtClean="0"/>
          </a:p>
          <a:p>
            <a:pPr>
              <a:lnSpc>
                <a:spcPct val="150000"/>
              </a:lnSpc>
              <a:buNone/>
            </a:pPr>
            <a:r>
              <a:rPr lang="en-US" sz="2000" dirty="0" smtClean="0"/>
              <a:t>※ </a:t>
            </a:r>
            <a:r>
              <a:rPr lang="zh-CN" altLang="en-US" sz="2000" dirty="0" smtClean="0"/>
              <a:t>了解数据加密、身份认证、访问控制、入侵检测、防火墙的概念</a:t>
            </a:r>
            <a:r>
              <a:rPr lang="en-US" sz="2000" dirty="0" smtClean="0"/>
              <a:t>;</a:t>
            </a:r>
            <a:endParaRPr lang="zh-CN" altLang="en-US" sz="2000" dirty="0" smtClean="0"/>
          </a:p>
          <a:p>
            <a:pPr>
              <a:lnSpc>
                <a:spcPct val="150000"/>
              </a:lnSpc>
              <a:buNone/>
            </a:pPr>
            <a:r>
              <a:rPr lang="en-US" sz="2000" dirty="0" smtClean="0"/>
              <a:t>※ </a:t>
            </a:r>
            <a:r>
              <a:rPr lang="zh-CN" altLang="en-US" sz="2000" dirty="0" smtClean="0"/>
              <a:t>了解</a:t>
            </a:r>
            <a:r>
              <a:rPr lang="en-US" sz="2000" dirty="0" smtClean="0"/>
              <a:t>Windows</a:t>
            </a:r>
            <a:r>
              <a:rPr lang="zh-CN" altLang="en-US" sz="2000" dirty="0" smtClean="0"/>
              <a:t>防火墙的基本功能。</a:t>
            </a:r>
            <a:endParaRPr lang="zh-CN" altLang="en-US" sz="2000" dirty="0"/>
          </a:p>
        </p:txBody>
      </p:sp>
      <p:pic>
        <p:nvPicPr>
          <p:cNvPr id="6" name="学习目标.EPS" descr="id:2147497624;FounderCES"/>
          <p:cNvPicPr/>
          <p:nvPr/>
        </p:nvPicPr>
        <p:blipFill>
          <a:blip r:embed="rId4"/>
          <a:stretch>
            <a:fillRect/>
          </a:stretch>
        </p:blipFill>
        <p:spPr>
          <a:xfrm>
            <a:off x="2238348" y="2500306"/>
            <a:ext cx="1785950" cy="5000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8.2.1</a:t>
            </a:r>
            <a:r>
              <a:rPr lang="zh-CN" altLang="en-US" dirty="0" smtClean="0"/>
              <a:t>　网络攻击</a:t>
            </a:r>
            <a:endParaRPr lang="zh-CN" altLang="en-US" dirty="0" smtClean="0"/>
          </a:p>
          <a:p>
            <a:pPr>
              <a:lnSpc>
                <a:spcPct val="150000"/>
              </a:lnSpc>
              <a:buNone/>
            </a:pPr>
            <a:r>
              <a:rPr lang="zh-CN" altLang="en-US" sz="2000" dirty="0" smtClean="0"/>
              <a:t>      网络攻击常被分为主动攻击和被动攻击</a:t>
            </a:r>
            <a:r>
              <a:rPr lang="en-US" sz="2000" dirty="0" smtClean="0"/>
              <a:t>,</a:t>
            </a:r>
            <a:r>
              <a:rPr lang="zh-CN" altLang="en-US" sz="2000" dirty="0" smtClean="0"/>
              <a:t>多数情况下这两种类型被联合用于入侵一个站点。主动攻击是攻击者采用故意行为对网站进行的攻击。主动攻击包括拒绝服务攻击、信息篡改、资源使用、欺骗等攻击方法。被动攻击是攻击者以收集信息为主</a:t>
            </a:r>
            <a:r>
              <a:rPr lang="en-US" sz="2000" dirty="0" smtClean="0"/>
              <a:t>,</a:t>
            </a:r>
            <a:r>
              <a:rPr lang="zh-CN" altLang="en-US" sz="2000" dirty="0" smtClean="0"/>
              <a:t>通过对数据的分析来攻击网站。被动攻击包括嗅探、信息收集等攻击方法。</a:t>
            </a:r>
            <a:endParaRPr lang="zh-CN" altLang="en-US" sz="2000"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8.2.2</a:t>
            </a:r>
            <a:r>
              <a:rPr lang="zh-CN" altLang="en-US" dirty="0" smtClean="0"/>
              <a:t>　数据加密、身份认证、访问控制、入侵检测</a:t>
            </a:r>
            <a:endParaRPr lang="zh-CN" altLang="en-US" dirty="0" smtClean="0"/>
          </a:p>
          <a:p>
            <a:pPr>
              <a:lnSpc>
                <a:spcPct val="150000"/>
              </a:lnSpc>
              <a:buFont typeface="Wingdings" panose="05000000000000000000" pitchFamily="2" charset="2"/>
              <a:buChar char="Ø"/>
            </a:pPr>
            <a:r>
              <a:rPr lang="en-US" sz="2000" dirty="0" smtClean="0"/>
              <a:t>1.</a:t>
            </a:r>
            <a:r>
              <a:rPr lang="zh-CN" altLang="en-US" sz="2000" dirty="0" smtClean="0"/>
              <a:t>数据加密</a:t>
            </a:r>
            <a:endParaRPr lang="zh-CN" altLang="en-US" sz="2000" dirty="0" smtClean="0"/>
          </a:p>
          <a:p>
            <a:pPr>
              <a:lnSpc>
                <a:spcPct val="150000"/>
              </a:lnSpc>
              <a:buNone/>
            </a:pPr>
            <a:r>
              <a:rPr lang="en-US" sz="2000" dirty="0" smtClean="0"/>
              <a:t>(1)</a:t>
            </a:r>
            <a:r>
              <a:rPr lang="zh-CN" altLang="en-US" sz="2000" dirty="0" smtClean="0"/>
              <a:t>加密的概念。</a:t>
            </a:r>
            <a:endParaRPr lang="zh-CN" altLang="en-US" sz="2000" dirty="0" smtClean="0"/>
          </a:p>
          <a:p>
            <a:pPr>
              <a:lnSpc>
                <a:spcPct val="150000"/>
              </a:lnSpc>
              <a:buNone/>
            </a:pPr>
            <a:r>
              <a:rPr lang="zh-CN" altLang="en-US" sz="2000" dirty="0" smtClean="0"/>
              <a:t>       加密是用基于数学算法的程序和加密的密钥对信息进行编码</a:t>
            </a:r>
            <a:r>
              <a:rPr lang="en-US" sz="2000" dirty="0" smtClean="0"/>
              <a:t>,</a:t>
            </a:r>
            <a:r>
              <a:rPr lang="zh-CN" altLang="en-US" sz="2000" dirty="0" smtClean="0"/>
              <a:t>生成常人难以理解的符号。加密的目的是对消息或信息进行伪装或改变。</a:t>
            </a:r>
            <a:endParaRPr lang="zh-CN" altLang="en-US" sz="2000" dirty="0" smtClean="0"/>
          </a:p>
          <a:p>
            <a:pPr>
              <a:lnSpc>
                <a:spcPct val="150000"/>
              </a:lnSpc>
              <a:buNone/>
            </a:pPr>
            <a:r>
              <a:rPr lang="en-US" sz="2000" dirty="0" smtClean="0"/>
              <a:t>(2)</a:t>
            </a:r>
            <a:r>
              <a:rPr lang="zh-CN" altLang="en-US" sz="2000" dirty="0" smtClean="0"/>
              <a:t>现代加密技术。</a:t>
            </a:r>
            <a:endParaRPr lang="zh-CN" altLang="en-US" sz="2000" dirty="0" smtClean="0"/>
          </a:p>
          <a:p>
            <a:pPr>
              <a:lnSpc>
                <a:spcPct val="150000"/>
              </a:lnSpc>
              <a:buNone/>
            </a:pPr>
            <a:r>
              <a:rPr lang="zh-CN" altLang="en-US" sz="2000" dirty="0" smtClean="0"/>
              <a:t>       密码体制按不同的标准或方式可以分为多种形式</a:t>
            </a:r>
            <a:r>
              <a:rPr lang="en-US" sz="2000" dirty="0" smtClean="0"/>
              <a:t>,</a:t>
            </a:r>
            <a:r>
              <a:rPr lang="zh-CN" altLang="en-US" sz="2000" dirty="0" smtClean="0"/>
              <a:t>如果按密钥的数量和使用方式划分</a:t>
            </a:r>
            <a:r>
              <a:rPr lang="en-US" sz="2000" dirty="0" smtClean="0"/>
              <a:t>,</a:t>
            </a:r>
            <a:r>
              <a:rPr lang="zh-CN" altLang="en-US" sz="2000" dirty="0" smtClean="0"/>
              <a:t>密码体制可分为对称密码体制和非对称密码体制。</a:t>
            </a:r>
            <a:endParaRPr lang="zh-CN" alt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2.</a:t>
            </a:r>
            <a:r>
              <a:rPr lang="zh-CN" altLang="en-US" sz="2000" dirty="0" smtClean="0"/>
              <a:t>身份认证</a:t>
            </a:r>
            <a:endParaRPr lang="zh-CN" altLang="en-US" sz="2000" dirty="0" smtClean="0"/>
          </a:p>
          <a:p>
            <a:pPr>
              <a:lnSpc>
                <a:spcPct val="150000"/>
              </a:lnSpc>
              <a:buNone/>
            </a:pPr>
            <a:r>
              <a:rPr lang="zh-CN" altLang="en-US" sz="2000" dirty="0" smtClean="0"/>
              <a:t>      身份认证是系统审查用户身份的过程</a:t>
            </a:r>
            <a:r>
              <a:rPr lang="en-US" sz="2000" dirty="0" smtClean="0"/>
              <a:t>,</a:t>
            </a:r>
            <a:r>
              <a:rPr lang="zh-CN" altLang="en-US" sz="2000" dirty="0" smtClean="0"/>
              <a:t>通过身份认证能够确定该用户是否具有对某种资源的访问和使用权限。</a:t>
            </a:r>
            <a:endParaRPr lang="zh-CN" altLang="en-US" sz="2000" dirty="0" smtClean="0"/>
          </a:p>
          <a:p>
            <a:pPr>
              <a:lnSpc>
                <a:spcPct val="150000"/>
              </a:lnSpc>
              <a:buNone/>
            </a:pPr>
            <a:r>
              <a:rPr lang="en-US" sz="2000" dirty="0" smtClean="0"/>
              <a:t>(1)</a:t>
            </a:r>
            <a:r>
              <a:rPr lang="zh-CN" altLang="en-US" sz="2000" dirty="0" smtClean="0"/>
              <a:t>基于密码的身份认证。</a:t>
            </a:r>
            <a:endParaRPr lang="zh-CN" altLang="en-US" sz="2000" dirty="0" smtClean="0"/>
          </a:p>
          <a:p>
            <a:pPr>
              <a:lnSpc>
                <a:spcPct val="150000"/>
              </a:lnSpc>
              <a:buNone/>
            </a:pPr>
            <a:r>
              <a:rPr lang="zh-CN" altLang="en-US" sz="2000" dirty="0" smtClean="0"/>
              <a:t>       密码是用户与计算机之间以及计算机与计算机之间共享的一个秘密</a:t>
            </a:r>
            <a:r>
              <a:rPr lang="en-US" sz="2000" dirty="0" smtClean="0"/>
              <a:t>,</a:t>
            </a:r>
            <a:r>
              <a:rPr lang="zh-CN" altLang="en-US" sz="2000" dirty="0" smtClean="0"/>
              <a:t>密码通常由一组字符串组成。</a:t>
            </a:r>
            <a:endParaRPr lang="zh-CN" altLang="en-US" sz="2000" dirty="0" smtClean="0"/>
          </a:p>
          <a:p>
            <a:pPr>
              <a:lnSpc>
                <a:spcPct val="150000"/>
              </a:lnSpc>
              <a:buNone/>
            </a:pPr>
            <a:r>
              <a:rPr lang="en-US" sz="2000" dirty="0" smtClean="0"/>
              <a:t>(2)</a:t>
            </a:r>
            <a:r>
              <a:rPr lang="zh-CN" altLang="en-US" sz="2000" dirty="0" smtClean="0"/>
              <a:t>基于智能卡的身份认证。</a:t>
            </a:r>
            <a:endParaRPr lang="zh-CN" altLang="en-US" sz="2000" dirty="0" smtClean="0"/>
          </a:p>
          <a:p>
            <a:pPr>
              <a:lnSpc>
                <a:spcPct val="150000"/>
              </a:lnSpc>
              <a:buNone/>
            </a:pPr>
            <a:r>
              <a:rPr lang="zh-CN" altLang="en-US" sz="2000" dirty="0" smtClean="0"/>
              <a:t>      智能卡也称作</a:t>
            </a:r>
            <a:r>
              <a:rPr lang="en-US" sz="2000" dirty="0" smtClean="0"/>
              <a:t>IC</a:t>
            </a:r>
            <a:r>
              <a:rPr lang="zh-CN" altLang="en-US" sz="2000" dirty="0" smtClean="0"/>
              <a:t>卡</a:t>
            </a:r>
            <a:r>
              <a:rPr lang="en-US" sz="2000" dirty="0" smtClean="0"/>
              <a:t>,</a:t>
            </a:r>
            <a:r>
              <a:rPr lang="zh-CN" altLang="en-US" sz="2000" dirty="0" smtClean="0"/>
              <a:t>由集成电路芯片组成。智能卡可以安全地存储密钥、证书和用户数据等安全信息。</a:t>
            </a:r>
            <a:endParaRPr lang="zh-CN" altLang="en-US" sz="2000" dirty="0"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(3)</a:t>
            </a:r>
            <a:r>
              <a:rPr lang="zh-CN" altLang="en-US" sz="2000" dirty="0" smtClean="0"/>
              <a:t>基于生物特征的身份认证。</a:t>
            </a:r>
            <a:endParaRPr lang="zh-CN" altLang="en-US" sz="2000" dirty="0" smtClean="0"/>
          </a:p>
          <a:p>
            <a:pPr>
              <a:lnSpc>
                <a:spcPct val="150000"/>
              </a:lnSpc>
              <a:buNone/>
            </a:pPr>
            <a:r>
              <a:rPr lang="zh-CN" altLang="en-US" sz="2000" dirty="0" smtClean="0"/>
              <a:t>      生物特征认证是指通过计算机利用人体固有的物理特征或行为特征鉴别个人身份的认证方式</a:t>
            </a:r>
            <a:r>
              <a:rPr lang="en-US" sz="2000" dirty="0" smtClean="0"/>
              <a:t>,</a:t>
            </a:r>
            <a:r>
              <a:rPr lang="zh-CN" altLang="en-US" sz="2000" dirty="0" smtClean="0"/>
              <a:t>例如</a:t>
            </a:r>
            <a:r>
              <a:rPr lang="en-US" sz="2000" dirty="0" smtClean="0"/>
              <a:t>,</a:t>
            </a:r>
            <a:r>
              <a:rPr lang="zh-CN" altLang="en-US" sz="2000" dirty="0" smtClean="0"/>
              <a:t>指纹、视网膜可以用于身份认证。</a:t>
            </a:r>
            <a:endParaRPr lang="zh-CN" altLang="en-US" sz="2000" dirty="0" smtClean="0"/>
          </a:p>
          <a:p>
            <a:pPr>
              <a:lnSpc>
                <a:spcPct val="150000"/>
              </a:lnSpc>
              <a:buNone/>
            </a:pPr>
            <a:r>
              <a:rPr lang="en-US" sz="2000" dirty="0" smtClean="0"/>
              <a:t>(4)SSL</a:t>
            </a:r>
            <a:r>
              <a:rPr lang="zh-CN" altLang="en-US" sz="2000" dirty="0" smtClean="0"/>
              <a:t>协议。</a:t>
            </a:r>
            <a:endParaRPr lang="zh-CN" altLang="en-US" sz="2000" dirty="0" smtClean="0"/>
          </a:p>
          <a:p>
            <a:pPr>
              <a:lnSpc>
                <a:spcPct val="150000"/>
              </a:lnSpc>
              <a:buNone/>
            </a:pPr>
            <a:r>
              <a:rPr lang="en-US" sz="2000" dirty="0" smtClean="0"/>
              <a:t>      SSL(Secure Socket Layer,</a:t>
            </a:r>
            <a:r>
              <a:rPr lang="zh-CN" altLang="en-US" sz="2000" dirty="0" smtClean="0"/>
              <a:t>安全套接字协议</a:t>
            </a:r>
            <a:r>
              <a:rPr lang="en-US" sz="2000" dirty="0" smtClean="0"/>
              <a:t>)</a:t>
            </a:r>
            <a:r>
              <a:rPr lang="zh-CN" altLang="en-US" sz="2000" dirty="0" smtClean="0"/>
              <a:t>是</a:t>
            </a:r>
            <a:r>
              <a:rPr lang="en-US" sz="2000" dirty="0" smtClean="0"/>
              <a:t>Web</a:t>
            </a:r>
            <a:r>
              <a:rPr lang="zh-CN" altLang="en-US" sz="2000" dirty="0" smtClean="0"/>
              <a:t>浏览器与</a:t>
            </a:r>
            <a:r>
              <a:rPr lang="en-US" sz="2000" dirty="0" smtClean="0"/>
              <a:t>Web</a:t>
            </a:r>
            <a:r>
              <a:rPr lang="zh-CN" altLang="en-US" sz="2000" dirty="0" smtClean="0"/>
              <a:t>服务器之间安全交换信息的协议</a:t>
            </a:r>
            <a:r>
              <a:rPr lang="en-US" sz="2000" dirty="0" smtClean="0"/>
              <a:t>,</a:t>
            </a:r>
            <a:r>
              <a:rPr lang="zh-CN" altLang="en-US" sz="2000" dirty="0" smtClean="0"/>
              <a:t>提供两个基本的安全服务</a:t>
            </a:r>
            <a:r>
              <a:rPr lang="en-US" sz="2000" dirty="0" smtClean="0"/>
              <a:t>——</a:t>
            </a:r>
            <a:r>
              <a:rPr lang="zh-CN" altLang="en-US" sz="2000" dirty="0" smtClean="0"/>
              <a:t>鉴别与保密。</a:t>
            </a:r>
            <a:endParaRPr lang="zh-CN" alt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3.</a:t>
            </a:r>
            <a:r>
              <a:rPr lang="zh-CN" altLang="en-US" sz="2000" dirty="0" smtClean="0"/>
              <a:t>访问控制</a:t>
            </a:r>
            <a:endParaRPr lang="zh-CN" altLang="en-US" sz="2000" dirty="0" smtClean="0"/>
          </a:p>
          <a:p>
            <a:pPr>
              <a:lnSpc>
                <a:spcPct val="150000"/>
              </a:lnSpc>
              <a:buNone/>
            </a:pPr>
            <a:r>
              <a:rPr lang="zh-CN" altLang="en-US" sz="2000" dirty="0" smtClean="0"/>
              <a:t>       访问控制是指保证合法用户访问受保护的网络资源</a:t>
            </a:r>
            <a:r>
              <a:rPr lang="en-US" sz="2000" dirty="0" smtClean="0"/>
              <a:t>,</a:t>
            </a:r>
            <a:r>
              <a:rPr lang="zh-CN" altLang="en-US" sz="2000" dirty="0" smtClean="0"/>
              <a:t>防止非法的主体进入受保护的网络资源</a:t>
            </a:r>
            <a:r>
              <a:rPr lang="en-US" sz="2000" dirty="0" smtClean="0"/>
              <a:t>,</a:t>
            </a:r>
            <a:r>
              <a:rPr lang="zh-CN" altLang="en-US" sz="2000" dirty="0" smtClean="0"/>
              <a:t>防止合法用户对受保护的网络资源进行非授权的访问。</a:t>
            </a:r>
            <a:endParaRPr lang="zh-CN" altLang="en-US" sz="2000" dirty="0" smtClean="0"/>
          </a:p>
          <a:p>
            <a:pPr>
              <a:lnSpc>
                <a:spcPct val="150000"/>
              </a:lnSpc>
              <a:buNone/>
            </a:pPr>
            <a:r>
              <a:rPr lang="en-US" sz="2000" dirty="0" smtClean="0"/>
              <a:t>(1)</a:t>
            </a:r>
            <a:r>
              <a:rPr lang="zh-CN" altLang="en-US" sz="2000" dirty="0" smtClean="0"/>
              <a:t>自主访问控制。</a:t>
            </a:r>
            <a:endParaRPr lang="zh-CN" altLang="en-US" sz="2000" dirty="0" smtClean="0"/>
          </a:p>
          <a:p>
            <a:pPr>
              <a:lnSpc>
                <a:spcPct val="150000"/>
              </a:lnSpc>
              <a:buNone/>
            </a:pPr>
            <a:r>
              <a:rPr lang="zh-CN" altLang="en-US" sz="2000" dirty="0" smtClean="0"/>
              <a:t>      自主访问控制</a:t>
            </a:r>
            <a:r>
              <a:rPr lang="en-US" sz="2000" dirty="0" smtClean="0"/>
              <a:t>(Discretionary Access Control)</a:t>
            </a:r>
            <a:r>
              <a:rPr lang="zh-CN" altLang="en-US" sz="2000" dirty="0" smtClean="0"/>
              <a:t>是一种接入控制服务</a:t>
            </a:r>
            <a:r>
              <a:rPr lang="en-US" sz="2000" dirty="0" smtClean="0"/>
              <a:t>,</a:t>
            </a:r>
            <a:r>
              <a:rPr lang="zh-CN" altLang="en-US" sz="2000" dirty="0" smtClean="0"/>
              <a:t>系统允许主体</a:t>
            </a:r>
            <a:r>
              <a:rPr lang="en-US" sz="2000" dirty="0" smtClean="0"/>
              <a:t>(</a:t>
            </a:r>
            <a:r>
              <a:rPr lang="zh-CN" altLang="en-US" sz="2000" dirty="0" smtClean="0"/>
              <a:t>客体的拥有者</a:t>
            </a:r>
            <a:r>
              <a:rPr lang="en-US" sz="2000" dirty="0" smtClean="0"/>
              <a:t>)</a:t>
            </a:r>
            <a:r>
              <a:rPr lang="zh-CN" altLang="en-US" sz="2000" dirty="0" smtClean="0"/>
              <a:t>按照自己的意愿控制谁、以何种模式访问该客体。</a:t>
            </a:r>
            <a:endParaRPr lang="zh-CN" altLang="en-US" sz="2000"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(2)</a:t>
            </a:r>
            <a:r>
              <a:rPr lang="zh-CN" altLang="en-US" sz="2000" dirty="0" smtClean="0"/>
              <a:t>强制访问控制。</a:t>
            </a:r>
            <a:endParaRPr lang="zh-CN" altLang="en-US" sz="2000" dirty="0" smtClean="0"/>
          </a:p>
          <a:p>
            <a:pPr>
              <a:lnSpc>
                <a:spcPct val="150000"/>
              </a:lnSpc>
              <a:buNone/>
            </a:pPr>
            <a:r>
              <a:rPr lang="zh-CN" altLang="en-US" sz="2000" dirty="0" smtClean="0"/>
              <a:t>      强制访问控制是系统强制主体服从访问控制策略。主要特征是对所有主体及其所控制的进程、文件、设备等客体实施强制访问控制。</a:t>
            </a:r>
            <a:endParaRPr lang="zh-CN" altLang="en-US" sz="2000" dirty="0" smtClean="0"/>
          </a:p>
          <a:p>
            <a:pPr>
              <a:lnSpc>
                <a:spcPct val="150000"/>
              </a:lnSpc>
              <a:buNone/>
            </a:pPr>
            <a:r>
              <a:rPr lang="en-US" sz="2000" dirty="0" smtClean="0"/>
              <a:t>(3)</a:t>
            </a:r>
            <a:r>
              <a:rPr lang="zh-CN" altLang="en-US" sz="2000" dirty="0" smtClean="0"/>
              <a:t>基于角色的访问控制。</a:t>
            </a:r>
            <a:endParaRPr lang="zh-CN" altLang="en-US" sz="2000" dirty="0" smtClean="0"/>
          </a:p>
          <a:p>
            <a:pPr>
              <a:lnSpc>
                <a:spcPct val="150000"/>
              </a:lnSpc>
              <a:buNone/>
            </a:pPr>
            <a:r>
              <a:rPr lang="zh-CN" altLang="en-US" sz="2000" dirty="0" smtClean="0"/>
              <a:t>      角色指完成一项任务必须访问的资源及相应操作权限的集合。</a:t>
            </a:r>
            <a:endParaRPr lang="zh-CN" alt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4.</a:t>
            </a:r>
            <a:r>
              <a:rPr lang="zh-CN" altLang="en-US" sz="2000" dirty="0" smtClean="0"/>
              <a:t>入侵检测</a:t>
            </a:r>
            <a:endParaRPr lang="zh-CN" altLang="en-US" sz="2000" dirty="0" smtClean="0"/>
          </a:p>
          <a:p>
            <a:pPr>
              <a:lnSpc>
                <a:spcPct val="150000"/>
              </a:lnSpc>
              <a:buNone/>
            </a:pPr>
            <a:r>
              <a:rPr lang="en-US" sz="2000" dirty="0" smtClean="0"/>
              <a:t>(1)</a:t>
            </a:r>
            <a:r>
              <a:rPr lang="zh-CN" altLang="en-US" sz="2000" dirty="0" smtClean="0"/>
              <a:t>入侵检测系统的含义。</a:t>
            </a:r>
            <a:endParaRPr lang="zh-CN" altLang="en-US" sz="2000" dirty="0" smtClean="0"/>
          </a:p>
          <a:p>
            <a:pPr>
              <a:lnSpc>
                <a:spcPct val="150000"/>
              </a:lnSpc>
              <a:buNone/>
            </a:pPr>
            <a:r>
              <a:rPr lang="zh-CN" altLang="en-US" sz="2000" dirty="0" smtClean="0"/>
              <a:t>       入侵检测系统</a:t>
            </a:r>
            <a:r>
              <a:rPr lang="en-US" sz="2000" dirty="0" smtClean="0"/>
              <a:t>(Intrusion Detection System,IDS)</a:t>
            </a:r>
            <a:r>
              <a:rPr lang="zh-CN" altLang="en-US" sz="2000" dirty="0" smtClean="0"/>
              <a:t>是一项计算机网络安全技术。</a:t>
            </a:r>
            <a:endParaRPr lang="zh-CN" altLang="en-US" sz="2000" dirty="0" smtClean="0"/>
          </a:p>
          <a:p>
            <a:pPr>
              <a:lnSpc>
                <a:spcPct val="150000"/>
              </a:lnSpc>
              <a:buNone/>
            </a:pPr>
            <a:r>
              <a:rPr lang="en-US" sz="2000" dirty="0" smtClean="0"/>
              <a:t>(2)</a:t>
            </a:r>
            <a:r>
              <a:rPr lang="zh-CN" altLang="en-US" sz="2000" dirty="0" smtClean="0"/>
              <a:t>入侵检测系统的分类。</a:t>
            </a:r>
            <a:endParaRPr lang="zh-CN" altLang="en-US" sz="2000" dirty="0" smtClean="0"/>
          </a:p>
          <a:p>
            <a:pPr>
              <a:lnSpc>
                <a:spcPct val="150000"/>
              </a:lnSpc>
              <a:buNone/>
            </a:pPr>
            <a:r>
              <a:rPr lang="zh-CN" altLang="en-US" sz="2000" dirty="0" smtClean="0"/>
              <a:t>      入侵检测系统由控制台</a:t>
            </a:r>
            <a:r>
              <a:rPr lang="en-US" sz="2000" dirty="0" smtClean="0"/>
              <a:t>(Console)</a:t>
            </a:r>
            <a:r>
              <a:rPr lang="zh-CN" altLang="en-US" sz="2000" dirty="0" smtClean="0"/>
              <a:t>与传感器</a:t>
            </a:r>
            <a:r>
              <a:rPr lang="en-US" sz="2000" dirty="0" smtClean="0"/>
              <a:t>(Sensor)</a:t>
            </a:r>
            <a:r>
              <a:rPr lang="zh-CN" altLang="en-US" sz="2000" dirty="0" smtClean="0"/>
              <a:t>两部分组成</a:t>
            </a:r>
            <a:r>
              <a:rPr lang="en-US" sz="2000" dirty="0" smtClean="0"/>
              <a:t>,</a:t>
            </a:r>
            <a:r>
              <a:rPr lang="zh-CN" altLang="en-US" sz="2000" dirty="0" smtClean="0"/>
              <a:t>控制台起到中央管理作用</a:t>
            </a:r>
            <a:r>
              <a:rPr lang="en-US" sz="2000" dirty="0" smtClean="0"/>
              <a:t>,</a:t>
            </a:r>
            <a:r>
              <a:rPr lang="zh-CN" altLang="en-US" sz="2000" dirty="0" smtClean="0"/>
              <a:t>传感器则负责采集数据与分析数据并生成安全事件。</a:t>
            </a:r>
            <a:endParaRPr lang="zh-CN" alt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8.2.3</a:t>
            </a:r>
            <a:r>
              <a:rPr lang="zh-CN" altLang="en-US" dirty="0" smtClean="0"/>
              <a:t>　防火墙</a:t>
            </a:r>
            <a:endParaRPr lang="zh-CN" altLang="en-US" dirty="0" smtClean="0"/>
          </a:p>
          <a:p>
            <a:pPr>
              <a:lnSpc>
                <a:spcPct val="150000"/>
              </a:lnSpc>
              <a:buFont typeface="Wingdings" panose="05000000000000000000" pitchFamily="2" charset="2"/>
              <a:buChar char="Ø"/>
            </a:pPr>
            <a:r>
              <a:rPr lang="en-US" sz="2000" dirty="0" smtClean="0"/>
              <a:t>1.</a:t>
            </a:r>
            <a:r>
              <a:rPr lang="zh-CN" altLang="en-US" sz="2000" dirty="0" smtClean="0"/>
              <a:t>防火墙的功能</a:t>
            </a:r>
            <a:endParaRPr lang="zh-CN" altLang="en-US" sz="2000" dirty="0" smtClean="0"/>
          </a:p>
          <a:p>
            <a:pPr>
              <a:lnSpc>
                <a:spcPct val="150000"/>
              </a:lnSpc>
              <a:buNone/>
            </a:pPr>
            <a:r>
              <a:rPr lang="en-US" sz="2000" dirty="0" smtClean="0"/>
              <a:t>(1)</a:t>
            </a:r>
            <a:r>
              <a:rPr lang="zh-CN" altLang="en-US" sz="2000" dirty="0" smtClean="0"/>
              <a:t>数据包过滤。     数据包过滤</a:t>
            </a:r>
            <a:r>
              <a:rPr lang="en-US" sz="2000" dirty="0" smtClean="0"/>
              <a:t>(Packet Filtering)</a:t>
            </a:r>
            <a:r>
              <a:rPr lang="zh-CN" altLang="en-US" sz="2000" dirty="0" smtClean="0"/>
              <a:t>是指在网络层对数据包进行选择</a:t>
            </a:r>
            <a:r>
              <a:rPr lang="en-US" sz="2000" dirty="0" smtClean="0"/>
              <a:t>,</a:t>
            </a:r>
            <a:r>
              <a:rPr lang="zh-CN" altLang="en-US" sz="2000" dirty="0" smtClean="0"/>
              <a:t>选择的依据是系统内设置的过滤逻辑</a:t>
            </a:r>
            <a:r>
              <a:rPr lang="en-US" sz="2000" dirty="0" smtClean="0"/>
              <a:t>,</a:t>
            </a:r>
            <a:r>
              <a:rPr lang="zh-CN" altLang="en-US" sz="2000" dirty="0" smtClean="0"/>
              <a:t>被称为访问控制表</a:t>
            </a:r>
            <a:r>
              <a:rPr lang="en-US" sz="2000" dirty="0" smtClean="0"/>
              <a:t>(Access Control Table)</a:t>
            </a:r>
            <a:r>
              <a:rPr lang="zh-CN" altLang="en-US" sz="2000" dirty="0" smtClean="0"/>
              <a:t>。</a:t>
            </a:r>
            <a:endParaRPr lang="zh-CN" altLang="en-US" sz="2000" dirty="0" smtClean="0"/>
          </a:p>
          <a:p>
            <a:pPr>
              <a:lnSpc>
                <a:spcPct val="150000"/>
              </a:lnSpc>
              <a:buNone/>
            </a:pPr>
            <a:r>
              <a:rPr lang="en-US" sz="2000" dirty="0" smtClean="0"/>
              <a:t>(2)</a:t>
            </a:r>
            <a:r>
              <a:rPr lang="zh-CN" altLang="en-US" sz="2000" dirty="0" smtClean="0"/>
              <a:t>应用级网关。    应用级网关在网络应用层上拥有协议过滤和转发功能。</a:t>
            </a:r>
            <a:endParaRPr lang="zh-CN" altLang="en-US" sz="2000" dirty="0" smtClean="0"/>
          </a:p>
          <a:p>
            <a:pPr>
              <a:lnSpc>
                <a:spcPct val="150000"/>
              </a:lnSpc>
              <a:buNone/>
            </a:pPr>
            <a:r>
              <a:rPr lang="en-US" sz="2000" dirty="0" smtClean="0"/>
              <a:t>(3)</a:t>
            </a:r>
            <a:r>
              <a:rPr lang="zh-CN" altLang="en-US" sz="2000" dirty="0" smtClean="0"/>
              <a:t>代理服务器。    代理服务器也称作链路级网关</a:t>
            </a:r>
            <a:r>
              <a:rPr lang="en-US" sz="2000" dirty="0" smtClean="0"/>
              <a:t>,</a:t>
            </a:r>
            <a:r>
              <a:rPr lang="zh-CN" altLang="en-US" sz="2000" dirty="0" smtClean="0"/>
              <a:t>也有人将它归于应用级网关一类。</a:t>
            </a:r>
            <a:endParaRPr lang="zh-CN" alt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200000"/>
              </a:lnSpc>
              <a:buFont typeface="Wingdings" panose="05000000000000000000" pitchFamily="2" charset="2"/>
              <a:buChar char="Ø"/>
            </a:pPr>
            <a:r>
              <a:rPr lang="en-US" sz="2000" dirty="0" smtClean="0"/>
              <a:t>2.</a:t>
            </a:r>
            <a:r>
              <a:rPr lang="zh-CN" altLang="en-US" sz="2000" dirty="0" smtClean="0"/>
              <a:t>定制合适的防火墙</a:t>
            </a:r>
            <a:endParaRPr lang="zh-CN" altLang="en-US" sz="2000" dirty="0" smtClean="0"/>
          </a:p>
        </p:txBody>
      </p:sp>
      <p:graphicFrame>
        <p:nvGraphicFramePr>
          <p:cNvPr id="7" name="图示 6"/>
          <p:cNvGraphicFramePr/>
          <p:nvPr/>
        </p:nvGraphicFramePr>
        <p:xfrm>
          <a:off x="2166910" y="2643182"/>
          <a:ext cx="7572428" cy="359076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3.</a:t>
            </a:r>
            <a:r>
              <a:rPr lang="zh-CN" altLang="en-US" sz="2000" dirty="0" smtClean="0"/>
              <a:t>防火墙提供的保护</a:t>
            </a:r>
            <a:endParaRPr lang="zh-CN" altLang="en-US" sz="2000" dirty="0" smtClean="0"/>
          </a:p>
          <a:p>
            <a:pPr>
              <a:lnSpc>
                <a:spcPct val="150000"/>
              </a:lnSpc>
              <a:buFont typeface="Wingdings" panose="05000000000000000000" pitchFamily="2" charset="2"/>
              <a:buChar char="Ø"/>
            </a:pPr>
            <a:r>
              <a:rPr lang="en-US" sz="2000" dirty="0" smtClean="0"/>
              <a:t>4.Win7</a:t>
            </a:r>
            <a:r>
              <a:rPr lang="zh-CN" altLang="en-US" sz="2000" dirty="0" smtClean="0"/>
              <a:t>防火墙的设置</a:t>
            </a:r>
            <a:endParaRPr lang="zh-CN" altLang="en-US" sz="2000" dirty="0" smtClean="0"/>
          </a:p>
          <a:p>
            <a:pPr>
              <a:lnSpc>
                <a:spcPct val="150000"/>
              </a:lnSpc>
              <a:buNone/>
            </a:pPr>
            <a:r>
              <a:rPr lang="en-US" sz="2000" dirty="0" smtClean="0"/>
              <a:t>(1)Win7</a:t>
            </a:r>
            <a:r>
              <a:rPr lang="zh-CN" altLang="en-US" sz="2000" dirty="0" smtClean="0"/>
              <a:t>防火墙窗口。    如图</a:t>
            </a:r>
            <a:r>
              <a:rPr lang="en-US" sz="2000" dirty="0" smtClean="0"/>
              <a:t>8—1</a:t>
            </a:r>
            <a:r>
              <a:rPr lang="zh-CN" altLang="en-US" sz="2000" dirty="0" smtClean="0"/>
              <a:t>所示的</a:t>
            </a:r>
            <a:r>
              <a:rPr lang="en-US" sz="2000" dirty="0" smtClean="0"/>
              <a:t>“Windows</a:t>
            </a:r>
            <a:r>
              <a:rPr lang="zh-CN" altLang="en-US" sz="2000" dirty="0" smtClean="0"/>
              <a:t>防火墙</a:t>
            </a:r>
            <a:r>
              <a:rPr lang="en-US" sz="2000" dirty="0" smtClean="0"/>
              <a:t>”</a:t>
            </a:r>
            <a:r>
              <a:rPr lang="zh-CN" altLang="en-US" sz="2000" dirty="0" smtClean="0"/>
              <a:t>窗口。</a:t>
            </a:r>
            <a:endParaRPr lang="zh-CN" altLang="en-US" sz="2000" dirty="0"/>
          </a:p>
        </p:txBody>
      </p:sp>
      <p:pic>
        <p:nvPicPr>
          <p:cNvPr id="6" name="8a1.jpg" descr="id:2147497719;FounderCES"/>
          <p:cNvPicPr/>
          <p:nvPr/>
        </p:nvPicPr>
        <p:blipFill>
          <a:blip r:embed="rId4"/>
          <a:stretch>
            <a:fillRect/>
          </a:stretch>
        </p:blipFill>
        <p:spPr>
          <a:xfrm>
            <a:off x="3524232" y="3214686"/>
            <a:ext cx="4214842" cy="3000396"/>
          </a:xfrm>
          <a:prstGeom prst="rect">
            <a:avLst/>
          </a:prstGeom>
        </p:spPr>
      </p:pic>
      <p:sp>
        <p:nvSpPr>
          <p:cNvPr id="7" name="矩形 6"/>
          <p:cNvSpPr/>
          <p:nvPr/>
        </p:nvSpPr>
        <p:spPr>
          <a:xfrm>
            <a:off x="4524364" y="6215082"/>
            <a:ext cx="2358390" cy="337185"/>
          </a:xfrm>
          <a:prstGeom prst="rect">
            <a:avLst/>
          </a:prstGeom>
        </p:spPr>
        <p:txBody>
          <a:bodyPr wrap="none">
            <a:spAutoFit/>
          </a:bodyPr>
          <a:lstStyle/>
          <a:p>
            <a:r>
              <a:rPr lang="zh-CN" altLang="en-US" sz="1600" dirty="0" smtClean="0"/>
              <a:t>图</a:t>
            </a:r>
            <a:r>
              <a:rPr lang="en-US" sz="1600" dirty="0" smtClean="0"/>
              <a:t>8—1</a:t>
            </a:r>
            <a:r>
              <a:rPr lang="zh-CN" altLang="en-US" sz="1600" dirty="0" smtClean="0"/>
              <a:t>　</a:t>
            </a:r>
            <a:r>
              <a:rPr lang="en-US" sz="1600" dirty="0" smtClean="0"/>
              <a:t>Windows</a:t>
            </a:r>
            <a:r>
              <a:rPr lang="zh-CN" altLang="en-US" sz="1600" dirty="0" smtClean="0"/>
              <a:t>防火墙</a:t>
            </a:r>
            <a:endParaRPr lang="zh-CN" alt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(2)</a:t>
            </a:r>
            <a:r>
              <a:rPr lang="zh-CN" altLang="en-US" sz="2000" dirty="0" smtClean="0"/>
              <a:t>启动</a:t>
            </a:r>
            <a:r>
              <a:rPr lang="en-US" sz="2000" dirty="0" smtClean="0"/>
              <a:t>Win7</a:t>
            </a:r>
            <a:r>
              <a:rPr lang="zh-CN" altLang="en-US" sz="2000" dirty="0" smtClean="0"/>
              <a:t>防火墙。</a:t>
            </a:r>
            <a:endParaRPr lang="zh-CN" altLang="en-US" sz="2000" dirty="0"/>
          </a:p>
        </p:txBody>
      </p:sp>
      <p:sp>
        <p:nvSpPr>
          <p:cNvPr id="7" name="矩形 6"/>
          <p:cNvSpPr/>
          <p:nvPr/>
        </p:nvSpPr>
        <p:spPr>
          <a:xfrm>
            <a:off x="3024167" y="6000768"/>
            <a:ext cx="4857784" cy="337185"/>
          </a:xfrm>
          <a:prstGeom prst="rect">
            <a:avLst/>
          </a:prstGeom>
        </p:spPr>
        <p:txBody>
          <a:bodyPr wrap="square">
            <a:spAutoFit/>
          </a:bodyPr>
          <a:lstStyle/>
          <a:p>
            <a:pPr algn="ctr"/>
            <a:r>
              <a:rPr lang="zh-CN" altLang="en-US" sz="1600" dirty="0" smtClean="0"/>
              <a:t>图</a:t>
            </a:r>
            <a:r>
              <a:rPr lang="en-US" sz="1600" dirty="0" smtClean="0"/>
              <a:t>8—2</a:t>
            </a:r>
            <a:r>
              <a:rPr lang="zh-CN" altLang="en-US" sz="1600" dirty="0" smtClean="0"/>
              <a:t>　打开和关闭</a:t>
            </a:r>
            <a:r>
              <a:rPr lang="en-US" sz="1600" dirty="0" smtClean="0"/>
              <a:t>Windows</a:t>
            </a:r>
            <a:r>
              <a:rPr lang="zh-CN" altLang="en-US" sz="1600" dirty="0" smtClean="0"/>
              <a:t>系统防火墙</a:t>
            </a:r>
            <a:endParaRPr lang="zh-CN" altLang="en-US" sz="1600" dirty="0"/>
          </a:p>
        </p:txBody>
      </p:sp>
      <p:pic>
        <p:nvPicPr>
          <p:cNvPr id="8" name="8a2.jpg" descr="id:2147497726;FounderCES"/>
          <p:cNvPicPr/>
          <p:nvPr/>
        </p:nvPicPr>
        <p:blipFill>
          <a:blip r:embed="rId4"/>
          <a:stretch>
            <a:fillRect/>
          </a:stretch>
        </p:blipFill>
        <p:spPr>
          <a:xfrm>
            <a:off x="3095604" y="2357430"/>
            <a:ext cx="4429156" cy="328614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buNone/>
            </a:pPr>
            <a:r>
              <a:rPr lang="en-US" sz="2000" dirty="0" smtClean="0"/>
              <a:t>(3)Win7</a:t>
            </a:r>
            <a:r>
              <a:rPr lang="zh-CN" altLang="en-US" sz="2000" dirty="0" smtClean="0"/>
              <a:t>防火墙的还原。            </a:t>
            </a:r>
            <a:r>
              <a:rPr lang="en-US" sz="2000" dirty="0" smtClean="0"/>
              <a:t>(4)Win7</a:t>
            </a:r>
            <a:r>
              <a:rPr lang="zh-CN" altLang="en-US" sz="2000" dirty="0" smtClean="0"/>
              <a:t>防火墙的高级设置。</a:t>
            </a:r>
            <a:endParaRPr lang="zh-CN" altLang="en-US" sz="2000" dirty="0"/>
          </a:p>
        </p:txBody>
      </p:sp>
      <p:sp>
        <p:nvSpPr>
          <p:cNvPr id="7" name="矩形 6"/>
          <p:cNvSpPr/>
          <p:nvPr/>
        </p:nvSpPr>
        <p:spPr>
          <a:xfrm>
            <a:off x="2238349" y="6000768"/>
            <a:ext cx="2428891" cy="337185"/>
          </a:xfrm>
          <a:prstGeom prst="rect">
            <a:avLst/>
          </a:prstGeom>
        </p:spPr>
        <p:txBody>
          <a:bodyPr wrap="square">
            <a:spAutoFit/>
          </a:bodyPr>
          <a:lstStyle/>
          <a:p>
            <a:r>
              <a:rPr lang="zh-CN" altLang="en-US" sz="1600" dirty="0" smtClean="0"/>
              <a:t>图</a:t>
            </a:r>
            <a:r>
              <a:rPr lang="en-US" sz="1600" dirty="0" smtClean="0"/>
              <a:t>8—3</a:t>
            </a:r>
            <a:r>
              <a:rPr lang="zh-CN" altLang="en-US" sz="1600" dirty="0" smtClean="0"/>
              <a:t>　还原默认设置</a:t>
            </a:r>
            <a:endParaRPr lang="zh-CN" altLang="en-US" sz="1600" dirty="0"/>
          </a:p>
        </p:txBody>
      </p:sp>
      <p:pic>
        <p:nvPicPr>
          <p:cNvPr id="10" name="8a3.jpg" descr="id:2147497733;FounderCES"/>
          <p:cNvPicPr/>
          <p:nvPr/>
        </p:nvPicPr>
        <p:blipFill>
          <a:blip r:embed="rId4" cstate="print"/>
          <a:stretch>
            <a:fillRect/>
          </a:stretch>
        </p:blipFill>
        <p:spPr>
          <a:xfrm>
            <a:off x="1881158" y="2857496"/>
            <a:ext cx="3237480" cy="2565720"/>
          </a:xfrm>
          <a:prstGeom prst="rect">
            <a:avLst/>
          </a:prstGeom>
        </p:spPr>
      </p:pic>
      <p:pic>
        <p:nvPicPr>
          <p:cNvPr id="11" name="8a4.jpg" descr="id:2147497740;FounderCES"/>
          <p:cNvPicPr/>
          <p:nvPr/>
        </p:nvPicPr>
        <p:blipFill>
          <a:blip r:embed="rId5" cstate="print"/>
          <a:stretch>
            <a:fillRect/>
          </a:stretch>
        </p:blipFill>
        <p:spPr>
          <a:xfrm>
            <a:off x="5953124" y="2714620"/>
            <a:ext cx="3643338" cy="2714644"/>
          </a:xfrm>
          <a:prstGeom prst="rect">
            <a:avLst/>
          </a:prstGeom>
        </p:spPr>
      </p:pic>
      <p:sp>
        <p:nvSpPr>
          <p:cNvPr id="12" name="矩形 11"/>
          <p:cNvSpPr/>
          <p:nvPr/>
        </p:nvSpPr>
        <p:spPr>
          <a:xfrm>
            <a:off x="6088562" y="6019404"/>
            <a:ext cx="3355340" cy="337185"/>
          </a:xfrm>
          <a:prstGeom prst="rect">
            <a:avLst/>
          </a:prstGeom>
        </p:spPr>
        <p:txBody>
          <a:bodyPr wrap="none">
            <a:spAutoFit/>
          </a:bodyPr>
          <a:lstStyle/>
          <a:p>
            <a:r>
              <a:rPr lang="zh-CN" altLang="en-US" sz="1600" dirty="0" smtClean="0"/>
              <a:t>图</a:t>
            </a:r>
            <a:r>
              <a:rPr lang="en-US" sz="1600" dirty="0" smtClean="0"/>
              <a:t>8—4</a:t>
            </a:r>
            <a:r>
              <a:rPr lang="zh-CN" altLang="en-US" sz="1600" dirty="0" smtClean="0"/>
              <a:t>　</a:t>
            </a:r>
            <a:r>
              <a:rPr lang="en-US" sz="1600" dirty="0" smtClean="0"/>
              <a:t>Windows</a:t>
            </a:r>
            <a:r>
              <a:rPr lang="zh-CN" altLang="en-US" sz="1600" dirty="0" smtClean="0"/>
              <a:t>防火墙</a:t>
            </a:r>
            <a:r>
              <a:rPr lang="en-US" sz="1600" dirty="0" smtClean="0"/>
              <a:t>—</a:t>
            </a:r>
            <a:r>
              <a:rPr lang="zh-CN" altLang="en-US" sz="1600" dirty="0" smtClean="0"/>
              <a:t>高级设置</a:t>
            </a:r>
            <a:endParaRPr lang="zh-CN" alt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8.3</a:t>
            </a:r>
            <a:r>
              <a:rPr lang="zh-CN" altLang="en-US" dirty="0" smtClean="0"/>
              <a:t>　计算机病毒及其预防</a:t>
            </a:r>
            <a:endParaRPr lang="en-US" altLang="zh-CN" dirty="0" smtClean="0"/>
          </a:p>
          <a:p>
            <a:pPr>
              <a:lnSpc>
                <a:spcPct val="150000"/>
              </a:lnSpc>
              <a:buNone/>
            </a:pPr>
            <a:endParaRPr lang="zh-CN" altLang="en-US" dirty="0" smtClean="0"/>
          </a:p>
          <a:p>
            <a:pPr>
              <a:lnSpc>
                <a:spcPct val="150000"/>
              </a:lnSpc>
              <a:buNone/>
            </a:pPr>
            <a:r>
              <a:rPr lang="en-US" sz="2000" dirty="0" smtClean="0"/>
              <a:t>※ </a:t>
            </a:r>
            <a:r>
              <a:rPr lang="zh-CN" altLang="en-US" sz="2000" dirty="0" smtClean="0"/>
              <a:t>了解计算机病毒的基本知识</a:t>
            </a:r>
            <a:r>
              <a:rPr lang="en-US" sz="2000" dirty="0" smtClean="0"/>
              <a:t>;</a:t>
            </a:r>
            <a:endParaRPr lang="zh-CN" altLang="en-US" sz="2000" dirty="0" smtClean="0"/>
          </a:p>
          <a:p>
            <a:pPr>
              <a:lnSpc>
                <a:spcPct val="150000"/>
              </a:lnSpc>
              <a:buNone/>
            </a:pPr>
            <a:r>
              <a:rPr lang="en-US" sz="2000" dirty="0" smtClean="0"/>
              <a:t>※ </a:t>
            </a:r>
            <a:r>
              <a:rPr lang="zh-CN" altLang="en-US" sz="2000" dirty="0" smtClean="0"/>
              <a:t>了解计算机病毒的主要特征</a:t>
            </a:r>
            <a:r>
              <a:rPr lang="en-US" sz="2000" dirty="0" smtClean="0"/>
              <a:t>;</a:t>
            </a:r>
            <a:endParaRPr lang="zh-CN" altLang="en-US" sz="2000" dirty="0" smtClean="0"/>
          </a:p>
          <a:p>
            <a:pPr>
              <a:lnSpc>
                <a:spcPct val="150000"/>
              </a:lnSpc>
              <a:buNone/>
            </a:pPr>
            <a:r>
              <a:rPr lang="en-US" sz="2000" dirty="0" smtClean="0"/>
              <a:t>※ </a:t>
            </a:r>
            <a:r>
              <a:rPr lang="zh-CN" altLang="en-US" sz="2000" dirty="0" smtClean="0"/>
              <a:t>了解计算机病毒常见的表现现象</a:t>
            </a:r>
            <a:r>
              <a:rPr lang="en-US" sz="2000" dirty="0" smtClean="0"/>
              <a:t>;</a:t>
            </a:r>
            <a:endParaRPr lang="zh-CN" altLang="en-US" sz="2000" dirty="0" smtClean="0"/>
          </a:p>
          <a:p>
            <a:pPr>
              <a:lnSpc>
                <a:spcPct val="150000"/>
              </a:lnSpc>
              <a:buNone/>
            </a:pPr>
            <a:r>
              <a:rPr lang="en-US" sz="2000" dirty="0" smtClean="0"/>
              <a:t>※ </a:t>
            </a:r>
            <a:r>
              <a:rPr lang="zh-CN" altLang="en-US" sz="2000" dirty="0" smtClean="0"/>
              <a:t>了解计算机病毒和木马的区别</a:t>
            </a:r>
            <a:r>
              <a:rPr lang="en-US" sz="2000" dirty="0" smtClean="0"/>
              <a:t>;</a:t>
            </a:r>
            <a:endParaRPr lang="zh-CN" altLang="en-US" sz="2000" dirty="0" smtClean="0"/>
          </a:p>
          <a:p>
            <a:pPr>
              <a:lnSpc>
                <a:spcPct val="150000"/>
              </a:lnSpc>
              <a:buNone/>
            </a:pPr>
            <a:r>
              <a:rPr lang="en-US" sz="2000" dirty="0" smtClean="0"/>
              <a:t>※ </a:t>
            </a:r>
            <a:r>
              <a:rPr lang="zh-CN" altLang="en-US" sz="2000" dirty="0" smtClean="0"/>
              <a:t>了解计算机病毒、木马的预防方法</a:t>
            </a:r>
            <a:r>
              <a:rPr lang="en-US" sz="2000" dirty="0" smtClean="0"/>
              <a:t>;</a:t>
            </a:r>
            <a:endParaRPr lang="zh-CN" altLang="en-US" sz="2000" dirty="0" smtClean="0"/>
          </a:p>
          <a:p>
            <a:pPr>
              <a:lnSpc>
                <a:spcPct val="150000"/>
              </a:lnSpc>
              <a:buNone/>
            </a:pPr>
            <a:r>
              <a:rPr lang="en-US" sz="2000" dirty="0" smtClean="0"/>
              <a:t>※ </a:t>
            </a:r>
            <a:r>
              <a:rPr lang="zh-CN" altLang="en-US" sz="2000" dirty="0" smtClean="0"/>
              <a:t>了解典型计算机安全防护软件的功能和常用使用方法。</a:t>
            </a:r>
            <a:endParaRPr lang="zh-CN" altLang="en-US" sz="2000" dirty="0"/>
          </a:p>
        </p:txBody>
      </p:sp>
      <p:pic>
        <p:nvPicPr>
          <p:cNvPr id="10" name="学习目标.EPS" descr="id:2147497755;FounderCES"/>
          <p:cNvPicPr/>
          <p:nvPr/>
        </p:nvPicPr>
        <p:blipFill>
          <a:blip r:embed="rId4"/>
          <a:stretch>
            <a:fillRect/>
          </a:stretch>
        </p:blipFill>
        <p:spPr>
          <a:xfrm>
            <a:off x="2166910" y="2214554"/>
            <a:ext cx="1643074" cy="57150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8.3.1</a:t>
            </a:r>
            <a:r>
              <a:rPr lang="zh-CN" altLang="en-US" dirty="0" smtClean="0"/>
              <a:t>　计算机病毒的基本知识</a:t>
            </a:r>
            <a:endParaRPr lang="zh-CN" altLang="en-US" dirty="0" smtClean="0"/>
          </a:p>
          <a:p>
            <a:pPr>
              <a:lnSpc>
                <a:spcPct val="150000"/>
              </a:lnSpc>
              <a:buNone/>
            </a:pPr>
            <a:r>
              <a:rPr lang="zh-CN" altLang="en-US" sz="2000" dirty="0" smtClean="0"/>
              <a:t>       计算机病毒</a:t>
            </a:r>
            <a:r>
              <a:rPr lang="en-US" sz="2000" dirty="0" smtClean="0"/>
              <a:t>(Computer Virus)</a:t>
            </a:r>
            <a:r>
              <a:rPr lang="zh-CN" altLang="en-US" sz="2000" dirty="0" smtClean="0"/>
              <a:t>也被称作是恶意代码</a:t>
            </a:r>
            <a:r>
              <a:rPr lang="en-US" sz="2000" dirty="0" smtClean="0"/>
              <a:t>,</a:t>
            </a:r>
            <a:r>
              <a:rPr lang="zh-CN" altLang="en-US" sz="2000" dirty="0" smtClean="0"/>
              <a:t>指为达到特殊目的而制作和传播的、影响计算机正常工作的代码或程序。这些程序之所以被称作病毒</a:t>
            </a:r>
            <a:r>
              <a:rPr lang="en-US" sz="2000" dirty="0" smtClean="0"/>
              <a:t>,</a:t>
            </a:r>
            <a:r>
              <a:rPr lang="zh-CN" altLang="en-US" sz="2000" dirty="0" smtClean="0"/>
              <a:t>主要是由于它们具有破坏性、传染性和寄生性</a:t>
            </a:r>
            <a:r>
              <a:rPr lang="en-US" sz="2000" dirty="0" smtClean="0"/>
              <a:t>,</a:t>
            </a:r>
            <a:r>
              <a:rPr lang="zh-CN" altLang="en-US" sz="2000" dirty="0" smtClean="0"/>
              <a:t>某些恶意代码会隐藏在计算机的正常文件中伺机而发</a:t>
            </a:r>
            <a:r>
              <a:rPr lang="en-US" sz="2000" dirty="0" smtClean="0"/>
              <a:t>,</a:t>
            </a:r>
            <a:r>
              <a:rPr lang="zh-CN" altLang="en-US" sz="2000" dirty="0" smtClean="0"/>
              <a:t>并大量地复制病毒体</a:t>
            </a:r>
            <a:r>
              <a:rPr lang="en-US" sz="2000" dirty="0" smtClean="0"/>
              <a:t>,</a:t>
            </a:r>
            <a:r>
              <a:rPr lang="zh-CN" altLang="en-US" sz="2000" dirty="0" smtClean="0"/>
              <a:t>感染本机的其他文件和网络中的计算机系统。</a:t>
            </a:r>
            <a:endParaRPr lang="zh-CN" alt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8.3.2</a:t>
            </a:r>
            <a:r>
              <a:rPr lang="zh-CN" altLang="en-US" dirty="0" smtClean="0"/>
              <a:t>　计算机病毒的主要特征</a:t>
            </a:r>
            <a:endParaRPr lang="zh-CN" altLang="en-US" dirty="0" smtClean="0"/>
          </a:p>
          <a:p>
            <a:pPr>
              <a:lnSpc>
                <a:spcPct val="150000"/>
              </a:lnSpc>
              <a:buFont typeface="Wingdings" panose="05000000000000000000" pitchFamily="2" charset="2"/>
              <a:buChar char="Ø"/>
            </a:pPr>
            <a:r>
              <a:rPr lang="en-US" sz="2000" dirty="0" smtClean="0"/>
              <a:t>1.</a:t>
            </a:r>
            <a:r>
              <a:rPr lang="zh-CN" altLang="en-US" sz="2000" dirty="0" smtClean="0"/>
              <a:t>非法性    计算机病毒是非法程序</a:t>
            </a:r>
            <a:r>
              <a:rPr lang="en-US" sz="2000" dirty="0" smtClean="0"/>
              <a:t>,</a:t>
            </a:r>
            <a:r>
              <a:rPr lang="zh-CN" altLang="en-US" sz="2000" dirty="0" smtClean="0"/>
              <a:t>计算机用户不会明知是病毒程序而故意去执行运行它。</a:t>
            </a:r>
            <a:endParaRPr lang="zh-CN" altLang="en-US" sz="2000" dirty="0" smtClean="0"/>
          </a:p>
          <a:p>
            <a:pPr>
              <a:lnSpc>
                <a:spcPct val="150000"/>
              </a:lnSpc>
              <a:buFont typeface="Wingdings" panose="05000000000000000000" pitchFamily="2" charset="2"/>
              <a:buChar char="Ø"/>
            </a:pPr>
            <a:r>
              <a:rPr lang="en-US" sz="2000" dirty="0" smtClean="0"/>
              <a:t>2.</a:t>
            </a:r>
            <a:r>
              <a:rPr lang="zh-CN" altLang="en-US" sz="2000" dirty="0" smtClean="0"/>
              <a:t>隐藏性    计算机病毒是非法的程序</a:t>
            </a:r>
            <a:r>
              <a:rPr lang="en-US" sz="2000" dirty="0" smtClean="0"/>
              <a:t>,</a:t>
            </a:r>
            <a:r>
              <a:rPr lang="zh-CN" altLang="en-US" sz="2000" dirty="0" smtClean="0"/>
              <a:t>隐藏性是计算机病毒最基本的特征</a:t>
            </a:r>
            <a:r>
              <a:rPr lang="en-US" sz="2000" dirty="0" smtClean="0"/>
              <a:t>,</a:t>
            </a:r>
            <a:r>
              <a:rPr lang="zh-CN" altLang="en-US" sz="2000" dirty="0" smtClean="0"/>
              <a:t>它不可能正大光明地运行。</a:t>
            </a:r>
            <a:endParaRPr lang="zh-CN" altLang="en-US" sz="2000" dirty="0" smtClean="0"/>
          </a:p>
          <a:p>
            <a:pPr>
              <a:lnSpc>
                <a:spcPct val="150000"/>
              </a:lnSpc>
              <a:buFont typeface="Wingdings" panose="05000000000000000000" pitchFamily="2" charset="2"/>
              <a:buChar char="Ø"/>
            </a:pPr>
            <a:r>
              <a:rPr lang="en-US" sz="2000" dirty="0" smtClean="0"/>
              <a:t>3.</a:t>
            </a:r>
            <a:r>
              <a:rPr lang="zh-CN" altLang="en-US" sz="2000" dirty="0" smtClean="0"/>
              <a:t>潜伏性    计算机病毒具有依附于其他媒体而寄生的能力</a:t>
            </a:r>
            <a:r>
              <a:rPr lang="en-US" sz="2000" dirty="0" smtClean="0"/>
              <a:t>,</a:t>
            </a:r>
            <a:r>
              <a:rPr lang="zh-CN" altLang="en-US" sz="2000" dirty="0" smtClean="0"/>
              <a:t>我们把这种媒体称为计算机病毒的宿主。</a:t>
            </a:r>
            <a:endParaRPr lang="en-US" altLang="zh-CN" sz="2000" dirty="0" smtClean="0"/>
          </a:p>
          <a:p>
            <a:pPr>
              <a:lnSpc>
                <a:spcPct val="150000"/>
              </a:lnSpc>
              <a:buFont typeface="Wingdings" panose="05000000000000000000" pitchFamily="2" charset="2"/>
              <a:buChar char="Ø"/>
            </a:pPr>
            <a:r>
              <a:rPr lang="en-US" sz="2000" dirty="0" smtClean="0"/>
              <a:t> 4.</a:t>
            </a:r>
            <a:r>
              <a:rPr lang="zh-CN" altLang="en-US" sz="2000" dirty="0" smtClean="0"/>
              <a:t>可触发性    计算机病毒一般都有一个或者几个触发条件。</a:t>
            </a:r>
            <a:endParaRPr lang="en-US" altLang="zh-CN" sz="2000" dirty="0"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5.</a:t>
            </a:r>
            <a:r>
              <a:rPr lang="zh-CN" altLang="en-US" sz="2000" dirty="0" smtClean="0"/>
              <a:t>破坏性    计算机病毒造成的最显著后果是破坏计算机系统</a:t>
            </a:r>
            <a:r>
              <a:rPr lang="en-US" sz="2000" dirty="0" smtClean="0"/>
              <a:t>,</a:t>
            </a:r>
            <a:r>
              <a:rPr lang="zh-CN" altLang="en-US" sz="2000" dirty="0" smtClean="0"/>
              <a:t>导致其无法正常工作或删除用户保存的数据。</a:t>
            </a:r>
            <a:endParaRPr lang="en-US" sz="2000" dirty="0" smtClean="0"/>
          </a:p>
          <a:p>
            <a:pPr>
              <a:lnSpc>
                <a:spcPct val="150000"/>
              </a:lnSpc>
              <a:buFont typeface="Wingdings" panose="05000000000000000000" pitchFamily="2" charset="2"/>
              <a:buChar char="Ø"/>
            </a:pPr>
            <a:r>
              <a:rPr lang="en-US" sz="2000" dirty="0" smtClean="0"/>
              <a:t>6.</a:t>
            </a:r>
            <a:r>
              <a:rPr lang="zh-CN" altLang="en-US" sz="2000" dirty="0" smtClean="0"/>
              <a:t>传染性    计算机病毒可以从一个程序传染到另一程序</a:t>
            </a:r>
            <a:r>
              <a:rPr lang="en-US" sz="2000" dirty="0" smtClean="0"/>
              <a:t>,</a:t>
            </a:r>
            <a:r>
              <a:rPr lang="zh-CN" altLang="en-US" sz="2000" dirty="0" smtClean="0"/>
              <a:t>从一台计算机感染到另一台计算机</a:t>
            </a:r>
            <a:r>
              <a:rPr lang="en-US" sz="2000" dirty="0" smtClean="0"/>
              <a:t>,</a:t>
            </a:r>
            <a:r>
              <a:rPr lang="zh-CN" altLang="en-US" sz="2000" dirty="0" smtClean="0"/>
              <a:t>从一个计算机网络传播到另一个计算机网络</a:t>
            </a:r>
            <a:r>
              <a:rPr lang="en-US" sz="2000" dirty="0" smtClean="0"/>
              <a:t>,</a:t>
            </a:r>
            <a:r>
              <a:rPr lang="zh-CN" altLang="en-US" sz="2000" dirty="0" smtClean="0"/>
              <a:t>从而在各个系统上传蔓延、扩散</a:t>
            </a:r>
            <a:r>
              <a:rPr lang="en-US" sz="2000" dirty="0" smtClean="0"/>
              <a:t>,</a:t>
            </a:r>
            <a:r>
              <a:rPr lang="zh-CN" altLang="en-US" sz="2000" dirty="0" smtClean="0"/>
              <a:t>同时使被传染的计算机程序、计算机系统、计算机网络成为计算机病毒的生存环境及新的传染源。通常这类行为是未经用户允许的</a:t>
            </a:r>
            <a:r>
              <a:rPr lang="en-US" sz="2000" dirty="0" smtClean="0"/>
              <a:t>,</a:t>
            </a:r>
            <a:r>
              <a:rPr lang="zh-CN" altLang="en-US" sz="2000" dirty="0" smtClean="0"/>
              <a:t>隐藏进行的。</a:t>
            </a:r>
            <a:endParaRPr lang="zh-CN" altLang="en-US" sz="2000" dirty="0" smtClean="0"/>
          </a:p>
          <a:p>
            <a:pPr>
              <a:lnSpc>
                <a:spcPct val="150000"/>
              </a:lnSpc>
              <a:buFont typeface="Wingdings" panose="05000000000000000000" pitchFamily="2" charset="2"/>
              <a:buChar char="Ø"/>
            </a:pPr>
            <a:r>
              <a:rPr lang="en-US" sz="2000" dirty="0" smtClean="0"/>
              <a:t>7.</a:t>
            </a:r>
            <a:r>
              <a:rPr lang="zh-CN" altLang="en-US" sz="2000" dirty="0" smtClean="0"/>
              <a:t>变异性    计算机病毒在发展、演化过程中可以产生变种。</a:t>
            </a:r>
            <a:endParaRPr lang="zh-CN" altLang="en-US" sz="2000" dirty="0" smtClean="0"/>
          </a:p>
          <a:p>
            <a:pPr>
              <a:lnSpc>
                <a:spcPct val="150000"/>
              </a:lnSpc>
              <a:buFont typeface="Wingdings" panose="05000000000000000000" pitchFamily="2" charset="2"/>
              <a:buChar char="Ø"/>
            </a:pPr>
            <a:r>
              <a:rPr lang="en-US" sz="2000" dirty="0" smtClean="0"/>
              <a:t>8.</a:t>
            </a:r>
            <a:r>
              <a:rPr lang="zh-CN" altLang="en-US" sz="2000" dirty="0" smtClean="0"/>
              <a:t>不可预见性    从对计算机病毒的检测方面来看</a:t>
            </a:r>
            <a:r>
              <a:rPr lang="en-US" sz="2000" dirty="0" smtClean="0"/>
              <a:t>,</a:t>
            </a:r>
            <a:r>
              <a:rPr lang="zh-CN" altLang="en-US" sz="2000" dirty="0" smtClean="0"/>
              <a:t>计算机病毒还具备不可预见的特性。</a:t>
            </a:r>
            <a:endParaRPr lang="zh-CN" alt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30000"/>
              </a:lnSpc>
            </a:pPr>
            <a:r>
              <a:rPr lang="en-US" dirty="0" smtClean="0"/>
              <a:t>8.3.3</a:t>
            </a:r>
            <a:r>
              <a:rPr lang="zh-CN" altLang="en-US" dirty="0" smtClean="0"/>
              <a:t>　计算机病毒常见的表现现象</a:t>
            </a:r>
            <a:endParaRPr lang="zh-CN" altLang="en-US" dirty="0" smtClean="0"/>
          </a:p>
          <a:p>
            <a:pPr>
              <a:lnSpc>
                <a:spcPct val="130000"/>
              </a:lnSpc>
              <a:buNone/>
            </a:pPr>
            <a:r>
              <a:rPr lang="zh-CN" altLang="en-US" sz="2000" dirty="0" smtClean="0"/>
              <a:t>      通常情况下</a:t>
            </a:r>
            <a:r>
              <a:rPr lang="en-US" sz="2000" dirty="0" smtClean="0"/>
              <a:t>,</a:t>
            </a:r>
            <a:r>
              <a:rPr lang="zh-CN" altLang="en-US" sz="2000" dirty="0" smtClean="0"/>
              <a:t>计算机病毒总是依附某一系统软件或某一程序进行繁殖和扩散。病毒发作时对计算机的正常工作造成影响</a:t>
            </a:r>
            <a:r>
              <a:rPr lang="en-US" sz="2000" dirty="0" smtClean="0"/>
              <a:t>,</a:t>
            </a:r>
            <a:r>
              <a:rPr lang="zh-CN" altLang="en-US" sz="2000" dirty="0" smtClean="0"/>
              <a:t>主要表现在破坏数据与其他程序</a:t>
            </a:r>
            <a:r>
              <a:rPr lang="en-US" sz="2000" dirty="0" smtClean="0"/>
              <a:t>,</a:t>
            </a:r>
            <a:r>
              <a:rPr lang="zh-CN" altLang="en-US" sz="2000" dirty="0" smtClean="0"/>
              <a:t>侵吞计算机资源等方面。</a:t>
            </a:r>
            <a:endParaRPr lang="zh-CN" altLang="en-US" sz="2000" dirty="0" smtClean="0"/>
          </a:p>
          <a:p>
            <a:pPr>
              <a:lnSpc>
                <a:spcPct val="130000"/>
              </a:lnSpc>
            </a:pPr>
            <a:r>
              <a:rPr lang="en-US" dirty="0" smtClean="0"/>
              <a:t>8.3.4</a:t>
            </a:r>
            <a:r>
              <a:rPr lang="zh-CN" altLang="en-US" dirty="0" smtClean="0"/>
              <a:t>　计算机病毒和木马的区别</a:t>
            </a:r>
            <a:endParaRPr lang="zh-CN" altLang="en-US" dirty="0" smtClean="0"/>
          </a:p>
          <a:p>
            <a:pPr>
              <a:lnSpc>
                <a:spcPct val="130000"/>
              </a:lnSpc>
              <a:buNone/>
            </a:pPr>
            <a:r>
              <a:rPr lang="zh-CN" altLang="en-US" sz="2000" dirty="0" smtClean="0"/>
              <a:t>       病毒与木马的区别在于病毒以感染为目的</a:t>
            </a:r>
            <a:r>
              <a:rPr lang="en-US" sz="2000" dirty="0" smtClean="0"/>
              <a:t>,</a:t>
            </a:r>
            <a:r>
              <a:rPr lang="zh-CN" altLang="en-US" sz="2000" dirty="0" smtClean="0"/>
              <a:t>木马则更注重于窃取计算机中的信息。木马病毒是一种伪装潜伏的网络病毒。</a:t>
            </a:r>
            <a:endParaRPr lang="zh-CN" altLang="en-US" sz="2000" dirty="0" smtClean="0"/>
          </a:p>
          <a:p>
            <a:pPr>
              <a:lnSpc>
                <a:spcPct val="130000"/>
              </a:lnSpc>
            </a:pPr>
            <a:r>
              <a:rPr lang="en-US" dirty="0" smtClean="0"/>
              <a:t>8.3.5</a:t>
            </a:r>
            <a:r>
              <a:rPr lang="zh-CN" altLang="en-US" dirty="0" smtClean="0"/>
              <a:t>　计算机病毒与木马的预防方法</a:t>
            </a:r>
            <a:endParaRPr lang="zh-CN" altLang="en-US" dirty="0" smtClean="0"/>
          </a:p>
          <a:p>
            <a:pPr>
              <a:lnSpc>
                <a:spcPct val="130000"/>
              </a:lnSpc>
              <a:buNone/>
            </a:pPr>
            <a:r>
              <a:rPr lang="zh-CN" altLang="en-US" sz="2000" dirty="0" smtClean="0"/>
              <a:t>       对于病毒和木马程序的预防</a:t>
            </a:r>
            <a:r>
              <a:rPr lang="en-US" sz="2000" dirty="0" smtClean="0"/>
              <a:t>,</a:t>
            </a:r>
            <a:r>
              <a:rPr lang="zh-CN" altLang="en-US" sz="2000" dirty="0" smtClean="0"/>
              <a:t>首先要树立正确的病毒木马防范意识</a:t>
            </a:r>
            <a:r>
              <a:rPr lang="en-US" sz="2000" dirty="0" smtClean="0"/>
              <a:t>,</a:t>
            </a:r>
            <a:r>
              <a:rPr lang="zh-CN" altLang="en-US" sz="2000" dirty="0" smtClean="0"/>
              <a:t>这是防病毒木马的前提和基础。</a:t>
            </a:r>
            <a:endParaRPr lang="zh-CN" alt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8.3.6</a:t>
            </a:r>
            <a:r>
              <a:rPr lang="zh-CN" altLang="en-US" dirty="0" smtClean="0"/>
              <a:t>　典型计算机安全防护软件</a:t>
            </a:r>
            <a:endParaRPr lang="zh-CN" altLang="en-US" dirty="0" smtClean="0"/>
          </a:p>
          <a:p>
            <a:pPr>
              <a:lnSpc>
                <a:spcPct val="150000"/>
              </a:lnSpc>
              <a:buFont typeface="Wingdings" panose="05000000000000000000" pitchFamily="2" charset="2"/>
              <a:buChar char="Ø"/>
            </a:pPr>
            <a:r>
              <a:rPr lang="en-US" sz="2000" dirty="0" smtClean="0"/>
              <a:t>1.</a:t>
            </a:r>
            <a:r>
              <a:rPr lang="zh-CN" altLang="en-US" sz="2000" dirty="0" smtClean="0"/>
              <a:t>瑞星杀毒软件    全新极速杀毒引擎</a:t>
            </a:r>
            <a:r>
              <a:rPr lang="en-US" sz="2000" dirty="0" smtClean="0"/>
              <a:t>,</a:t>
            </a:r>
            <a:r>
              <a:rPr lang="zh-CN" altLang="en-US" sz="2000" dirty="0" smtClean="0"/>
              <a:t>查杀病毒速度提升</a:t>
            </a:r>
            <a:r>
              <a:rPr lang="en-US" sz="2000" dirty="0" smtClean="0"/>
              <a:t>50%</a:t>
            </a:r>
            <a:r>
              <a:rPr lang="zh-CN" altLang="en-US" sz="2000" dirty="0" smtClean="0"/>
              <a:t>。</a:t>
            </a:r>
            <a:endParaRPr lang="zh-CN" altLang="en-US" sz="2000" dirty="0" smtClean="0"/>
          </a:p>
          <a:p>
            <a:pPr>
              <a:lnSpc>
                <a:spcPct val="150000"/>
              </a:lnSpc>
              <a:buFont typeface="Wingdings" panose="05000000000000000000" pitchFamily="2" charset="2"/>
              <a:buChar char="Ø"/>
            </a:pPr>
            <a:r>
              <a:rPr lang="en-US" sz="2000" dirty="0" smtClean="0"/>
              <a:t>2.</a:t>
            </a:r>
            <a:r>
              <a:rPr lang="zh-CN" altLang="en-US" sz="2000" dirty="0" smtClean="0"/>
              <a:t>金山毒霸软件    主动实时升级</a:t>
            </a:r>
            <a:r>
              <a:rPr lang="en-US" sz="2000" dirty="0" smtClean="0"/>
              <a:t>;</a:t>
            </a:r>
            <a:r>
              <a:rPr lang="zh-CN" altLang="en-US" sz="2000" dirty="0" smtClean="0"/>
              <a:t>安全漏洞侦测</a:t>
            </a:r>
            <a:r>
              <a:rPr lang="en-US" sz="2000" dirty="0" smtClean="0"/>
              <a:t>,</a:t>
            </a:r>
            <a:r>
              <a:rPr lang="zh-CN" altLang="en-US" sz="2000" dirty="0" smtClean="0"/>
              <a:t>防范病毒主动攻击</a:t>
            </a:r>
            <a:r>
              <a:rPr lang="en-US" sz="2000" dirty="0" smtClean="0"/>
              <a:t>;</a:t>
            </a:r>
            <a:r>
              <a:rPr lang="zh-CN" altLang="en-US" sz="2000" dirty="0" smtClean="0"/>
              <a:t>反间谍软件</a:t>
            </a:r>
            <a:r>
              <a:rPr lang="en-US" sz="2000" dirty="0" smtClean="0"/>
              <a:t>,</a:t>
            </a:r>
            <a:r>
              <a:rPr lang="zh-CN" altLang="en-US" sz="2000" dirty="0" smtClean="0"/>
              <a:t>可以彻底清除驻留在内存及硬盘上的间谍软件和木马程序</a:t>
            </a:r>
            <a:r>
              <a:rPr lang="en-US" sz="2000" dirty="0" smtClean="0"/>
              <a:t>;</a:t>
            </a:r>
            <a:r>
              <a:rPr lang="zh-CN" altLang="en-US" sz="2000" dirty="0" smtClean="0"/>
              <a:t>隐私保护</a:t>
            </a:r>
            <a:r>
              <a:rPr lang="en-US" sz="2000" dirty="0" smtClean="0"/>
              <a:t>,</a:t>
            </a:r>
            <a:r>
              <a:rPr lang="zh-CN" altLang="en-US" sz="2000" dirty="0" smtClean="0"/>
              <a:t>确保用户的重要数据不会外泄。</a:t>
            </a:r>
            <a:endParaRPr lang="zh-CN" altLang="en-US" sz="2000" dirty="0" smtClean="0"/>
          </a:p>
          <a:p>
            <a:pPr>
              <a:lnSpc>
                <a:spcPct val="150000"/>
              </a:lnSpc>
              <a:buFont typeface="Wingdings" panose="05000000000000000000" pitchFamily="2" charset="2"/>
              <a:buChar char="Ø"/>
            </a:pPr>
            <a:r>
              <a:rPr lang="en-US" sz="2000" dirty="0" smtClean="0"/>
              <a:t>3.</a:t>
            </a:r>
            <a:r>
              <a:rPr lang="zh-CN" altLang="en-US" sz="2000" dirty="0" smtClean="0"/>
              <a:t>江民杀毒软件    软件运行速度快</a:t>
            </a:r>
            <a:r>
              <a:rPr lang="en-US" sz="2000" dirty="0" smtClean="0"/>
              <a:t>,</a:t>
            </a:r>
            <a:r>
              <a:rPr lang="zh-CN" altLang="en-US" sz="2000" dirty="0" smtClean="0"/>
              <a:t>占用内存少</a:t>
            </a:r>
            <a:r>
              <a:rPr lang="en-US" sz="2000" dirty="0" smtClean="0"/>
              <a:t>,</a:t>
            </a:r>
            <a:r>
              <a:rPr lang="zh-CN" altLang="en-US" sz="2000" dirty="0" smtClean="0"/>
              <a:t>杀毒效率高。</a:t>
            </a:r>
            <a:endParaRPr lang="zh-CN" altLang="en-US" sz="2000" dirty="0" smtClean="0"/>
          </a:p>
          <a:p>
            <a:pPr>
              <a:lnSpc>
                <a:spcPct val="150000"/>
              </a:lnSpc>
              <a:buFont typeface="Wingdings" panose="05000000000000000000" pitchFamily="2" charset="2"/>
              <a:buChar char="Ø"/>
            </a:pPr>
            <a:r>
              <a:rPr lang="en-US" sz="2000" dirty="0" smtClean="0"/>
              <a:t>4.360</a:t>
            </a:r>
            <a:r>
              <a:rPr lang="zh-CN" altLang="en-US" sz="2000" dirty="0" smtClean="0"/>
              <a:t>安全卫士    随着互联网与现实生活的联系越来越紧密</a:t>
            </a:r>
            <a:r>
              <a:rPr lang="en-US" sz="2000" dirty="0" smtClean="0"/>
              <a:t>,</a:t>
            </a:r>
            <a:r>
              <a:rPr lang="zh-CN" altLang="en-US" sz="2000" dirty="0" smtClean="0"/>
              <a:t>网络风险也与日俱增。</a:t>
            </a:r>
            <a:endParaRPr lang="zh-CN"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pic>
        <p:nvPicPr>
          <p:cNvPr id="7" name="8a5.jpg" descr="id:2147497906;FounderCES"/>
          <p:cNvPicPr/>
          <p:nvPr/>
        </p:nvPicPr>
        <p:blipFill>
          <a:blip r:embed="rId4"/>
          <a:stretch>
            <a:fillRect/>
          </a:stretch>
        </p:blipFill>
        <p:spPr>
          <a:xfrm>
            <a:off x="1881158" y="2214554"/>
            <a:ext cx="4000528" cy="2857520"/>
          </a:xfrm>
          <a:prstGeom prst="rect">
            <a:avLst/>
          </a:prstGeom>
        </p:spPr>
      </p:pic>
      <p:pic>
        <p:nvPicPr>
          <p:cNvPr id="8" name="8a6.jpg" descr="id:2147497913;FounderCES"/>
          <p:cNvPicPr/>
          <p:nvPr/>
        </p:nvPicPr>
        <p:blipFill>
          <a:blip r:embed="rId5"/>
          <a:stretch>
            <a:fillRect/>
          </a:stretch>
        </p:blipFill>
        <p:spPr>
          <a:xfrm>
            <a:off x="6096000" y="2214554"/>
            <a:ext cx="3959350" cy="2914226"/>
          </a:xfrm>
          <a:prstGeom prst="rect">
            <a:avLst/>
          </a:prstGeom>
        </p:spPr>
      </p:pic>
      <p:sp>
        <p:nvSpPr>
          <p:cNvPr id="10" name="矩形 9"/>
          <p:cNvSpPr/>
          <p:nvPr/>
        </p:nvSpPr>
        <p:spPr>
          <a:xfrm>
            <a:off x="2452662" y="5488560"/>
            <a:ext cx="2710180" cy="337185"/>
          </a:xfrm>
          <a:prstGeom prst="rect">
            <a:avLst/>
          </a:prstGeom>
        </p:spPr>
        <p:txBody>
          <a:bodyPr wrap="none">
            <a:spAutoFit/>
          </a:bodyPr>
          <a:lstStyle/>
          <a:p>
            <a:r>
              <a:rPr lang="zh-CN" altLang="en-US" sz="1600" dirty="0" smtClean="0"/>
              <a:t>图</a:t>
            </a:r>
            <a:r>
              <a:rPr lang="en-US" sz="1600" dirty="0" smtClean="0"/>
              <a:t>8—5</a:t>
            </a:r>
            <a:r>
              <a:rPr lang="zh-CN" altLang="en-US" sz="1600" dirty="0" smtClean="0"/>
              <a:t>　</a:t>
            </a:r>
            <a:r>
              <a:rPr lang="en-US" sz="1600" dirty="0" smtClean="0"/>
              <a:t>360</a:t>
            </a:r>
            <a:r>
              <a:rPr lang="zh-CN" altLang="en-US" sz="1600" dirty="0" smtClean="0"/>
              <a:t>安全卫士主界面</a:t>
            </a:r>
            <a:endParaRPr lang="zh-CN" altLang="en-US" sz="1600" dirty="0"/>
          </a:p>
        </p:txBody>
      </p:sp>
      <p:sp>
        <p:nvSpPr>
          <p:cNvPr id="11" name="矩形 10"/>
          <p:cNvSpPr/>
          <p:nvPr/>
        </p:nvSpPr>
        <p:spPr>
          <a:xfrm>
            <a:off x="6738942" y="5447900"/>
            <a:ext cx="2913380" cy="337185"/>
          </a:xfrm>
          <a:prstGeom prst="rect">
            <a:avLst/>
          </a:prstGeom>
        </p:spPr>
        <p:txBody>
          <a:bodyPr wrap="none">
            <a:spAutoFit/>
          </a:bodyPr>
          <a:lstStyle/>
          <a:p>
            <a:r>
              <a:rPr lang="zh-CN" altLang="en-US" sz="1600" dirty="0" smtClean="0"/>
              <a:t>图</a:t>
            </a:r>
            <a:r>
              <a:rPr lang="en-US" sz="1600" dirty="0" smtClean="0"/>
              <a:t>8—6</a:t>
            </a:r>
            <a:r>
              <a:rPr lang="zh-CN" altLang="en-US" sz="1600" dirty="0" smtClean="0"/>
              <a:t>　</a:t>
            </a:r>
            <a:r>
              <a:rPr lang="en-US" sz="1600" dirty="0" smtClean="0"/>
              <a:t>360</a:t>
            </a:r>
            <a:r>
              <a:rPr lang="zh-CN" altLang="en-US" sz="1600" dirty="0" smtClean="0"/>
              <a:t>安全卫士木马查杀</a:t>
            </a:r>
            <a:endParaRPr lang="zh-CN" alt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200000"/>
              </a:lnSpc>
            </a:pPr>
            <a:r>
              <a:rPr lang="en-US" dirty="0" smtClean="0"/>
              <a:t>8.4</a:t>
            </a:r>
            <a:r>
              <a:rPr lang="zh-CN" altLang="en-US" dirty="0" smtClean="0"/>
              <a:t>　系统还原和系统更新</a:t>
            </a:r>
            <a:endParaRPr lang="en-US" altLang="zh-CN" dirty="0" smtClean="0"/>
          </a:p>
          <a:p>
            <a:pPr>
              <a:lnSpc>
                <a:spcPct val="200000"/>
              </a:lnSpc>
              <a:buNone/>
            </a:pPr>
            <a:endParaRPr lang="en-US" altLang="zh-CN" sz="2000" dirty="0" smtClean="0"/>
          </a:p>
          <a:p>
            <a:pPr>
              <a:lnSpc>
                <a:spcPct val="200000"/>
              </a:lnSpc>
              <a:buNone/>
            </a:pPr>
            <a:endParaRPr lang="zh-CN" altLang="en-US" sz="2000" dirty="0" smtClean="0"/>
          </a:p>
          <a:p>
            <a:pPr>
              <a:lnSpc>
                <a:spcPct val="150000"/>
              </a:lnSpc>
              <a:buNone/>
            </a:pPr>
            <a:r>
              <a:rPr lang="en-US" sz="2000" dirty="0" smtClean="0"/>
              <a:t>※ </a:t>
            </a:r>
            <a:r>
              <a:rPr lang="zh-CN" altLang="en-US" sz="2000" dirty="0" smtClean="0"/>
              <a:t>了解系统备份和还原的概念。</a:t>
            </a:r>
            <a:endParaRPr lang="zh-CN" altLang="en-US" sz="2000" dirty="0" smtClean="0"/>
          </a:p>
          <a:p>
            <a:pPr>
              <a:lnSpc>
                <a:spcPct val="150000"/>
              </a:lnSpc>
              <a:buNone/>
            </a:pPr>
            <a:r>
              <a:rPr lang="en-US" sz="2000" dirty="0" smtClean="0"/>
              <a:t>※ </a:t>
            </a:r>
            <a:r>
              <a:rPr lang="zh-CN" altLang="en-US" sz="2000" dirty="0" smtClean="0"/>
              <a:t>了解系统更新的概念。</a:t>
            </a:r>
            <a:endParaRPr lang="zh-CN" altLang="en-US" sz="2000" dirty="0"/>
          </a:p>
        </p:txBody>
      </p:sp>
      <p:pic>
        <p:nvPicPr>
          <p:cNvPr id="6" name="学习目标.EPS" descr="id:2147497928;FounderCES"/>
          <p:cNvPicPr/>
          <p:nvPr/>
        </p:nvPicPr>
        <p:blipFill>
          <a:blip r:embed="rId4"/>
          <a:stretch>
            <a:fillRect/>
          </a:stretch>
        </p:blipFill>
        <p:spPr>
          <a:xfrm>
            <a:off x="2166910" y="2643182"/>
            <a:ext cx="1928826" cy="57150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8.4.1</a:t>
            </a:r>
            <a:r>
              <a:rPr lang="zh-CN" altLang="en-US" dirty="0" smtClean="0"/>
              <a:t>　系统备份和还原</a:t>
            </a:r>
            <a:endParaRPr lang="zh-CN" altLang="en-US" dirty="0" smtClean="0"/>
          </a:p>
          <a:p>
            <a:pPr>
              <a:lnSpc>
                <a:spcPct val="150000"/>
              </a:lnSpc>
              <a:buFont typeface="Wingdings" panose="05000000000000000000" pitchFamily="2" charset="2"/>
              <a:buChar char="Ø"/>
            </a:pPr>
            <a:r>
              <a:rPr lang="en-US" sz="2000" dirty="0" smtClean="0"/>
              <a:t>1.</a:t>
            </a:r>
            <a:r>
              <a:rPr lang="zh-CN" altLang="en-US" sz="2000" dirty="0" smtClean="0"/>
              <a:t>系统备份       </a:t>
            </a:r>
            <a:r>
              <a:rPr lang="en-US" sz="2000" dirty="0" smtClean="0"/>
              <a:t>2.</a:t>
            </a:r>
            <a:r>
              <a:rPr lang="zh-CN" altLang="en-US" sz="2000" dirty="0" smtClean="0"/>
              <a:t>系统还原</a:t>
            </a:r>
            <a:endParaRPr lang="zh-CN" altLang="en-US" sz="2000" dirty="0" smtClean="0"/>
          </a:p>
          <a:p>
            <a:pPr>
              <a:lnSpc>
                <a:spcPct val="150000"/>
              </a:lnSpc>
              <a:buFont typeface="Wingdings" panose="05000000000000000000" pitchFamily="2" charset="2"/>
              <a:buChar char="Ø"/>
            </a:pPr>
            <a:endParaRPr lang="zh-CN" altLang="en-US" sz="2000" dirty="0"/>
          </a:p>
        </p:txBody>
      </p:sp>
      <p:pic>
        <p:nvPicPr>
          <p:cNvPr id="6" name="8a7.jpg" descr="id:2147497951;FounderCES"/>
          <p:cNvPicPr/>
          <p:nvPr/>
        </p:nvPicPr>
        <p:blipFill>
          <a:blip r:embed="rId4" cstate="print"/>
          <a:stretch>
            <a:fillRect/>
          </a:stretch>
        </p:blipFill>
        <p:spPr>
          <a:xfrm>
            <a:off x="2024034" y="3143248"/>
            <a:ext cx="3714776" cy="2428892"/>
          </a:xfrm>
          <a:prstGeom prst="rect">
            <a:avLst/>
          </a:prstGeom>
        </p:spPr>
      </p:pic>
      <p:pic>
        <p:nvPicPr>
          <p:cNvPr id="7" name="8a8.jpg" descr="id:2147497958;FounderCES"/>
          <p:cNvPicPr/>
          <p:nvPr/>
        </p:nvPicPr>
        <p:blipFill>
          <a:blip r:embed="rId5" cstate="print"/>
          <a:stretch>
            <a:fillRect/>
          </a:stretch>
        </p:blipFill>
        <p:spPr>
          <a:xfrm>
            <a:off x="6596066" y="2357430"/>
            <a:ext cx="3071834" cy="3286148"/>
          </a:xfrm>
          <a:prstGeom prst="rect">
            <a:avLst/>
          </a:prstGeom>
        </p:spPr>
      </p:pic>
      <p:sp>
        <p:nvSpPr>
          <p:cNvPr id="8" name="矩形 7"/>
          <p:cNvSpPr/>
          <p:nvPr/>
        </p:nvSpPr>
        <p:spPr>
          <a:xfrm>
            <a:off x="2595538" y="5774312"/>
            <a:ext cx="1995170" cy="337185"/>
          </a:xfrm>
          <a:prstGeom prst="rect">
            <a:avLst/>
          </a:prstGeom>
        </p:spPr>
        <p:txBody>
          <a:bodyPr wrap="none">
            <a:spAutoFit/>
          </a:bodyPr>
          <a:lstStyle/>
          <a:p>
            <a:r>
              <a:rPr lang="zh-CN" altLang="en-US" sz="1600" dirty="0" smtClean="0"/>
              <a:t>图</a:t>
            </a:r>
            <a:r>
              <a:rPr lang="en-US" sz="1600" dirty="0" smtClean="0"/>
              <a:t>8—7</a:t>
            </a:r>
            <a:r>
              <a:rPr lang="zh-CN" altLang="en-US" sz="1600" dirty="0" smtClean="0"/>
              <a:t>　备份和还原</a:t>
            </a:r>
            <a:endParaRPr lang="zh-CN" altLang="en-US" sz="1600" dirty="0"/>
          </a:p>
        </p:txBody>
      </p:sp>
      <p:sp>
        <p:nvSpPr>
          <p:cNvPr id="10" name="矩形 9"/>
          <p:cNvSpPr/>
          <p:nvPr/>
        </p:nvSpPr>
        <p:spPr>
          <a:xfrm>
            <a:off x="7310446" y="5929330"/>
            <a:ext cx="1791970" cy="337185"/>
          </a:xfrm>
          <a:prstGeom prst="rect">
            <a:avLst/>
          </a:prstGeom>
        </p:spPr>
        <p:txBody>
          <a:bodyPr wrap="none">
            <a:spAutoFit/>
          </a:bodyPr>
          <a:lstStyle/>
          <a:p>
            <a:r>
              <a:rPr lang="zh-CN" altLang="en-US" sz="1600" dirty="0" smtClean="0"/>
              <a:t>图</a:t>
            </a:r>
            <a:r>
              <a:rPr lang="en-US" sz="1600" dirty="0" smtClean="0"/>
              <a:t>8—8</a:t>
            </a:r>
            <a:r>
              <a:rPr lang="zh-CN" altLang="en-US" sz="1600" dirty="0" smtClean="0"/>
              <a:t>　设置备份</a:t>
            </a:r>
            <a:endParaRPr lang="zh-CN" alt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8.4.2</a:t>
            </a:r>
            <a:r>
              <a:rPr lang="zh-CN" altLang="en-US" dirty="0" smtClean="0"/>
              <a:t>　系统更新</a:t>
            </a:r>
            <a:endParaRPr lang="zh-CN" altLang="en-US" dirty="0" smtClean="0"/>
          </a:p>
          <a:p>
            <a:pPr>
              <a:lnSpc>
                <a:spcPct val="150000"/>
              </a:lnSpc>
              <a:buNone/>
            </a:pPr>
            <a:r>
              <a:rPr lang="zh-CN" altLang="en-US" sz="2000" dirty="0" smtClean="0"/>
              <a:t>      在</a:t>
            </a:r>
            <a:r>
              <a:rPr lang="en-US" sz="2000" dirty="0" smtClean="0"/>
              <a:t>Win7</a:t>
            </a:r>
            <a:r>
              <a:rPr lang="zh-CN" altLang="en-US" sz="2000" dirty="0" smtClean="0"/>
              <a:t>系统的桌面</a:t>
            </a:r>
            <a:r>
              <a:rPr lang="en-US" sz="2000" dirty="0" smtClean="0"/>
              <a:t>,</a:t>
            </a:r>
            <a:r>
              <a:rPr lang="zh-CN" altLang="en-US" sz="2000" dirty="0" smtClean="0"/>
              <a:t>选择</a:t>
            </a:r>
            <a:r>
              <a:rPr lang="en-US" sz="2000" dirty="0" smtClean="0"/>
              <a:t>“</a:t>
            </a:r>
            <a:r>
              <a:rPr lang="zh-CN" altLang="en-US" sz="2000" dirty="0" smtClean="0"/>
              <a:t>控制面板</a:t>
            </a:r>
            <a:r>
              <a:rPr lang="en-US" sz="2000" dirty="0" smtClean="0"/>
              <a:t>—</a:t>
            </a:r>
            <a:r>
              <a:rPr lang="zh-CN" altLang="en-US" sz="2000" dirty="0" smtClean="0"/>
              <a:t>系统和安全</a:t>
            </a:r>
            <a:r>
              <a:rPr lang="en-US" sz="2000" dirty="0" smtClean="0"/>
              <a:t>—Windows Update”,</a:t>
            </a:r>
            <a:r>
              <a:rPr lang="zh-CN" altLang="en-US" sz="2000" dirty="0" smtClean="0"/>
              <a:t>会出现如图</a:t>
            </a:r>
            <a:r>
              <a:rPr lang="en-US" sz="2000" dirty="0" smtClean="0"/>
              <a:t>8—9</a:t>
            </a:r>
            <a:r>
              <a:rPr lang="zh-CN" altLang="en-US" sz="2000" dirty="0" smtClean="0"/>
              <a:t>所示的</a:t>
            </a:r>
            <a:r>
              <a:rPr lang="en-US" sz="2000" dirty="0" smtClean="0"/>
              <a:t>“</a:t>
            </a:r>
            <a:r>
              <a:rPr lang="zh-CN" altLang="en-US" sz="2000" dirty="0" smtClean="0"/>
              <a:t>系统更新</a:t>
            </a:r>
            <a:r>
              <a:rPr lang="en-US" sz="2000" dirty="0" smtClean="0"/>
              <a:t>Windows Update”</a:t>
            </a:r>
            <a:r>
              <a:rPr lang="zh-CN" altLang="en-US" sz="2000" dirty="0" smtClean="0"/>
              <a:t>窗口。</a:t>
            </a:r>
            <a:endParaRPr lang="zh-CN" altLang="en-US" sz="2000" dirty="0"/>
          </a:p>
        </p:txBody>
      </p:sp>
      <p:pic>
        <p:nvPicPr>
          <p:cNvPr id="6" name="8a9.jpg" descr="id:2147497981;FounderCES"/>
          <p:cNvPicPr/>
          <p:nvPr/>
        </p:nvPicPr>
        <p:blipFill>
          <a:blip r:embed="rId4" cstate="print"/>
          <a:stretch>
            <a:fillRect/>
          </a:stretch>
        </p:blipFill>
        <p:spPr>
          <a:xfrm>
            <a:off x="3738546" y="3357562"/>
            <a:ext cx="4286280" cy="2714644"/>
          </a:xfrm>
          <a:prstGeom prst="rect">
            <a:avLst/>
          </a:prstGeom>
        </p:spPr>
      </p:pic>
      <p:sp>
        <p:nvSpPr>
          <p:cNvPr id="7" name="矩形 6"/>
          <p:cNvSpPr/>
          <p:nvPr/>
        </p:nvSpPr>
        <p:spPr>
          <a:xfrm>
            <a:off x="4231174" y="6233718"/>
            <a:ext cx="3258185" cy="337185"/>
          </a:xfrm>
          <a:prstGeom prst="rect">
            <a:avLst/>
          </a:prstGeom>
        </p:spPr>
        <p:txBody>
          <a:bodyPr wrap="none">
            <a:spAutoFit/>
          </a:bodyPr>
          <a:lstStyle/>
          <a:p>
            <a:r>
              <a:rPr lang="zh-CN" altLang="en-US" sz="1600" dirty="0" smtClean="0"/>
              <a:t>图</a:t>
            </a:r>
            <a:r>
              <a:rPr lang="en-US" sz="1600" dirty="0" smtClean="0"/>
              <a:t>8—9</a:t>
            </a:r>
            <a:r>
              <a:rPr lang="zh-CN" altLang="en-US" sz="1600" dirty="0" smtClean="0"/>
              <a:t>　系统更新</a:t>
            </a:r>
            <a:r>
              <a:rPr lang="en-US" sz="1600" dirty="0" smtClean="0"/>
              <a:t>Windows Update </a:t>
            </a:r>
            <a:endParaRPr lang="zh-CN" alt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200000"/>
              </a:lnSpc>
            </a:pPr>
            <a:r>
              <a:rPr lang="en-US" dirty="0" smtClean="0"/>
              <a:t>8.5</a:t>
            </a:r>
            <a:r>
              <a:rPr lang="zh-CN" altLang="en-US" dirty="0" smtClean="0"/>
              <a:t>　网络道德</a:t>
            </a:r>
            <a:endParaRPr lang="en-US" altLang="zh-CN" dirty="0" smtClean="0"/>
          </a:p>
          <a:p>
            <a:pPr>
              <a:lnSpc>
                <a:spcPct val="200000"/>
              </a:lnSpc>
            </a:pPr>
            <a:endParaRPr lang="zh-CN" altLang="en-US" dirty="0" smtClean="0"/>
          </a:p>
          <a:p>
            <a:pPr>
              <a:lnSpc>
                <a:spcPct val="200000"/>
              </a:lnSpc>
              <a:buNone/>
            </a:pPr>
            <a:r>
              <a:rPr lang="en-US" dirty="0" smtClean="0"/>
              <a:t>※ </a:t>
            </a:r>
            <a:r>
              <a:rPr lang="zh-CN" altLang="en-US" dirty="0" smtClean="0"/>
              <a:t>网络道德的基本要求。</a:t>
            </a:r>
            <a:endParaRPr lang="zh-CN" altLang="en-US" dirty="0"/>
          </a:p>
        </p:txBody>
      </p:sp>
      <p:pic>
        <p:nvPicPr>
          <p:cNvPr id="6" name="学习目标.EPS" descr="id:2147497996;FounderCES"/>
          <p:cNvPicPr/>
          <p:nvPr/>
        </p:nvPicPr>
        <p:blipFill>
          <a:blip r:embed="rId4"/>
          <a:stretch>
            <a:fillRect/>
          </a:stretch>
        </p:blipFill>
        <p:spPr>
          <a:xfrm>
            <a:off x="2452662" y="2643182"/>
            <a:ext cx="1571636" cy="50006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8.5.1</a:t>
            </a:r>
            <a:r>
              <a:rPr lang="zh-CN" altLang="en-US" dirty="0" smtClean="0"/>
              <a:t>　网络道德与网络道德缺失</a:t>
            </a:r>
            <a:endParaRPr lang="zh-CN" altLang="en-US" dirty="0" smtClean="0"/>
          </a:p>
          <a:p>
            <a:pPr>
              <a:lnSpc>
                <a:spcPct val="150000"/>
              </a:lnSpc>
              <a:buNone/>
            </a:pPr>
            <a:r>
              <a:rPr lang="zh-CN" altLang="en-US" sz="2000" dirty="0" smtClean="0"/>
              <a:t>      互联网的出现和飞速发展</a:t>
            </a:r>
            <a:r>
              <a:rPr lang="en-US" sz="2000" dirty="0" smtClean="0"/>
              <a:t>,</a:t>
            </a:r>
            <a:r>
              <a:rPr lang="zh-CN" altLang="en-US" sz="2000" dirty="0" smtClean="0"/>
              <a:t>正广泛而深刻地影响着人们的生活内容和生活方式。在网络强势进入人们的现实生活的同时</a:t>
            </a:r>
            <a:r>
              <a:rPr lang="en-US" sz="2000" dirty="0" smtClean="0"/>
              <a:t>,</a:t>
            </a:r>
            <a:r>
              <a:rPr lang="zh-CN" altLang="en-US" sz="2000" dirty="0" smtClean="0"/>
              <a:t>网络道德也以新的姿态随之而来。</a:t>
            </a:r>
            <a:endParaRPr lang="zh-CN" altLang="en-US" sz="2000" dirty="0" smtClean="0"/>
          </a:p>
          <a:p>
            <a:pPr>
              <a:lnSpc>
                <a:spcPct val="150000"/>
              </a:lnSpc>
            </a:pPr>
            <a:r>
              <a:rPr lang="en-US" dirty="0" smtClean="0"/>
              <a:t>8.5.2</a:t>
            </a:r>
            <a:r>
              <a:rPr lang="zh-CN" altLang="en-US" dirty="0" smtClean="0"/>
              <a:t>　网络道德缺失的对策</a:t>
            </a:r>
            <a:endParaRPr lang="zh-CN" altLang="en-US" dirty="0" smtClean="0"/>
          </a:p>
          <a:p>
            <a:pPr>
              <a:lnSpc>
                <a:spcPct val="150000"/>
              </a:lnSpc>
              <a:buNone/>
            </a:pPr>
            <a:r>
              <a:rPr lang="en-US" sz="2000" dirty="0" smtClean="0"/>
              <a:t>(1)</a:t>
            </a:r>
            <a:r>
              <a:rPr lang="zh-CN" altLang="en-US" sz="2000" dirty="0" smtClean="0"/>
              <a:t>完善技术环境</a:t>
            </a:r>
            <a:r>
              <a:rPr lang="en-US" sz="2000" dirty="0" smtClean="0"/>
              <a:t>,</a:t>
            </a:r>
            <a:r>
              <a:rPr lang="zh-CN" altLang="en-US" sz="2000" dirty="0" smtClean="0"/>
              <a:t>从技术层面控制网络失范行为。</a:t>
            </a:r>
            <a:endParaRPr lang="zh-CN" altLang="en-US" sz="2000" dirty="0" smtClean="0"/>
          </a:p>
          <a:p>
            <a:pPr>
              <a:lnSpc>
                <a:spcPct val="150000"/>
              </a:lnSpc>
              <a:buNone/>
            </a:pPr>
            <a:r>
              <a:rPr lang="en-US" sz="2000" dirty="0" smtClean="0"/>
              <a:t>(2)</a:t>
            </a:r>
            <a:r>
              <a:rPr lang="zh-CN" altLang="en-US" sz="2000" dirty="0" smtClean="0"/>
              <a:t>建立完善的网络道德规范体系和法律法规制度。</a:t>
            </a:r>
            <a:endParaRPr lang="zh-CN" altLang="en-US" sz="2000" dirty="0" smtClean="0"/>
          </a:p>
          <a:p>
            <a:pPr>
              <a:lnSpc>
                <a:spcPct val="150000"/>
              </a:lnSpc>
              <a:buNone/>
            </a:pPr>
            <a:r>
              <a:rPr lang="en-US" sz="2000" dirty="0" smtClean="0"/>
              <a:t>(3)</a:t>
            </a:r>
            <a:r>
              <a:rPr lang="zh-CN" altLang="en-US" sz="2000" dirty="0" smtClean="0"/>
              <a:t>展开网络道德教育。</a:t>
            </a:r>
            <a:endParaRPr lang="zh-CN" alt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zh-CN" altLang="en-US" dirty="0" smtClean="0"/>
              <a:t>习　题</a:t>
            </a:r>
            <a:endParaRPr lang="zh-CN" altLang="en-US" dirty="0" smtClean="0"/>
          </a:p>
          <a:p>
            <a:pPr>
              <a:lnSpc>
                <a:spcPct val="150000"/>
              </a:lnSpc>
              <a:buFont typeface="Wingdings" panose="05000000000000000000" pitchFamily="2" charset="2"/>
              <a:buChar char="Ø"/>
            </a:pPr>
            <a:r>
              <a:rPr lang="zh-CN" altLang="en-US" sz="2000" dirty="0" smtClean="0"/>
              <a:t>一、简答题</a:t>
            </a:r>
            <a:endParaRPr lang="zh-CN" altLang="en-US" sz="2000" dirty="0" smtClean="0"/>
          </a:p>
          <a:p>
            <a:pPr>
              <a:lnSpc>
                <a:spcPct val="150000"/>
              </a:lnSpc>
              <a:buNone/>
            </a:pPr>
            <a:r>
              <a:rPr lang="en-US" sz="2000" dirty="0" smtClean="0"/>
              <a:t>1.</a:t>
            </a:r>
            <a:r>
              <a:rPr lang="zh-CN" altLang="en-US" sz="2000" dirty="0" smtClean="0"/>
              <a:t>计算机安全所涵盖的内容是什么</a:t>
            </a:r>
            <a:r>
              <a:rPr lang="en-US" sz="2000" dirty="0" smtClean="0"/>
              <a:t>?</a:t>
            </a:r>
            <a:endParaRPr lang="zh-CN" altLang="en-US" sz="2000" dirty="0" smtClean="0"/>
          </a:p>
          <a:p>
            <a:pPr>
              <a:lnSpc>
                <a:spcPct val="150000"/>
              </a:lnSpc>
              <a:buNone/>
            </a:pPr>
            <a:r>
              <a:rPr lang="en-US" sz="2000" dirty="0" smtClean="0"/>
              <a:t>2.</a:t>
            </a:r>
            <a:r>
              <a:rPr lang="zh-CN" altLang="en-US" sz="2000" dirty="0" smtClean="0"/>
              <a:t>影响计算机安全的主要因素有哪些</a:t>
            </a:r>
            <a:r>
              <a:rPr lang="en-US" sz="2000" dirty="0" smtClean="0"/>
              <a:t>?</a:t>
            </a:r>
            <a:endParaRPr lang="zh-CN" altLang="en-US" sz="2000" dirty="0" smtClean="0"/>
          </a:p>
          <a:p>
            <a:pPr>
              <a:lnSpc>
                <a:spcPct val="150000"/>
              </a:lnSpc>
              <a:buNone/>
            </a:pPr>
            <a:r>
              <a:rPr lang="en-US" sz="2000" dirty="0" smtClean="0"/>
              <a:t>3.</a:t>
            </a:r>
            <a:r>
              <a:rPr lang="zh-CN" altLang="en-US" sz="2000" dirty="0" smtClean="0"/>
              <a:t>保证计算机安全有哪些措施</a:t>
            </a:r>
            <a:r>
              <a:rPr lang="en-US" sz="2000" dirty="0" smtClean="0"/>
              <a:t>?</a:t>
            </a:r>
            <a:endParaRPr lang="zh-CN" altLang="en-US" sz="2000" dirty="0" smtClean="0"/>
          </a:p>
          <a:p>
            <a:pPr>
              <a:lnSpc>
                <a:spcPct val="150000"/>
              </a:lnSpc>
              <a:buNone/>
            </a:pPr>
            <a:r>
              <a:rPr lang="en-US" sz="2000" dirty="0" smtClean="0"/>
              <a:t>4.</a:t>
            </a:r>
            <a:r>
              <a:rPr lang="zh-CN" altLang="en-US" sz="2000" dirty="0" smtClean="0"/>
              <a:t>什么是计算机病毒</a:t>
            </a:r>
            <a:r>
              <a:rPr lang="en-US" sz="2000" dirty="0" smtClean="0"/>
              <a:t>?</a:t>
            </a:r>
            <a:r>
              <a:rPr lang="zh-CN" altLang="en-US" sz="2000" dirty="0" smtClean="0"/>
              <a:t>计算机病毒有哪些特征</a:t>
            </a:r>
            <a:r>
              <a:rPr lang="en-US" sz="2000" dirty="0" smtClean="0"/>
              <a:t>?</a:t>
            </a:r>
            <a:endParaRPr lang="zh-CN" altLang="en-US" sz="2000" dirty="0" smtClean="0"/>
          </a:p>
          <a:p>
            <a:pPr>
              <a:lnSpc>
                <a:spcPct val="150000"/>
              </a:lnSpc>
              <a:buNone/>
            </a:pPr>
            <a:r>
              <a:rPr lang="en-US" sz="2000" dirty="0" smtClean="0"/>
              <a:t>5.</a:t>
            </a:r>
            <a:r>
              <a:rPr lang="zh-CN" altLang="en-US" sz="2000" dirty="0" smtClean="0"/>
              <a:t>说明病毒、黑客、木马的概念。</a:t>
            </a:r>
            <a:endParaRPr lang="zh-CN" altLang="en-US" sz="2000" dirty="0" smtClean="0"/>
          </a:p>
          <a:p>
            <a:pPr>
              <a:lnSpc>
                <a:spcPct val="150000"/>
              </a:lnSpc>
              <a:buNone/>
            </a:pPr>
            <a:r>
              <a:rPr lang="en-US" sz="2000" dirty="0" smtClean="0"/>
              <a:t>6.</a:t>
            </a:r>
            <a:r>
              <a:rPr lang="zh-CN" altLang="en-US" sz="2000" dirty="0" smtClean="0"/>
              <a:t>应当遵守哪些网络道德规范</a:t>
            </a:r>
            <a:r>
              <a:rPr lang="en-US" sz="2000" dirty="0" smtClean="0"/>
              <a:t>?</a:t>
            </a:r>
            <a:endParaRPr lang="zh-CN" alt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200000"/>
              </a:lnSpc>
              <a:buFont typeface="Wingdings" panose="05000000000000000000" pitchFamily="2" charset="2"/>
              <a:buChar char="Ø"/>
            </a:pPr>
            <a:r>
              <a:rPr lang="zh-CN" altLang="en-US" dirty="0" smtClean="0"/>
              <a:t>二、操作题</a:t>
            </a:r>
            <a:endParaRPr lang="zh-CN" altLang="en-US" dirty="0" smtClean="0"/>
          </a:p>
          <a:p>
            <a:pPr>
              <a:lnSpc>
                <a:spcPct val="200000"/>
              </a:lnSpc>
              <a:buNone/>
            </a:pPr>
            <a:r>
              <a:rPr lang="en-US" sz="2000" dirty="0" smtClean="0"/>
              <a:t>1.</a:t>
            </a:r>
            <a:r>
              <a:rPr lang="zh-CN" altLang="en-US" sz="2000" dirty="0" smtClean="0"/>
              <a:t>设置计算机的防火墙提高信息安全级别。</a:t>
            </a:r>
            <a:endParaRPr lang="zh-CN" altLang="en-US" sz="2000" dirty="0" smtClean="0"/>
          </a:p>
          <a:p>
            <a:pPr>
              <a:lnSpc>
                <a:spcPct val="200000"/>
              </a:lnSpc>
              <a:buNone/>
            </a:pPr>
            <a:r>
              <a:rPr lang="en-US" sz="2000" dirty="0" smtClean="0"/>
              <a:t>2.</a:t>
            </a:r>
            <a:r>
              <a:rPr lang="zh-CN" altLang="en-US" sz="2000" dirty="0" smtClean="0"/>
              <a:t>利用</a:t>
            </a:r>
            <a:r>
              <a:rPr lang="en-US" sz="2000" dirty="0" smtClean="0"/>
              <a:t>360</a:t>
            </a:r>
            <a:r>
              <a:rPr lang="zh-CN" altLang="en-US" sz="2000" dirty="0" smtClean="0"/>
              <a:t>安全卫士监测你的计算机系统。</a:t>
            </a:r>
            <a:endParaRPr lang="zh-CN" alt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8</a:t>
            </a:r>
            <a:r>
              <a:rPr lang="zh-CN" altLang="en-US" sz="2800" dirty="0" smtClean="0">
                <a:solidFill>
                  <a:schemeClr val="accent1">
                    <a:lumMod val="75000"/>
                  </a:schemeClr>
                </a:solidFill>
                <a:latin typeface="方正姚体" pitchFamily="2" charset="-122"/>
                <a:ea typeface="方正姚体" pitchFamily="2" charset="-122"/>
              </a:rPr>
              <a:t>章    计算机安全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solidFill>
                  <a:schemeClr val="accent1">
                    <a:lumMod val="75000"/>
                  </a:schemeClr>
                </a:solidFill>
                <a:latin typeface="方正姚体" pitchFamily="2" charset="-122"/>
                <a:ea typeface="方正姚体" pitchFamily="2" charset="-122"/>
              </a:rPr>
              <a:t> </a:t>
            </a: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zh-CN" altLang="en-US" sz="2000" dirty="0" smtClean="0"/>
              <a:t>三、单选题</a:t>
            </a:r>
            <a:endParaRPr lang="zh-CN" altLang="en-US" sz="2000" dirty="0" smtClean="0"/>
          </a:p>
          <a:p>
            <a:pPr>
              <a:lnSpc>
                <a:spcPct val="150000"/>
              </a:lnSpc>
              <a:buNone/>
            </a:pPr>
            <a:r>
              <a:rPr lang="en-US" sz="2000" dirty="0" smtClean="0"/>
              <a:t>1.IP</a:t>
            </a:r>
            <a:r>
              <a:rPr lang="zh-CN" altLang="en-US" sz="2000" dirty="0" smtClean="0"/>
              <a:t>地址</a:t>
            </a:r>
            <a:r>
              <a:rPr lang="en-US" sz="2000" dirty="0" smtClean="0"/>
              <a:t>4.5.6.7</a:t>
            </a:r>
            <a:r>
              <a:rPr lang="zh-CN" altLang="en-US" sz="2000" dirty="0" smtClean="0"/>
              <a:t>所属的类别是</a:t>
            </a:r>
            <a:r>
              <a:rPr lang="zh-CN" altLang="en-US" sz="2000" u="sng" dirty="0" smtClean="0"/>
              <a:t>　　</a:t>
            </a:r>
            <a:r>
              <a:rPr lang="zh-CN" altLang="en-US" sz="2000" dirty="0" smtClean="0"/>
              <a:t>。</a:t>
            </a:r>
            <a:r>
              <a:rPr lang="en-US" sz="2000" dirty="0" smtClean="0"/>
              <a:t> </a:t>
            </a:r>
            <a:endParaRPr lang="zh-CN" altLang="en-US" sz="2000" dirty="0" smtClean="0"/>
          </a:p>
          <a:p>
            <a:pPr>
              <a:lnSpc>
                <a:spcPct val="150000"/>
              </a:lnSpc>
              <a:buNone/>
            </a:pPr>
            <a:r>
              <a:rPr lang="en-US" sz="2000" dirty="0" smtClean="0"/>
              <a:t>A. A</a:t>
            </a:r>
            <a:r>
              <a:rPr lang="zh-CN" altLang="en-US" sz="2000" dirty="0" smtClean="0"/>
              <a:t>类</a:t>
            </a:r>
            <a:r>
              <a:rPr lang="en-US" sz="2000" dirty="0" smtClean="0"/>
              <a:t>	B. B</a:t>
            </a:r>
            <a:r>
              <a:rPr lang="zh-CN" altLang="en-US" sz="2000" dirty="0" smtClean="0"/>
              <a:t>类</a:t>
            </a:r>
            <a:r>
              <a:rPr lang="en-US" sz="2000" dirty="0" smtClean="0"/>
              <a:t>	C. C</a:t>
            </a:r>
            <a:r>
              <a:rPr lang="zh-CN" altLang="en-US" sz="2000" dirty="0" smtClean="0"/>
              <a:t>类</a:t>
            </a:r>
            <a:r>
              <a:rPr lang="en-US" sz="2000" dirty="0" smtClean="0"/>
              <a:t>	D. D</a:t>
            </a:r>
            <a:r>
              <a:rPr lang="zh-CN" altLang="en-US" sz="2000" dirty="0" smtClean="0"/>
              <a:t>类</a:t>
            </a:r>
            <a:endParaRPr lang="zh-CN" altLang="en-US" sz="2000" dirty="0" smtClean="0"/>
          </a:p>
          <a:p>
            <a:pPr>
              <a:lnSpc>
                <a:spcPct val="150000"/>
              </a:lnSpc>
              <a:buNone/>
            </a:pPr>
            <a:r>
              <a:rPr lang="en-US" sz="2000" dirty="0" smtClean="0"/>
              <a:t>2.</a:t>
            </a:r>
            <a:r>
              <a:rPr lang="zh-CN" altLang="en-US" sz="2000" dirty="0" smtClean="0"/>
              <a:t>在电子邮件地址</a:t>
            </a:r>
            <a:r>
              <a:rPr lang="en-US" sz="2000" dirty="0" smtClean="0"/>
              <a:t>my_mail@163.com</a:t>
            </a:r>
            <a:r>
              <a:rPr lang="zh-CN" altLang="en-US" sz="2000" dirty="0" smtClean="0"/>
              <a:t>中</a:t>
            </a:r>
            <a:r>
              <a:rPr lang="en-US" sz="2000" dirty="0" smtClean="0"/>
              <a:t>,</a:t>
            </a:r>
            <a:r>
              <a:rPr lang="zh-CN" altLang="en-US" sz="2000" dirty="0" smtClean="0"/>
              <a:t>域名部分是</a:t>
            </a:r>
            <a:r>
              <a:rPr lang="zh-CN" altLang="en-US" sz="2000" u="sng" dirty="0" smtClean="0"/>
              <a:t>　　</a:t>
            </a:r>
            <a:r>
              <a:rPr lang="zh-CN" altLang="en-US" sz="2000" dirty="0" smtClean="0"/>
              <a:t>。</a:t>
            </a:r>
            <a:r>
              <a:rPr lang="en-US" sz="2000" dirty="0" smtClean="0"/>
              <a:t> </a:t>
            </a:r>
            <a:endParaRPr lang="zh-CN" altLang="en-US" sz="2000" dirty="0" smtClean="0"/>
          </a:p>
          <a:p>
            <a:pPr>
              <a:lnSpc>
                <a:spcPct val="150000"/>
              </a:lnSpc>
              <a:buNone/>
            </a:pPr>
            <a:r>
              <a:rPr lang="en-US" sz="2000" dirty="0" smtClean="0"/>
              <a:t>A. my_mail	B. 163.com</a:t>
            </a:r>
            <a:r>
              <a:rPr lang="zh-CN" altLang="en-US" sz="2000" dirty="0" smtClean="0"/>
              <a:t>  </a:t>
            </a:r>
            <a:r>
              <a:rPr lang="en-US" sz="2000" dirty="0" smtClean="0"/>
              <a:t>C. </a:t>
            </a:r>
            <a:r>
              <a:rPr lang="en-US" sz="2000" dirty="0" smtClean="0">
                <a:hlinkClick r:id="rId4"/>
              </a:rPr>
              <a:t>my_mail@163.com</a:t>
            </a:r>
            <a:r>
              <a:rPr lang="en-US" sz="2000" dirty="0" smtClean="0"/>
              <a:t>   D. (A)</a:t>
            </a:r>
            <a:r>
              <a:rPr lang="zh-CN" altLang="en-US" sz="2000" dirty="0" smtClean="0"/>
              <a:t>和</a:t>
            </a:r>
            <a:r>
              <a:rPr lang="en-US" sz="2000" dirty="0" smtClean="0"/>
              <a:t>(B)</a:t>
            </a:r>
            <a:endParaRPr lang="zh-CN" altLang="en-US" sz="2000" dirty="0" smtClean="0"/>
          </a:p>
          <a:p>
            <a:pPr>
              <a:lnSpc>
                <a:spcPct val="150000"/>
              </a:lnSpc>
              <a:buNone/>
            </a:pPr>
            <a:r>
              <a:rPr lang="en-US" sz="2000" dirty="0" smtClean="0"/>
              <a:t>3.</a:t>
            </a:r>
            <a:r>
              <a:rPr lang="zh-CN" altLang="en-US" sz="2000" dirty="0" smtClean="0"/>
              <a:t>电子邮件客户端通常需要用</a:t>
            </a:r>
            <a:r>
              <a:rPr lang="zh-CN" altLang="en-US" sz="2000" u="sng" dirty="0" smtClean="0"/>
              <a:t>　　</a:t>
            </a:r>
            <a:r>
              <a:rPr lang="zh-CN" altLang="en-US" sz="2000" dirty="0" smtClean="0"/>
              <a:t>协议来发送邮件。</a:t>
            </a:r>
            <a:r>
              <a:rPr lang="en-US" sz="2000" dirty="0" smtClean="0"/>
              <a:t> </a:t>
            </a:r>
            <a:endParaRPr lang="zh-CN" altLang="en-US" sz="2000" dirty="0" smtClean="0"/>
          </a:p>
          <a:p>
            <a:pPr>
              <a:lnSpc>
                <a:spcPct val="150000"/>
              </a:lnSpc>
              <a:buNone/>
            </a:pPr>
            <a:r>
              <a:rPr lang="en-US" sz="2000" dirty="0" smtClean="0"/>
              <a:t>A.</a:t>
            </a:r>
            <a:r>
              <a:rPr lang="zh-CN" altLang="en-US" sz="2000" dirty="0" smtClean="0"/>
              <a:t>仅</a:t>
            </a:r>
            <a:r>
              <a:rPr lang="en-US" sz="2000" dirty="0" smtClean="0"/>
              <a:t>SMTP	B.</a:t>
            </a:r>
            <a:r>
              <a:rPr lang="zh-CN" altLang="en-US" sz="2000" dirty="0" smtClean="0"/>
              <a:t>仅</a:t>
            </a:r>
            <a:r>
              <a:rPr lang="en-US" sz="2000" dirty="0" smtClean="0"/>
              <a:t>POP</a:t>
            </a:r>
            <a:endParaRPr lang="zh-CN" altLang="en-US" sz="2000" dirty="0" smtClean="0"/>
          </a:p>
          <a:p>
            <a:pPr>
              <a:lnSpc>
                <a:spcPct val="150000"/>
              </a:lnSpc>
              <a:buNone/>
            </a:pPr>
            <a:r>
              <a:rPr lang="en-US" sz="2000" dirty="0" smtClean="0"/>
              <a:t>C. SMTP</a:t>
            </a:r>
            <a:r>
              <a:rPr lang="zh-CN" altLang="en-US" sz="2000" dirty="0" smtClean="0"/>
              <a:t>和</a:t>
            </a:r>
            <a:r>
              <a:rPr lang="en-US" sz="2000" dirty="0" smtClean="0"/>
              <a:t>POP	D.</a:t>
            </a:r>
            <a:r>
              <a:rPr lang="zh-CN" altLang="en-US" sz="2000" dirty="0" smtClean="0"/>
              <a:t>以上都不正确</a:t>
            </a:r>
            <a:endParaRPr lang="en-US" altLang="zh-CN" sz="2000" dirty="0" smtClean="0"/>
          </a:p>
          <a:p>
            <a:pPr>
              <a:lnSpc>
                <a:spcPct val="150000"/>
              </a:lnSpc>
              <a:buNone/>
            </a:pPr>
            <a:r>
              <a:rPr lang="en-US" altLang="zh-CN" sz="2000" dirty="0" smtClean="0"/>
              <a:t>……</a:t>
            </a:r>
            <a:endParaRPr lang="zh-CN" altLang="en-US" sz="2000" dirty="0"/>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4431</Words>
  <Application>WPS 演示</Application>
  <PresentationFormat>宽屏</PresentationFormat>
  <Paragraphs>255</Paragraphs>
  <Slides>33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33</vt:i4>
      </vt:variant>
    </vt:vector>
  </HeadingPairs>
  <TitlesOfParts>
    <vt:vector size="41" baseType="lpstr">
      <vt:lpstr>Arial</vt:lpstr>
      <vt:lpstr>宋体</vt:lpstr>
      <vt:lpstr>Wingdings</vt:lpstr>
      <vt:lpstr>Arial Unicode MS</vt:lpstr>
      <vt:lpstr>Calibri</vt:lpstr>
      <vt:lpstr>微软雅黑</vt:lpstr>
      <vt:lpstr>方正姚体</vt:lpstr>
      <vt:lpstr>WPS</vt:lpstr>
      <vt:lpstr>PowerPoint 演示文稿</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lpstr>第8章    计算机安全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18900819605</cp:lastModifiedBy>
  <cp:revision>3</cp:revision>
  <dcterms:created xsi:type="dcterms:W3CDTF">2023-08-09T12:44:00Z</dcterms:created>
  <dcterms:modified xsi:type="dcterms:W3CDTF">2025-02-12T15:35:50Z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2052-12.1.0.19770</vt:lpwstr>
  </property>
</Properties>
</file>