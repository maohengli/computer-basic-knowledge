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4" r:id="rId3"/>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A4FA74-5417-4AEF-93D6-20A1728A8157}" type="doc">
      <dgm:prSet loTypeId="urn:microsoft.com/office/officeart/2005/8/layout/hProcess11" loCatId="process" qsTypeId="urn:microsoft.com/office/officeart/2005/8/quickstyle/simple1" qsCatId="simple" csTypeId="urn:microsoft.com/office/officeart/2005/8/colors/colorful1#3" csCatId="colorful"/>
      <dgm:spPr/>
      <dgm:t>
        <a:bodyPr/>
        <a:lstStyle/>
        <a:p>
          <a:endParaRPr lang="zh-CN" altLang="en-US"/>
        </a:p>
      </dgm:t>
    </dgm:pt>
    <dgm:pt modelId="{28F9F9B5-223F-4898-A4CF-02BAC902A77C}">
      <dgm:prSet custT="1"/>
      <dgm:spPr/>
      <dgm:t>
        <a:bodyPr/>
        <a:lstStyle/>
        <a:p>
          <a:pPr rtl="0"/>
          <a:r>
            <a:rPr lang="en-US" sz="1400" dirty="0" smtClean="0"/>
            <a:t>(1)</a:t>
          </a:r>
          <a:r>
            <a:rPr lang="zh-CN" sz="1400" dirty="0" smtClean="0"/>
            <a:t>具有独立功能的计算机、异地计算机都可以加入到计算机网络中。</a:t>
          </a:r>
          <a:endParaRPr lang="zh-CN" sz="1400" dirty="0"/>
        </a:p>
      </dgm:t>
    </dgm:pt>
    <dgm:pt modelId="{238924C5-53DC-4B6A-8F11-072BDD1F8C10}" cxnId="{B836F764-99BC-4F07-B461-7DBF74FF0FBF}" type="parTrans">
      <dgm:prSet/>
      <dgm:spPr/>
      <dgm:t>
        <a:bodyPr/>
        <a:lstStyle/>
        <a:p>
          <a:endParaRPr lang="zh-CN" altLang="en-US" sz="2000"/>
        </a:p>
      </dgm:t>
    </dgm:pt>
    <dgm:pt modelId="{E1142D19-0401-4450-81A9-C4811AC74914}" cxnId="{B836F764-99BC-4F07-B461-7DBF74FF0FBF}" type="sibTrans">
      <dgm:prSet/>
      <dgm:spPr/>
      <dgm:t>
        <a:bodyPr/>
        <a:lstStyle/>
        <a:p>
          <a:endParaRPr lang="zh-CN" altLang="en-US" sz="2000"/>
        </a:p>
      </dgm:t>
    </dgm:pt>
    <dgm:pt modelId="{98D82496-EB50-4B3A-8E64-29F6BF253EE9}">
      <dgm:prSet custT="1"/>
      <dgm:spPr/>
      <dgm:t>
        <a:bodyPr/>
        <a:lstStyle/>
        <a:p>
          <a:pPr rtl="0"/>
          <a:r>
            <a:rPr lang="en-US" sz="1400" dirty="0" smtClean="0"/>
            <a:t>(2)</a:t>
          </a:r>
          <a:r>
            <a:rPr lang="zh-CN" sz="1400" dirty="0" smtClean="0"/>
            <a:t>计算机网络要借助线路和设备连接。</a:t>
          </a:r>
          <a:endParaRPr lang="zh-CN" sz="1400" dirty="0"/>
        </a:p>
      </dgm:t>
    </dgm:pt>
    <dgm:pt modelId="{510E8095-FCFE-4FD4-8ADA-C6B125DE3D94}" cxnId="{EB39BA02-10A9-4DB8-920A-AD8EBA5FA000}" type="parTrans">
      <dgm:prSet/>
      <dgm:spPr/>
      <dgm:t>
        <a:bodyPr/>
        <a:lstStyle/>
        <a:p>
          <a:endParaRPr lang="zh-CN" altLang="en-US" sz="2000"/>
        </a:p>
      </dgm:t>
    </dgm:pt>
    <dgm:pt modelId="{4213197D-D7F4-4B0C-AC41-01086F6E1B0F}" cxnId="{EB39BA02-10A9-4DB8-920A-AD8EBA5FA000}" type="sibTrans">
      <dgm:prSet/>
      <dgm:spPr/>
      <dgm:t>
        <a:bodyPr/>
        <a:lstStyle/>
        <a:p>
          <a:endParaRPr lang="zh-CN" altLang="en-US" sz="2000"/>
        </a:p>
      </dgm:t>
    </dgm:pt>
    <dgm:pt modelId="{681A9DA2-5768-4957-A5F4-F00F0FB95CAF}">
      <dgm:prSet custT="1"/>
      <dgm:spPr/>
      <dgm:t>
        <a:bodyPr/>
        <a:lstStyle/>
        <a:p>
          <a:pPr rtl="0"/>
          <a:r>
            <a:rPr lang="en-US" sz="1400" dirty="0" smtClean="0"/>
            <a:t>(3)</a:t>
          </a:r>
          <a:r>
            <a:rPr lang="zh-CN" sz="1400" dirty="0" smtClean="0"/>
            <a:t>计算机网络必须有网络操作系统、网络通信协议的支持。</a:t>
          </a:r>
          <a:endParaRPr lang="zh-CN" sz="1400" dirty="0"/>
        </a:p>
      </dgm:t>
    </dgm:pt>
    <dgm:pt modelId="{59B687E6-3CFC-4689-A25C-C7B4DA572271}" cxnId="{709D9121-4A1C-4A91-90CA-BBA6AB0E746A}" type="parTrans">
      <dgm:prSet/>
      <dgm:spPr/>
      <dgm:t>
        <a:bodyPr/>
        <a:lstStyle/>
        <a:p>
          <a:endParaRPr lang="zh-CN" altLang="en-US" sz="2000"/>
        </a:p>
      </dgm:t>
    </dgm:pt>
    <dgm:pt modelId="{62AA4BE8-7CBA-4A8F-95EF-BD0CC5A9E3F1}" cxnId="{709D9121-4A1C-4A91-90CA-BBA6AB0E746A}" type="sibTrans">
      <dgm:prSet/>
      <dgm:spPr/>
      <dgm:t>
        <a:bodyPr/>
        <a:lstStyle/>
        <a:p>
          <a:endParaRPr lang="zh-CN" altLang="en-US" sz="2000"/>
        </a:p>
      </dgm:t>
    </dgm:pt>
    <dgm:pt modelId="{880CFE2F-857C-49B2-9EEE-A4F78A9E2ED5}">
      <dgm:prSet custT="1"/>
      <dgm:spPr/>
      <dgm:t>
        <a:bodyPr/>
        <a:lstStyle/>
        <a:p>
          <a:pPr rtl="0"/>
          <a:r>
            <a:rPr lang="en-US" sz="1400" dirty="0" smtClean="0"/>
            <a:t>(4)</a:t>
          </a:r>
          <a:r>
            <a:rPr lang="zh-CN" sz="1400" dirty="0" smtClean="0"/>
            <a:t>以资源共享为目标</a:t>
          </a:r>
          <a:endParaRPr lang="zh-CN" sz="1400" dirty="0"/>
        </a:p>
      </dgm:t>
    </dgm:pt>
    <dgm:pt modelId="{24B3CBB9-F51C-4BC5-A1D9-2FA96641C3DF}" cxnId="{2D87217F-BD2F-4D90-A85F-E7EEB155E52F}" type="parTrans">
      <dgm:prSet/>
      <dgm:spPr/>
      <dgm:t>
        <a:bodyPr/>
        <a:lstStyle/>
        <a:p>
          <a:endParaRPr lang="zh-CN" altLang="en-US" sz="2000"/>
        </a:p>
      </dgm:t>
    </dgm:pt>
    <dgm:pt modelId="{16EFF59F-CB12-462C-A8FA-AD2A5E629921}" cxnId="{2D87217F-BD2F-4D90-A85F-E7EEB155E52F}" type="sibTrans">
      <dgm:prSet/>
      <dgm:spPr/>
      <dgm:t>
        <a:bodyPr/>
        <a:lstStyle/>
        <a:p>
          <a:endParaRPr lang="zh-CN" altLang="en-US" sz="2000"/>
        </a:p>
      </dgm:t>
    </dgm:pt>
    <dgm:pt modelId="{5FD956D0-02B6-46F8-944A-0ACE16EBE85D}" type="pres">
      <dgm:prSet presAssocID="{36A4FA74-5417-4AEF-93D6-20A1728A8157}" presName="Name0" presStyleCnt="0">
        <dgm:presLayoutVars>
          <dgm:dir/>
          <dgm:resizeHandles val="exact"/>
        </dgm:presLayoutVars>
      </dgm:prSet>
      <dgm:spPr/>
      <dgm:t>
        <a:bodyPr/>
        <a:lstStyle/>
        <a:p>
          <a:endParaRPr lang="zh-CN" altLang="en-US"/>
        </a:p>
      </dgm:t>
    </dgm:pt>
    <dgm:pt modelId="{927202BC-5D7A-4B32-9E7C-B75AA3057ABC}" type="pres">
      <dgm:prSet presAssocID="{36A4FA74-5417-4AEF-93D6-20A1728A8157}" presName="arrow" presStyleLbl="bgShp" presStyleIdx="0" presStyleCnt="1">
        <dgm:style>
          <a:lnRef idx="2">
            <a:schemeClr val="accent5">
              <a:shade val="50000"/>
            </a:schemeClr>
          </a:lnRef>
          <a:fillRef idx="1">
            <a:schemeClr val="accent5"/>
          </a:fillRef>
          <a:effectRef idx="0">
            <a:schemeClr val="accent5"/>
          </a:effectRef>
          <a:fontRef idx="minor">
            <a:schemeClr val="lt1"/>
          </a:fontRef>
        </dgm:style>
      </dgm:prSet>
      <dgm:spPr/>
    </dgm:pt>
    <dgm:pt modelId="{4CF5FEBF-25DF-41DF-AA33-54709F1508E4}" type="pres">
      <dgm:prSet presAssocID="{36A4FA74-5417-4AEF-93D6-20A1728A8157}" presName="points" presStyleCnt="0"/>
      <dgm:spPr/>
    </dgm:pt>
    <dgm:pt modelId="{790839A1-7B67-4F62-AEB0-A6872E156533}" type="pres">
      <dgm:prSet presAssocID="{28F9F9B5-223F-4898-A4CF-02BAC902A77C}" presName="compositeA" presStyleCnt="0"/>
      <dgm:spPr/>
    </dgm:pt>
    <dgm:pt modelId="{16846D0D-CAC1-4820-8144-C3E87FEE31AC}" type="pres">
      <dgm:prSet presAssocID="{28F9F9B5-223F-4898-A4CF-02BAC902A77C}" presName="textA" presStyleLbl="revTx" presStyleIdx="0" presStyleCnt="4">
        <dgm:presLayoutVars>
          <dgm:bulletEnabled val="1"/>
        </dgm:presLayoutVars>
      </dgm:prSet>
      <dgm:spPr/>
      <dgm:t>
        <a:bodyPr/>
        <a:lstStyle/>
        <a:p>
          <a:endParaRPr lang="zh-CN" altLang="en-US"/>
        </a:p>
      </dgm:t>
    </dgm:pt>
    <dgm:pt modelId="{06FDD9DB-B691-4A41-AB1D-863FB7492C8E}" type="pres">
      <dgm:prSet presAssocID="{28F9F9B5-223F-4898-A4CF-02BAC902A77C}" presName="circleA" presStyleLbl="node1" presStyleIdx="0" presStyleCnt="4"/>
      <dgm:spPr/>
    </dgm:pt>
    <dgm:pt modelId="{46EC0FC0-7755-4B7E-B6B9-FA5EE1820B5E}" type="pres">
      <dgm:prSet presAssocID="{28F9F9B5-223F-4898-A4CF-02BAC902A77C}" presName="spaceA" presStyleCnt="0"/>
      <dgm:spPr/>
    </dgm:pt>
    <dgm:pt modelId="{79999001-DCAD-4763-83D8-37F49967CE05}" type="pres">
      <dgm:prSet presAssocID="{E1142D19-0401-4450-81A9-C4811AC74914}" presName="space" presStyleCnt="0"/>
      <dgm:spPr/>
    </dgm:pt>
    <dgm:pt modelId="{02B3FD7F-D7BC-45A2-8126-BDDEDFB84539}" type="pres">
      <dgm:prSet presAssocID="{98D82496-EB50-4B3A-8E64-29F6BF253EE9}" presName="compositeB" presStyleCnt="0"/>
      <dgm:spPr/>
    </dgm:pt>
    <dgm:pt modelId="{717A1287-CF49-4A9B-845C-B0BE9C67FAAC}" type="pres">
      <dgm:prSet presAssocID="{98D82496-EB50-4B3A-8E64-29F6BF253EE9}" presName="textB" presStyleLbl="revTx" presStyleIdx="1" presStyleCnt="4">
        <dgm:presLayoutVars>
          <dgm:bulletEnabled val="1"/>
        </dgm:presLayoutVars>
      </dgm:prSet>
      <dgm:spPr/>
      <dgm:t>
        <a:bodyPr/>
        <a:lstStyle/>
        <a:p>
          <a:endParaRPr lang="zh-CN" altLang="en-US"/>
        </a:p>
      </dgm:t>
    </dgm:pt>
    <dgm:pt modelId="{63B896B7-D2D0-44C4-9F54-54A25E2A289A}" type="pres">
      <dgm:prSet presAssocID="{98D82496-EB50-4B3A-8E64-29F6BF253EE9}" presName="circleB" presStyleLbl="node1" presStyleIdx="1" presStyleCnt="4"/>
      <dgm:spPr/>
    </dgm:pt>
    <dgm:pt modelId="{A15CF9FD-F395-409A-9E04-94D7170440B1}" type="pres">
      <dgm:prSet presAssocID="{98D82496-EB50-4B3A-8E64-29F6BF253EE9}" presName="spaceB" presStyleCnt="0"/>
      <dgm:spPr/>
    </dgm:pt>
    <dgm:pt modelId="{AC3A9FAB-9A77-421D-9646-D86DCDB21C3C}" type="pres">
      <dgm:prSet presAssocID="{4213197D-D7F4-4B0C-AC41-01086F6E1B0F}" presName="space" presStyleCnt="0"/>
      <dgm:spPr/>
    </dgm:pt>
    <dgm:pt modelId="{FC1DD7FF-8B58-4FA1-B6D0-B71905991BD7}" type="pres">
      <dgm:prSet presAssocID="{681A9DA2-5768-4957-A5F4-F00F0FB95CAF}" presName="compositeA" presStyleCnt="0"/>
      <dgm:spPr/>
    </dgm:pt>
    <dgm:pt modelId="{17F4D1B9-371B-401D-B41C-EC6F8B5637C4}" type="pres">
      <dgm:prSet presAssocID="{681A9DA2-5768-4957-A5F4-F00F0FB95CAF}" presName="textA" presStyleLbl="revTx" presStyleIdx="2" presStyleCnt="4">
        <dgm:presLayoutVars>
          <dgm:bulletEnabled val="1"/>
        </dgm:presLayoutVars>
      </dgm:prSet>
      <dgm:spPr/>
      <dgm:t>
        <a:bodyPr/>
        <a:lstStyle/>
        <a:p>
          <a:endParaRPr lang="zh-CN" altLang="en-US"/>
        </a:p>
      </dgm:t>
    </dgm:pt>
    <dgm:pt modelId="{76C474EF-D23C-4D84-8FC4-A35EF84713AD}" type="pres">
      <dgm:prSet presAssocID="{681A9DA2-5768-4957-A5F4-F00F0FB95CAF}" presName="circleA" presStyleLbl="node1" presStyleIdx="2" presStyleCnt="4"/>
      <dgm:spPr/>
    </dgm:pt>
    <dgm:pt modelId="{9045C3BD-A7EB-4E41-AAC2-124157B1C591}" type="pres">
      <dgm:prSet presAssocID="{681A9DA2-5768-4957-A5F4-F00F0FB95CAF}" presName="spaceA" presStyleCnt="0"/>
      <dgm:spPr/>
    </dgm:pt>
    <dgm:pt modelId="{16EC8FBF-8465-48B0-9363-0E3D95AA1414}" type="pres">
      <dgm:prSet presAssocID="{62AA4BE8-7CBA-4A8F-95EF-BD0CC5A9E3F1}" presName="space" presStyleCnt="0"/>
      <dgm:spPr/>
    </dgm:pt>
    <dgm:pt modelId="{094A20B2-5A08-4DD3-AB1D-65B808A807B1}" type="pres">
      <dgm:prSet presAssocID="{880CFE2F-857C-49B2-9EEE-A4F78A9E2ED5}" presName="compositeB" presStyleCnt="0"/>
      <dgm:spPr/>
    </dgm:pt>
    <dgm:pt modelId="{E0A1ACFE-21DF-4E78-B805-D76CDE512952}" type="pres">
      <dgm:prSet presAssocID="{880CFE2F-857C-49B2-9EEE-A4F78A9E2ED5}" presName="textB" presStyleLbl="revTx" presStyleIdx="3" presStyleCnt="4">
        <dgm:presLayoutVars>
          <dgm:bulletEnabled val="1"/>
        </dgm:presLayoutVars>
      </dgm:prSet>
      <dgm:spPr/>
      <dgm:t>
        <a:bodyPr/>
        <a:lstStyle/>
        <a:p>
          <a:endParaRPr lang="zh-CN" altLang="en-US"/>
        </a:p>
      </dgm:t>
    </dgm:pt>
    <dgm:pt modelId="{2E5916F5-49B8-45AC-AACF-3296290BD87A}" type="pres">
      <dgm:prSet presAssocID="{880CFE2F-857C-49B2-9EEE-A4F78A9E2ED5}" presName="circleB" presStyleLbl="node1" presStyleIdx="3" presStyleCnt="4"/>
      <dgm:spPr/>
    </dgm:pt>
    <dgm:pt modelId="{C7A30FE2-7493-460A-A366-969666F7A5D3}" type="pres">
      <dgm:prSet presAssocID="{880CFE2F-857C-49B2-9EEE-A4F78A9E2ED5}" presName="spaceB" presStyleCnt="0"/>
      <dgm:spPr/>
    </dgm:pt>
  </dgm:ptLst>
  <dgm:cxnLst>
    <dgm:cxn modelId="{DC2E2136-955E-451E-9547-88AABD0BE5D6}" type="presOf" srcId="{36A4FA74-5417-4AEF-93D6-20A1728A8157}" destId="{5FD956D0-02B6-46F8-944A-0ACE16EBE85D}" srcOrd="0" destOrd="0" presId="urn:microsoft.com/office/officeart/2005/8/layout/hProcess11"/>
    <dgm:cxn modelId="{DB7D1C9B-4FEC-4EAF-8ACE-6001F0171505}" type="presOf" srcId="{98D82496-EB50-4B3A-8E64-29F6BF253EE9}" destId="{717A1287-CF49-4A9B-845C-B0BE9C67FAAC}" srcOrd="0" destOrd="0" presId="urn:microsoft.com/office/officeart/2005/8/layout/hProcess11"/>
    <dgm:cxn modelId="{662C1409-ABB9-4FAF-BB2B-C3037EEAD3FC}" type="presOf" srcId="{880CFE2F-857C-49B2-9EEE-A4F78A9E2ED5}" destId="{E0A1ACFE-21DF-4E78-B805-D76CDE512952}" srcOrd="0" destOrd="0" presId="urn:microsoft.com/office/officeart/2005/8/layout/hProcess11"/>
    <dgm:cxn modelId="{A3931CE9-F862-40FA-AD85-F430B692C044}" type="presOf" srcId="{681A9DA2-5768-4957-A5F4-F00F0FB95CAF}" destId="{17F4D1B9-371B-401D-B41C-EC6F8B5637C4}" srcOrd="0" destOrd="0" presId="urn:microsoft.com/office/officeart/2005/8/layout/hProcess11"/>
    <dgm:cxn modelId="{2D87217F-BD2F-4D90-A85F-E7EEB155E52F}" srcId="{36A4FA74-5417-4AEF-93D6-20A1728A8157}" destId="{880CFE2F-857C-49B2-9EEE-A4F78A9E2ED5}" srcOrd="3" destOrd="0" parTransId="{24B3CBB9-F51C-4BC5-A1D9-2FA96641C3DF}" sibTransId="{16EFF59F-CB12-462C-A8FA-AD2A5E629921}"/>
    <dgm:cxn modelId="{B836F764-99BC-4F07-B461-7DBF74FF0FBF}" srcId="{36A4FA74-5417-4AEF-93D6-20A1728A8157}" destId="{28F9F9B5-223F-4898-A4CF-02BAC902A77C}" srcOrd="0" destOrd="0" parTransId="{238924C5-53DC-4B6A-8F11-072BDD1F8C10}" sibTransId="{E1142D19-0401-4450-81A9-C4811AC74914}"/>
    <dgm:cxn modelId="{9A54DB77-CA75-4C67-B96D-7E591B2DCC9F}" type="presOf" srcId="{28F9F9B5-223F-4898-A4CF-02BAC902A77C}" destId="{16846D0D-CAC1-4820-8144-C3E87FEE31AC}" srcOrd="0" destOrd="0" presId="urn:microsoft.com/office/officeart/2005/8/layout/hProcess11"/>
    <dgm:cxn modelId="{709D9121-4A1C-4A91-90CA-BBA6AB0E746A}" srcId="{36A4FA74-5417-4AEF-93D6-20A1728A8157}" destId="{681A9DA2-5768-4957-A5F4-F00F0FB95CAF}" srcOrd="2" destOrd="0" parTransId="{59B687E6-3CFC-4689-A25C-C7B4DA572271}" sibTransId="{62AA4BE8-7CBA-4A8F-95EF-BD0CC5A9E3F1}"/>
    <dgm:cxn modelId="{EB39BA02-10A9-4DB8-920A-AD8EBA5FA000}" srcId="{36A4FA74-5417-4AEF-93D6-20A1728A8157}" destId="{98D82496-EB50-4B3A-8E64-29F6BF253EE9}" srcOrd="1" destOrd="0" parTransId="{510E8095-FCFE-4FD4-8ADA-C6B125DE3D94}" sibTransId="{4213197D-D7F4-4B0C-AC41-01086F6E1B0F}"/>
    <dgm:cxn modelId="{73CBC08B-45C3-4950-BCD9-BA7075906CE0}" type="presParOf" srcId="{5FD956D0-02B6-46F8-944A-0ACE16EBE85D}" destId="{927202BC-5D7A-4B32-9E7C-B75AA3057ABC}" srcOrd="0" destOrd="0" presId="urn:microsoft.com/office/officeart/2005/8/layout/hProcess11"/>
    <dgm:cxn modelId="{5BAA68DD-37E7-403B-87BF-7007019B8B63}" type="presParOf" srcId="{5FD956D0-02B6-46F8-944A-0ACE16EBE85D}" destId="{4CF5FEBF-25DF-41DF-AA33-54709F1508E4}" srcOrd="1" destOrd="0" presId="urn:microsoft.com/office/officeart/2005/8/layout/hProcess11"/>
    <dgm:cxn modelId="{456FB551-7C0B-48A1-8C3B-7729FE8281D2}" type="presParOf" srcId="{4CF5FEBF-25DF-41DF-AA33-54709F1508E4}" destId="{790839A1-7B67-4F62-AEB0-A6872E156533}" srcOrd="0" destOrd="0" presId="urn:microsoft.com/office/officeart/2005/8/layout/hProcess11"/>
    <dgm:cxn modelId="{58FB9973-CBC5-4B1F-89BF-2358A6FEACF7}" type="presParOf" srcId="{790839A1-7B67-4F62-AEB0-A6872E156533}" destId="{16846D0D-CAC1-4820-8144-C3E87FEE31AC}" srcOrd="0" destOrd="0" presId="urn:microsoft.com/office/officeart/2005/8/layout/hProcess11"/>
    <dgm:cxn modelId="{B0A258B1-4507-4955-A53E-17A1DE3CCF09}" type="presParOf" srcId="{790839A1-7B67-4F62-AEB0-A6872E156533}" destId="{06FDD9DB-B691-4A41-AB1D-863FB7492C8E}" srcOrd="1" destOrd="0" presId="urn:microsoft.com/office/officeart/2005/8/layout/hProcess11"/>
    <dgm:cxn modelId="{65111599-E26A-4395-A7C4-2E034F3EFCD2}" type="presParOf" srcId="{790839A1-7B67-4F62-AEB0-A6872E156533}" destId="{46EC0FC0-7755-4B7E-B6B9-FA5EE1820B5E}" srcOrd="2" destOrd="0" presId="urn:microsoft.com/office/officeart/2005/8/layout/hProcess11"/>
    <dgm:cxn modelId="{96A4367F-5906-4689-B5D1-524392E938D8}" type="presParOf" srcId="{4CF5FEBF-25DF-41DF-AA33-54709F1508E4}" destId="{79999001-DCAD-4763-83D8-37F49967CE05}" srcOrd="1" destOrd="0" presId="urn:microsoft.com/office/officeart/2005/8/layout/hProcess11"/>
    <dgm:cxn modelId="{DA022C79-3C5C-40D8-AAB3-8576D6132D16}" type="presParOf" srcId="{4CF5FEBF-25DF-41DF-AA33-54709F1508E4}" destId="{02B3FD7F-D7BC-45A2-8126-BDDEDFB84539}" srcOrd="2" destOrd="0" presId="urn:microsoft.com/office/officeart/2005/8/layout/hProcess11"/>
    <dgm:cxn modelId="{53F406B5-09C4-465F-9703-277CEB011E9D}" type="presParOf" srcId="{02B3FD7F-D7BC-45A2-8126-BDDEDFB84539}" destId="{717A1287-CF49-4A9B-845C-B0BE9C67FAAC}" srcOrd="0" destOrd="0" presId="urn:microsoft.com/office/officeart/2005/8/layout/hProcess11"/>
    <dgm:cxn modelId="{919D8E6E-5A3B-4F83-8D96-19A605404275}" type="presParOf" srcId="{02B3FD7F-D7BC-45A2-8126-BDDEDFB84539}" destId="{63B896B7-D2D0-44C4-9F54-54A25E2A289A}" srcOrd="1" destOrd="0" presId="urn:microsoft.com/office/officeart/2005/8/layout/hProcess11"/>
    <dgm:cxn modelId="{4856113E-D984-4B09-9FB5-9067D52FD7F2}" type="presParOf" srcId="{02B3FD7F-D7BC-45A2-8126-BDDEDFB84539}" destId="{A15CF9FD-F395-409A-9E04-94D7170440B1}" srcOrd="2" destOrd="0" presId="urn:microsoft.com/office/officeart/2005/8/layout/hProcess11"/>
    <dgm:cxn modelId="{13BEC95D-E53D-4543-8900-EAE1D35A0FEC}" type="presParOf" srcId="{4CF5FEBF-25DF-41DF-AA33-54709F1508E4}" destId="{AC3A9FAB-9A77-421D-9646-D86DCDB21C3C}" srcOrd="3" destOrd="0" presId="urn:microsoft.com/office/officeart/2005/8/layout/hProcess11"/>
    <dgm:cxn modelId="{F3AF4128-F360-440F-9FED-0AD0BD83E4A6}" type="presParOf" srcId="{4CF5FEBF-25DF-41DF-AA33-54709F1508E4}" destId="{FC1DD7FF-8B58-4FA1-B6D0-B71905991BD7}" srcOrd="4" destOrd="0" presId="urn:microsoft.com/office/officeart/2005/8/layout/hProcess11"/>
    <dgm:cxn modelId="{515AB139-F670-4DC1-B2A2-39C44EFD7D18}" type="presParOf" srcId="{FC1DD7FF-8B58-4FA1-B6D0-B71905991BD7}" destId="{17F4D1B9-371B-401D-B41C-EC6F8B5637C4}" srcOrd="0" destOrd="0" presId="urn:microsoft.com/office/officeart/2005/8/layout/hProcess11"/>
    <dgm:cxn modelId="{A0EA1156-BE24-4FFF-A517-31265898F130}" type="presParOf" srcId="{FC1DD7FF-8B58-4FA1-B6D0-B71905991BD7}" destId="{76C474EF-D23C-4D84-8FC4-A35EF84713AD}" srcOrd="1" destOrd="0" presId="urn:microsoft.com/office/officeart/2005/8/layout/hProcess11"/>
    <dgm:cxn modelId="{F007D0C6-A6B0-44A1-A35A-4AF089170357}" type="presParOf" srcId="{FC1DD7FF-8B58-4FA1-B6D0-B71905991BD7}" destId="{9045C3BD-A7EB-4E41-AAC2-124157B1C591}" srcOrd="2" destOrd="0" presId="urn:microsoft.com/office/officeart/2005/8/layout/hProcess11"/>
    <dgm:cxn modelId="{3F9C8568-43CE-4FBA-B7F2-44AAC1912861}" type="presParOf" srcId="{4CF5FEBF-25DF-41DF-AA33-54709F1508E4}" destId="{16EC8FBF-8465-48B0-9363-0E3D95AA1414}" srcOrd="5" destOrd="0" presId="urn:microsoft.com/office/officeart/2005/8/layout/hProcess11"/>
    <dgm:cxn modelId="{F6D07E70-02AA-420F-8D13-5C01E40B6BD5}" type="presParOf" srcId="{4CF5FEBF-25DF-41DF-AA33-54709F1508E4}" destId="{094A20B2-5A08-4DD3-AB1D-65B808A807B1}" srcOrd="6" destOrd="0" presId="urn:microsoft.com/office/officeart/2005/8/layout/hProcess11"/>
    <dgm:cxn modelId="{15ED5B72-9EF3-477E-8C55-3E7901B3AF23}" type="presParOf" srcId="{094A20B2-5A08-4DD3-AB1D-65B808A807B1}" destId="{E0A1ACFE-21DF-4E78-B805-D76CDE512952}" srcOrd="0" destOrd="0" presId="urn:microsoft.com/office/officeart/2005/8/layout/hProcess11"/>
    <dgm:cxn modelId="{8EBFB1B6-CEC1-436D-A1F4-3BE271C47C26}" type="presParOf" srcId="{094A20B2-5A08-4DD3-AB1D-65B808A807B1}" destId="{2E5916F5-49B8-45AC-AACF-3296290BD87A}" srcOrd="1" destOrd="0" presId="urn:microsoft.com/office/officeart/2005/8/layout/hProcess11"/>
    <dgm:cxn modelId="{E5BA36AB-D626-49E4-AB67-33DB1F2D544A}" type="presParOf" srcId="{094A20B2-5A08-4DD3-AB1D-65B808A807B1}" destId="{C7A30FE2-7493-460A-A366-969666F7A5D3}"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0C167E-B83E-4235-A0D5-18B0AB9E9A31}" type="doc">
      <dgm:prSet loTypeId="urn:microsoft.com/office/officeart/2005/8/layout/vList6" loCatId="process" qsTypeId="urn:microsoft.com/office/officeart/2005/8/quickstyle/simple1" qsCatId="simple" csTypeId="urn:microsoft.com/office/officeart/2005/8/colors/colorful2" csCatId="colorful" phldr="1"/>
      <dgm:spPr/>
      <dgm:t>
        <a:bodyPr/>
        <a:lstStyle/>
        <a:p>
          <a:endParaRPr lang="zh-CN" altLang="en-US"/>
        </a:p>
      </dgm:t>
    </dgm:pt>
    <dgm:pt modelId="{B11B87FE-68F8-4937-A323-E71C32F69461}">
      <dgm:prSet custT="1"/>
      <dgm:spPr/>
      <dgm:t>
        <a:bodyPr/>
        <a:lstStyle/>
        <a:p>
          <a:pPr algn="l" rtl="0"/>
          <a:r>
            <a:rPr lang="en-US" sz="1800" dirty="0" smtClean="0">
              <a:solidFill>
                <a:schemeClr val="tx1"/>
              </a:solidFill>
            </a:rPr>
            <a:t>1.IP</a:t>
          </a:r>
          <a:r>
            <a:rPr lang="zh-CN" sz="1800" dirty="0" smtClean="0">
              <a:solidFill>
                <a:schemeClr val="tx1"/>
              </a:solidFill>
            </a:rPr>
            <a:t>地址</a:t>
          </a:r>
          <a:endParaRPr lang="zh-CN" sz="1800" dirty="0">
            <a:solidFill>
              <a:schemeClr val="tx1"/>
            </a:solidFill>
          </a:endParaRPr>
        </a:p>
      </dgm:t>
    </dgm:pt>
    <dgm:pt modelId="{BFD3D6CA-889C-4204-904B-21645218B8CD}" cxnId="{5382A89C-3405-4D9F-9978-A6A5EBF7D17D}" type="parTrans">
      <dgm:prSet/>
      <dgm:spPr/>
      <dgm:t>
        <a:bodyPr/>
        <a:lstStyle/>
        <a:p>
          <a:endParaRPr lang="zh-CN" altLang="en-US">
            <a:solidFill>
              <a:schemeClr val="tx1"/>
            </a:solidFill>
          </a:endParaRPr>
        </a:p>
      </dgm:t>
    </dgm:pt>
    <dgm:pt modelId="{17E72B85-F7A2-49AA-9475-EF2E0E13835D}" cxnId="{5382A89C-3405-4D9F-9978-A6A5EBF7D17D}" type="sibTrans">
      <dgm:prSet/>
      <dgm:spPr/>
      <dgm:t>
        <a:bodyPr/>
        <a:lstStyle/>
        <a:p>
          <a:endParaRPr lang="zh-CN" altLang="en-US">
            <a:solidFill>
              <a:schemeClr val="tx1"/>
            </a:solidFill>
          </a:endParaRPr>
        </a:p>
      </dgm:t>
    </dgm:pt>
    <dgm:pt modelId="{4ECCF728-F20C-4106-89EC-2DFF3DB18BDC}">
      <dgm:prSet custT="1"/>
      <dgm:spPr/>
      <dgm:t>
        <a:bodyPr/>
        <a:lstStyle/>
        <a:p>
          <a:pPr algn="l" rtl="0"/>
          <a:r>
            <a:rPr lang="en-US" sz="1800" dirty="0" smtClean="0">
              <a:solidFill>
                <a:schemeClr val="tx1"/>
              </a:solidFill>
            </a:rPr>
            <a:t>2.IP</a:t>
          </a:r>
          <a:r>
            <a:rPr lang="zh-CN" sz="1800" dirty="0" smtClean="0">
              <a:solidFill>
                <a:schemeClr val="tx1"/>
              </a:solidFill>
            </a:rPr>
            <a:t>地址的分配策略</a:t>
          </a:r>
          <a:endParaRPr lang="zh-CN" sz="1800" dirty="0">
            <a:solidFill>
              <a:schemeClr val="tx1"/>
            </a:solidFill>
          </a:endParaRPr>
        </a:p>
      </dgm:t>
    </dgm:pt>
    <dgm:pt modelId="{5DC92060-73C7-4545-9CCC-3014FF24F848}" cxnId="{F25293AF-6800-4501-9EC9-153B5CE6D52B}" type="parTrans">
      <dgm:prSet/>
      <dgm:spPr/>
      <dgm:t>
        <a:bodyPr/>
        <a:lstStyle/>
        <a:p>
          <a:endParaRPr lang="zh-CN" altLang="en-US">
            <a:solidFill>
              <a:schemeClr val="tx1"/>
            </a:solidFill>
          </a:endParaRPr>
        </a:p>
      </dgm:t>
    </dgm:pt>
    <dgm:pt modelId="{8C1C0007-06FD-48A9-A602-3EF10CCF5447}" cxnId="{F25293AF-6800-4501-9EC9-153B5CE6D52B}" type="sibTrans">
      <dgm:prSet/>
      <dgm:spPr/>
      <dgm:t>
        <a:bodyPr/>
        <a:lstStyle/>
        <a:p>
          <a:endParaRPr lang="zh-CN" altLang="en-US">
            <a:solidFill>
              <a:schemeClr val="tx1"/>
            </a:solidFill>
          </a:endParaRPr>
        </a:p>
      </dgm:t>
    </dgm:pt>
    <dgm:pt modelId="{637F5B0A-DC7D-4104-9AE7-59D311D6EEFE}">
      <dgm:prSet custT="1"/>
      <dgm:spPr/>
      <dgm:t>
        <a:bodyPr/>
        <a:lstStyle/>
        <a:p>
          <a:pPr algn="l" rtl="0"/>
          <a:r>
            <a:rPr lang="en-US" sz="1800" dirty="0" smtClean="0">
              <a:solidFill>
                <a:schemeClr val="tx1"/>
              </a:solidFill>
            </a:rPr>
            <a:t>3.IP</a:t>
          </a:r>
          <a:r>
            <a:rPr lang="zh-CN" sz="1800" dirty="0" smtClean="0">
              <a:solidFill>
                <a:schemeClr val="tx1"/>
              </a:solidFill>
            </a:rPr>
            <a:t>地址的结构</a:t>
          </a:r>
          <a:endParaRPr lang="zh-CN" sz="1800" dirty="0">
            <a:solidFill>
              <a:schemeClr val="tx1"/>
            </a:solidFill>
          </a:endParaRPr>
        </a:p>
      </dgm:t>
    </dgm:pt>
    <dgm:pt modelId="{C49A2D01-B8CF-46D0-9B25-101B32F4E496}" cxnId="{DA423602-55E4-4C66-A19D-CB17CFAFD29E}" type="parTrans">
      <dgm:prSet/>
      <dgm:spPr/>
      <dgm:t>
        <a:bodyPr/>
        <a:lstStyle/>
        <a:p>
          <a:endParaRPr lang="zh-CN" altLang="en-US">
            <a:solidFill>
              <a:schemeClr val="tx1"/>
            </a:solidFill>
          </a:endParaRPr>
        </a:p>
      </dgm:t>
    </dgm:pt>
    <dgm:pt modelId="{55110F5C-634C-4A30-8039-DE12926921D9}" cxnId="{DA423602-55E4-4C66-A19D-CB17CFAFD29E}" type="sibTrans">
      <dgm:prSet/>
      <dgm:spPr/>
      <dgm:t>
        <a:bodyPr/>
        <a:lstStyle/>
        <a:p>
          <a:endParaRPr lang="zh-CN" altLang="en-US">
            <a:solidFill>
              <a:schemeClr val="tx1"/>
            </a:solidFill>
          </a:endParaRPr>
        </a:p>
      </dgm:t>
    </dgm:pt>
    <dgm:pt modelId="{01E36184-A742-4234-9B5C-E3A8C46127F8}">
      <dgm:prSet custT="1"/>
      <dgm:spPr/>
      <dgm:t>
        <a:bodyPr/>
        <a:lstStyle/>
        <a:p>
          <a:pPr algn="l" rtl="0"/>
          <a:r>
            <a:rPr lang="en-US" sz="1800" dirty="0" smtClean="0">
              <a:solidFill>
                <a:schemeClr val="tx1"/>
              </a:solidFill>
            </a:rPr>
            <a:t>4.</a:t>
          </a:r>
          <a:r>
            <a:rPr lang="zh-CN" sz="1800" dirty="0" smtClean="0">
              <a:solidFill>
                <a:schemeClr val="tx1"/>
              </a:solidFill>
            </a:rPr>
            <a:t>网关</a:t>
          </a:r>
          <a:endParaRPr lang="zh-CN" sz="1800" dirty="0">
            <a:solidFill>
              <a:schemeClr val="tx1"/>
            </a:solidFill>
          </a:endParaRPr>
        </a:p>
      </dgm:t>
    </dgm:pt>
    <dgm:pt modelId="{FAABB130-91EA-4410-B9BD-64E05DF895D6}" cxnId="{328A5E1D-D4FE-45F2-8658-54CA51C6F6BC}" type="parTrans">
      <dgm:prSet/>
      <dgm:spPr/>
      <dgm:t>
        <a:bodyPr/>
        <a:lstStyle/>
        <a:p>
          <a:endParaRPr lang="zh-CN" altLang="en-US">
            <a:solidFill>
              <a:schemeClr val="tx1"/>
            </a:solidFill>
          </a:endParaRPr>
        </a:p>
      </dgm:t>
    </dgm:pt>
    <dgm:pt modelId="{9AF9E0EE-37F0-43B1-88C2-74C1A947450E}" cxnId="{328A5E1D-D4FE-45F2-8658-54CA51C6F6BC}" type="sibTrans">
      <dgm:prSet/>
      <dgm:spPr/>
      <dgm:t>
        <a:bodyPr/>
        <a:lstStyle/>
        <a:p>
          <a:endParaRPr lang="zh-CN" altLang="en-US">
            <a:solidFill>
              <a:schemeClr val="tx1"/>
            </a:solidFill>
          </a:endParaRPr>
        </a:p>
      </dgm:t>
    </dgm:pt>
    <dgm:pt modelId="{04157C8B-9F87-42A1-8A1D-EB49BAB259DD}">
      <dgm:prSet custT="1"/>
      <dgm:spPr/>
      <dgm:t>
        <a:bodyPr/>
        <a:lstStyle/>
        <a:p>
          <a:pPr algn="l" rtl="0"/>
          <a:r>
            <a:rPr lang="en-US" sz="1800" dirty="0" smtClean="0">
              <a:solidFill>
                <a:schemeClr val="tx1"/>
              </a:solidFill>
            </a:rPr>
            <a:t>5.</a:t>
          </a:r>
          <a:r>
            <a:rPr lang="zh-CN" sz="1800" dirty="0" smtClean="0">
              <a:solidFill>
                <a:schemeClr val="tx1"/>
              </a:solidFill>
            </a:rPr>
            <a:t>子网掩码</a:t>
          </a:r>
          <a:endParaRPr lang="zh-CN" sz="1800" dirty="0">
            <a:solidFill>
              <a:schemeClr val="tx1"/>
            </a:solidFill>
          </a:endParaRPr>
        </a:p>
      </dgm:t>
    </dgm:pt>
    <dgm:pt modelId="{F9C1F374-C1B5-4667-A237-D94D0CF93AA3}" cxnId="{1C37F53F-C825-49E2-8EA9-4824FD499343}" type="parTrans">
      <dgm:prSet/>
      <dgm:spPr/>
      <dgm:t>
        <a:bodyPr/>
        <a:lstStyle/>
        <a:p>
          <a:endParaRPr lang="zh-CN" altLang="en-US">
            <a:solidFill>
              <a:schemeClr val="tx1"/>
            </a:solidFill>
          </a:endParaRPr>
        </a:p>
      </dgm:t>
    </dgm:pt>
    <dgm:pt modelId="{601ECDB0-5E80-441E-B780-A40A11C47EEA}" cxnId="{1C37F53F-C825-49E2-8EA9-4824FD499343}" type="sibTrans">
      <dgm:prSet/>
      <dgm:spPr/>
      <dgm:t>
        <a:bodyPr/>
        <a:lstStyle/>
        <a:p>
          <a:endParaRPr lang="zh-CN" altLang="en-US">
            <a:solidFill>
              <a:schemeClr val="tx1"/>
            </a:solidFill>
          </a:endParaRPr>
        </a:p>
      </dgm:t>
    </dgm:pt>
    <dgm:pt modelId="{5B170D28-5273-4F8B-8068-2B5C6391DFD2}">
      <dgm:prSet>
        <dgm:style>
          <a:lnRef idx="1">
            <a:schemeClr val="accent1"/>
          </a:lnRef>
          <a:fillRef idx="2">
            <a:schemeClr val="accent1"/>
          </a:fillRef>
          <a:effectRef idx="1">
            <a:schemeClr val="accent1"/>
          </a:effectRef>
          <a:fontRef idx="minor">
            <a:schemeClr val="dk1"/>
          </a:fontRef>
        </dgm:style>
      </dgm:prSet>
      <dgm:spPr/>
      <dgm:t>
        <a:bodyPr/>
        <a:lstStyle/>
        <a:p>
          <a:r>
            <a:rPr lang="zh-CN" dirty="0" smtClean="0">
              <a:solidFill>
                <a:schemeClr val="tx1"/>
              </a:solidFill>
            </a:rPr>
            <a:t>登录到互联网的每台计算机都有一个能标记其存在的唯一标识</a:t>
          </a:r>
          <a:r>
            <a:rPr lang="en-US" dirty="0" smtClean="0">
              <a:solidFill>
                <a:schemeClr val="tx1"/>
              </a:solidFill>
            </a:rPr>
            <a:t>,</a:t>
          </a:r>
          <a:r>
            <a:rPr lang="zh-CN" dirty="0" smtClean="0">
              <a:solidFill>
                <a:schemeClr val="tx1"/>
              </a:solidFill>
            </a:rPr>
            <a:t>这就是计算机的</a:t>
          </a:r>
          <a:r>
            <a:rPr lang="en-US" dirty="0" smtClean="0">
              <a:solidFill>
                <a:schemeClr val="tx1"/>
              </a:solidFill>
            </a:rPr>
            <a:t>IP</a:t>
          </a:r>
          <a:r>
            <a:rPr lang="zh-CN" dirty="0" smtClean="0">
              <a:solidFill>
                <a:schemeClr val="tx1"/>
              </a:solidFill>
            </a:rPr>
            <a:t>地址。</a:t>
          </a:r>
          <a:endParaRPr lang="zh-CN" altLang="en-US" dirty="0">
            <a:solidFill>
              <a:schemeClr val="tx1"/>
            </a:solidFill>
          </a:endParaRPr>
        </a:p>
      </dgm:t>
    </dgm:pt>
    <dgm:pt modelId="{A871FAD2-D36B-44B5-AD52-CCC4E0660995}" cxnId="{271DC5C5-5DED-4900-A6B1-539DDCAEBE9F}" type="parTrans">
      <dgm:prSet/>
      <dgm:spPr/>
      <dgm:t>
        <a:bodyPr/>
        <a:lstStyle/>
        <a:p>
          <a:endParaRPr lang="zh-CN" altLang="en-US">
            <a:solidFill>
              <a:schemeClr val="tx1"/>
            </a:solidFill>
          </a:endParaRPr>
        </a:p>
      </dgm:t>
    </dgm:pt>
    <dgm:pt modelId="{415576E3-AD5E-4D29-8711-E3A7F74F2A4B}" cxnId="{271DC5C5-5DED-4900-A6B1-539DDCAEBE9F}" type="sibTrans">
      <dgm:prSet/>
      <dgm:spPr/>
      <dgm:t>
        <a:bodyPr/>
        <a:lstStyle/>
        <a:p>
          <a:endParaRPr lang="zh-CN" altLang="en-US">
            <a:solidFill>
              <a:schemeClr val="tx1"/>
            </a:solidFill>
          </a:endParaRPr>
        </a:p>
      </dgm:t>
    </dgm:pt>
    <dgm:pt modelId="{AB9FDEBB-7534-47F5-906A-856C6F8FD51E}">
      <dgm:prSet>
        <dgm:style>
          <a:lnRef idx="2">
            <a:schemeClr val="accent2">
              <a:shade val="50000"/>
            </a:schemeClr>
          </a:lnRef>
          <a:fillRef idx="1">
            <a:schemeClr val="accent2"/>
          </a:fillRef>
          <a:effectRef idx="0">
            <a:schemeClr val="accent2"/>
          </a:effectRef>
          <a:fontRef idx="minor">
            <a:schemeClr val="lt1"/>
          </a:fontRef>
        </dgm:style>
      </dgm:prSet>
      <dgm:spPr/>
      <dgm:t>
        <a:bodyPr/>
        <a:lstStyle/>
        <a:p>
          <a:pPr rtl="0"/>
          <a:r>
            <a:rPr lang="en-US" smtClean="0">
              <a:solidFill>
                <a:schemeClr val="tx1"/>
              </a:solidFill>
            </a:rPr>
            <a:t>IP</a:t>
          </a:r>
          <a:r>
            <a:rPr lang="zh-CN" smtClean="0">
              <a:solidFill>
                <a:schemeClr val="tx1"/>
              </a:solidFill>
            </a:rPr>
            <a:t>地址的分配策略包括</a:t>
          </a:r>
          <a:r>
            <a:rPr lang="en-US" smtClean="0">
              <a:solidFill>
                <a:schemeClr val="tx1"/>
              </a:solidFill>
            </a:rPr>
            <a:t>IPv4</a:t>
          </a:r>
          <a:r>
            <a:rPr lang="zh-CN" smtClean="0">
              <a:solidFill>
                <a:schemeClr val="tx1"/>
              </a:solidFill>
            </a:rPr>
            <a:t>地址版本和</a:t>
          </a:r>
          <a:r>
            <a:rPr lang="en-US" smtClean="0">
              <a:solidFill>
                <a:schemeClr val="tx1"/>
              </a:solidFill>
            </a:rPr>
            <a:t>IPv6</a:t>
          </a:r>
          <a:r>
            <a:rPr lang="zh-CN" smtClean="0">
              <a:solidFill>
                <a:schemeClr val="tx1"/>
              </a:solidFill>
            </a:rPr>
            <a:t>地址版本。</a:t>
          </a:r>
          <a:endParaRPr lang="zh-CN" altLang="en-US">
            <a:solidFill>
              <a:schemeClr val="tx1"/>
            </a:solidFill>
          </a:endParaRPr>
        </a:p>
      </dgm:t>
    </dgm:pt>
    <dgm:pt modelId="{38D8643A-8C73-4069-8085-4335EC3C6961}" cxnId="{21B5375A-CD87-417C-A71F-95F3CB00E0C2}" type="parTrans">
      <dgm:prSet/>
      <dgm:spPr/>
      <dgm:t>
        <a:bodyPr/>
        <a:lstStyle/>
        <a:p>
          <a:endParaRPr lang="zh-CN" altLang="en-US">
            <a:solidFill>
              <a:schemeClr val="tx1"/>
            </a:solidFill>
          </a:endParaRPr>
        </a:p>
      </dgm:t>
    </dgm:pt>
    <dgm:pt modelId="{CF78B07C-9AEB-416D-B22C-FC9791869479}" cxnId="{21B5375A-CD87-417C-A71F-95F3CB00E0C2}" type="sibTrans">
      <dgm:prSet/>
      <dgm:spPr/>
      <dgm:t>
        <a:bodyPr/>
        <a:lstStyle/>
        <a:p>
          <a:endParaRPr lang="zh-CN" altLang="en-US">
            <a:solidFill>
              <a:schemeClr val="tx1"/>
            </a:solidFill>
          </a:endParaRPr>
        </a:p>
      </dgm:t>
    </dgm:pt>
    <dgm:pt modelId="{C0FB2522-9C0B-4B5F-B532-22404091AEB3}">
      <dgm:prSet>
        <dgm:style>
          <a:lnRef idx="2">
            <a:schemeClr val="accent4">
              <a:shade val="50000"/>
            </a:schemeClr>
          </a:lnRef>
          <a:fillRef idx="1">
            <a:schemeClr val="accent4"/>
          </a:fillRef>
          <a:effectRef idx="0">
            <a:schemeClr val="accent4"/>
          </a:effectRef>
          <a:fontRef idx="minor">
            <a:schemeClr val="lt1"/>
          </a:fontRef>
        </dgm:style>
      </dgm:prSet>
      <dgm:spPr/>
      <dgm:t>
        <a:bodyPr/>
        <a:lstStyle/>
        <a:p>
          <a:r>
            <a:rPr lang="en-US" dirty="0" smtClean="0">
              <a:solidFill>
                <a:schemeClr val="tx1"/>
              </a:solidFill>
            </a:rPr>
            <a:t>IPv4</a:t>
          </a:r>
          <a:r>
            <a:rPr lang="zh-CN" dirty="0" smtClean="0">
              <a:solidFill>
                <a:schemeClr val="tx1"/>
              </a:solidFill>
            </a:rPr>
            <a:t>版本的地址分配策略中</a:t>
          </a:r>
          <a:r>
            <a:rPr lang="en-US" dirty="0" smtClean="0">
              <a:solidFill>
                <a:schemeClr val="tx1"/>
              </a:solidFill>
            </a:rPr>
            <a:t>,</a:t>
          </a:r>
          <a:r>
            <a:rPr lang="zh-CN" dirty="0" smtClean="0">
              <a:solidFill>
                <a:schemeClr val="tx1"/>
              </a:solidFill>
            </a:rPr>
            <a:t>每个</a:t>
          </a:r>
          <a:r>
            <a:rPr lang="en-US" dirty="0" smtClean="0">
              <a:solidFill>
                <a:schemeClr val="tx1"/>
              </a:solidFill>
            </a:rPr>
            <a:t>IP</a:t>
          </a:r>
          <a:r>
            <a:rPr lang="zh-CN" dirty="0" smtClean="0">
              <a:solidFill>
                <a:schemeClr val="tx1"/>
              </a:solidFill>
            </a:rPr>
            <a:t>地址又分为网络号部分和主机号部分。</a:t>
          </a:r>
          <a:endParaRPr lang="zh-CN" altLang="en-US" dirty="0">
            <a:solidFill>
              <a:schemeClr val="tx1"/>
            </a:solidFill>
          </a:endParaRPr>
        </a:p>
      </dgm:t>
    </dgm:pt>
    <dgm:pt modelId="{74F8FF40-0585-4DDB-B24D-F86E775B8CC4}" cxnId="{C18EECB2-535A-4B7F-ADC4-7A507DC3B3F9}" type="parTrans">
      <dgm:prSet/>
      <dgm:spPr/>
      <dgm:t>
        <a:bodyPr/>
        <a:lstStyle/>
        <a:p>
          <a:endParaRPr lang="zh-CN" altLang="en-US">
            <a:solidFill>
              <a:schemeClr val="tx1"/>
            </a:solidFill>
          </a:endParaRPr>
        </a:p>
      </dgm:t>
    </dgm:pt>
    <dgm:pt modelId="{A6A6235B-C595-4D8A-802E-8E989493EC0D}" cxnId="{C18EECB2-535A-4B7F-ADC4-7A507DC3B3F9}" type="sibTrans">
      <dgm:prSet/>
      <dgm:spPr/>
      <dgm:t>
        <a:bodyPr/>
        <a:lstStyle/>
        <a:p>
          <a:endParaRPr lang="zh-CN" altLang="en-US">
            <a:solidFill>
              <a:schemeClr val="tx1"/>
            </a:solidFill>
          </a:endParaRPr>
        </a:p>
      </dgm:t>
    </dgm:pt>
    <dgm:pt modelId="{B29066A5-BA41-492D-A61F-8BF6FF6B20FC}">
      <dgm:prSet>
        <dgm:style>
          <a:lnRef idx="1">
            <a:schemeClr val="dk1"/>
          </a:lnRef>
          <a:fillRef idx="2">
            <a:schemeClr val="dk1"/>
          </a:fillRef>
          <a:effectRef idx="1">
            <a:schemeClr val="dk1"/>
          </a:effectRef>
          <a:fontRef idx="minor">
            <a:schemeClr val="dk1"/>
          </a:fontRef>
        </dgm:style>
      </dgm:prSet>
      <dgm:spPr/>
      <dgm:t>
        <a:bodyPr/>
        <a:lstStyle/>
        <a:p>
          <a:pPr rtl="0"/>
          <a:r>
            <a:rPr lang="zh-CN" smtClean="0">
              <a:solidFill>
                <a:schemeClr val="tx1"/>
              </a:solidFill>
            </a:rPr>
            <a:t>网关</a:t>
          </a:r>
          <a:r>
            <a:rPr lang="en-US" smtClean="0">
              <a:solidFill>
                <a:schemeClr val="tx1"/>
              </a:solidFill>
            </a:rPr>
            <a:t>(Gateway)</a:t>
          </a:r>
          <a:r>
            <a:rPr lang="zh-CN" smtClean="0">
              <a:solidFill>
                <a:schemeClr val="tx1"/>
              </a:solidFill>
            </a:rPr>
            <a:t>又称为网间连接器或协议转换器。</a:t>
          </a:r>
          <a:endParaRPr lang="zh-CN" altLang="en-US">
            <a:solidFill>
              <a:schemeClr val="tx1"/>
            </a:solidFill>
          </a:endParaRPr>
        </a:p>
      </dgm:t>
    </dgm:pt>
    <dgm:pt modelId="{3CEC0384-C811-45D0-85AF-5426FB5B45A7}" cxnId="{0A5836F0-7C8B-4F60-A162-9F2589664541}" type="parTrans">
      <dgm:prSet/>
      <dgm:spPr/>
      <dgm:t>
        <a:bodyPr/>
        <a:lstStyle/>
        <a:p>
          <a:endParaRPr lang="zh-CN" altLang="en-US">
            <a:solidFill>
              <a:schemeClr val="tx1"/>
            </a:solidFill>
          </a:endParaRPr>
        </a:p>
      </dgm:t>
    </dgm:pt>
    <dgm:pt modelId="{69F032D3-CCB3-4807-9108-3E338C6C9A5F}" cxnId="{0A5836F0-7C8B-4F60-A162-9F2589664541}" type="sibTrans">
      <dgm:prSet/>
      <dgm:spPr/>
      <dgm:t>
        <a:bodyPr/>
        <a:lstStyle/>
        <a:p>
          <a:endParaRPr lang="zh-CN" altLang="en-US">
            <a:solidFill>
              <a:schemeClr val="tx1"/>
            </a:solidFill>
          </a:endParaRPr>
        </a:p>
      </dgm:t>
    </dgm:pt>
    <dgm:pt modelId="{4B5C84AD-AC8B-4304-8F34-EF09F95A2E43}">
      <dgm:prSet>
        <dgm:style>
          <a:lnRef idx="2">
            <a:schemeClr val="accent1">
              <a:shade val="50000"/>
            </a:schemeClr>
          </a:lnRef>
          <a:fillRef idx="1">
            <a:schemeClr val="accent1"/>
          </a:fillRef>
          <a:effectRef idx="0">
            <a:schemeClr val="accent1"/>
          </a:effectRef>
          <a:fontRef idx="minor">
            <a:schemeClr val="lt1"/>
          </a:fontRef>
        </dgm:style>
      </dgm:prSet>
      <dgm:spPr/>
      <dgm:t>
        <a:bodyPr/>
        <a:lstStyle/>
        <a:p>
          <a:pPr rtl="0"/>
          <a:r>
            <a:rPr lang="zh-CN" dirty="0" smtClean="0">
              <a:solidFill>
                <a:schemeClr val="tx1"/>
              </a:solidFill>
            </a:rPr>
            <a:t>由于</a:t>
          </a:r>
          <a:r>
            <a:rPr lang="en-US" dirty="0" smtClean="0">
              <a:solidFill>
                <a:schemeClr val="tx1"/>
              </a:solidFill>
            </a:rPr>
            <a:t>IP</a:t>
          </a:r>
          <a:r>
            <a:rPr lang="zh-CN" dirty="0" smtClean="0">
              <a:solidFill>
                <a:schemeClr val="tx1"/>
              </a:solidFill>
            </a:rPr>
            <a:t>地址的资源有限</a:t>
          </a:r>
          <a:r>
            <a:rPr lang="en-US" dirty="0" smtClean="0">
              <a:solidFill>
                <a:schemeClr val="tx1"/>
              </a:solidFill>
            </a:rPr>
            <a:t>,</a:t>
          </a:r>
          <a:r>
            <a:rPr lang="zh-CN" dirty="0" smtClean="0">
              <a:solidFill>
                <a:schemeClr val="tx1"/>
              </a:solidFill>
            </a:rPr>
            <a:t>当一个局域网分配到一个</a:t>
          </a:r>
          <a:r>
            <a:rPr lang="en-US" dirty="0" smtClean="0">
              <a:solidFill>
                <a:schemeClr val="tx1"/>
              </a:solidFill>
            </a:rPr>
            <a:t>IP</a:t>
          </a:r>
          <a:r>
            <a:rPr lang="zh-CN" dirty="0" smtClean="0">
              <a:solidFill>
                <a:schemeClr val="tx1"/>
              </a:solidFill>
            </a:rPr>
            <a:t>地址后</a:t>
          </a:r>
          <a:r>
            <a:rPr lang="en-US" dirty="0" smtClean="0">
              <a:solidFill>
                <a:schemeClr val="tx1"/>
              </a:solidFill>
            </a:rPr>
            <a:t>,</a:t>
          </a:r>
          <a:r>
            <a:rPr lang="zh-CN" dirty="0" smtClean="0">
              <a:solidFill>
                <a:schemeClr val="tx1"/>
              </a:solidFill>
            </a:rPr>
            <a:t>需要为局域网中的计算机分配子网掩码。</a:t>
          </a:r>
          <a:endParaRPr lang="zh-CN" altLang="en-US" dirty="0">
            <a:solidFill>
              <a:schemeClr val="tx1"/>
            </a:solidFill>
          </a:endParaRPr>
        </a:p>
      </dgm:t>
    </dgm:pt>
    <dgm:pt modelId="{460D13DC-FD19-47D4-B4A5-C4EE19D0B910}" cxnId="{DF5C4336-F78F-4D6C-8499-2A86AB088B98}" type="parTrans">
      <dgm:prSet/>
      <dgm:spPr/>
      <dgm:t>
        <a:bodyPr/>
        <a:lstStyle/>
        <a:p>
          <a:endParaRPr lang="zh-CN" altLang="en-US">
            <a:solidFill>
              <a:schemeClr val="tx1"/>
            </a:solidFill>
          </a:endParaRPr>
        </a:p>
      </dgm:t>
    </dgm:pt>
    <dgm:pt modelId="{0D83E48B-1118-43DE-9931-31F9A5F5755E}" cxnId="{DF5C4336-F78F-4D6C-8499-2A86AB088B98}" type="sibTrans">
      <dgm:prSet/>
      <dgm:spPr/>
      <dgm:t>
        <a:bodyPr/>
        <a:lstStyle/>
        <a:p>
          <a:endParaRPr lang="zh-CN" altLang="en-US">
            <a:solidFill>
              <a:schemeClr val="tx1"/>
            </a:solidFill>
          </a:endParaRPr>
        </a:p>
      </dgm:t>
    </dgm:pt>
    <dgm:pt modelId="{0BB15109-EF02-4F24-AE77-50F718FEF468}" type="pres">
      <dgm:prSet presAssocID="{DA0C167E-B83E-4235-A0D5-18B0AB9E9A31}" presName="Name0" presStyleCnt="0">
        <dgm:presLayoutVars>
          <dgm:dir/>
          <dgm:animLvl val="lvl"/>
          <dgm:resizeHandles/>
        </dgm:presLayoutVars>
      </dgm:prSet>
      <dgm:spPr/>
      <dgm:t>
        <a:bodyPr/>
        <a:lstStyle/>
        <a:p>
          <a:endParaRPr lang="zh-CN" altLang="en-US"/>
        </a:p>
      </dgm:t>
    </dgm:pt>
    <dgm:pt modelId="{BB2D4979-9D19-404D-80A7-19CE008CA2F1}" type="pres">
      <dgm:prSet presAssocID="{B11B87FE-68F8-4937-A323-E71C32F69461}" presName="linNode" presStyleCnt="0"/>
      <dgm:spPr/>
    </dgm:pt>
    <dgm:pt modelId="{A1311FCC-E043-4CDC-BD60-49A1FF9414F8}" type="pres">
      <dgm:prSet presAssocID="{B11B87FE-68F8-4937-A323-E71C32F69461}" presName="parentShp" presStyleLbl="node1" presStyleIdx="0" presStyleCnt="5" custScaleX="75077">
        <dgm:presLayoutVars>
          <dgm:bulletEnabled val="1"/>
        </dgm:presLayoutVars>
      </dgm:prSet>
      <dgm:spPr/>
      <dgm:t>
        <a:bodyPr/>
        <a:lstStyle/>
        <a:p>
          <a:endParaRPr lang="zh-CN" altLang="en-US"/>
        </a:p>
      </dgm:t>
    </dgm:pt>
    <dgm:pt modelId="{7521BD52-E2B8-4BCE-8166-FAE2AD52432B}" type="pres">
      <dgm:prSet presAssocID="{B11B87FE-68F8-4937-A323-E71C32F69461}" presName="childShp" presStyleLbl="bgAccFollowNode1" presStyleIdx="0" presStyleCnt="5" custScaleX="120184">
        <dgm:presLayoutVars>
          <dgm:bulletEnabled val="1"/>
        </dgm:presLayoutVars>
      </dgm:prSet>
      <dgm:spPr/>
      <dgm:t>
        <a:bodyPr/>
        <a:lstStyle/>
        <a:p>
          <a:endParaRPr lang="zh-CN" altLang="en-US"/>
        </a:p>
      </dgm:t>
    </dgm:pt>
    <dgm:pt modelId="{4F44FD60-D4E1-49FE-AD5E-582AF660BA23}" type="pres">
      <dgm:prSet presAssocID="{17E72B85-F7A2-49AA-9475-EF2E0E13835D}" presName="spacing" presStyleCnt="0"/>
      <dgm:spPr/>
    </dgm:pt>
    <dgm:pt modelId="{99E6716D-E8C7-4AA4-ADBE-E409575187F3}" type="pres">
      <dgm:prSet presAssocID="{4ECCF728-F20C-4106-89EC-2DFF3DB18BDC}" presName="linNode" presStyleCnt="0"/>
      <dgm:spPr/>
    </dgm:pt>
    <dgm:pt modelId="{4315C991-CB02-4AC3-8FC3-C57E9783F9F4}" type="pres">
      <dgm:prSet presAssocID="{4ECCF728-F20C-4106-89EC-2DFF3DB18BDC}" presName="parentShp" presStyleLbl="node1" presStyleIdx="1" presStyleCnt="5" custScaleX="75077">
        <dgm:presLayoutVars>
          <dgm:bulletEnabled val="1"/>
        </dgm:presLayoutVars>
      </dgm:prSet>
      <dgm:spPr/>
      <dgm:t>
        <a:bodyPr/>
        <a:lstStyle/>
        <a:p>
          <a:endParaRPr lang="zh-CN" altLang="en-US"/>
        </a:p>
      </dgm:t>
    </dgm:pt>
    <dgm:pt modelId="{FB36419A-CCFA-4ED0-A33B-F7BF78F8D8C5}" type="pres">
      <dgm:prSet presAssocID="{4ECCF728-F20C-4106-89EC-2DFF3DB18BDC}" presName="childShp" presStyleLbl="bgAccFollowNode1" presStyleIdx="1" presStyleCnt="5" custScaleX="120184">
        <dgm:presLayoutVars>
          <dgm:bulletEnabled val="1"/>
        </dgm:presLayoutVars>
      </dgm:prSet>
      <dgm:spPr/>
      <dgm:t>
        <a:bodyPr/>
        <a:lstStyle/>
        <a:p>
          <a:endParaRPr lang="zh-CN" altLang="en-US"/>
        </a:p>
      </dgm:t>
    </dgm:pt>
    <dgm:pt modelId="{AA0C245C-ED39-4C80-8B3B-C8799A36C1E0}" type="pres">
      <dgm:prSet presAssocID="{8C1C0007-06FD-48A9-A602-3EF10CCF5447}" presName="spacing" presStyleCnt="0"/>
      <dgm:spPr/>
    </dgm:pt>
    <dgm:pt modelId="{6876D281-7958-4125-8ACF-F880A29CDF7D}" type="pres">
      <dgm:prSet presAssocID="{637F5B0A-DC7D-4104-9AE7-59D311D6EEFE}" presName="linNode" presStyleCnt="0"/>
      <dgm:spPr/>
    </dgm:pt>
    <dgm:pt modelId="{0FC61576-816F-4002-885F-B6D12506DFC6}" type="pres">
      <dgm:prSet presAssocID="{637F5B0A-DC7D-4104-9AE7-59D311D6EEFE}" presName="parentShp" presStyleLbl="node1" presStyleIdx="2" presStyleCnt="5" custScaleX="75077">
        <dgm:presLayoutVars>
          <dgm:bulletEnabled val="1"/>
        </dgm:presLayoutVars>
      </dgm:prSet>
      <dgm:spPr/>
      <dgm:t>
        <a:bodyPr/>
        <a:lstStyle/>
        <a:p>
          <a:endParaRPr lang="zh-CN" altLang="en-US"/>
        </a:p>
      </dgm:t>
    </dgm:pt>
    <dgm:pt modelId="{B44FBFC0-5BCC-4E78-919A-3D7F893FFD39}" type="pres">
      <dgm:prSet presAssocID="{637F5B0A-DC7D-4104-9AE7-59D311D6EEFE}" presName="childShp" presStyleLbl="bgAccFollowNode1" presStyleIdx="2" presStyleCnt="5" custScaleX="120184">
        <dgm:presLayoutVars>
          <dgm:bulletEnabled val="1"/>
        </dgm:presLayoutVars>
      </dgm:prSet>
      <dgm:spPr/>
      <dgm:t>
        <a:bodyPr/>
        <a:lstStyle/>
        <a:p>
          <a:endParaRPr lang="zh-CN" altLang="en-US"/>
        </a:p>
      </dgm:t>
    </dgm:pt>
    <dgm:pt modelId="{C443869F-49A3-499B-BBFA-AEA7C0A989A7}" type="pres">
      <dgm:prSet presAssocID="{55110F5C-634C-4A30-8039-DE12926921D9}" presName="spacing" presStyleCnt="0"/>
      <dgm:spPr/>
    </dgm:pt>
    <dgm:pt modelId="{56F491AA-276D-4334-8F9F-86E5D19F474C}" type="pres">
      <dgm:prSet presAssocID="{01E36184-A742-4234-9B5C-E3A8C46127F8}" presName="linNode" presStyleCnt="0"/>
      <dgm:spPr/>
    </dgm:pt>
    <dgm:pt modelId="{C7F92E3D-4365-4508-AA41-FB5B485B214C}" type="pres">
      <dgm:prSet presAssocID="{01E36184-A742-4234-9B5C-E3A8C46127F8}" presName="parentShp" presStyleLbl="node1" presStyleIdx="3" presStyleCnt="5" custScaleX="75077">
        <dgm:presLayoutVars>
          <dgm:bulletEnabled val="1"/>
        </dgm:presLayoutVars>
      </dgm:prSet>
      <dgm:spPr/>
      <dgm:t>
        <a:bodyPr/>
        <a:lstStyle/>
        <a:p>
          <a:endParaRPr lang="zh-CN" altLang="en-US"/>
        </a:p>
      </dgm:t>
    </dgm:pt>
    <dgm:pt modelId="{A4AA373B-C6DE-4237-96C4-2E721264E95D}" type="pres">
      <dgm:prSet presAssocID="{01E36184-A742-4234-9B5C-E3A8C46127F8}" presName="childShp" presStyleLbl="bgAccFollowNode1" presStyleIdx="3" presStyleCnt="5" custScaleX="120184">
        <dgm:presLayoutVars>
          <dgm:bulletEnabled val="1"/>
        </dgm:presLayoutVars>
      </dgm:prSet>
      <dgm:spPr/>
      <dgm:t>
        <a:bodyPr/>
        <a:lstStyle/>
        <a:p>
          <a:endParaRPr lang="zh-CN" altLang="en-US"/>
        </a:p>
      </dgm:t>
    </dgm:pt>
    <dgm:pt modelId="{F3D07EC4-124F-474D-BD0F-D0E55FBC6BAE}" type="pres">
      <dgm:prSet presAssocID="{9AF9E0EE-37F0-43B1-88C2-74C1A947450E}" presName="spacing" presStyleCnt="0"/>
      <dgm:spPr/>
    </dgm:pt>
    <dgm:pt modelId="{19DF3613-9CE4-446C-BA44-D0E2312680DA}" type="pres">
      <dgm:prSet presAssocID="{04157C8B-9F87-42A1-8A1D-EB49BAB259DD}" presName="linNode" presStyleCnt="0"/>
      <dgm:spPr/>
    </dgm:pt>
    <dgm:pt modelId="{1E42A3F9-F743-482B-88B1-496050CC6EC1}" type="pres">
      <dgm:prSet presAssocID="{04157C8B-9F87-42A1-8A1D-EB49BAB259DD}" presName="parentShp" presStyleLbl="node1" presStyleIdx="4" presStyleCnt="5" custScaleX="75077">
        <dgm:presLayoutVars>
          <dgm:bulletEnabled val="1"/>
        </dgm:presLayoutVars>
      </dgm:prSet>
      <dgm:spPr/>
      <dgm:t>
        <a:bodyPr/>
        <a:lstStyle/>
        <a:p>
          <a:endParaRPr lang="zh-CN" altLang="en-US"/>
        </a:p>
      </dgm:t>
    </dgm:pt>
    <dgm:pt modelId="{608FBDA6-2126-4D32-9145-4BE68CEE310E}" type="pres">
      <dgm:prSet presAssocID="{04157C8B-9F87-42A1-8A1D-EB49BAB259DD}" presName="childShp" presStyleLbl="bgAccFollowNode1" presStyleIdx="4" presStyleCnt="5" custScaleX="120184">
        <dgm:presLayoutVars>
          <dgm:bulletEnabled val="1"/>
        </dgm:presLayoutVars>
      </dgm:prSet>
      <dgm:spPr/>
      <dgm:t>
        <a:bodyPr/>
        <a:lstStyle/>
        <a:p>
          <a:endParaRPr lang="zh-CN" altLang="en-US"/>
        </a:p>
      </dgm:t>
    </dgm:pt>
  </dgm:ptLst>
  <dgm:cxnLst>
    <dgm:cxn modelId="{F25293AF-6800-4501-9EC9-153B5CE6D52B}" srcId="{DA0C167E-B83E-4235-A0D5-18B0AB9E9A31}" destId="{4ECCF728-F20C-4106-89EC-2DFF3DB18BDC}" srcOrd="1" destOrd="0" parTransId="{5DC92060-73C7-4545-9CCC-3014FF24F848}" sibTransId="{8C1C0007-06FD-48A9-A602-3EF10CCF5447}"/>
    <dgm:cxn modelId="{A48C8D5E-C1B8-45C9-AD02-8FBBF443C93A}" type="presOf" srcId="{DA0C167E-B83E-4235-A0D5-18B0AB9E9A31}" destId="{0BB15109-EF02-4F24-AE77-50F718FEF468}" srcOrd="0" destOrd="0" presId="urn:microsoft.com/office/officeart/2005/8/layout/vList6"/>
    <dgm:cxn modelId="{21B5375A-CD87-417C-A71F-95F3CB00E0C2}" srcId="{4ECCF728-F20C-4106-89EC-2DFF3DB18BDC}" destId="{AB9FDEBB-7534-47F5-906A-856C6F8FD51E}" srcOrd="0" destOrd="0" parTransId="{38D8643A-8C73-4069-8085-4335EC3C6961}" sibTransId="{CF78B07C-9AEB-416D-B22C-FC9791869479}"/>
    <dgm:cxn modelId="{501D68CB-E9DA-40EA-B04F-6B0FFCB12693}" type="presOf" srcId="{637F5B0A-DC7D-4104-9AE7-59D311D6EEFE}" destId="{0FC61576-816F-4002-885F-B6D12506DFC6}" srcOrd="0" destOrd="0" presId="urn:microsoft.com/office/officeart/2005/8/layout/vList6"/>
    <dgm:cxn modelId="{271DC5C5-5DED-4900-A6B1-539DDCAEBE9F}" srcId="{B11B87FE-68F8-4937-A323-E71C32F69461}" destId="{5B170D28-5273-4F8B-8068-2B5C6391DFD2}" srcOrd="0" destOrd="0" parTransId="{A871FAD2-D36B-44B5-AD52-CCC4E0660995}" sibTransId="{415576E3-AD5E-4D29-8711-E3A7F74F2A4B}"/>
    <dgm:cxn modelId="{DA423602-55E4-4C66-A19D-CB17CFAFD29E}" srcId="{DA0C167E-B83E-4235-A0D5-18B0AB9E9A31}" destId="{637F5B0A-DC7D-4104-9AE7-59D311D6EEFE}" srcOrd="2" destOrd="0" parTransId="{C49A2D01-B8CF-46D0-9B25-101B32F4E496}" sibTransId="{55110F5C-634C-4A30-8039-DE12926921D9}"/>
    <dgm:cxn modelId="{B8D13C62-6F4D-45DB-9DFB-A97E70EAA615}" type="presOf" srcId="{04157C8B-9F87-42A1-8A1D-EB49BAB259DD}" destId="{1E42A3F9-F743-482B-88B1-496050CC6EC1}" srcOrd="0" destOrd="0" presId="urn:microsoft.com/office/officeart/2005/8/layout/vList6"/>
    <dgm:cxn modelId="{0A5836F0-7C8B-4F60-A162-9F2589664541}" srcId="{01E36184-A742-4234-9B5C-E3A8C46127F8}" destId="{B29066A5-BA41-492D-A61F-8BF6FF6B20FC}" srcOrd="0" destOrd="0" parTransId="{3CEC0384-C811-45D0-85AF-5426FB5B45A7}" sibTransId="{69F032D3-CCB3-4807-9108-3E338C6C9A5F}"/>
    <dgm:cxn modelId="{68152009-AE1E-40AF-8686-40405F3D3E31}" type="presOf" srcId="{4ECCF728-F20C-4106-89EC-2DFF3DB18BDC}" destId="{4315C991-CB02-4AC3-8FC3-C57E9783F9F4}" srcOrd="0" destOrd="0" presId="urn:microsoft.com/office/officeart/2005/8/layout/vList6"/>
    <dgm:cxn modelId="{5382A89C-3405-4D9F-9978-A6A5EBF7D17D}" srcId="{DA0C167E-B83E-4235-A0D5-18B0AB9E9A31}" destId="{B11B87FE-68F8-4937-A323-E71C32F69461}" srcOrd="0" destOrd="0" parTransId="{BFD3D6CA-889C-4204-904B-21645218B8CD}" sibTransId="{17E72B85-F7A2-49AA-9475-EF2E0E13835D}"/>
    <dgm:cxn modelId="{25DE685F-87B0-48FB-94EF-CBA02D8200FA}" type="presOf" srcId="{4B5C84AD-AC8B-4304-8F34-EF09F95A2E43}" destId="{608FBDA6-2126-4D32-9145-4BE68CEE310E}" srcOrd="0" destOrd="0" presId="urn:microsoft.com/office/officeart/2005/8/layout/vList6"/>
    <dgm:cxn modelId="{1C37F53F-C825-49E2-8EA9-4824FD499343}" srcId="{DA0C167E-B83E-4235-A0D5-18B0AB9E9A31}" destId="{04157C8B-9F87-42A1-8A1D-EB49BAB259DD}" srcOrd="4" destOrd="0" parTransId="{F9C1F374-C1B5-4667-A237-D94D0CF93AA3}" sibTransId="{601ECDB0-5E80-441E-B780-A40A11C47EEA}"/>
    <dgm:cxn modelId="{C18EECB2-535A-4B7F-ADC4-7A507DC3B3F9}" srcId="{637F5B0A-DC7D-4104-9AE7-59D311D6EEFE}" destId="{C0FB2522-9C0B-4B5F-B532-22404091AEB3}" srcOrd="0" destOrd="0" parTransId="{74F8FF40-0585-4DDB-B24D-F86E775B8CC4}" sibTransId="{A6A6235B-C595-4D8A-802E-8E989493EC0D}"/>
    <dgm:cxn modelId="{20110703-1C00-47FF-A666-91F81E565924}" type="presOf" srcId="{C0FB2522-9C0B-4B5F-B532-22404091AEB3}" destId="{B44FBFC0-5BCC-4E78-919A-3D7F893FFD39}" srcOrd="0" destOrd="0" presId="urn:microsoft.com/office/officeart/2005/8/layout/vList6"/>
    <dgm:cxn modelId="{DE007D1A-CB1F-42A5-844E-C79B1CC3B5EA}" type="presOf" srcId="{AB9FDEBB-7534-47F5-906A-856C6F8FD51E}" destId="{FB36419A-CCFA-4ED0-A33B-F7BF78F8D8C5}" srcOrd="0" destOrd="0" presId="urn:microsoft.com/office/officeart/2005/8/layout/vList6"/>
    <dgm:cxn modelId="{328A5E1D-D4FE-45F2-8658-54CA51C6F6BC}" srcId="{DA0C167E-B83E-4235-A0D5-18B0AB9E9A31}" destId="{01E36184-A742-4234-9B5C-E3A8C46127F8}" srcOrd="3" destOrd="0" parTransId="{FAABB130-91EA-4410-B9BD-64E05DF895D6}" sibTransId="{9AF9E0EE-37F0-43B1-88C2-74C1A947450E}"/>
    <dgm:cxn modelId="{27D89F39-D32E-4C13-9572-2855879AABA5}" type="presOf" srcId="{B29066A5-BA41-492D-A61F-8BF6FF6B20FC}" destId="{A4AA373B-C6DE-4237-96C4-2E721264E95D}" srcOrd="0" destOrd="0" presId="urn:microsoft.com/office/officeart/2005/8/layout/vList6"/>
    <dgm:cxn modelId="{349E6101-7814-4504-9482-E6E9A8FB0C15}" type="presOf" srcId="{5B170D28-5273-4F8B-8068-2B5C6391DFD2}" destId="{7521BD52-E2B8-4BCE-8166-FAE2AD52432B}" srcOrd="0" destOrd="0" presId="urn:microsoft.com/office/officeart/2005/8/layout/vList6"/>
    <dgm:cxn modelId="{274A22CE-ED80-4EE7-BF8C-49A2FC77E8F8}" type="presOf" srcId="{B11B87FE-68F8-4937-A323-E71C32F69461}" destId="{A1311FCC-E043-4CDC-BD60-49A1FF9414F8}" srcOrd="0" destOrd="0" presId="urn:microsoft.com/office/officeart/2005/8/layout/vList6"/>
    <dgm:cxn modelId="{979C92DE-DAD9-487B-A4F9-034644932508}" type="presOf" srcId="{01E36184-A742-4234-9B5C-E3A8C46127F8}" destId="{C7F92E3D-4365-4508-AA41-FB5B485B214C}" srcOrd="0" destOrd="0" presId="urn:microsoft.com/office/officeart/2005/8/layout/vList6"/>
    <dgm:cxn modelId="{DF5C4336-F78F-4D6C-8499-2A86AB088B98}" srcId="{04157C8B-9F87-42A1-8A1D-EB49BAB259DD}" destId="{4B5C84AD-AC8B-4304-8F34-EF09F95A2E43}" srcOrd="0" destOrd="0" parTransId="{460D13DC-FD19-47D4-B4A5-C4EE19D0B910}" sibTransId="{0D83E48B-1118-43DE-9931-31F9A5F5755E}"/>
    <dgm:cxn modelId="{AB19E4A1-2453-4CBB-BC24-F6027EBBFE0F}" type="presParOf" srcId="{0BB15109-EF02-4F24-AE77-50F718FEF468}" destId="{BB2D4979-9D19-404D-80A7-19CE008CA2F1}" srcOrd="0" destOrd="0" presId="urn:microsoft.com/office/officeart/2005/8/layout/vList6"/>
    <dgm:cxn modelId="{3D16DC58-1E54-4C06-B45C-6C00AE678DCB}" type="presParOf" srcId="{BB2D4979-9D19-404D-80A7-19CE008CA2F1}" destId="{A1311FCC-E043-4CDC-BD60-49A1FF9414F8}" srcOrd="0" destOrd="0" presId="urn:microsoft.com/office/officeart/2005/8/layout/vList6"/>
    <dgm:cxn modelId="{F684A834-E804-4F98-B78C-F3C3D515C3B4}" type="presParOf" srcId="{BB2D4979-9D19-404D-80A7-19CE008CA2F1}" destId="{7521BD52-E2B8-4BCE-8166-FAE2AD52432B}" srcOrd="1" destOrd="0" presId="urn:microsoft.com/office/officeart/2005/8/layout/vList6"/>
    <dgm:cxn modelId="{E40D6228-85D8-479A-BDDB-05DF745FF859}" type="presParOf" srcId="{0BB15109-EF02-4F24-AE77-50F718FEF468}" destId="{4F44FD60-D4E1-49FE-AD5E-582AF660BA23}" srcOrd="1" destOrd="0" presId="urn:microsoft.com/office/officeart/2005/8/layout/vList6"/>
    <dgm:cxn modelId="{AB8340DD-86A0-4199-AB0C-06AA16EFA3E6}" type="presParOf" srcId="{0BB15109-EF02-4F24-AE77-50F718FEF468}" destId="{99E6716D-E8C7-4AA4-ADBE-E409575187F3}" srcOrd="2" destOrd="0" presId="urn:microsoft.com/office/officeart/2005/8/layout/vList6"/>
    <dgm:cxn modelId="{0DE15AEE-F91B-46CC-BEAB-A7EFFB1BB552}" type="presParOf" srcId="{99E6716D-E8C7-4AA4-ADBE-E409575187F3}" destId="{4315C991-CB02-4AC3-8FC3-C57E9783F9F4}" srcOrd="0" destOrd="0" presId="urn:microsoft.com/office/officeart/2005/8/layout/vList6"/>
    <dgm:cxn modelId="{34727DAC-8A4A-46E3-9CA2-1AA0DAE76206}" type="presParOf" srcId="{99E6716D-E8C7-4AA4-ADBE-E409575187F3}" destId="{FB36419A-CCFA-4ED0-A33B-F7BF78F8D8C5}" srcOrd="1" destOrd="0" presId="urn:microsoft.com/office/officeart/2005/8/layout/vList6"/>
    <dgm:cxn modelId="{E7C95DE4-AB78-4EB5-B14F-11D66AD1951B}" type="presParOf" srcId="{0BB15109-EF02-4F24-AE77-50F718FEF468}" destId="{AA0C245C-ED39-4C80-8B3B-C8799A36C1E0}" srcOrd="3" destOrd="0" presId="urn:microsoft.com/office/officeart/2005/8/layout/vList6"/>
    <dgm:cxn modelId="{E926F628-5636-4957-B368-6B96B1AE2DCA}" type="presParOf" srcId="{0BB15109-EF02-4F24-AE77-50F718FEF468}" destId="{6876D281-7958-4125-8ACF-F880A29CDF7D}" srcOrd="4" destOrd="0" presId="urn:microsoft.com/office/officeart/2005/8/layout/vList6"/>
    <dgm:cxn modelId="{F9B5BB22-E3A5-4FDC-BAE8-A4D10AD20BAB}" type="presParOf" srcId="{6876D281-7958-4125-8ACF-F880A29CDF7D}" destId="{0FC61576-816F-4002-885F-B6D12506DFC6}" srcOrd="0" destOrd="0" presId="urn:microsoft.com/office/officeart/2005/8/layout/vList6"/>
    <dgm:cxn modelId="{E5CA2E18-C22F-4E5A-BB0E-9BECC2F5DE55}" type="presParOf" srcId="{6876D281-7958-4125-8ACF-F880A29CDF7D}" destId="{B44FBFC0-5BCC-4E78-919A-3D7F893FFD39}" srcOrd="1" destOrd="0" presId="urn:microsoft.com/office/officeart/2005/8/layout/vList6"/>
    <dgm:cxn modelId="{2B306E4E-7961-43AA-9A21-0B4816E961E3}" type="presParOf" srcId="{0BB15109-EF02-4F24-AE77-50F718FEF468}" destId="{C443869F-49A3-499B-BBFA-AEA7C0A989A7}" srcOrd="5" destOrd="0" presId="urn:microsoft.com/office/officeart/2005/8/layout/vList6"/>
    <dgm:cxn modelId="{5CD3BDDE-CE3D-4F94-9E03-634FDBCE88EF}" type="presParOf" srcId="{0BB15109-EF02-4F24-AE77-50F718FEF468}" destId="{56F491AA-276D-4334-8F9F-86E5D19F474C}" srcOrd="6" destOrd="0" presId="urn:microsoft.com/office/officeart/2005/8/layout/vList6"/>
    <dgm:cxn modelId="{7DB8A9B7-8CBB-452C-B1A1-A68651CBA1CD}" type="presParOf" srcId="{56F491AA-276D-4334-8F9F-86E5D19F474C}" destId="{C7F92E3D-4365-4508-AA41-FB5B485B214C}" srcOrd="0" destOrd="0" presId="urn:microsoft.com/office/officeart/2005/8/layout/vList6"/>
    <dgm:cxn modelId="{5B337F9D-A05D-466E-8377-BF5D810663FB}" type="presParOf" srcId="{56F491AA-276D-4334-8F9F-86E5D19F474C}" destId="{A4AA373B-C6DE-4237-96C4-2E721264E95D}" srcOrd="1" destOrd="0" presId="urn:microsoft.com/office/officeart/2005/8/layout/vList6"/>
    <dgm:cxn modelId="{10A515C9-752D-4F0D-912C-8C6DB409D361}" type="presParOf" srcId="{0BB15109-EF02-4F24-AE77-50F718FEF468}" destId="{F3D07EC4-124F-474D-BD0F-D0E55FBC6BAE}" srcOrd="7" destOrd="0" presId="urn:microsoft.com/office/officeart/2005/8/layout/vList6"/>
    <dgm:cxn modelId="{45BAD0D7-1E51-4384-AEDF-C98A734F17C9}" type="presParOf" srcId="{0BB15109-EF02-4F24-AE77-50F718FEF468}" destId="{19DF3613-9CE4-446C-BA44-D0E2312680DA}" srcOrd="8" destOrd="0" presId="urn:microsoft.com/office/officeart/2005/8/layout/vList6"/>
    <dgm:cxn modelId="{E49A2B74-AE26-4666-AE5D-EFDA270D31EC}" type="presParOf" srcId="{19DF3613-9CE4-446C-BA44-D0E2312680DA}" destId="{1E42A3F9-F743-482B-88B1-496050CC6EC1}" srcOrd="0" destOrd="0" presId="urn:microsoft.com/office/officeart/2005/8/layout/vList6"/>
    <dgm:cxn modelId="{33A2BF03-8DBE-4BA8-BD5C-C31CAD743ED0}" type="presParOf" srcId="{19DF3613-9CE4-446C-BA44-D0E2312680DA}" destId="{608FBDA6-2126-4D32-9145-4BE68CEE310E}"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1FA1A69-A19D-4AE5-B9F8-DA71E9B5785F}" type="doc">
      <dgm:prSet loTypeId="urn:microsoft.com/office/officeart/2005/8/layout/hierarchy3" loCatId="hierarchy" qsTypeId="urn:microsoft.com/office/officeart/2005/8/quickstyle/simple1" qsCatId="simple" csTypeId="urn:microsoft.com/office/officeart/2005/8/colors/colorful4" csCatId="colorful"/>
      <dgm:spPr/>
      <dgm:t>
        <a:bodyPr/>
        <a:lstStyle/>
        <a:p>
          <a:endParaRPr lang="zh-CN" altLang="en-US"/>
        </a:p>
      </dgm:t>
    </dgm:pt>
    <dgm:pt modelId="{6EA90F1F-EFB0-456F-85B5-F914EC95C705}">
      <dgm:prSet custT="1"/>
      <dgm:spPr/>
      <dgm:t>
        <a:bodyPr/>
        <a:lstStyle/>
        <a:p>
          <a:pPr rtl="0"/>
          <a:r>
            <a:rPr lang="en-US" sz="2400" smtClean="0">
              <a:solidFill>
                <a:schemeClr val="tx1"/>
              </a:solidFill>
            </a:rPr>
            <a:t>1.ping</a:t>
          </a:r>
          <a:r>
            <a:rPr lang="zh-CN" sz="2400" smtClean="0">
              <a:solidFill>
                <a:schemeClr val="tx1"/>
              </a:solidFill>
            </a:rPr>
            <a:t>命令 </a:t>
          </a:r>
          <a:endParaRPr lang="zh-CN" sz="2400" dirty="0">
            <a:solidFill>
              <a:schemeClr val="tx1"/>
            </a:solidFill>
          </a:endParaRPr>
        </a:p>
      </dgm:t>
    </dgm:pt>
    <dgm:pt modelId="{32585968-9CFA-482F-B1CE-76D62C044F5D}" cxnId="{1A950D92-660E-42F4-84D4-EAD3864980B6}" type="parTrans">
      <dgm:prSet/>
      <dgm:spPr/>
      <dgm:t>
        <a:bodyPr/>
        <a:lstStyle/>
        <a:p>
          <a:endParaRPr lang="zh-CN" altLang="en-US" sz="1600">
            <a:solidFill>
              <a:schemeClr val="tx1"/>
            </a:solidFill>
          </a:endParaRPr>
        </a:p>
      </dgm:t>
    </dgm:pt>
    <dgm:pt modelId="{2C3F400E-4738-443E-84A1-C24037B3EC4B}" cxnId="{1A950D92-660E-42F4-84D4-EAD3864980B6}" type="sibTrans">
      <dgm:prSet/>
      <dgm:spPr/>
      <dgm:t>
        <a:bodyPr/>
        <a:lstStyle/>
        <a:p>
          <a:endParaRPr lang="zh-CN" altLang="en-US" sz="1600">
            <a:solidFill>
              <a:schemeClr val="tx1"/>
            </a:solidFill>
          </a:endParaRPr>
        </a:p>
      </dgm:t>
    </dgm:pt>
    <dgm:pt modelId="{D7617F6C-FA34-42D1-B61C-BBD0E99232E6}">
      <dgm:prSet custT="1"/>
      <dgm:spPr/>
      <dgm:t>
        <a:bodyPr/>
        <a:lstStyle/>
        <a:p>
          <a:pPr rtl="0"/>
          <a:r>
            <a:rPr lang="en-US" sz="2400" smtClean="0">
              <a:solidFill>
                <a:schemeClr val="tx1"/>
              </a:solidFill>
            </a:rPr>
            <a:t>2.ipconfig</a:t>
          </a:r>
          <a:r>
            <a:rPr lang="zh-CN" sz="2400" smtClean="0">
              <a:solidFill>
                <a:schemeClr val="tx1"/>
              </a:solidFill>
            </a:rPr>
            <a:t>命令 </a:t>
          </a:r>
          <a:endParaRPr lang="zh-CN" sz="2400" dirty="0">
            <a:solidFill>
              <a:schemeClr val="tx1"/>
            </a:solidFill>
          </a:endParaRPr>
        </a:p>
      </dgm:t>
    </dgm:pt>
    <dgm:pt modelId="{3EA8A353-6A56-47D6-BFF8-78002121511F}" cxnId="{EF800372-A6D0-4EE6-80CD-4DD574965517}" type="parTrans">
      <dgm:prSet/>
      <dgm:spPr/>
      <dgm:t>
        <a:bodyPr/>
        <a:lstStyle/>
        <a:p>
          <a:endParaRPr lang="zh-CN" altLang="en-US" sz="1600">
            <a:solidFill>
              <a:schemeClr val="tx1"/>
            </a:solidFill>
          </a:endParaRPr>
        </a:p>
      </dgm:t>
    </dgm:pt>
    <dgm:pt modelId="{F2635F98-B163-427C-9D76-2D85165AFBAD}" cxnId="{EF800372-A6D0-4EE6-80CD-4DD574965517}" type="sibTrans">
      <dgm:prSet/>
      <dgm:spPr/>
      <dgm:t>
        <a:bodyPr/>
        <a:lstStyle/>
        <a:p>
          <a:endParaRPr lang="zh-CN" altLang="en-US" sz="1600">
            <a:solidFill>
              <a:schemeClr val="tx1"/>
            </a:solidFill>
          </a:endParaRPr>
        </a:p>
      </dgm:t>
    </dgm:pt>
    <dgm:pt modelId="{704A097E-5DA7-45AC-BA5D-200DE40563B9}" type="pres">
      <dgm:prSet presAssocID="{91FA1A69-A19D-4AE5-B9F8-DA71E9B5785F}" presName="diagram" presStyleCnt="0">
        <dgm:presLayoutVars>
          <dgm:chPref val="1"/>
          <dgm:dir/>
          <dgm:animOne val="branch"/>
          <dgm:animLvl val="lvl"/>
          <dgm:resizeHandles/>
        </dgm:presLayoutVars>
      </dgm:prSet>
      <dgm:spPr/>
      <dgm:t>
        <a:bodyPr/>
        <a:lstStyle/>
        <a:p>
          <a:endParaRPr lang="zh-CN" altLang="en-US"/>
        </a:p>
      </dgm:t>
    </dgm:pt>
    <dgm:pt modelId="{CE8428AA-5961-4E9C-92B6-B57A07722CA6}" type="pres">
      <dgm:prSet presAssocID="{6EA90F1F-EFB0-456F-85B5-F914EC95C705}" presName="root" presStyleCnt="0"/>
      <dgm:spPr/>
    </dgm:pt>
    <dgm:pt modelId="{094B87ED-1A09-47B8-895E-3586D1D57A6A}" type="pres">
      <dgm:prSet presAssocID="{6EA90F1F-EFB0-456F-85B5-F914EC95C705}" presName="rootComposite" presStyleCnt="0"/>
      <dgm:spPr/>
    </dgm:pt>
    <dgm:pt modelId="{CCB6D5B3-9405-4517-A2D0-EE555AA4779D}" type="pres">
      <dgm:prSet presAssocID="{6EA90F1F-EFB0-456F-85B5-F914EC95C705}" presName="rootText" presStyleLbl="node1" presStyleIdx="0" presStyleCnt="2"/>
      <dgm:spPr/>
      <dgm:t>
        <a:bodyPr/>
        <a:lstStyle/>
        <a:p>
          <a:endParaRPr lang="zh-CN" altLang="en-US"/>
        </a:p>
      </dgm:t>
    </dgm:pt>
    <dgm:pt modelId="{F47121B6-0DC7-4619-B1D3-EDC2BEBDAF3A}" type="pres">
      <dgm:prSet presAssocID="{6EA90F1F-EFB0-456F-85B5-F914EC95C705}" presName="rootConnector" presStyleLbl="node1" presStyleIdx="0" presStyleCnt="2"/>
      <dgm:spPr/>
      <dgm:t>
        <a:bodyPr/>
        <a:lstStyle/>
        <a:p>
          <a:endParaRPr lang="zh-CN" altLang="en-US"/>
        </a:p>
      </dgm:t>
    </dgm:pt>
    <dgm:pt modelId="{82D1CD1A-E5CB-41C5-AE21-BAD30B931D12}" type="pres">
      <dgm:prSet presAssocID="{6EA90F1F-EFB0-456F-85B5-F914EC95C705}" presName="childShape" presStyleCnt="0"/>
      <dgm:spPr/>
    </dgm:pt>
    <dgm:pt modelId="{FC576EAC-F295-492C-A2C7-FB880664430D}" type="pres">
      <dgm:prSet presAssocID="{D7617F6C-FA34-42D1-B61C-BBD0E99232E6}" presName="root" presStyleCnt="0"/>
      <dgm:spPr/>
    </dgm:pt>
    <dgm:pt modelId="{6F9F219B-6405-4606-89D5-65848736C4B4}" type="pres">
      <dgm:prSet presAssocID="{D7617F6C-FA34-42D1-B61C-BBD0E99232E6}" presName="rootComposite" presStyleCnt="0"/>
      <dgm:spPr/>
    </dgm:pt>
    <dgm:pt modelId="{0F8759AB-F1D3-4742-BF57-4037F868FB0B}" type="pres">
      <dgm:prSet presAssocID="{D7617F6C-FA34-42D1-B61C-BBD0E99232E6}" presName="rootText" presStyleLbl="node1" presStyleIdx="1" presStyleCnt="2"/>
      <dgm:spPr/>
      <dgm:t>
        <a:bodyPr/>
        <a:lstStyle/>
        <a:p>
          <a:endParaRPr lang="zh-CN" altLang="en-US"/>
        </a:p>
      </dgm:t>
    </dgm:pt>
    <dgm:pt modelId="{18CFF62F-B435-4832-90AC-F615864BE850}" type="pres">
      <dgm:prSet presAssocID="{D7617F6C-FA34-42D1-B61C-BBD0E99232E6}" presName="rootConnector" presStyleLbl="node1" presStyleIdx="1" presStyleCnt="2"/>
      <dgm:spPr/>
      <dgm:t>
        <a:bodyPr/>
        <a:lstStyle/>
        <a:p>
          <a:endParaRPr lang="zh-CN" altLang="en-US"/>
        </a:p>
      </dgm:t>
    </dgm:pt>
    <dgm:pt modelId="{87C0FCEF-2F48-4E52-8288-E5D5D4002EC6}" type="pres">
      <dgm:prSet presAssocID="{D7617F6C-FA34-42D1-B61C-BBD0E99232E6}" presName="childShape" presStyleCnt="0"/>
      <dgm:spPr/>
    </dgm:pt>
  </dgm:ptLst>
  <dgm:cxnLst>
    <dgm:cxn modelId="{01FAEC81-2313-4647-A246-10F3F75082F3}" type="presOf" srcId="{D7617F6C-FA34-42D1-B61C-BBD0E99232E6}" destId="{0F8759AB-F1D3-4742-BF57-4037F868FB0B}" srcOrd="0" destOrd="0" presId="urn:microsoft.com/office/officeart/2005/8/layout/hierarchy3"/>
    <dgm:cxn modelId="{A6C5A3F2-F22D-4778-BD52-B7AAB3266B64}" type="presOf" srcId="{6EA90F1F-EFB0-456F-85B5-F914EC95C705}" destId="{F47121B6-0DC7-4619-B1D3-EDC2BEBDAF3A}" srcOrd="1" destOrd="0" presId="urn:microsoft.com/office/officeart/2005/8/layout/hierarchy3"/>
    <dgm:cxn modelId="{7FE888D6-EF61-43CC-8FC3-1D62C6F5FC4B}" type="presOf" srcId="{91FA1A69-A19D-4AE5-B9F8-DA71E9B5785F}" destId="{704A097E-5DA7-45AC-BA5D-200DE40563B9}" srcOrd="0" destOrd="0" presId="urn:microsoft.com/office/officeart/2005/8/layout/hierarchy3"/>
    <dgm:cxn modelId="{6E0A6627-BB73-4CF3-93CC-5EC21AD8CC6A}" type="presOf" srcId="{6EA90F1F-EFB0-456F-85B5-F914EC95C705}" destId="{CCB6D5B3-9405-4517-A2D0-EE555AA4779D}" srcOrd="0" destOrd="0" presId="urn:microsoft.com/office/officeart/2005/8/layout/hierarchy3"/>
    <dgm:cxn modelId="{1A950D92-660E-42F4-84D4-EAD3864980B6}" srcId="{91FA1A69-A19D-4AE5-B9F8-DA71E9B5785F}" destId="{6EA90F1F-EFB0-456F-85B5-F914EC95C705}" srcOrd="0" destOrd="0" parTransId="{32585968-9CFA-482F-B1CE-76D62C044F5D}" sibTransId="{2C3F400E-4738-443E-84A1-C24037B3EC4B}"/>
    <dgm:cxn modelId="{C300D733-156E-435E-8A1D-5A209EAFD41E}" type="presOf" srcId="{D7617F6C-FA34-42D1-B61C-BBD0E99232E6}" destId="{18CFF62F-B435-4832-90AC-F615864BE850}" srcOrd="1" destOrd="0" presId="urn:microsoft.com/office/officeart/2005/8/layout/hierarchy3"/>
    <dgm:cxn modelId="{EF800372-A6D0-4EE6-80CD-4DD574965517}" srcId="{91FA1A69-A19D-4AE5-B9F8-DA71E9B5785F}" destId="{D7617F6C-FA34-42D1-B61C-BBD0E99232E6}" srcOrd="1" destOrd="0" parTransId="{3EA8A353-6A56-47D6-BFF8-78002121511F}" sibTransId="{F2635F98-B163-427C-9D76-2D85165AFBAD}"/>
    <dgm:cxn modelId="{6B97924B-3C36-4E02-954F-0350BFF00168}" type="presParOf" srcId="{704A097E-5DA7-45AC-BA5D-200DE40563B9}" destId="{CE8428AA-5961-4E9C-92B6-B57A07722CA6}" srcOrd="0" destOrd="0" presId="urn:microsoft.com/office/officeart/2005/8/layout/hierarchy3"/>
    <dgm:cxn modelId="{B708C74A-545F-4E91-BCC0-40F86D941B7C}" type="presParOf" srcId="{CE8428AA-5961-4E9C-92B6-B57A07722CA6}" destId="{094B87ED-1A09-47B8-895E-3586D1D57A6A}" srcOrd="0" destOrd="0" presId="urn:microsoft.com/office/officeart/2005/8/layout/hierarchy3"/>
    <dgm:cxn modelId="{68BC2D71-2537-4007-B9B1-D998DDB85EE0}" type="presParOf" srcId="{094B87ED-1A09-47B8-895E-3586D1D57A6A}" destId="{CCB6D5B3-9405-4517-A2D0-EE555AA4779D}" srcOrd="0" destOrd="0" presId="urn:microsoft.com/office/officeart/2005/8/layout/hierarchy3"/>
    <dgm:cxn modelId="{B3C66DE5-05F8-4E0A-A953-0BA190ED46EE}" type="presParOf" srcId="{094B87ED-1A09-47B8-895E-3586D1D57A6A}" destId="{F47121B6-0DC7-4619-B1D3-EDC2BEBDAF3A}" srcOrd="1" destOrd="0" presId="urn:microsoft.com/office/officeart/2005/8/layout/hierarchy3"/>
    <dgm:cxn modelId="{62065B54-670D-42F3-A771-C35997E51404}" type="presParOf" srcId="{CE8428AA-5961-4E9C-92B6-B57A07722CA6}" destId="{82D1CD1A-E5CB-41C5-AE21-BAD30B931D12}" srcOrd="1" destOrd="0" presId="urn:microsoft.com/office/officeart/2005/8/layout/hierarchy3"/>
    <dgm:cxn modelId="{4B43FDC1-D912-4469-BBF5-0EDA5EE33CE0}" type="presParOf" srcId="{704A097E-5DA7-45AC-BA5D-200DE40563B9}" destId="{FC576EAC-F295-492C-A2C7-FB880664430D}" srcOrd="1" destOrd="0" presId="urn:microsoft.com/office/officeart/2005/8/layout/hierarchy3"/>
    <dgm:cxn modelId="{BAC1E21C-4B84-4BAB-8876-F1019FDB97E0}" type="presParOf" srcId="{FC576EAC-F295-492C-A2C7-FB880664430D}" destId="{6F9F219B-6405-4606-89D5-65848736C4B4}" srcOrd="0" destOrd="0" presId="urn:microsoft.com/office/officeart/2005/8/layout/hierarchy3"/>
    <dgm:cxn modelId="{4D617EDB-5F30-4DC2-9383-B455C05FC2C9}" type="presParOf" srcId="{6F9F219B-6405-4606-89D5-65848736C4B4}" destId="{0F8759AB-F1D3-4742-BF57-4037F868FB0B}" srcOrd="0" destOrd="0" presId="urn:microsoft.com/office/officeart/2005/8/layout/hierarchy3"/>
    <dgm:cxn modelId="{C5FA689C-72CA-4C7A-902B-37532E123726}" type="presParOf" srcId="{6F9F219B-6405-4606-89D5-65848736C4B4}" destId="{18CFF62F-B435-4832-90AC-F615864BE850}" srcOrd="1" destOrd="0" presId="urn:microsoft.com/office/officeart/2005/8/layout/hierarchy3"/>
    <dgm:cxn modelId="{2C4ECF86-7800-4C49-A607-1137062B0833}" type="presParOf" srcId="{FC576EAC-F295-492C-A2C7-FB880664430D}" destId="{87C0FCEF-2F48-4E52-8288-E5D5D4002EC6}"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072494" cy="2286016"/>
        <a:chOff x="0" y="0"/>
        <a:chExt cx="8072494" cy="2286016"/>
      </a:xfrm>
    </dsp:grpSpPr>
    <dsp:sp modelId="{927202BC-5D7A-4B32-9E7C-B75AA3057ABC}">
      <dsp:nvSpPr>
        <dsp:cNvPr id="3" name="燕尾形箭头 2"/>
        <dsp:cNvSpPr/>
      </dsp:nvSpPr>
      <dsp:spPr bwMode="white">
        <a:xfrm>
          <a:off x="0" y="685805"/>
          <a:ext cx="8072494" cy="914406"/>
        </a:xfrm>
        <a:prstGeom prst="notchedRightArrow">
          <a:avLst/>
        </a:prstGeom>
      </dsp:spPr>
      <dsp:style>
        <a:lnRef idx="2">
          <a:schemeClr val="accent5">
            <a:shade val="50000"/>
          </a:schemeClr>
        </a:lnRef>
        <a:fillRef idx="1">
          <a:schemeClr val="accent5"/>
        </a:fillRef>
        <a:effectRef idx="0">
          <a:schemeClr val="accent5"/>
        </a:effectRef>
        <a:fontRef idx="minor">
          <a:schemeClr val="lt1"/>
        </a:fontRef>
      </dsp:style>
      <dsp:txXfrm>
        <a:off x="0" y="685805"/>
        <a:ext cx="8072494" cy="914406"/>
      </dsp:txXfrm>
    </dsp:sp>
    <dsp:sp modelId="{16846D0D-CAC1-4820-8144-C3E87FEE31AC}">
      <dsp:nvSpPr>
        <dsp:cNvPr id="4" name="矩形 3"/>
        <dsp:cNvSpPr/>
      </dsp:nvSpPr>
      <dsp:spPr bwMode="white">
        <a:xfrm>
          <a:off x="0" y="0"/>
          <a:ext cx="1750661" cy="91440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9568" tIns="99568" rIns="99568" bIns="99568" anchor="b"/>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dirty="0" smtClean="0">
              <a:solidFill>
                <a:schemeClr val="tx1"/>
              </a:solidFill>
            </a:rPr>
            <a:t>(1)</a:t>
          </a:r>
          <a:r>
            <a:rPr lang="zh-CN" sz="1400" dirty="0" smtClean="0">
              <a:solidFill>
                <a:schemeClr val="tx1"/>
              </a:solidFill>
            </a:rPr>
            <a:t>具有独立功能的计算机、异地计算机都可以加入到计算机网络中。</a:t>
          </a:r>
          <a:endParaRPr lang="zh-CN" sz="1400" dirty="0">
            <a:solidFill>
              <a:schemeClr val="tx1"/>
            </a:solidFill>
          </a:endParaRPr>
        </a:p>
      </dsp:txBody>
      <dsp:txXfrm>
        <a:off x="0" y="0"/>
        <a:ext cx="1750661" cy="914406"/>
      </dsp:txXfrm>
    </dsp:sp>
    <dsp:sp modelId="{06FDD9DB-B691-4A41-AB1D-863FB7492C8E}">
      <dsp:nvSpPr>
        <dsp:cNvPr id="5" name="椭圆 4"/>
        <dsp:cNvSpPr/>
      </dsp:nvSpPr>
      <dsp:spPr bwMode="white">
        <a:xfrm>
          <a:off x="761030" y="1028707"/>
          <a:ext cx="228602" cy="228602"/>
        </a:xfrm>
        <a:prstGeom prst="ellipse">
          <a:avLst/>
        </a:prstGeom>
      </dsp:spPr>
      <dsp:style>
        <a:lnRef idx="2">
          <a:schemeClr val="lt1"/>
        </a:lnRef>
        <a:fillRef idx="1">
          <a:schemeClr val="accent2"/>
        </a:fillRef>
        <a:effectRef idx="0">
          <a:scrgbClr r="0" g="0" b="0"/>
        </a:effectRef>
        <a:fontRef idx="minor">
          <a:schemeClr val="lt1"/>
        </a:fontRef>
      </dsp:style>
      <dsp:txXfrm>
        <a:off x="761030" y="1028707"/>
        <a:ext cx="228602" cy="228602"/>
      </dsp:txXfrm>
    </dsp:sp>
    <dsp:sp modelId="{717A1287-CF49-4A9B-845C-B0BE9C67FAAC}">
      <dsp:nvSpPr>
        <dsp:cNvPr id="6" name="矩形 5"/>
        <dsp:cNvSpPr/>
      </dsp:nvSpPr>
      <dsp:spPr bwMode="white">
        <a:xfrm>
          <a:off x="1838194" y="1371610"/>
          <a:ext cx="1750661" cy="91440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9568" tIns="99568" rIns="99568" bIns="99568"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dirty="0" smtClean="0">
              <a:solidFill>
                <a:schemeClr val="tx1"/>
              </a:solidFill>
            </a:rPr>
            <a:t>(2)</a:t>
          </a:r>
          <a:r>
            <a:rPr lang="zh-CN" sz="1400" dirty="0" smtClean="0">
              <a:solidFill>
                <a:schemeClr val="tx1"/>
              </a:solidFill>
            </a:rPr>
            <a:t>计算机网络要借助线路和设备连接。</a:t>
          </a:r>
          <a:endParaRPr lang="zh-CN" sz="1400" dirty="0">
            <a:solidFill>
              <a:schemeClr val="tx1"/>
            </a:solidFill>
          </a:endParaRPr>
        </a:p>
      </dsp:txBody>
      <dsp:txXfrm>
        <a:off x="1838194" y="1371610"/>
        <a:ext cx="1750661" cy="914406"/>
      </dsp:txXfrm>
    </dsp:sp>
    <dsp:sp modelId="{63B896B7-D2D0-44C4-9F54-54A25E2A289A}">
      <dsp:nvSpPr>
        <dsp:cNvPr id="7" name="椭圆 6"/>
        <dsp:cNvSpPr/>
      </dsp:nvSpPr>
      <dsp:spPr bwMode="white">
        <a:xfrm>
          <a:off x="2599224" y="1028707"/>
          <a:ext cx="228602" cy="228602"/>
        </a:xfrm>
        <a:prstGeom prst="ellipse">
          <a:avLst/>
        </a:prstGeom>
      </dsp:spPr>
      <dsp:style>
        <a:lnRef idx="2">
          <a:schemeClr val="lt1"/>
        </a:lnRef>
        <a:fillRef idx="1">
          <a:schemeClr val="accent3"/>
        </a:fillRef>
        <a:effectRef idx="0">
          <a:scrgbClr r="0" g="0" b="0"/>
        </a:effectRef>
        <a:fontRef idx="minor">
          <a:schemeClr val="lt1"/>
        </a:fontRef>
      </dsp:style>
      <dsp:txXfrm>
        <a:off x="2599224" y="1028707"/>
        <a:ext cx="228602" cy="228602"/>
      </dsp:txXfrm>
    </dsp:sp>
    <dsp:sp modelId="{17F4D1B9-371B-401D-B41C-EC6F8B5637C4}">
      <dsp:nvSpPr>
        <dsp:cNvPr id="8" name="矩形 7"/>
        <dsp:cNvSpPr/>
      </dsp:nvSpPr>
      <dsp:spPr bwMode="white">
        <a:xfrm>
          <a:off x="3676389" y="0"/>
          <a:ext cx="1750661" cy="91440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9568" tIns="99568" rIns="99568" bIns="99568" anchor="b"/>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dirty="0" smtClean="0">
              <a:solidFill>
                <a:schemeClr val="tx1"/>
              </a:solidFill>
            </a:rPr>
            <a:t>(3)</a:t>
          </a:r>
          <a:r>
            <a:rPr lang="zh-CN" sz="1400" dirty="0" smtClean="0">
              <a:solidFill>
                <a:schemeClr val="tx1"/>
              </a:solidFill>
            </a:rPr>
            <a:t>计算机网络必须有网络操作系统、网络通信协议的支持。</a:t>
          </a:r>
          <a:endParaRPr lang="zh-CN" sz="1400" dirty="0">
            <a:solidFill>
              <a:schemeClr val="tx1"/>
            </a:solidFill>
          </a:endParaRPr>
        </a:p>
      </dsp:txBody>
      <dsp:txXfrm>
        <a:off x="3676389" y="0"/>
        <a:ext cx="1750661" cy="914406"/>
      </dsp:txXfrm>
    </dsp:sp>
    <dsp:sp modelId="{76C474EF-D23C-4D84-8FC4-A35EF84713AD}">
      <dsp:nvSpPr>
        <dsp:cNvPr id="9" name="椭圆 8"/>
        <dsp:cNvSpPr/>
      </dsp:nvSpPr>
      <dsp:spPr bwMode="white">
        <a:xfrm>
          <a:off x="4437419" y="1028707"/>
          <a:ext cx="228602" cy="228602"/>
        </a:xfrm>
        <a:prstGeom prst="ellipse">
          <a:avLst/>
        </a:prstGeom>
      </dsp:spPr>
      <dsp:style>
        <a:lnRef idx="2">
          <a:schemeClr val="lt1"/>
        </a:lnRef>
        <a:fillRef idx="1">
          <a:schemeClr val="accent4"/>
        </a:fillRef>
        <a:effectRef idx="0">
          <a:scrgbClr r="0" g="0" b="0"/>
        </a:effectRef>
        <a:fontRef idx="minor">
          <a:schemeClr val="lt1"/>
        </a:fontRef>
      </dsp:style>
      <dsp:txXfrm>
        <a:off x="4437419" y="1028707"/>
        <a:ext cx="228602" cy="228602"/>
      </dsp:txXfrm>
    </dsp:sp>
    <dsp:sp modelId="{E0A1ACFE-21DF-4E78-B805-D76CDE512952}">
      <dsp:nvSpPr>
        <dsp:cNvPr id="10" name="矩形 9"/>
        <dsp:cNvSpPr/>
      </dsp:nvSpPr>
      <dsp:spPr bwMode="white">
        <a:xfrm>
          <a:off x="5514583" y="1371610"/>
          <a:ext cx="1750661" cy="914406"/>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9568" tIns="99568" rIns="99568" bIns="99568" anchor="t"/>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dirty="0" smtClean="0">
              <a:solidFill>
                <a:schemeClr val="tx1"/>
              </a:solidFill>
            </a:rPr>
            <a:t>(4)</a:t>
          </a:r>
          <a:r>
            <a:rPr lang="zh-CN" sz="1400" dirty="0" smtClean="0">
              <a:solidFill>
                <a:schemeClr val="tx1"/>
              </a:solidFill>
            </a:rPr>
            <a:t>以资源共享为目标</a:t>
          </a:r>
          <a:endParaRPr lang="zh-CN" sz="1400" dirty="0">
            <a:solidFill>
              <a:schemeClr val="tx1"/>
            </a:solidFill>
          </a:endParaRPr>
        </a:p>
      </dsp:txBody>
      <dsp:txXfrm>
        <a:off x="5514583" y="1371610"/>
        <a:ext cx="1750661" cy="914406"/>
      </dsp:txXfrm>
    </dsp:sp>
    <dsp:sp modelId="{2E5916F5-49B8-45AC-AACF-3296290BD87A}">
      <dsp:nvSpPr>
        <dsp:cNvPr id="11" name="椭圆 10"/>
        <dsp:cNvSpPr/>
      </dsp:nvSpPr>
      <dsp:spPr bwMode="white">
        <a:xfrm>
          <a:off x="6275613" y="1028707"/>
          <a:ext cx="228602" cy="228602"/>
        </a:xfrm>
        <a:prstGeom prst="ellipse">
          <a:avLst/>
        </a:prstGeom>
      </dsp:spPr>
      <dsp:style>
        <a:lnRef idx="2">
          <a:schemeClr val="lt1"/>
        </a:lnRef>
        <a:fillRef idx="1">
          <a:schemeClr val="accent5"/>
        </a:fillRef>
        <a:effectRef idx="0">
          <a:scrgbClr r="0" g="0" b="0"/>
        </a:effectRef>
        <a:fontRef idx="minor">
          <a:schemeClr val="lt1"/>
        </a:fontRef>
      </dsp:style>
      <dsp:txXfrm>
        <a:off x="6275613" y="1028707"/>
        <a:ext cx="228602" cy="228602"/>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786742" cy="3818476"/>
        <a:chOff x="0" y="0"/>
        <a:chExt cx="7786742" cy="3818476"/>
      </a:xfrm>
    </dsp:grpSpPr>
    <dsp:sp modelId="{7521BD52-E2B8-4BCE-8166-FAE2AD52432B}">
      <dsp:nvSpPr>
        <dsp:cNvPr id="4" name="右箭头 3"/>
        <dsp:cNvSpPr/>
      </dsp:nvSpPr>
      <dsp:spPr bwMode="white">
        <a:xfrm>
          <a:off x="2289400" y="0"/>
          <a:ext cx="5497342" cy="707125"/>
        </a:xfrm>
        <a:prstGeom prst="rightArrow">
          <a:avLst>
            <a:gd name="adj1" fmla="val 75000"/>
            <a:gd name="adj2" fmla="val 50000"/>
          </a:avLst>
        </a:prstGeom>
      </dsp:spPr>
      <dsp:style>
        <a:lnRef idx="1">
          <a:schemeClr val="accent1"/>
        </a:lnRef>
        <a:fillRef idx="2">
          <a:schemeClr val="accent1"/>
        </a:fillRef>
        <a:effectRef idx="1">
          <a:schemeClr val="accent1"/>
        </a:effectRef>
        <a:fontRef idx="minor">
          <a:schemeClr val="dk1"/>
        </a:fontRef>
      </dsp:style>
      <dsp:txBody>
        <a:bodyPr lIns="10160" tIns="10160" rIns="10160" bIns="10160"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a:lnSpc>
              <a:spcPct val="100000"/>
            </a:lnSpc>
            <a:spcBef>
              <a:spcPct val="0"/>
            </a:spcBef>
            <a:spcAft>
              <a:spcPct val="15000"/>
            </a:spcAft>
            <a:buChar char="•"/>
          </a:pPr>
          <a:r>
            <a:rPr lang="zh-CN" dirty="0" smtClean="0">
              <a:solidFill>
                <a:schemeClr val="tx1"/>
              </a:solidFill>
            </a:rPr>
            <a:t>登录到互联网的每台计算机都有一个能标记其存在的唯一标识</a:t>
          </a:r>
          <a:r>
            <a:rPr lang="en-US" dirty="0" smtClean="0">
              <a:solidFill>
                <a:schemeClr val="tx1"/>
              </a:solidFill>
            </a:rPr>
            <a:t>,</a:t>
          </a:r>
          <a:r>
            <a:rPr lang="zh-CN" dirty="0" smtClean="0">
              <a:solidFill>
                <a:schemeClr val="tx1"/>
              </a:solidFill>
            </a:rPr>
            <a:t>这就是计算机的</a:t>
          </a:r>
          <a:r>
            <a:rPr lang="en-US" dirty="0" smtClean="0">
              <a:solidFill>
                <a:schemeClr val="tx1"/>
              </a:solidFill>
            </a:rPr>
            <a:t>IP</a:t>
          </a:r>
          <a:r>
            <a:rPr lang="zh-CN" dirty="0" smtClean="0">
              <a:solidFill>
                <a:schemeClr val="tx1"/>
              </a:solidFill>
            </a:rPr>
            <a:t>地址。</a:t>
          </a:r>
          <a:endParaRPr lang="zh-CN" altLang="en-US" dirty="0">
            <a:solidFill>
              <a:schemeClr val="tx1"/>
            </a:solidFill>
          </a:endParaRPr>
        </a:p>
      </dsp:txBody>
      <dsp:txXfrm>
        <a:off x="2289400" y="0"/>
        <a:ext cx="5497342" cy="707125"/>
      </dsp:txXfrm>
    </dsp:sp>
    <dsp:sp modelId="{A1311FCC-E043-4CDC-BD60-49A1FF9414F8}">
      <dsp:nvSpPr>
        <dsp:cNvPr id="3" name="圆角矩形 2"/>
        <dsp:cNvSpPr/>
      </dsp:nvSpPr>
      <dsp:spPr bwMode="white">
        <a:xfrm>
          <a:off x="0" y="0"/>
          <a:ext cx="2289400" cy="707125"/>
        </a:xfrm>
        <a:prstGeom prst="round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dirty="0" smtClean="0">
              <a:solidFill>
                <a:schemeClr val="tx1"/>
              </a:solidFill>
            </a:rPr>
            <a:t>1.IP</a:t>
          </a:r>
          <a:r>
            <a:rPr lang="zh-CN" sz="1800" dirty="0" smtClean="0">
              <a:solidFill>
                <a:schemeClr val="tx1"/>
              </a:solidFill>
            </a:rPr>
            <a:t>地址</a:t>
          </a:r>
          <a:endParaRPr lang="zh-CN" sz="1800" dirty="0">
            <a:solidFill>
              <a:schemeClr val="tx1"/>
            </a:solidFill>
          </a:endParaRPr>
        </a:p>
      </dsp:txBody>
      <dsp:txXfrm>
        <a:off x="0" y="0"/>
        <a:ext cx="2289400" cy="707125"/>
      </dsp:txXfrm>
    </dsp:sp>
    <dsp:sp modelId="{FB36419A-CCFA-4ED0-A33B-F7BF78F8D8C5}">
      <dsp:nvSpPr>
        <dsp:cNvPr id="6" name="右箭头 5"/>
        <dsp:cNvSpPr/>
      </dsp:nvSpPr>
      <dsp:spPr bwMode="white">
        <a:xfrm>
          <a:off x="2289400" y="777838"/>
          <a:ext cx="5497342" cy="707125"/>
        </a:xfrm>
        <a:prstGeom prst="rightArrow">
          <a:avLst>
            <a:gd name="adj1" fmla="val 75000"/>
            <a:gd name="adj2" fmla="val 50000"/>
          </a:avLst>
        </a:prstGeom>
      </dsp:spPr>
      <dsp:style>
        <a:lnRef idx="2">
          <a:schemeClr val="accent2">
            <a:shade val="50000"/>
          </a:schemeClr>
        </a:lnRef>
        <a:fillRef idx="1">
          <a:schemeClr val="accent2"/>
        </a:fillRef>
        <a:effectRef idx="0">
          <a:schemeClr val="accent2"/>
        </a:effectRef>
        <a:fontRef idx="minor">
          <a:schemeClr val="lt1"/>
        </a:fontRef>
      </dsp:style>
      <dsp:txBody>
        <a:bodyPr lIns="10160" tIns="10160" rIns="10160" bIns="10160"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rtl="0">
            <a:lnSpc>
              <a:spcPct val="100000"/>
            </a:lnSpc>
            <a:spcBef>
              <a:spcPct val="0"/>
            </a:spcBef>
            <a:spcAft>
              <a:spcPct val="15000"/>
            </a:spcAft>
            <a:buChar char="•"/>
          </a:pPr>
          <a:r>
            <a:rPr lang="en-US" smtClean="0">
              <a:solidFill>
                <a:schemeClr val="tx1"/>
              </a:solidFill>
            </a:rPr>
            <a:t>IP</a:t>
          </a:r>
          <a:r>
            <a:rPr lang="zh-CN" smtClean="0">
              <a:solidFill>
                <a:schemeClr val="tx1"/>
              </a:solidFill>
            </a:rPr>
            <a:t>地址的分配策略包括</a:t>
          </a:r>
          <a:r>
            <a:rPr lang="en-US" smtClean="0">
              <a:solidFill>
                <a:schemeClr val="tx1"/>
              </a:solidFill>
            </a:rPr>
            <a:t>IPv4</a:t>
          </a:r>
          <a:r>
            <a:rPr lang="zh-CN" smtClean="0">
              <a:solidFill>
                <a:schemeClr val="tx1"/>
              </a:solidFill>
            </a:rPr>
            <a:t>地址版本和</a:t>
          </a:r>
          <a:r>
            <a:rPr lang="en-US" smtClean="0">
              <a:solidFill>
                <a:schemeClr val="tx1"/>
              </a:solidFill>
            </a:rPr>
            <a:t>IPv6</a:t>
          </a:r>
          <a:r>
            <a:rPr lang="zh-CN" smtClean="0">
              <a:solidFill>
                <a:schemeClr val="tx1"/>
              </a:solidFill>
            </a:rPr>
            <a:t>地址版本。</a:t>
          </a:r>
          <a:endParaRPr lang="zh-CN" altLang="en-US">
            <a:solidFill>
              <a:schemeClr val="tx1"/>
            </a:solidFill>
          </a:endParaRPr>
        </a:p>
      </dsp:txBody>
      <dsp:txXfrm>
        <a:off x="2289400" y="777838"/>
        <a:ext cx="5497342" cy="707125"/>
      </dsp:txXfrm>
    </dsp:sp>
    <dsp:sp modelId="{4315C991-CB02-4AC3-8FC3-C57E9783F9F4}">
      <dsp:nvSpPr>
        <dsp:cNvPr id="5" name="圆角矩形 4"/>
        <dsp:cNvSpPr/>
      </dsp:nvSpPr>
      <dsp:spPr bwMode="white">
        <a:xfrm>
          <a:off x="0" y="777838"/>
          <a:ext cx="2289400" cy="707125"/>
        </a:xfrm>
        <a:prstGeom prst="roundRect">
          <a:avLst/>
        </a:prstGeom>
      </dsp:spPr>
      <dsp:style>
        <a:lnRef idx="2">
          <a:schemeClr val="lt1"/>
        </a:lnRef>
        <a:fillRef idx="1">
          <a:schemeClr val="accent2">
            <a:hueOff val="300000"/>
            <a:satOff val="3333"/>
            <a:lumOff val="-2058"/>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dirty="0" smtClean="0">
              <a:solidFill>
                <a:schemeClr val="tx1"/>
              </a:solidFill>
            </a:rPr>
            <a:t>2.IP</a:t>
          </a:r>
          <a:r>
            <a:rPr lang="zh-CN" sz="1800" dirty="0" smtClean="0">
              <a:solidFill>
                <a:schemeClr val="tx1"/>
              </a:solidFill>
            </a:rPr>
            <a:t>地址的分配策略</a:t>
          </a:r>
          <a:endParaRPr lang="zh-CN" sz="1800" dirty="0">
            <a:solidFill>
              <a:schemeClr val="tx1"/>
            </a:solidFill>
          </a:endParaRPr>
        </a:p>
      </dsp:txBody>
      <dsp:txXfrm>
        <a:off x="0" y="777838"/>
        <a:ext cx="2289400" cy="707125"/>
      </dsp:txXfrm>
    </dsp:sp>
    <dsp:sp modelId="{B44FBFC0-5BCC-4E78-919A-3D7F893FFD39}">
      <dsp:nvSpPr>
        <dsp:cNvPr id="8" name="右箭头 7"/>
        <dsp:cNvSpPr/>
      </dsp:nvSpPr>
      <dsp:spPr bwMode="white">
        <a:xfrm>
          <a:off x="2289400" y="1555675"/>
          <a:ext cx="5497342" cy="707125"/>
        </a:xfrm>
        <a:prstGeom prst="rightArrow">
          <a:avLst>
            <a:gd name="adj1" fmla="val 75000"/>
            <a:gd name="adj2" fmla="val 50000"/>
          </a:avLst>
        </a:prstGeom>
      </dsp:spPr>
      <dsp:style>
        <a:lnRef idx="2">
          <a:schemeClr val="accent4">
            <a:shade val="50000"/>
          </a:schemeClr>
        </a:lnRef>
        <a:fillRef idx="1">
          <a:schemeClr val="accent4"/>
        </a:fillRef>
        <a:effectRef idx="0">
          <a:schemeClr val="accent4"/>
        </a:effectRef>
        <a:fontRef idx="minor">
          <a:schemeClr val="lt1"/>
        </a:fontRef>
      </dsp:style>
      <dsp:txBody>
        <a:bodyPr lIns="10160" tIns="10160" rIns="10160" bIns="10160"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a:lnSpc>
              <a:spcPct val="100000"/>
            </a:lnSpc>
            <a:spcBef>
              <a:spcPct val="0"/>
            </a:spcBef>
            <a:spcAft>
              <a:spcPct val="15000"/>
            </a:spcAft>
            <a:buChar char="•"/>
          </a:pPr>
          <a:r>
            <a:rPr lang="en-US" dirty="0" smtClean="0">
              <a:solidFill>
                <a:schemeClr val="tx1"/>
              </a:solidFill>
            </a:rPr>
            <a:t>IPv4</a:t>
          </a:r>
          <a:r>
            <a:rPr lang="zh-CN" dirty="0" smtClean="0">
              <a:solidFill>
                <a:schemeClr val="tx1"/>
              </a:solidFill>
            </a:rPr>
            <a:t>版本的地址分配策略中</a:t>
          </a:r>
          <a:r>
            <a:rPr lang="en-US" dirty="0" smtClean="0">
              <a:solidFill>
                <a:schemeClr val="tx1"/>
              </a:solidFill>
            </a:rPr>
            <a:t>,</a:t>
          </a:r>
          <a:r>
            <a:rPr lang="zh-CN" dirty="0" smtClean="0">
              <a:solidFill>
                <a:schemeClr val="tx1"/>
              </a:solidFill>
            </a:rPr>
            <a:t>每个</a:t>
          </a:r>
          <a:r>
            <a:rPr lang="en-US" dirty="0" smtClean="0">
              <a:solidFill>
                <a:schemeClr val="tx1"/>
              </a:solidFill>
            </a:rPr>
            <a:t>IP</a:t>
          </a:r>
          <a:r>
            <a:rPr lang="zh-CN" dirty="0" smtClean="0">
              <a:solidFill>
                <a:schemeClr val="tx1"/>
              </a:solidFill>
            </a:rPr>
            <a:t>地址又分为网络号部分和主机号部分。</a:t>
          </a:r>
          <a:endParaRPr lang="zh-CN" altLang="en-US" dirty="0">
            <a:solidFill>
              <a:schemeClr val="tx1"/>
            </a:solidFill>
          </a:endParaRPr>
        </a:p>
      </dsp:txBody>
      <dsp:txXfrm>
        <a:off x="2289400" y="1555675"/>
        <a:ext cx="5497342" cy="707125"/>
      </dsp:txXfrm>
    </dsp:sp>
    <dsp:sp modelId="{0FC61576-816F-4002-885F-B6D12506DFC6}">
      <dsp:nvSpPr>
        <dsp:cNvPr id="7" name="圆角矩形 6"/>
        <dsp:cNvSpPr/>
      </dsp:nvSpPr>
      <dsp:spPr bwMode="white">
        <a:xfrm>
          <a:off x="0" y="1555675"/>
          <a:ext cx="2289400" cy="707125"/>
        </a:xfrm>
        <a:prstGeom prst="roundRect">
          <a:avLst/>
        </a:prstGeom>
      </dsp:spPr>
      <dsp:style>
        <a:lnRef idx="2">
          <a:schemeClr val="lt1"/>
        </a:lnRef>
        <a:fillRef idx="1">
          <a:schemeClr val="accent2">
            <a:hueOff val="600000"/>
            <a:satOff val="6667"/>
            <a:lumOff val="-4117"/>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dirty="0" smtClean="0">
              <a:solidFill>
                <a:schemeClr val="tx1"/>
              </a:solidFill>
            </a:rPr>
            <a:t>3.IP</a:t>
          </a:r>
          <a:r>
            <a:rPr lang="zh-CN" sz="1800" dirty="0" smtClean="0">
              <a:solidFill>
                <a:schemeClr val="tx1"/>
              </a:solidFill>
            </a:rPr>
            <a:t>地址的结构</a:t>
          </a:r>
          <a:endParaRPr lang="zh-CN" sz="1800" dirty="0">
            <a:solidFill>
              <a:schemeClr val="tx1"/>
            </a:solidFill>
          </a:endParaRPr>
        </a:p>
      </dsp:txBody>
      <dsp:txXfrm>
        <a:off x="0" y="1555675"/>
        <a:ext cx="2289400" cy="707125"/>
      </dsp:txXfrm>
    </dsp:sp>
    <dsp:sp modelId="{A4AA373B-C6DE-4237-96C4-2E721264E95D}">
      <dsp:nvSpPr>
        <dsp:cNvPr id="10" name="右箭头 9"/>
        <dsp:cNvSpPr/>
      </dsp:nvSpPr>
      <dsp:spPr bwMode="white">
        <a:xfrm>
          <a:off x="2289400" y="2333513"/>
          <a:ext cx="5497342" cy="707125"/>
        </a:xfrm>
        <a:prstGeom prst="rightArrow">
          <a:avLst>
            <a:gd name="adj1" fmla="val 75000"/>
            <a:gd name="adj2" fmla="val 50000"/>
          </a:avLst>
        </a:prstGeom>
      </dsp:spPr>
      <dsp:style>
        <a:lnRef idx="1">
          <a:schemeClr val="dk1"/>
        </a:lnRef>
        <a:fillRef idx="2">
          <a:schemeClr val="dk1"/>
        </a:fillRef>
        <a:effectRef idx="1">
          <a:schemeClr val="dk1"/>
        </a:effectRef>
        <a:fontRef idx="minor">
          <a:schemeClr val="dk1"/>
        </a:fontRef>
      </dsp:style>
      <dsp:txBody>
        <a:bodyPr lIns="10160" tIns="10160" rIns="10160" bIns="10160"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rtl="0">
            <a:lnSpc>
              <a:spcPct val="100000"/>
            </a:lnSpc>
            <a:spcBef>
              <a:spcPct val="0"/>
            </a:spcBef>
            <a:spcAft>
              <a:spcPct val="15000"/>
            </a:spcAft>
            <a:buChar char="•"/>
          </a:pPr>
          <a:r>
            <a:rPr lang="zh-CN" smtClean="0">
              <a:solidFill>
                <a:schemeClr val="tx1"/>
              </a:solidFill>
            </a:rPr>
            <a:t>网关</a:t>
          </a:r>
          <a:r>
            <a:rPr lang="en-US" smtClean="0">
              <a:solidFill>
                <a:schemeClr val="tx1"/>
              </a:solidFill>
            </a:rPr>
            <a:t>(Gateway)</a:t>
          </a:r>
          <a:r>
            <a:rPr lang="zh-CN" smtClean="0">
              <a:solidFill>
                <a:schemeClr val="tx1"/>
              </a:solidFill>
            </a:rPr>
            <a:t>又称为网间连接器或协议转换器。</a:t>
          </a:r>
          <a:endParaRPr lang="zh-CN" altLang="en-US">
            <a:solidFill>
              <a:schemeClr val="tx1"/>
            </a:solidFill>
          </a:endParaRPr>
        </a:p>
      </dsp:txBody>
      <dsp:txXfrm>
        <a:off x="2289400" y="2333513"/>
        <a:ext cx="5497342" cy="707125"/>
      </dsp:txXfrm>
    </dsp:sp>
    <dsp:sp modelId="{C7F92E3D-4365-4508-AA41-FB5B485B214C}">
      <dsp:nvSpPr>
        <dsp:cNvPr id="9" name="圆角矩形 8"/>
        <dsp:cNvSpPr/>
      </dsp:nvSpPr>
      <dsp:spPr bwMode="white">
        <a:xfrm>
          <a:off x="0" y="2333513"/>
          <a:ext cx="2289400" cy="707125"/>
        </a:xfrm>
        <a:prstGeom prst="roundRect">
          <a:avLst/>
        </a:prstGeom>
      </dsp:spPr>
      <dsp:style>
        <a:lnRef idx="2">
          <a:schemeClr val="lt1"/>
        </a:lnRef>
        <a:fillRef idx="1">
          <a:schemeClr val="accent2">
            <a:hueOff val="900000"/>
            <a:satOff val="10000"/>
            <a:lumOff val="-6175"/>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dirty="0" smtClean="0">
              <a:solidFill>
                <a:schemeClr val="tx1"/>
              </a:solidFill>
            </a:rPr>
            <a:t>4.</a:t>
          </a:r>
          <a:r>
            <a:rPr lang="zh-CN" sz="1800" dirty="0" smtClean="0">
              <a:solidFill>
                <a:schemeClr val="tx1"/>
              </a:solidFill>
            </a:rPr>
            <a:t>网关</a:t>
          </a:r>
          <a:endParaRPr lang="zh-CN" sz="1800" dirty="0">
            <a:solidFill>
              <a:schemeClr val="tx1"/>
            </a:solidFill>
          </a:endParaRPr>
        </a:p>
      </dsp:txBody>
      <dsp:txXfrm>
        <a:off x="0" y="2333513"/>
        <a:ext cx="2289400" cy="707125"/>
      </dsp:txXfrm>
    </dsp:sp>
    <dsp:sp modelId="{608FBDA6-2126-4D32-9145-4BE68CEE310E}">
      <dsp:nvSpPr>
        <dsp:cNvPr id="12" name="右箭头 11"/>
        <dsp:cNvSpPr/>
      </dsp:nvSpPr>
      <dsp:spPr bwMode="white">
        <a:xfrm>
          <a:off x="2289400" y="3111351"/>
          <a:ext cx="5497342" cy="707125"/>
        </a:xfrm>
        <a:prstGeom prst="rightArrow">
          <a:avLst>
            <a:gd name="adj1" fmla="val 75000"/>
            <a:gd name="adj2" fmla="val 50000"/>
          </a:avLst>
        </a:prstGeom>
      </dsp:spPr>
      <dsp:style>
        <a:lnRef idx="2">
          <a:schemeClr val="accent1">
            <a:shade val="50000"/>
          </a:schemeClr>
        </a:lnRef>
        <a:fillRef idx="1">
          <a:schemeClr val="accent1"/>
        </a:fillRef>
        <a:effectRef idx="0">
          <a:schemeClr val="accent1"/>
        </a:effectRef>
        <a:fontRef idx="minor">
          <a:schemeClr val="lt1"/>
        </a:fontRef>
      </dsp:style>
      <dsp:txBody>
        <a:bodyPr lIns="10160" tIns="10160" rIns="10160" bIns="10160"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rtl="0">
            <a:lnSpc>
              <a:spcPct val="100000"/>
            </a:lnSpc>
            <a:spcBef>
              <a:spcPct val="0"/>
            </a:spcBef>
            <a:spcAft>
              <a:spcPct val="15000"/>
            </a:spcAft>
            <a:buChar char="•"/>
          </a:pPr>
          <a:r>
            <a:rPr lang="zh-CN" dirty="0" smtClean="0">
              <a:solidFill>
                <a:schemeClr val="tx1"/>
              </a:solidFill>
            </a:rPr>
            <a:t>由于</a:t>
          </a:r>
          <a:r>
            <a:rPr lang="en-US" dirty="0" smtClean="0">
              <a:solidFill>
                <a:schemeClr val="tx1"/>
              </a:solidFill>
            </a:rPr>
            <a:t>IP</a:t>
          </a:r>
          <a:r>
            <a:rPr lang="zh-CN" dirty="0" smtClean="0">
              <a:solidFill>
                <a:schemeClr val="tx1"/>
              </a:solidFill>
            </a:rPr>
            <a:t>地址的资源有限</a:t>
          </a:r>
          <a:r>
            <a:rPr lang="en-US" dirty="0" smtClean="0">
              <a:solidFill>
                <a:schemeClr val="tx1"/>
              </a:solidFill>
            </a:rPr>
            <a:t>,</a:t>
          </a:r>
          <a:r>
            <a:rPr lang="zh-CN" dirty="0" smtClean="0">
              <a:solidFill>
                <a:schemeClr val="tx1"/>
              </a:solidFill>
            </a:rPr>
            <a:t>当一个局域网分配到一个</a:t>
          </a:r>
          <a:r>
            <a:rPr lang="en-US" dirty="0" smtClean="0">
              <a:solidFill>
                <a:schemeClr val="tx1"/>
              </a:solidFill>
            </a:rPr>
            <a:t>IP</a:t>
          </a:r>
          <a:r>
            <a:rPr lang="zh-CN" dirty="0" smtClean="0">
              <a:solidFill>
                <a:schemeClr val="tx1"/>
              </a:solidFill>
            </a:rPr>
            <a:t>地址后</a:t>
          </a:r>
          <a:r>
            <a:rPr lang="en-US" dirty="0" smtClean="0">
              <a:solidFill>
                <a:schemeClr val="tx1"/>
              </a:solidFill>
            </a:rPr>
            <a:t>,</a:t>
          </a:r>
          <a:r>
            <a:rPr lang="zh-CN" dirty="0" smtClean="0">
              <a:solidFill>
                <a:schemeClr val="tx1"/>
              </a:solidFill>
            </a:rPr>
            <a:t>需要为局域网中的计算机分配子网掩码。</a:t>
          </a:r>
          <a:endParaRPr lang="zh-CN" altLang="en-US" dirty="0">
            <a:solidFill>
              <a:schemeClr val="tx1"/>
            </a:solidFill>
          </a:endParaRPr>
        </a:p>
      </dsp:txBody>
      <dsp:txXfrm>
        <a:off x="2289400" y="3111351"/>
        <a:ext cx="5497342" cy="707125"/>
      </dsp:txXfrm>
    </dsp:sp>
    <dsp:sp modelId="{1E42A3F9-F743-482B-88B1-496050CC6EC1}">
      <dsp:nvSpPr>
        <dsp:cNvPr id="11" name="圆角矩形 10"/>
        <dsp:cNvSpPr/>
      </dsp:nvSpPr>
      <dsp:spPr bwMode="white">
        <a:xfrm>
          <a:off x="0" y="3111351"/>
          <a:ext cx="2289400" cy="707125"/>
        </a:xfrm>
        <a:prstGeom prst="roundRect">
          <a:avLst/>
        </a:prstGeom>
      </dsp:spPr>
      <dsp:style>
        <a:lnRef idx="2">
          <a:schemeClr val="lt1"/>
        </a:lnRef>
        <a:fillRef idx="1">
          <a:schemeClr val="accent2">
            <a:hueOff val="1200000"/>
            <a:satOff val="13333"/>
            <a:lumOff val="-8234"/>
            <a:alpha val="100000"/>
          </a:schemeClr>
        </a:fillRef>
        <a:effectRef idx="0">
          <a:scrgbClr r="0" g="0" b="0"/>
        </a:effectRef>
        <a:fontRef idx="minor">
          <a:schemeClr val="lt1"/>
        </a:fontRef>
      </dsp:style>
      <dsp:txBody>
        <a:bodyPr lIns="68580" tIns="34290" rIns="68580" bIns="342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sz="1800" dirty="0" smtClean="0">
              <a:solidFill>
                <a:schemeClr val="tx1"/>
              </a:solidFill>
            </a:rPr>
            <a:t>5.</a:t>
          </a:r>
          <a:r>
            <a:rPr lang="zh-CN" sz="1800" dirty="0" smtClean="0">
              <a:solidFill>
                <a:schemeClr val="tx1"/>
              </a:solidFill>
            </a:rPr>
            <a:t>子网掩码</a:t>
          </a:r>
          <a:endParaRPr lang="zh-CN" sz="1800" dirty="0">
            <a:solidFill>
              <a:schemeClr val="tx1"/>
            </a:solidFill>
          </a:endParaRPr>
        </a:p>
      </dsp:txBody>
      <dsp:txXfrm>
        <a:off x="0" y="3111351"/>
        <a:ext cx="2289400" cy="707125"/>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643602" cy="1357322"/>
        <a:chOff x="0" y="0"/>
        <a:chExt cx="5643602" cy="1357322"/>
      </a:xfrm>
    </dsp:grpSpPr>
    <dsp:sp modelId="{CCB6D5B3-9405-4517-A2D0-EE555AA4779D}">
      <dsp:nvSpPr>
        <dsp:cNvPr id="3" name="圆角矩形 2"/>
        <dsp:cNvSpPr/>
      </dsp:nvSpPr>
      <dsp:spPr bwMode="white">
        <a:xfrm>
          <a:off x="0" y="51594"/>
          <a:ext cx="2508268" cy="1254134"/>
        </a:xfrm>
        <a:prstGeom prst="roundRect">
          <a:avLst>
            <a:gd name="adj" fmla="val 10000"/>
          </a:avLst>
        </a:prstGeom>
      </dsp:spPr>
      <dsp:style>
        <a:lnRef idx="2">
          <a:schemeClr val="lt1"/>
        </a:lnRef>
        <a:fillRef idx="1">
          <a:schemeClr val="accent4">
            <a:hueOff val="0"/>
            <a:satOff val="0"/>
            <a:lumOff val="0"/>
            <a:alpha val="100000"/>
          </a:schemeClr>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smtClean="0">
              <a:solidFill>
                <a:schemeClr val="tx1"/>
              </a:solidFill>
            </a:rPr>
            <a:t>1.ping</a:t>
          </a:r>
          <a:r>
            <a:rPr lang="zh-CN" sz="2400" smtClean="0">
              <a:solidFill>
                <a:schemeClr val="tx1"/>
              </a:solidFill>
            </a:rPr>
            <a:t>命令 </a:t>
          </a:r>
          <a:endParaRPr lang="zh-CN" sz="2400" dirty="0">
            <a:solidFill>
              <a:schemeClr val="tx1"/>
            </a:solidFill>
          </a:endParaRPr>
        </a:p>
      </dsp:txBody>
      <dsp:txXfrm>
        <a:off x="0" y="51594"/>
        <a:ext cx="2508268" cy="1254134"/>
      </dsp:txXfrm>
    </dsp:sp>
    <dsp:sp modelId="{0F8759AB-F1D3-4742-BF57-4037F868FB0B}">
      <dsp:nvSpPr>
        <dsp:cNvPr id="5" name="圆角矩形 4"/>
        <dsp:cNvSpPr/>
      </dsp:nvSpPr>
      <dsp:spPr bwMode="white">
        <a:xfrm>
          <a:off x="3135334" y="51594"/>
          <a:ext cx="2508268" cy="1254134"/>
        </a:xfrm>
        <a:prstGeom prst="roundRect">
          <a:avLst>
            <a:gd name="adj" fmla="val 10000"/>
          </a:avLst>
        </a:prstGeom>
      </dsp:spPr>
      <dsp:style>
        <a:lnRef idx="2">
          <a:schemeClr val="lt1"/>
        </a:lnRef>
        <a:fillRef idx="1">
          <a:schemeClr val="accent4">
            <a:hueOff val="4800000"/>
            <a:satOff val="11765"/>
            <a:lumOff val="-3136"/>
            <a:alpha val="100000"/>
          </a:schemeClr>
        </a:fillRef>
        <a:effectRef idx="0">
          <a:scrgbClr r="0" g="0" b="0"/>
        </a:effectRef>
        <a:fontRef idx="minor">
          <a:schemeClr val="lt1"/>
        </a:fontRef>
      </dsp:style>
      <dsp:txBody>
        <a:bodyPr lIns="45719" tIns="30480" rIns="45719" bIns="304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smtClean="0">
              <a:solidFill>
                <a:schemeClr val="tx1"/>
              </a:solidFill>
            </a:rPr>
            <a:t>2.ipconfig</a:t>
          </a:r>
          <a:r>
            <a:rPr lang="zh-CN" sz="2400" smtClean="0">
              <a:solidFill>
                <a:schemeClr val="tx1"/>
              </a:solidFill>
            </a:rPr>
            <a:t>命令 </a:t>
          </a:r>
          <a:endParaRPr lang="zh-CN" sz="2400" dirty="0">
            <a:solidFill>
              <a:schemeClr val="tx1"/>
            </a:solidFill>
          </a:endParaRPr>
        </a:p>
      </dsp:txBody>
      <dsp:txXfrm>
        <a:off x="3135334" y="51594"/>
        <a:ext cx="2508268" cy="1254134"/>
      </dsp:txXfrm>
    </dsp:sp>
    <dsp:sp modelId="{F47121B6-0DC7-4619-B1D3-EDC2BEBDAF3A}">
      <dsp:nvSpPr>
        <dsp:cNvPr id="4" name="圆角矩形 3" hidden="1"/>
        <dsp:cNvSpPr/>
      </dsp:nvSpPr>
      <dsp:spPr>
        <a:xfrm>
          <a:off x="0" y="51594"/>
          <a:ext cx="501654" cy="1254134"/>
        </a:xfrm>
        <a:prstGeom prst="roundRect">
          <a:avLst>
            <a:gd name="adj" fmla="val 10000"/>
          </a:avLst>
        </a:prstGeom>
      </dsp:spPr>
      <dsp:txXfrm>
        <a:off x="0" y="51594"/>
        <a:ext cx="501654" cy="1254134"/>
      </dsp:txXfrm>
    </dsp:sp>
    <dsp:sp modelId="{18CFF62F-B435-4832-90AC-F615864BE850}">
      <dsp:nvSpPr>
        <dsp:cNvPr id="6" name="圆角矩形 5" hidden="1"/>
        <dsp:cNvSpPr/>
      </dsp:nvSpPr>
      <dsp:spPr>
        <a:xfrm>
          <a:off x="3135334" y="51594"/>
          <a:ext cx="501654" cy="1254134"/>
        </a:xfrm>
        <a:prstGeom prst="roundRect">
          <a:avLst>
            <a:gd name="adj" fmla="val 10000"/>
          </a:avLst>
        </a:prstGeom>
      </dsp:spPr>
      <dsp:txXfrm>
        <a:off x="3135334" y="51594"/>
        <a:ext cx="501654" cy="12541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type="notchedRightArrow" r:blip="" rot="180">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HorzCh" val="ctr"/>
                  <dgm:param type="txAnchorVertCh" val="b"/>
                  <dgm:param type="txAnchorVert" val="b"/>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HorzCh" val="ctr"/>
                  <dgm:param type="txAnchorVertCh" val="t"/>
                  <dgm:param type="txAnchorVert" val="t"/>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linDir" val="fromT"/>
              <dgm:param type="chAlign" val="l"/>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srcNode" val="rootConnector"/>
                        <dgm:param type="dim" val="1D"/>
                        <dgm:param type="endSty" val="noArr"/>
                        <dgm:param type="connRout" val="bend"/>
                        <dgm:param type="begPts" val="bCtr"/>
                        <dgm:param type="endPts" val="midL"/>
                      </dgm:alg>
                    </dgm:if>
                    <dgm:else name="Name16">
                      <dgm:alg type="conn">
                        <dgm:param type="srcNode" val="rootConnector"/>
                        <dgm:param type="dim" val="1D"/>
                        <dgm:param type="endSty" val="noArr"/>
                        <dgm:param type="connRout" val="bend"/>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2.xml"/><Relationship Id="rId7" Type="http://schemas.openxmlformats.org/officeDocument/2006/relationships/diagramColors" Target="../diagrams/colors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4.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3.xml"/><Relationship Id="rId7" Type="http://schemas.openxmlformats.org/officeDocument/2006/relationships/diagramColors" Target="../diagrams/colors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microsoft.com/office/2007/relationships/diagramDrawing" Target="../diagrams/drawing4.xml"/><Relationship Id="rId7" Type="http://schemas.openxmlformats.org/officeDocument/2006/relationships/diagramColors" Target="../diagrams/colors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19103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8" name="6A0.EPS" descr="id:2147496029;FounderCES"/>
          <p:cNvPicPr/>
          <p:nvPr/>
        </p:nvPicPr>
        <p:blipFill>
          <a:blip r:embed="rId2"/>
          <a:stretch>
            <a:fillRect/>
          </a:stretch>
        </p:blipFill>
        <p:spPr>
          <a:xfrm>
            <a:off x="3167042" y="1285860"/>
            <a:ext cx="6429420" cy="5143536"/>
          </a:xfrm>
          <a:prstGeom prst="rect">
            <a:avLst/>
          </a:prstGeom>
        </p:spPr>
        <p:style>
          <a:lnRef idx="1">
            <a:schemeClr val="accent1"/>
          </a:lnRef>
          <a:fillRef idx="2">
            <a:schemeClr val="accent1"/>
          </a:fillRef>
          <a:effectRef idx="1">
            <a:schemeClr val="accent1"/>
          </a:effectRef>
          <a:fontRef idx="minor">
            <a:schemeClr val="dk1"/>
          </a:fontRef>
        </p:style>
      </p:pic>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4" cstate="print"/>
          <a:srcRect/>
          <a:stretch>
            <a:fillRect/>
          </a:stretch>
        </p:blipFill>
        <p:spPr bwMode="auto">
          <a:xfrm>
            <a:off x="1524000" y="0"/>
            <a:ext cx="180975" cy="104775"/>
          </a:xfrm>
          <a:prstGeom prst="rect">
            <a:avLst/>
          </a:prstGeom>
          <a:noFill/>
        </p:spPr>
      </p:pic>
      <p:pic>
        <p:nvPicPr>
          <p:cNvPr id="7" name="知识导论.EPS" descr="id:2147496022;FounderCES"/>
          <p:cNvPicPr/>
          <p:nvPr/>
        </p:nvPicPr>
        <p:blipFill>
          <a:blip r:embed="rId5"/>
          <a:stretch>
            <a:fillRect/>
          </a:stretch>
        </p:blipFill>
        <p:spPr>
          <a:xfrm>
            <a:off x="1881158" y="1857364"/>
            <a:ext cx="1785950" cy="642942"/>
          </a:xfrm>
          <a:prstGeom prst="rect">
            <a:avLst/>
          </a:prstGeom>
        </p:spPr>
        <p:style>
          <a:lnRef idx="1">
            <a:schemeClr val="accent1"/>
          </a:lnRef>
          <a:fillRef idx="2">
            <a:schemeClr val="accent1"/>
          </a:fillRef>
          <a:effectRef idx="1">
            <a:schemeClr val="accent1"/>
          </a:effectRef>
          <a:fontRef idx="minor">
            <a:schemeClr val="dk1"/>
          </a:fontRef>
        </p:style>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6.1</a:t>
            </a:r>
            <a:r>
              <a:rPr lang="zh-CN" altLang="en-US" dirty="0" smtClean="0"/>
              <a:t>　计算机网络的基本概念</a:t>
            </a:r>
            <a:endParaRPr lang="en-US" altLang="zh-CN" dirty="0" smtClean="0"/>
          </a:p>
          <a:p>
            <a:pPr>
              <a:lnSpc>
                <a:spcPct val="150000"/>
              </a:lnSpc>
            </a:pPr>
            <a:endParaRPr lang="en-US" altLang="zh-CN" sz="2000" dirty="0" smtClean="0"/>
          </a:p>
          <a:p>
            <a:pPr>
              <a:lnSpc>
                <a:spcPct val="150000"/>
              </a:lnSpc>
            </a:pPr>
            <a:endParaRPr lang="zh-CN" altLang="en-US" sz="2000" dirty="0" smtClean="0"/>
          </a:p>
          <a:p>
            <a:pPr>
              <a:lnSpc>
                <a:spcPct val="110000"/>
              </a:lnSpc>
              <a:buNone/>
            </a:pPr>
            <a:r>
              <a:rPr lang="en-US" sz="2000" dirty="0" smtClean="0"/>
              <a:t>※ </a:t>
            </a:r>
            <a:r>
              <a:rPr lang="zh-CN" altLang="en-US" sz="2000" dirty="0" smtClean="0"/>
              <a:t>了解网络的形成与发展</a:t>
            </a:r>
            <a:r>
              <a:rPr lang="en-US" sz="2000" dirty="0" smtClean="0"/>
              <a:t>;</a:t>
            </a:r>
            <a:endParaRPr lang="zh-CN" altLang="en-US" sz="2000" dirty="0" smtClean="0"/>
          </a:p>
          <a:p>
            <a:pPr>
              <a:lnSpc>
                <a:spcPct val="110000"/>
              </a:lnSpc>
              <a:buNone/>
            </a:pPr>
            <a:r>
              <a:rPr lang="en-US" sz="2000" dirty="0" smtClean="0"/>
              <a:t>※ </a:t>
            </a:r>
            <a:r>
              <a:rPr lang="zh-CN" altLang="en-US" sz="2000" dirty="0" smtClean="0"/>
              <a:t>了解网络按覆盖范围的基本分类</a:t>
            </a:r>
            <a:r>
              <a:rPr lang="en-US" sz="2000" dirty="0" smtClean="0"/>
              <a:t>;</a:t>
            </a:r>
            <a:endParaRPr lang="zh-CN" altLang="en-US" sz="2000" dirty="0" smtClean="0"/>
          </a:p>
          <a:p>
            <a:pPr>
              <a:lnSpc>
                <a:spcPct val="110000"/>
              </a:lnSpc>
              <a:buNone/>
            </a:pPr>
            <a:r>
              <a:rPr lang="en-US" sz="2000" dirty="0" smtClean="0"/>
              <a:t>※ </a:t>
            </a:r>
            <a:r>
              <a:rPr lang="zh-CN" altLang="en-US" sz="2000" dirty="0" smtClean="0"/>
              <a:t>了解常见的网络拓扑结构</a:t>
            </a:r>
            <a:r>
              <a:rPr lang="en-US" sz="2000" dirty="0" smtClean="0"/>
              <a:t>;</a:t>
            </a:r>
            <a:endParaRPr lang="zh-CN" altLang="en-US" sz="2000" dirty="0" smtClean="0"/>
          </a:p>
          <a:p>
            <a:pPr>
              <a:lnSpc>
                <a:spcPct val="110000"/>
              </a:lnSpc>
              <a:buNone/>
            </a:pPr>
            <a:r>
              <a:rPr lang="en-US" sz="2000" dirty="0" smtClean="0"/>
              <a:t>※ </a:t>
            </a:r>
            <a:r>
              <a:rPr lang="zh-CN" altLang="en-US" sz="2000" dirty="0" smtClean="0"/>
              <a:t>理解网络协议的基本概念</a:t>
            </a:r>
            <a:r>
              <a:rPr lang="en-US" sz="2000" dirty="0" smtClean="0"/>
              <a:t>;</a:t>
            </a:r>
            <a:endParaRPr lang="zh-CN" altLang="en-US" sz="2000" dirty="0" smtClean="0"/>
          </a:p>
          <a:p>
            <a:pPr>
              <a:lnSpc>
                <a:spcPct val="110000"/>
              </a:lnSpc>
              <a:buNone/>
            </a:pPr>
            <a:r>
              <a:rPr lang="en-US" sz="2000" dirty="0" smtClean="0"/>
              <a:t>※ </a:t>
            </a:r>
            <a:r>
              <a:rPr lang="zh-CN" altLang="en-US" sz="2000" dirty="0" smtClean="0"/>
              <a:t>了解局域网的功能与特点</a:t>
            </a:r>
            <a:r>
              <a:rPr lang="en-US" sz="2000" dirty="0" smtClean="0"/>
              <a:t>;</a:t>
            </a:r>
            <a:endParaRPr lang="zh-CN" altLang="en-US" sz="2000" dirty="0" smtClean="0"/>
          </a:p>
          <a:p>
            <a:pPr>
              <a:lnSpc>
                <a:spcPct val="110000"/>
              </a:lnSpc>
              <a:buNone/>
            </a:pPr>
            <a:r>
              <a:rPr lang="en-US" sz="2000" dirty="0" smtClean="0"/>
              <a:t>※ </a:t>
            </a:r>
            <a:r>
              <a:rPr lang="zh-CN" altLang="en-US" sz="2000" dirty="0" smtClean="0"/>
              <a:t>理解局域网的基本组成</a:t>
            </a:r>
            <a:r>
              <a:rPr lang="en-US" sz="2000" dirty="0" smtClean="0"/>
              <a:t>; </a:t>
            </a:r>
            <a:endParaRPr lang="zh-CN" altLang="en-US" sz="2000" dirty="0" smtClean="0"/>
          </a:p>
          <a:p>
            <a:pPr>
              <a:lnSpc>
                <a:spcPct val="110000"/>
              </a:lnSpc>
              <a:buNone/>
            </a:pPr>
            <a:r>
              <a:rPr lang="en-US" sz="2000" dirty="0" smtClean="0"/>
              <a:t>※ </a:t>
            </a:r>
            <a:r>
              <a:rPr lang="zh-CN" altLang="en-US" sz="2000" dirty="0" smtClean="0"/>
              <a:t>了解广域网的概念和基本组成</a:t>
            </a:r>
            <a:r>
              <a:rPr lang="en-US" sz="2000" dirty="0" smtClean="0"/>
              <a:t>;</a:t>
            </a:r>
            <a:endParaRPr lang="zh-CN" altLang="en-US" sz="2000" dirty="0" smtClean="0"/>
          </a:p>
          <a:p>
            <a:pPr>
              <a:lnSpc>
                <a:spcPct val="110000"/>
              </a:lnSpc>
              <a:buNone/>
            </a:pPr>
            <a:r>
              <a:rPr lang="en-US" sz="2000" dirty="0" smtClean="0"/>
              <a:t>※ </a:t>
            </a:r>
            <a:r>
              <a:rPr lang="zh-CN" altLang="en-US" sz="2000" dirty="0" smtClean="0"/>
              <a:t>熟练掌握设置共享资源的基本操作</a:t>
            </a:r>
            <a:r>
              <a:rPr lang="en-US" sz="2000" dirty="0" smtClean="0"/>
              <a:t>;</a:t>
            </a:r>
            <a:endParaRPr lang="zh-CN" altLang="en-US" sz="2000" dirty="0"/>
          </a:p>
        </p:txBody>
      </p:sp>
      <p:pic>
        <p:nvPicPr>
          <p:cNvPr id="6" name="学习目标.EPS" descr="id:2147496044;FounderCES"/>
          <p:cNvPicPr/>
          <p:nvPr/>
        </p:nvPicPr>
        <p:blipFill>
          <a:blip r:embed="rId4"/>
          <a:stretch>
            <a:fillRect/>
          </a:stretch>
        </p:blipFill>
        <p:spPr>
          <a:xfrm>
            <a:off x="2309786" y="2357430"/>
            <a:ext cx="1857388" cy="5715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6.1.1</a:t>
            </a:r>
            <a:r>
              <a:rPr lang="zh-CN" altLang="en-US" sz="2000" dirty="0" smtClean="0"/>
              <a:t>　网络的形成与发展</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计算机网络的概念    计算机网络是将处于不同地点的、具有独立功能的计算机</a:t>
            </a:r>
            <a:r>
              <a:rPr lang="en-US" sz="2000" dirty="0" smtClean="0"/>
              <a:t>,</a:t>
            </a:r>
            <a:r>
              <a:rPr lang="zh-CN" altLang="en-US" sz="2000" dirty="0" smtClean="0"/>
              <a:t>通过通信线路和通信设备连接起来</a:t>
            </a:r>
            <a:r>
              <a:rPr lang="en-US" sz="2000" dirty="0" smtClean="0"/>
              <a:t>,</a:t>
            </a:r>
            <a:r>
              <a:rPr lang="zh-CN" altLang="en-US" sz="2000" dirty="0" smtClean="0"/>
              <a:t>在网络软件的控制下实现数据通信、资源共享和分布式处理的系统。</a:t>
            </a:r>
            <a:endParaRPr lang="zh-CN" altLang="en-US" sz="2000" dirty="0" smtClean="0"/>
          </a:p>
          <a:p>
            <a:pPr>
              <a:lnSpc>
                <a:spcPct val="150000"/>
              </a:lnSpc>
              <a:buNone/>
            </a:pPr>
            <a:r>
              <a:rPr lang="zh-CN" altLang="en-US" sz="2000" dirty="0" smtClean="0"/>
              <a:t>计算机网络的概念表达了四个含义</a:t>
            </a:r>
            <a:r>
              <a:rPr lang="en-US" sz="2000" dirty="0" smtClean="0"/>
              <a:t>:</a:t>
            </a:r>
            <a:endParaRPr lang="zh-CN" altLang="en-US" sz="2000" dirty="0" smtClean="0"/>
          </a:p>
        </p:txBody>
      </p:sp>
      <p:graphicFrame>
        <p:nvGraphicFramePr>
          <p:cNvPr id="7" name="图示 6"/>
          <p:cNvGraphicFramePr/>
          <p:nvPr/>
        </p:nvGraphicFramePr>
        <p:xfrm>
          <a:off x="1952596" y="4286256"/>
          <a:ext cx="8072494" cy="22860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计算机网络的发展</a:t>
            </a:r>
            <a:endParaRPr lang="zh-CN" altLang="en-US" sz="2000" dirty="0" smtClean="0"/>
          </a:p>
          <a:p>
            <a:pPr>
              <a:lnSpc>
                <a:spcPct val="150000"/>
              </a:lnSpc>
              <a:buNone/>
            </a:pPr>
            <a:r>
              <a:rPr lang="zh-CN" altLang="en-US" sz="2000" dirty="0" smtClean="0"/>
              <a:t>       计算机网络是</a:t>
            </a:r>
            <a:r>
              <a:rPr lang="en-US" sz="2000" dirty="0" smtClean="0"/>
              <a:t>20</a:t>
            </a:r>
            <a:r>
              <a:rPr lang="zh-CN" altLang="en-US" sz="2000" dirty="0" smtClean="0"/>
              <a:t>世纪</a:t>
            </a:r>
            <a:r>
              <a:rPr lang="en-US" sz="2000" dirty="0" smtClean="0"/>
              <a:t>60</a:t>
            </a:r>
            <a:r>
              <a:rPr lang="zh-CN" altLang="en-US" sz="2000" dirty="0" smtClean="0"/>
              <a:t>年代初期计算机技术和通信技术相结合的产物。</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计算机网络的模型</a:t>
            </a:r>
            <a:endParaRPr lang="zh-CN" altLang="en-US" sz="2000" dirty="0" smtClean="0"/>
          </a:p>
          <a:p>
            <a:pPr>
              <a:lnSpc>
                <a:spcPct val="150000"/>
              </a:lnSpc>
              <a:buNone/>
            </a:pPr>
            <a:r>
              <a:rPr lang="zh-CN" altLang="en-US" sz="2000" dirty="0" smtClean="0"/>
              <a:t>       从计算机网络的概念可以看出计算机网络是一个复杂的系统</a:t>
            </a:r>
            <a:r>
              <a:rPr lang="en-US" sz="2000" dirty="0" smtClean="0"/>
              <a:t>,</a:t>
            </a:r>
            <a:r>
              <a:rPr lang="zh-CN" altLang="en-US" sz="2000" dirty="0" smtClean="0"/>
              <a:t>这是因为网络中的计算机机型不同、计算机的运算速度和性能有差异、计算机中安装的操作系统软件不同、传递数据的格式不同</a:t>
            </a:r>
            <a:r>
              <a:rPr lang="en-US" sz="2000" dirty="0" smtClean="0"/>
              <a:t>,</a:t>
            </a:r>
            <a:r>
              <a:rPr lang="zh-CN" altLang="en-US" sz="2000" dirty="0" smtClean="0"/>
              <a:t>要保证数据远程通信的安全和可靠</a:t>
            </a:r>
            <a:r>
              <a:rPr lang="en-US" sz="2000" dirty="0" smtClean="0"/>
              <a:t>,</a:t>
            </a:r>
            <a:r>
              <a:rPr lang="zh-CN" altLang="en-US" sz="2000" dirty="0" smtClean="0"/>
              <a:t>就需要在兼顾硬件特性的前提下</a:t>
            </a:r>
            <a:r>
              <a:rPr lang="en-US" sz="2000" dirty="0" smtClean="0"/>
              <a:t>,</a:t>
            </a:r>
            <a:r>
              <a:rPr lang="zh-CN" altLang="en-US" sz="2000" dirty="0" smtClean="0"/>
              <a:t>设计出完善的网络通信软件</a:t>
            </a:r>
            <a:r>
              <a:rPr lang="en-US" sz="2000" dirty="0" smtClean="0"/>
              <a:t>,</a:t>
            </a:r>
            <a:r>
              <a:rPr lang="zh-CN" altLang="en-US" sz="2000" dirty="0" smtClean="0"/>
              <a:t>以此保证实现计算机网络通信功能。</a:t>
            </a:r>
            <a:endParaRPr lang="zh-CN"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pic>
        <p:nvPicPr>
          <p:cNvPr id="7" name="6A1.EPS" descr="id:2147496083;FounderCES"/>
          <p:cNvPicPr/>
          <p:nvPr/>
        </p:nvPicPr>
        <p:blipFill>
          <a:blip r:embed="rId4" cstate="print"/>
          <a:stretch>
            <a:fillRect/>
          </a:stretch>
        </p:blipFill>
        <p:spPr>
          <a:xfrm>
            <a:off x="3452794" y="2071678"/>
            <a:ext cx="4929222" cy="3214710"/>
          </a:xfrm>
          <a:prstGeom prst="rect">
            <a:avLst/>
          </a:prstGeom>
          <a:ln>
            <a:noFill/>
          </a:ln>
        </p:spPr>
        <p:style>
          <a:lnRef idx="3">
            <a:schemeClr val="lt1"/>
          </a:lnRef>
          <a:fillRef idx="1">
            <a:schemeClr val="accent2"/>
          </a:fillRef>
          <a:effectRef idx="1">
            <a:schemeClr val="accent2"/>
          </a:effectRef>
          <a:fontRef idx="minor">
            <a:schemeClr val="lt1"/>
          </a:fontRef>
        </p:style>
      </p:pic>
      <p:sp>
        <p:nvSpPr>
          <p:cNvPr id="8" name="矩形 7"/>
          <p:cNvSpPr/>
          <p:nvPr/>
        </p:nvSpPr>
        <p:spPr>
          <a:xfrm>
            <a:off x="4445548" y="5845750"/>
            <a:ext cx="2835910" cy="337185"/>
          </a:xfrm>
          <a:prstGeom prst="rect">
            <a:avLst/>
          </a:prstGeom>
        </p:spPr>
        <p:txBody>
          <a:bodyPr wrap="none">
            <a:spAutoFit/>
          </a:bodyPr>
          <a:lstStyle/>
          <a:p>
            <a:r>
              <a:rPr lang="zh-CN" altLang="en-US" sz="1600" dirty="0" smtClean="0"/>
              <a:t>图</a:t>
            </a:r>
            <a:r>
              <a:rPr lang="en-US" sz="1600" dirty="0" smtClean="0"/>
              <a:t>6—1</a:t>
            </a:r>
            <a:r>
              <a:rPr lang="zh-CN" altLang="en-US" sz="1600" dirty="0" smtClean="0"/>
              <a:t>　</a:t>
            </a:r>
            <a:r>
              <a:rPr lang="en-US" sz="1600" dirty="0" smtClean="0"/>
              <a:t>ISO/OSI</a:t>
            </a:r>
            <a:r>
              <a:rPr lang="zh-CN" altLang="en-US" sz="1600" dirty="0" smtClean="0"/>
              <a:t>网络参考模型</a:t>
            </a:r>
            <a:endParaRPr lang="zh-CN" alt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6.1.2</a:t>
            </a:r>
            <a:r>
              <a:rPr lang="zh-CN" altLang="en-US" sz="2000" dirty="0" smtClean="0"/>
              <a:t>　网络按覆盖范围的基本分类</a:t>
            </a:r>
            <a:endParaRPr lang="en-US" altLang="zh-CN" sz="2000" dirty="0" smtClean="0"/>
          </a:p>
          <a:p>
            <a:pPr>
              <a:lnSpc>
                <a:spcPct val="150000"/>
              </a:lnSpc>
              <a:buNone/>
            </a:pPr>
            <a:r>
              <a:rPr lang="zh-CN" altLang="en-US" sz="2000" dirty="0" smtClean="0"/>
              <a:t>      计算机网络应用非常广泛</a:t>
            </a:r>
            <a:r>
              <a:rPr lang="en-US" sz="2000" dirty="0" smtClean="0"/>
              <a:t>,</a:t>
            </a:r>
            <a:r>
              <a:rPr lang="zh-CN" altLang="en-US" sz="2000" dirty="0" smtClean="0"/>
              <a:t>可以从网络的交换功能、网络的拓扑结构、网络的通信性能、网络的作用范围、网络的覆盖范围等方面进行分类。网络按覆盖范围分为局域网</a:t>
            </a:r>
            <a:r>
              <a:rPr lang="en-US" sz="2000" dirty="0" smtClean="0"/>
              <a:t>(LAN)</a:t>
            </a:r>
            <a:r>
              <a:rPr lang="zh-CN" altLang="en-US" sz="2000" dirty="0" smtClean="0"/>
              <a:t>、城域网</a:t>
            </a:r>
            <a:r>
              <a:rPr lang="en-US" sz="2000" dirty="0" smtClean="0"/>
              <a:t>(MAN)</a:t>
            </a:r>
            <a:r>
              <a:rPr lang="zh-CN" altLang="en-US" sz="2000" dirty="0" smtClean="0"/>
              <a:t>、广域网</a:t>
            </a:r>
            <a:r>
              <a:rPr lang="en-US" sz="2000" dirty="0" smtClean="0"/>
              <a:t>(WAN)</a:t>
            </a:r>
            <a:r>
              <a:rPr lang="zh-CN" altLang="en-US" sz="2000" dirty="0" smtClean="0"/>
              <a:t>。</a:t>
            </a:r>
            <a:endParaRPr lang="zh-CN" altLang="en-US" sz="2000" dirty="0" smtClean="0"/>
          </a:p>
          <a:p>
            <a:pPr>
              <a:lnSpc>
                <a:spcPct val="150000"/>
              </a:lnSpc>
              <a:buNone/>
            </a:pPr>
            <a:r>
              <a:rPr lang="en-US" sz="2000" dirty="0" smtClean="0"/>
              <a:t>(1)</a:t>
            </a:r>
            <a:r>
              <a:rPr lang="zh-CN" altLang="en-US" sz="2000" dirty="0" smtClean="0"/>
              <a:t>局域网是最常见的计算机网络</a:t>
            </a:r>
            <a:r>
              <a:rPr lang="en-US" sz="2000" dirty="0" smtClean="0"/>
              <a:t>,</a:t>
            </a:r>
            <a:r>
              <a:rPr lang="zh-CN" altLang="en-US" sz="2000" dirty="0" smtClean="0"/>
              <a:t>因其灵活、可靠、成本低而被广泛使用。</a:t>
            </a:r>
            <a:endParaRPr lang="zh-CN" altLang="en-US" sz="2000" dirty="0" smtClean="0"/>
          </a:p>
          <a:p>
            <a:pPr>
              <a:lnSpc>
                <a:spcPct val="150000"/>
              </a:lnSpc>
              <a:buNone/>
            </a:pPr>
            <a:r>
              <a:rPr lang="en-US" sz="2000" dirty="0" smtClean="0"/>
              <a:t>(2)</a:t>
            </a:r>
            <a:r>
              <a:rPr lang="zh-CN" altLang="en-US" sz="2000" dirty="0" smtClean="0"/>
              <a:t>城域网是一种不常见的网络技术</a:t>
            </a:r>
            <a:r>
              <a:rPr lang="en-US" sz="2000" dirty="0" smtClean="0"/>
              <a:t>,</a:t>
            </a:r>
            <a:r>
              <a:rPr lang="zh-CN" altLang="en-US" sz="2000" dirty="0" smtClean="0"/>
              <a:t>覆盖范围为一个城市或地区</a:t>
            </a:r>
            <a:r>
              <a:rPr lang="en-US" sz="2000" dirty="0" smtClean="0"/>
              <a:t>,</a:t>
            </a:r>
            <a:r>
              <a:rPr lang="zh-CN" altLang="en-US" sz="2000" dirty="0" smtClean="0"/>
              <a:t>目前比较少用。</a:t>
            </a:r>
            <a:endParaRPr lang="zh-CN" altLang="en-US" sz="2000" dirty="0" smtClean="0"/>
          </a:p>
          <a:p>
            <a:pPr>
              <a:lnSpc>
                <a:spcPct val="150000"/>
              </a:lnSpc>
              <a:buNone/>
            </a:pPr>
            <a:r>
              <a:rPr lang="en-US" sz="2000" dirty="0" smtClean="0"/>
              <a:t>(3)</a:t>
            </a:r>
            <a:r>
              <a:rPr lang="zh-CN" altLang="en-US" sz="2000" dirty="0" smtClean="0"/>
              <a:t>广域网在地理上可以覆盖一个地区、国家甚至洲际范围。</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6.1.3</a:t>
            </a:r>
            <a:r>
              <a:rPr lang="zh-CN" altLang="en-US" sz="2000" dirty="0" smtClean="0"/>
              <a:t>　常见的网络拓扑结构</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基本术语</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网络拓扑结构</a:t>
            </a:r>
            <a:endParaRPr lang="zh-CN" altLang="en-US" sz="2000" dirty="0"/>
          </a:p>
        </p:txBody>
      </p:sp>
      <p:pic>
        <p:nvPicPr>
          <p:cNvPr id="6" name="6A2.EPS" descr="id:2147496122;FounderCES"/>
          <p:cNvPicPr/>
          <p:nvPr/>
        </p:nvPicPr>
        <p:blipFill>
          <a:blip r:embed="rId4"/>
          <a:stretch>
            <a:fillRect/>
          </a:stretch>
        </p:blipFill>
        <p:spPr>
          <a:xfrm>
            <a:off x="3738546" y="3143248"/>
            <a:ext cx="4214842" cy="2428892"/>
          </a:xfrm>
          <a:prstGeom prst="rect">
            <a:avLst/>
          </a:prstGeom>
        </p:spPr>
      </p:pic>
      <p:sp>
        <p:nvSpPr>
          <p:cNvPr id="7" name="矩形 6"/>
          <p:cNvSpPr/>
          <p:nvPr/>
        </p:nvSpPr>
        <p:spPr>
          <a:xfrm>
            <a:off x="4849505" y="6019404"/>
            <a:ext cx="2198370" cy="337185"/>
          </a:xfrm>
          <a:prstGeom prst="rect">
            <a:avLst/>
          </a:prstGeom>
        </p:spPr>
        <p:txBody>
          <a:bodyPr wrap="none">
            <a:spAutoFit/>
          </a:bodyPr>
          <a:lstStyle/>
          <a:p>
            <a:r>
              <a:rPr lang="zh-CN" altLang="en-US" sz="1600" dirty="0" smtClean="0"/>
              <a:t>图</a:t>
            </a:r>
            <a:r>
              <a:rPr lang="en-US" sz="1600" dirty="0" smtClean="0"/>
              <a:t>6—2</a:t>
            </a:r>
            <a:r>
              <a:rPr lang="zh-CN" altLang="en-US" sz="1600" dirty="0" smtClean="0"/>
              <a:t>　网络拓扑结构</a:t>
            </a:r>
            <a:endParaRPr lang="zh-CN" alt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6.1.4</a:t>
            </a:r>
            <a:r>
              <a:rPr lang="zh-CN" altLang="en-US" sz="2000" dirty="0" smtClean="0"/>
              <a:t>　网络协议的基本概念</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网络协议的基本概念</a:t>
            </a:r>
            <a:endParaRPr lang="zh-CN" altLang="en-US" sz="2000" dirty="0" smtClean="0"/>
          </a:p>
          <a:p>
            <a:pPr>
              <a:lnSpc>
                <a:spcPct val="150000"/>
              </a:lnSpc>
              <a:buNone/>
            </a:pPr>
            <a:r>
              <a:rPr lang="zh-CN" altLang="en-US" sz="2000" dirty="0" smtClean="0"/>
              <a:t>       网络协议是为连接不同操作系统和不同硬件体系结构的互联网络而研发的</a:t>
            </a:r>
            <a:r>
              <a:rPr lang="en-US" sz="2000" dirty="0" smtClean="0"/>
              <a:t>,</a:t>
            </a:r>
            <a:r>
              <a:rPr lang="zh-CN" altLang="en-US" sz="2000" dirty="0" smtClean="0"/>
              <a:t>是实现网络内计算机通信的软件。简单来说</a:t>
            </a:r>
            <a:r>
              <a:rPr lang="en-US" sz="2000" dirty="0" smtClean="0"/>
              <a:t>,</a:t>
            </a:r>
            <a:r>
              <a:rPr lang="zh-CN" altLang="en-US" sz="2000" dirty="0" smtClean="0"/>
              <a:t>网络协议是通信双方为了实现通信而设计的约定或通话规则。</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常见的网络协议 </a:t>
            </a:r>
            <a:endParaRPr lang="zh-CN" altLang="en-US" sz="2000" dirty="0" smtClean="0"/>
          </a:p>
          <a:p>
            <a:pPr>
              <a:lnSpc>
                <a:spcPct val="150000"/>
              </a:lnSpc>
              <a:buNone/>
            </a:pPr>
            <a:r>
              <a:rPr lang="en-US" sz="2000" dirty="0" smtClean="0"/>
              <a:t>(1)IPX/SPX</a:t>
            </a:r>
            <a:r>
              <a:rPr lang="zh-CN" altLang="en-US" sz="2000" dirty="0" smtClean="0"/>
              <a:t>是由</a:t>
            </a:r>
            <a:r>
              <a:rPr lang="en-US" sz="2000" dirty="0" smtClean="0"/>
              <a:t>Novell</a:t>
            </a:r>
            <a:r>
              <a:rPr lang="zh-CN" altLang="en-US" sz="2000" dirty="0" smtClean="0"/>
              <a:t>公司开发出来应用于局域网的协议。</a:t>
            </a:r>
            <a:endParaRPr lang="zh-CN" altLang="en-US" sz="2000" dirty="0" smtClean="0"/>
          </a:p>
          <a:p>
            <a:pPr>
              <a:lnSpc>
                <a:spcPct val="150000"/>
              </a:lnSpc>
              <a:buNone/>
            </a:pPr>
            <a:r>
              <a:rPr lang="en-US" sz="2000" dirty="0" smtClean="0"/>
              <a:t>(2)DNS</a:t>
            </a:r>
            <a:r>
              <a:rPr lang="zh-CN" altLang="en-US" sz="2000" dirty="0" smtClean="0"/>
              <a:t>域名系统协议。</a:t>
            </a:r>
            <a:endParaRPr lang="zh-CN" altLang="en-US" sz="2000" dirty="0" smtClean="0"/>
          </a:p>
          <a:p>
            <a:pPr>
              <a:lnSpc>
                <a:spcPct val="150000"/>
              </a:lnSpc>
              <a:buNone/>
            </a:pPr>
            <a:r>
              <a:rPr lang="en-US" sz="2000" dirty="0" smtClean="0"/>
              <a:t>(3)FTP(File Transfer Protocol)</a:t>
            </a:r>
            <a:r>
              <a:rPr lang="zh-CN" altLang="en-US" sz="2000" dirty="0" smtClean="0"/>
              <a:t>文件传输协议。</a:t>
            </a:r>
            <a:endParaRPr lang="zh-CN" altLang="en-US" sz="20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(4)HTTP</a:t>
            </a:r>
            <a:r>
              <a:rPr lang="zh-CN" altLang="en-US" sz="2000" dirty="0" smtClean="0"/>
              <a:t>超文本传输协议。</a:t>
            </a:r>
            <a:endParaRPr lang="zh-CN" altLang="en-US" sz="2000" dirty="0" smtClean="0"/>
          </a:p>
          <a:p>
            <a:pPr>
              <a:lnSpc>
                <a:spcPct val="150000"/>
              </a:lnSpc>
              <a:buNone/>
            </a:pPr>
            <a:r>
              <a:rPr lang="en-US" sz="2000" dirty="0" smtClean="0"/>
              <a:t>(5)HTTPS</a:t>
            </a:r>
            <a:r>
              <a:rPr lang="zh-CN" altLang="en-US" sz="2000" dirty="0" smtClean="0"/>
              <a:t>安全超文本传输协议。</a:t>
            </a:r>
            <a:endParaRPr lang="zh-CN" altLang="en-US" sz="2000" dirty="0" smtClean="0"/>
          </a:p>
          <a:p>
            <a:pPr>
              <a:lnSpc>
                <a:spcPct val="150000"/>
              </a:lnSpc>
              <a:buNone/>
            </a:pPr>
            <a:r>
              <a:rPr lang="en-US" sz="2000" dirty="0" smtClean="0"/>
              <a:t>(6)POP3(Post Office Protocol)</a:t>
            </a:r>
            <a:r>
              <a:rPr lang="zh-CN" altLang="en-US" sz="2000" dirty="0" smtClean="0"/>
              <a:t>邮局协议。</a:t>
            </a:r>
            <a:endParaRPr lang="zh-CN" altLang="en-US" sz="2000" dirty="0" smtClean="0"/>
          </a:p>
          <a:p>
            <a:pPr>
              <a:lnSpc>
                <a:spcPct val="150000"/>
              </a:lnSpc>
              <a:buNone/>
            </a:pPr>
            <a:r>
              <a:rPr lang="en-US" sz="2000" dirty="0" smtClean="0"/>
              <a:t>(7)SMTP(Simple Mail Transfer Protocol)</a:t>
            </a:r>
            <a:r>
              <a:rPr lang="zh-CN" altLang="en-US" sz="2000" dirty="0" smtClean="0"/>
              <a:t>简单邮件传送协议。</a:t>
            </a:r>
            <a:endParaRPr lang="zh-CN" altLang="en-US" sz="2000" dirty="0" smtClean="0"/>
          </a:p>
          <a:p>
            <a:pPr>
              <a:lnSpc>
                <a:spcPct val="150000"/>
              </a:lnSpc>
              <a:buNone/>
            </a:pPr>
            <a:r>
              <a:rPr lang="en-US" sz="2000" dirty="0" smtClean="0"/>
              <a:t>(8)PPP(Point to Point Protocol)</a:t>
            </a:r>
            <a:r>
              <a:rPr lang="zh-CN" altLang="en-US" sz="2000" dirty="0" smtClean="0"/>
              <a:t>点对点协议。</a:t>
            </a:r>
            <a:endParaRPr lang="zh-CN" altLang="en-US" sz="2000" dirty="0" smtClean="0"/>
          </a:p>
          <a:p>
            <a:pPr>
              <a:lnSpc>
                <a:spcPct val="150000"/>
              </a:lnSpc>
              <a:buNone/>
            </a:pPr>
            <a:r>
              <a:rPr lang="en-US" sz="2000" dirty="0" smtClean="0"/>
              <a:t>(9)TCP/IP(Transmission Control Protocol/Internet Protocol)</a:t>
            </a:r>
            <a:r>
              <a:rPr lang="zh-CN" altLang="en-US" sz="2000" dirty="0" smtClean="0"/>
              <a:t>传输控制协议。</a:t>
            </a:r>
            <a:endParaRPr lang="zh-CN" altLang="en-US" sz="2000" dirty="0" smtClean="0"/>
          </a:p>
          <a:p>
            <a:pPr>
              <a:lnSpc>
                <a:spcPct val="150000"/>
              </a:lnSpc>
              <a:buNone/>
            </a:pPr>
            <a:r>
              <a:rPr lang="en-US" sz="2000" dirty="0" smtClean="0"/>
              <a:t>(10)Telnet Protocol</a:t>
            </a:r>
            <a:r>
              <a:rPr lang="zh-CN" altLang="en-US" sz="2000" dirty="0" smtClean="0"/>
              <a:t>虚拟终端协议。</a:t>
            </a: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6.1.5</a:t>
            </a:r>
            <a:r>
              <a:rPr lang="zh-CN" altLang="en-US" sz="2000" dirty="0" smtClean="0"/>
              <a:t>　局域网的功能与特点</a:t>
            </a:r>
            <a:endParaRPr lang="zh-CN" altLang="en-US" sz="2000" dirty="0" smtClean="0"/>
          </a:p>
          <a:p>
            <a:pPr>
              <a:lnSpc>
                <a:spcPct val="150000"/>
              </a:lnSpc>
              <a:buNone/>
            </a:pPr>
            <a:r>
              <a:rPr lang="zh-CN" altLang="en-US" sz="2000" dirty="0" smtClean="0"/>
              <a:t>      局域网是一个相对来说在比较小的范围内构建的计算机网络。具有高数据传输率、短距离、低误码率的特点。</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拓扑结构     网络的拓扑结构对网络的性能有很大影响。</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传输媒体     典型的传输媒体有双绞线、基带同轴电缆、宽带同轴电缆、光导纤维、电磁波、卫星通信等。</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媒体访问控制方法    媒体访问控制方法是指将传输介质的频带有效地分配给网上各站点的方法</a:t>
            </a:r>
            <a:r>
              <a:rPr lang="en-US" sz="2000" dirty="0" smtClean="0"/>
              <a:t>,</a:t>
            </a:r>
            <a:r>
              <a:rPr lang="zh-CN" altLang="en-US" sz="2000" dirty="0" smtClean="0"/>
              <a:t>就是控制网上各工作站在什么情况下才可以发送数据</a:t>
            </a:r>
            <a:r>
              <a:rPr lang="en-US" sz="2000" dirty="0" smtClean="0"/>
              <a:t>,</a:t>
            </a:r>
            <a:r>
              <a:rPr lang="zh-CN" altLang="en-US" sz="2000" dirty="0" smtClean="0"/>
              <a:t>在发送数据的过程中</a:t>
            </a:r>
            <a:r>
              <a:rPr lang="en-US" sz="2000" dirty="0" smtClean="0"/>
              <a:t>,</a:t>
            </a:r>
            <a:r>
              <a:rPr lang="zh-CN" altLang="en-US" sz="2000" dirty="0" smtClean="0"/>
              <a:t>如何发现问题及出现问题后如何处理等。</a:t>
            </a:r>
            <a:endParaRPr lang="zh-CN" alt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6.1.6</a:t>
            </a:r>
            <a:r>
              <a:rPr lang="zh-CN" altLang="en-US" sz="2000" dirty="0" smtClean="0"/>
              <a:t>　局域网的组成和分类</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局域网的组成</a:t>
            </a:r>
            <a:endParaRPr lang="zh-CN" altLang="en-US" sz="2000" dirty="0" smtClean="0"/>
          </a:p>
          <a:p>
            <a:pPr>
              <a:lnSpc>
                <a:spcPct val="150000"/>
              </a:lnSpc>
              <a:buNone/>
            </a:pPr>
            <a:r>
              <a:rPr lang="zh-CN" altLang="en-US" sz="2000" dirty="0" smtClean="0"/>
              <a:t>       局域网由网络硬件和网络软件两部分组成。局域网结构如图</a:t>
            </a:r>
            <a:r>
              <a:rPr lang="en-US" sz="2000" dirty="0" smtClean="0"/>
              <a:t>6—3</a:t>
            </a:r>
            <a:r>
              <a:rPr lang="zh-CN" altLang="en-US" sz="2000" dirty="0" smtClean="0"/>
              <a:t>所示。</a:t>
            </a:r>
            <a:endParaRPr lang="zh-CN" altLang="en-US" sz="2000" dirty="0"/>
          </a:p>
        </p:txBody>
      </p:sp>
      <p:pic>
        <p:nvPicPr>
          <p:cNvPr id="6" name="6A3.EPS" descr="id:2147496201;FounderCES"/>
          <p:cNvPicPr/>
          <p:nvPr/>
        </p:nvPicPr>
        <p:blipFill>
          <a:blip r:embed="rId4" cstate="print"/>
          <a:stretch>
            <a:fillRect/>
          </a:stretch>
        </p:blipFill>
        <p:spPr>
          <a:xfrm>
            <a:off x="3738546" y="3500438"/>
            <a:ext cx="4319280" cy="2058120"/>
          </a:xfrm>
          <a:prstGeom prst="rect">
            <a:avLst/>
          </a:prstGeom>
        </p:spPr>
      </p:pic>
      <p:sp>
        <p:nvSpPr>
          <p:cNvPr id="7" name="矩形 6"/>
          <p:cNvSpPr/>
          <p:nvPr/>
        </p:nvSpPr>
        <p:spPr>
          <a:xfrm>
            <a:off x="4810116" y="6090842"/>
            <a:ext cx="1995170" cy="337185"/>
          </a:xfrm>
          <a:prstGeom prst="rect">
            <a:avLst/>
          </a:prstGeom>
        </p:spPr>
        <p:txBody>
          <a:bodyPr wrap="none">
            <a:spAutoFit/>
          </a:bodyPr>
          <a:lstStyle/>
          <a:p>
            <a:r>
              <a:rPr lang="zh-CN" altLang="en-US" sz="1600" dirty="0" smtClean="0"/>
              <a:t>图</a:t>
            </a:r>
            <a:r>
              <a:rPr lang="en-US" sz="1600" dirty="0" smtClean="0"/>
              <a:t>6—3</a:t>
            </a:r>
            <a:r>
              <a:rPr lang="zh-CN" altLang="en-US" sz="1600" dirty="0" smtClean="0"/>
              <a:t>　局域网结构</a:t>
            </a:r>
            <a:endParaRPr lang="zh-CN" alt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(1)</a:t>
            </a:r>
            <a:r>
              <a:rPr lang="zh-CN" altLang="en-US" sz="2000" dirty="0" smtClean="0"/>
              <a:t>服务器可分为文件服务器、打印服务器、通信服务器、数据库服务器等。</a:t>
            </a:r>
            <a:endParaRPr lang="zh-CN" altLang="en-US" sz="2000" dirty="0" smtClean="0"/>
          </a:p>
          <a:p>
            <a:pPr>
              <a:lnSpc>
                <a:spcPct val="150000"/>
              </a:lnSpc>
              <a:buNone/>
            </a:pPr>
            <a:r>
              <a:rPr lang="en-US" sz="2000" dirty="0" smtClean="0"/>
              <a:t>(2)</a:t>
            </a:r>
            <a:r>
              <a:rPr lang="zh-CN" altLang="en-US" sz="2000" dirty="0" smtClean="0"/>
              <a:t>工作站</a:t>
            </a:r>
            <a:r>
              <a:rPr lang="en-US" sz="2000" dirty="0" smtClean="0"/>
              <a:t>(Workstation)</a:t>
            </a:r>
            <a:r>
              <a:rPr lang="zh-CN" altLang="en-US" sz="2000" dirty="0" smtClean="0"/>
              <a:t>也称为客户机</a:t>
            </a:r>
            <a:r>
              <a:rPr lang="en-US" sz="2000" dirty="0" smtClean="0"/>
              <a:t>(Clients),</a:t>
            </a:r>
            <a:r>
              <a:rPr lang="zh-CN" altLang="en-US" sz="2000" dirty="0" smtClean="0"/>
              <a:t>可以是一般的个人计算机。</a:t>
            </a:r>
            <a:endParaRPr lang="zh-CN" altLang="en-US" sz="2000" dirty="0" smtClean="0"/>
          </a:p>
          <a:p>
            <a:pPr>
              <a:lnSpc>
                <a:spcPct val="150000"/>
              </a:lnSpc>
              <a:buNone/>
            </a:pPr>
            <a:r>
              <a:rPr lang="en-US" sz="2000" dirty="0" smtClean="0"/>
              <a:t>(3)</a:t>
            </a:r>
            <a:r>
              <a:rPr lang="zh-CN" altLang="en-US" sz="2000" dirty="0" smtClean="0"/>
              <a:t>工作站和服务器之间的连接通过传输介质和网络连接部件来实现。网络连接部件主要包括网卡、中继器、集线器和交换机等</a:t>
            </a:r>
            <a:r>
              <a:rPr lang="en-US" sz="2000" dirty="0" smtClean="0"/>
              <a:t>,</a:t>
            </a:r>
            <a:r>
              <a:rPr lang="zh-CN" altLang="en-US" sz="2000" dirty="0" smtClean="0"/>
              <a:t>如图</a:t>
            </a:r>
            <a:r>
              <a:rPr lang="en-US" sz="2000" dirty="0" smtClean="0"/>
              <a:t>6—4</a:t>
            </a:r>
            <a:r>
              <a:rPr lang="zh-CN" altLang="en-US" sz="2000" dirty="0" smtClean="0"/>
              <a:t>所示。</a:t>
            </a:r>
            <a:endParaRPr lang="zh-CN" altLang="en-US" sz="2000" dirty="0"/>
          </a:p>
        </p:txBody>
      </p:sp>
      <p:pic>
        <p:nvPicPr>
          <p:cNvPr id="6" name="6a4.jpg" descr="id:2147496208;FounderCES"/>
          <p:cNvPicPr/>
          <p:nvPr/>
        </p:nvPicPr>
        <p:blipFill>
          <a:blip r:embed="rId4"/>
          <a:stretch>
            <a:fillRect/>
          </a:stretch>
        </p:blipFill>
        <p:spPr>
          <a:xfrm>
            <a:off x="3738546" y="4786322"/>
            <a:ext cx="3929090" cy="1214446"/>
          </a:xfrm>
          <a:prstGeom prst="rect">
            <a:avLst/>
          </a:prstGeom>
          <a:ln w="88900" cap="sq" cmpd="thickThin">
            <a:solidFill>
              <a:srgbClr val="000000"/>
            </a:solidFill>
            <a:prstDash val="solid"/>
            <a:miter lim="800000"/>
            <a:headEnd/>
            <a:tailEnd/>
          </a:ln>
          <a:effectLst>
            <a:innerShdw blurRad="76200">
              <a:srgbClr val="000000"/>
            </a:innerShdw>
          </a:effectLst>
        </p:spPr>
      </p:pic>
      <p:sp>
        <p:nvSpPr>
          <p:cNvPr id="7" name="矩形 6"/>
          <p:cNvSpPr/>
          <p:nvPr/>
        </p:nvSpPr>
        <p:spPr>
          <a:xfrm>
            <a:off x="4849505" y="6305156"/>
            <a:ext cx="2198370" cy="337185"/>
          </a:xfrm>
          <a:prstGeom prst="rect">
            <a:avLst/>
          </a:prstGeom>
        </p:spPr>
        <p:txBody>
          <a:bodyPr wrap="none">
            <a:spAutoFit/>
          </a:bodyPr>
          <a:lstStyle/>
          <a:p>
            <a:r>
              <a:rPr lang="zh-CN" altLang="en-US" sz="1600" dirty="0" smtClean="0"/>
              <a:t>图</a:t>
            </a:r>
            <a:r>
              <a:rPr lang="en-US" sz="1600" dirty="0" smtClean="0"/>
              <a:t>6—4</a:t>
            </a:r>
            <a:r>
              <a:rPr lang="zh-CN" altLang="en-US" sz="1600" dirty="0" smtClean="0"/>
              <a:t>　网络连接部件</a:t>
            </a:r>
            <a:endParaRPr lang="zh-CN" alt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zh-CN" altLang="en-US" sz="2000" dirty="0" smtClean="0"/>
              <a:t>交换式以太网示例如图</a:t>
            </a:r>
            <a:r>
              <a:rPr lang="en-US" sz="2000" dirty="0" smtClean="0"/>
              <a:t>6—5</a:t>
            </a:r>
            <a:r>
              <a:rPr lang="zh-CN" altLang="en-US" sz="2000" dirty="0" smtClean="0"/>
              <a:t>所示。</a:t>
            </a:r>
            <a:endParaRPr lang="zh-CN" altLang="en-US" sz="2000" dirty="0"/>
          </a:p>
        </p:txBody>
      </p:sp>
      <p:sp>
        <p:nvSpPr>
          <p:cNvPr id="7" name="矩形 6"/>
          <p:cNvSpPr/>
          <p:nvPr/>
        </p:nvSpPr>
        <p:spPr>
          <a:xfrm>
            <a:off x="4452926" y="6000768"/>
            <a:ext cx="2604770" cy="337185"/>
          </a:xfrm>
          <a:prstGeom prst="rect">
            <a:avLst/>
          </a:prstGeom>
        </p:spPr>
        <p:txBody>
          <a:bodyPr wrap="none">
            <a:spAutoFit/>
          </a:bodyPr>
          <a:lstStyle/>
          <a:p>
            <a:r>
              <a:rPr lang="zh-CN" altLang="en-US" sz="1600" dirty="0" smtClean="0"/>
              <a:t>图</a:t>
            </a:r>
            <a:r>
              <a:rPr lang="en-US" sz="1600" dirty="0" smtClean="0"/>
              <a:t>6—5</a:t>
            </a:r>
            <a:r>
              <a:rPr lang="zh-CN" altLang="en-US" sz="1600" dirty="0" smtClean="0"/>
              <a:t>　交换式以太网示例</a:t>
            </a:r>
            <a:endParaRPr lang="zh-CN" altLang="en-US" sz="1600" dirty="0"/>
          </a:p>
        </p:txBody>
      </p:sp>
      <p:pic>
        <p:nvPicPr>
          <p:cNvPr id="8" name="6A5.EPS" descr="id:2147496215;FounderCES"/>
          <p:cNvPicPr/>
          <p:nvPr/>
        </p:nvPicPr>
        <p:blipFill>
          <a:blip r:embed="rId4"/>
          <a:stretch>
            <a:fillRect/>
          </a:stretch>
        </p:blipFill>
        <p:spPr>
          <a:xfrm>
            <a:off x="3095604" y="2214554"/>
            <a:ext cx="5143536" cy="3286148"/>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局域网的分类</a:t>
            </a:r>
            <a:endParaRPr lang="zh-CN" altLang="en-US" sz="2000" dirty="0" smtClean="0"/>
          </a:p>
          <a:p>
            <a:pPr>
              <a:lnSpc>
                <a:spcPct val="150000"/>
              </a:lnSpc>
              <a:buNone/>
            </a:pPr>
            <a:r>
              <a:rPr lang="en-US" sz="2000" dirty="0" smtClean="0"/>
              <a:t>(1)</a:t>
            </a:r>
            <a:r>
              <a:rPr lang="zh-CN" altLang="en-US" sz="2000" dirty="0" smtClean="0"/>
              <a:t>根据局域网采用的拓扑结构</a:t>
            </a:r>
            <a:r>
              <a:rPr lang="en-US" sz="2000" dirty="0" smtClean="0"/>
              <a:t>,</a:t>
            </a:r>
            <a:r>
              <a:rPr lang="zh-CN" altLang="en-US" sz="2000" dirty="0" smtClean="0"/>
              <a:t>可分为总线型局域网、环型局域网、星型局域网和混合型局域网等。</a:t>
            </a:r>
            <a:endParaRPr lang="zh-CN" altLang="en-US" sz="2000" dirty="0" smtClean="0"/>
          </a:p>
          <a:p>
            <a:pPr>
              <a:lnSpc>
                <a:spcPct val="150000"/>
              </a:lnSpc>
              <a:buNone/>
            </a:pPr>
            <a:r>
              <a:rPr lang="en-US" sz="2000" dirty="0" smtClean="0"/>
              <a:t>(2)</a:t>
            </a:r>
            <a:r>
              <a:rPr lang="zh-CN" altLang="en-US" sz="2000" dirty="0" smtClean="0"/>
              <a:t>局域网上常用的传输介质有同轴电缆、双绞线、光缆等</a:t>
            </a:r>
            <a:r>
              <a:rPr lang="en-US" sz="2000" dirty="0" smtClean="0"/>
              <a:t>,</a:t>
            </a:r>
            <a:r>
              <a:rPr lang="zh-CN" altLang="en-US" sz="2000" dirty="0" smtClean="0"/>
              <a:t>因此可以将局域网分为同轴电缆局域网、双绞线局域网和光缆局域网。</a:t>
            </a:r>
            <a:endParaRPr lang="zh-CN" altLang="en-US" sz="2000" dirty="0" smtClean="0"/>
          </a:p>
          <a:p>
            <a:pPr>
              <a:lnSpc>
                <a:spcPct val="150000"/>
              </a:lnSpc>
              <a:buNone/>
            </a:pPr>
            <a:r>
              <a:rPr lang="en-US" sz="2000" dirty="0" smtClean="0"/>
              <a:t>(3)</a:t>
            </a:r>
            <a:r>
              <a:rPr lang="zh-CN" altLang="en-US" sz="2000" dirty="0" smtClean="0"/>
              <a:t>传输介质提供了两台或多台计算机互连并进行信息传输的通道。</a:t>
            </a:r>
            <a:endParaRPr lang="zh-CN" altLang="en-US" sz="2000" dirty="0" smtClean="0"/>
          </a:p>
          <a:p>
            <a:pPr>
              <a:lnSpc>
                <a:spcPct val="150000"/>
              </a:lnSpc>
              <a:buNone/>
            </a:pPr>
            <a:r>
              <a:rPr lang="en-US" sz="2000" dirty="0" smtClean="0"/>
              <a:t>(4)</a:t>
            </a:r>
            <a:r>
              <a:rPr lang="zh-CN" altLang="en-US" sz="2000" dirty="0" smtClean="0"/>
              <a:t>局域网上也有多种网络操作系统。</a:t>
            </a:r>
            <a:endParaRPr lang="zh-CN" alt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30000"/>
              </a:lnSpc>
            </a:pPr>
            <a:r>
              <a:rPr lang="en-US" sz="2000" dirty="0" smtClean="0"/>
              <a:t>6.1.7</a:t>
            </a:r>
            <a:r>
              <a:rPr lang="zh-CN" altLang="en-US" sz="2000" dirty="0" smtClean="0"/>
              <a:t>　广域网的组成和分类</a:t>
            </a:r>
            <a:endParaRPr lang="zh-CN" altLang="en-US" sz="2000" dirty="0" smtClean="0"/>
          </a:p>
          <a:p>
            <a:pPr>
              <a:lnSpc>
                <a:spcPct val="130000"/>
              </a:lnSpc>
              <a:buNone/>
            </a:pPr>
            <a:r>
              <a:rPr lang="zh-CN" altLang="en-US" sz="2000" dirty="0" smtClean="0"/>
              <a:t>       广域网</a:t>
            </a:r>
            <a:r>
              <a:rPr lang="en-US" sz="2000" dirty="0" smtClean="0"/>
              <a:t>WAN(Wide Area Network)</a:t>
            </a:r>
            <a:r>
              <a:rPr lang="zh-CN" altLang="en-US" sz="2000" dirty="0" smtClean="0"/>
              <a:t>也叫远程网</a:t>
            </a:r>
            <a:r>
              <a:rPr lang="en-US" sz="2000" dirty="0" smtClean="0"/>
              <a:t>RCN(Remote Computer Network),</a:t>
            </a:r>
            <a:r>
              <a:rPr lang="zh-CN" altLang="en-US" sz="2000" dirty="0" smtClean="0"/>
              <a:t>它的作用范围大</a:t>
            </a:r>
            <a:r>
              <a:rPr lang="en-US" sz="2000" dirty="0" smtClean="0"/>
              <a:t>,</a:t>
            </a:r>
            <a:r>
              <a:rPr lang="zh-CN" altLang="en-US" sz="2000" dirty="0" smtClean="0"/>
              <a:t>一般可以从几十公里至几万公里。国家或国际范围内的网络都是广域网。在广域网内</a:t>
            </a:r>
            <a:r>
              <a:rPr lang="en-US" sz="2000" dirty="0" smtClean="0"/>
              <a:t>,</a:t>
            </a:r>
            <a:r>
              <a:rPr lang="zh-CN" altLang="en-US" sz="2000" dirty="0" smtClean="0"/>
              <a:t>用于通信的传输装置和传输介质可由电信部门提供。</a:t>
            </a:r>
            <a:endParaRPr lang="zh-CN" altLang="en-US" sz="2000" dirty="0" smtClean="0"/>
          </a:p>
          <a:p>
            <a:pPr>
              <a:lnSpc>
                <a:spcPct val="130000"/>
              </a:lnSpc>
              <a:buFont typeface="Wingdings" panose="05000000000000000000" pitchFamily="2" charset="2"/>
              <a:buChar char="Ø"/>
            </a:pPr>
            <a:r>
              <a:rPr lang="en-US" sz="2000" dirty="0" smtClean="0"/>
              <a:t>1.</a:t>
            </a:r>
            <a:r>
              <a:rPr lang="zh-CN" altLang="en-US" sz="2000" dirty="0" smtClean="0"/>
              <a:t>广域网的组成 </a:t>
            </a:r>
            <a:endParaRPr lang="zh-CN" altLang="en-US" sz="2000" dirty="0" smtClean="0"/>
          </a:p>
          <a:p>
            <a:pPr>
              <a:lnSpc>
                <a:spcPct val="130000"/>
              </a:lnSpc>
              <a:buNone/>
            </a:pPr>
            <a:r>
              <a:rPr lang="zh-CN" altLang="en-US" sz="2000" dirty="0" smtClean="0"/>
              <a:t>       广域网由许多交换机组成</a:t>
            </a:r>
            <a:r>
              <a:rPr lang="en-US" sz="2000" dirty="0" smtClean="0"/>
              <a:t>,</a:t>
            </a:r>
            <a:r>
              <a:rPr lang="zh-CN" altLang="en-US" sz="2000" dirty="0" smtClean="0"/>
              <a:t>交换机之间采用点到点线路连接</a:t>
            </a:r>
            <a:r>
              <a:rPr lang="en-US" sz="2000" dirty="0" smtClean="0"/>
              <a:t>,</a:t>
            </a:r>
            <a:r>
              <a:rPr lang="zh-CN" altLang="en-US" sz="2000" dirty="0" smtClean="0"/>
              <a:t>几乎所有的点到点通信方式都可以用来建立广域网</a:t>
            </a:r>
            <a:r>
              <a:rPr lang="en-US" sz="2000" dirty="0" smtClean="0"/>
              <a:t>,</a:t>
            </a:r>
            <a:r>
              <a:rPr lang="zh-CN" altLang="en-US" sz="2000" dirty="0" smtClean="0"/>
              <a:t>包括租用线路、光纤、微波、卫星信道。</a:t>
            </a:r>
            <a:endParaRPr lang="zh-CN" altLang="en-US" sz="2000" dirty="0" smtClean="0"/>
          </a:p>
          <a:p>
            <a:pPr>
              <a:lnSpc>
                <a:spcPct val="130000"/>
              </a:lnSpc>
              <a:buFont typeface="Wingdings" panose="05000000000000000000" pitchFamily="2" charset="2"/>
              <a:buChar char="Ø"/>
            </a:pPr>
            <a:r>
              <a:rPr lang="en-US" sz="2000" dirty="0" smtClean="0"/>
              <a:t>2.</a:t>
            </a:r>
            <a:r>
              <a:rPr lang="zh-CN" altLang="en-US" sz="2000" dirty="0" smtClean="0"/>
              <a:t>广域网的分类</a:t>
            </a:r>
            <a:endParaRPr lang="zh-CN" altLang="en-US" sz="2000" dirty="0" smtClean="0"/>
          </a:p>
          <a:p>
            <a:pPr>
              <a:lnSpc>
                <a:spcPct val="130000"/>
              </a:lnSpc>
              <a:buNone/>
            </a:pPr>
            <a:r>
              <a:rPr lang="zh-CN" altLang="en-US" sz="2000" dirty="0" smtClean="0"/>
              <a:t>      广域网可以分为公共传输网络、专用传输网络和无线传输网络。 </a:t>
            </a:r>
            <a:endParaRPr lang="zh-CN" alt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sz="2000" dirty="0" smtClean="0"/>
              <a:t>6.1.8</a:t>
            </a:r>
            <a:r>
              <a:rPr lang="zh-CN" altLang="en-US" sz="2000" dirty="0" smtClean="0"/>
              <a:t>　设置共享资源的基本操作</a:t>
            </a:r>
            <a:endParaRPr lang="zh-CN" altLang="en-US" sz="2000" dirty="0" smtClean="0"/>
          </a:p>
          <a:p>
            <a:pPr>
              <a:lnSpc>
                <a:spcPct val="150000"/>
              </a:lnSpc>
              <a:buNone/>
            </a:pPr>
            <a:r>
              <a:rPr lang="zh-CN" altLang="en-US" sz="2000" dirty="0" smtClean="0"/>
              <a:t>       计算机网络的特点是能够实现资源共享</a:t>
            </a:r>
            <a:r>
              <a:rPr lang="en-US" sz="2000" dirty="0" smtClean="0"/>
              <a:t>,</a:t>
            </a:r>
            <a:r>
              <a:rPr lang="zh-CN" altLang="en-US" sz="2000" dirty="0" smtClean="0"/>
              <a:t>在局域网内可以设置多台计算机共享文件或文件夹、共享打印机等。</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文件或文件夹共享</a:t>
            </a:r>
            <a:endParaRPr lang="zh-CN" altLang="en-US" sz="2000" dirty="0" smtClean="0"/>
          </a:p>
          <a:p>
            <a:pPr>
              <a:lnSpc>
                <a:spcPct val="150000"/>
              </a:lnSpc>
              <a:buNone/>
            </a:pPr>
            <a:r>
              <a:rPr lang="en-US" sz="2000" dirty="0" smtClean="0"/>
              <a:t>(1)</a:t>
            </a:r>
            <a:r>
              <a:rPr lang="zh-CN" altLang="en-US" sz="2000" dirty="0" smtClean="0"/>
              <a:t>同步工作组。</a:t>
            </a:r>
            <a:endParaRPr lang="zh-CN" altLang="en-US" sz="2000" dirty="0" smtClean="0"/>
          </a:p>
          <a:p>
            <a:pPr>
              <a:lnSpc>
                <a:spcPct val="150000"/>
              </a:lnSpc>
              <a:buNone/>
            </a:pP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选择</a:t>
            </a:r>
            <a:r>
              <a:rPr lang="en-US" sz="2000" dirty="0" smtClean="0"/>
              <a:t>“</a:t>
            </a:r>
            <a:r>
              <a:rPr lang="zh-CN" altLang="en-US" sz="2000" dirty="0" smtClean="0"/>
              <a:t>计算机</a:t>
            </a:r>
            <a:r>
              <a:rPr lang="en-US" sz="2000" dirty="0" smtClean="0"/>
              <a:t>—</a:t>
            </a:r>
            <a:r>
              <a:rPr lang="zh-CN" altLang="en-US" sz="2000" dirty="0" smtClean="0"/>
              <a:t>属性</a:t>
            </a:r>
            <a:r>
              <a:rPr lang="en-US" sz="2000" dirty="0" smtClean="0"/>
              <a:t>—</a:t>
            </a:r>
            <a:r>
              <a:rPr lang="zh-CN" altLang="en-US" sz="2000" dirty="0" smtClean="0"/>
              <a:t>高级系统设置</a:t>
            </a:r>
            <a:r>
              <a:rPr lang="en-US" sz="2000" dirty="0" smtClean="0"/>
              <a:t>”</a:t>
            </a:r>
            <a:r>
              <a:rPr lang="zh-CN" altLang="en-US" sz="2000" dirty="0" smtClean="0"/>
              <a:t>选项</a:t>
            </a:r>
            <a:r>
              <a:rPr lang="en-US" sz="2000" dirty="0" smtClean="0"/>
              <a:t>,</a:t>
            </a:r>
            <a:r>
              <a:rPr lang="zh-CN" altLang="en-US" sz="2000" dirty="0" smtClean="0"/>
              <a:t>出现如图</a:t>
            </a:r>
            <a:r>
              <a:rPr lang="en-US" sz="2000" dirty="0" smtClean="0"/>
              <a:t>6—6</a:t>
            </a:r>
            <a:r>
              <a:rPr lang="zh-CN" altLang="en-US" sz="2000" dirty="0" smtClean="0"/>
              <a:t>所示的</a:t>
            </a:r>
            <a:r>
              <a:rPr lang="en-US" sz="2000" dirty="0" smtClean="0"/>
              <a:t>“</a:t>
            </a:r>
            <a:r>
              <a:rPr lang="zh-CN" altLang="en-US" sz="2000" dirty="0" smtClean="0"/>
              <a:t>系统属性</a:t>
            </a:r>
            <a:r>
              <a:rPr lang="en-US" sz="2000" dirty="0" smtClean="0"/>
              <a:t>”</a:t>
            </a:r>
            <a:r>
              <a:rPr lang="zh-CN" altLang="en-US" sz="2000" dirty="0" smtClean="0"/>
              <a:t>对话框</a:t>
            </a:r>
            <a:r>
              <a:rPr lang="en-US" sz="2000" dirty="0" smtClean="0"/>
              <a:t>,</a:t>
            </a:r>
            <a:r>
              <a:rPr lang="zh-CN" altLang="en-US" sz="2000" dirty="0" smtClean="0"/>
              <a:t>在</a:t>
            </a:r>
            <a:r>
              <a:rPr lang="en-US" sz="2000" dirty="0" smtClean="0"/>
              <a:t>“</a:t>
            </a:r>
            <a:r>
              <a:rPr lang="zh-CN" altLang="en-US" sz="2000" dirty="0" smtClean="0"/>
              <a:t>计算机名</a:t>
            </a:r>
            <a:r>
              <a:rPr lang="en-US" sz="2000" dirty="0" smtClean="0"/>
              <a:t>”</a:t>
            </a:r>
            <a:r>
              <a:rPr lang="zh-CN" altLang="en-US" sz="2000" dirty="0" smtClean="0"/>
              <a:t>选项卡中</a:t>
            </a:r>
            <a:r>
              <a:rPr lang="en-US" sz="2000" dirty="0" smtClean="0"/>
              <a:t>,</a:t>
            </a:r>
            <a:r>
              <a:rPr lang="zh-CN" altLang="en-US" sz="2000" dirty="0" smtClean="0"/>
              <a:t>单击</a:t>
            </a:r>
            <a:r>
              <a:rPr lang="en-US" sz="2000" dirty="0" smtClean="0"/>
              <a:t>“</a:t>
            </a:r>
            <a:r>
              <a:rPr lang="zh-CN" altLang="en-US" sz="2000" dirty="0" smtClean="0"/>
              <a:t>更改</a:t>
            </a:r>
            <a:r>
              <a:rPr lang="en-US" sz="2000" dirty="0" smtClean="0"/>
              <a:t>”</a:t>
            </a:r>
            <a:r>
              <a:rPr lang="zh-CN" altLang="en-US" sz="2000" dirty="0" smtClean="0"/>
              <a:t>按钮</a:t>
            </a:r>
            <a:r>
              <a:rPr lang="en-US" sz="2000" dirty="0" smtClean="0"/>
              <a:t>,</a:t>
            </a:r>
            <a:r>
              <a:rPr lang="zh-CN" altLang="en-US" sz="2000" dirty="0" smtClean="0"/>
              <a:t>设置计算机名、工作组名后</a:t>
            </a:r>
            <a:r>
              <a:rPr lang="en-US" sz="2000" dirty="0" smtClean="0"/>
              <a:t>,</a:t>
            </a:r>
            <a:r>
              <a:rPr lang="zh-CN" altLang="en-US" sz="2000" dirty="0" smtClean="0"/>
              <a:t>单击</a:t>
            </a:r>
            <a:r>
              <a:rPr lang="en-US" sz="2000" dirty="0" smtClean="0"/>
              <a:t>“</a:t>
            </a:r>
            <a:r>
              <a:rPr lang="zh-CN" altLang="en-US" sz="2000" dirty="0" smtClean="0"/>
              <a:t>确定</a:t>
            </a:r>
            <a:r>
              <a:rPr lang="en-US" sz="2000" dirty="0" smtClean="0"/>
              <a:t>”</a:t>
            </a:r>
            <a:r>
              <a:rPr lang="zh-CN" altLang="en-US" sz="2000" dirty="0" smtClean="0"/>
              <a:t>按钮。</a:t>
            </a:r>
            <a:endParaRPr lang="zh-CN" alt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7" name="矩形 6"/>
          <p:cNvSpPr/>
          <p:nvPr/>
        </p:nvSpPr>
        <p:spPr>
          <a:xfrm>
            <a:off x="4315507" y="6000768"/>
            <a:ext cx="2571750" cy="337185"/>
          </a:xfrm>
          <a:prstGeom prst="rect">
            <a:avLst/>
          </a:prstGeom>
        </p:spPr>
        <p:txBody>
          <a:bodyPr wrap="none">
            <a:spAutoFit/>
          </a:bodyPr>
          <a:lstStyle/>
          <a:p>
            <a:r>
              <a:rPr lang="zh-CN" altLang="en-US" sz="1600" dirty="0" smtClean="0"/>
              <a:t>图</a:t>
            </a:r>
            <a:r>
              <a:rPr lang="en-US" sz="1600" dirty="0" smtClean="0"/>
              <a:t>6—6</a:t>
            </a:r>
            <a:r>
              <a:rPr lang="zh-CN" altLang="en-US" sz="1600" dirty="0" smtClean="0"/>
              <a:t>　</a:t>
            </a:r>
            <a:r>
              <a:rPr lang="en-US" sz="1600" dirty="0" smtClean="0"/>
              <a:t>“</a:t>
            </a:r>
            <a:r>
              <a:rPr lang="zh-CN" altLang="en-US" sz="1600" dirty="0" smtClean="0"/>
              <a:t>系统属性</a:t>
            </a:r>
            <a:r>
              <a:rPr lang="en-US" sz="1600" dirty="0" smtClean="0"/>
              <a:t>”</a:t>
            </a:r>
            <a:r>
              <a:rPr lang="zh-CN" altLang="en-US" sz="1600" dirty="0" smtClean="0"/>
              <a:t>对话框</a:t>
            </a:r>
            <a:endParaRPr lang="zh-CN" altLang="en-US" sz="1600" dirty="0"/>
          </a:p>
        </p:txBody>
      </p:sp>
      <p:pic>
        <p:nvPicPr>
          <p:cNvPr id="10" name="6a6.jpg" descr="id:2147496270;FounderCES"/>
          <p:cNvPicPr/>
          <p:nvPr/>
        </p:nvPicPr>
        <p:blipFill>
          <a:blip r:embed="rId4"/>
          <a:stretch>
            <a:fillRect/>
          </a:stretch>
        </p:blipFill>
        <p:spPr>
          <a:xfrm>
            <a:off x="3952860" y="1857364"/>
            <a:ext cx="4000528" cy="400052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(2)</a:t>
            </a:r>
            <a:r>
              <a:rPr lang="zh-CN" altLang="en-US" sz="2000" dirty="0" smtClean="0"/>
              <a:t>更改相关设置。</a:t>
            </a:r>
            <a:endParaRPr lang="zh-CN" altLang="en-US" sz="2000" dirty="0" smtClean="0"/>
          </a:p>
          <a:p>
            <a:pPr>
              <a:lnSpc>
                <a:spcPct val="150000"/>
              </a:lnSpc>
              <a:buNone/>
            </a:pP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选择</a:t>
            </a:r>
            <a:r>
              <a:rPr lang="en-US" sz="2000" dirty="0" smtClean="0"/>
              <a:t>“</a:t>
            </a:r>
            <a:r>
              <a:rPr lang="zh-CN" altLang="en-US" sz="2000" dirty="0" smtClean="0"/>
              <a:t>控制面板</a:t>
            </a:r>
            <a:r>
              <a:rPr lang="en-US" sz="2000" dirty="0" smtClean="0"/>
              <a:t>—</a:t>
            </a:r>
            <a:r>
              <a:rPr lang="zh-CN" altLang="en-US" sz="2000" dirty="0" smtClean="0"/>
              <a:t>网络和 </a:t>
            </a:r>
            <a:r>
              <a:rPr lang="en-US" sz="2000" dirty="0" smtClean="0"/>
              <a:t>Internet—</a:t>
            </a:r>
            <a:r>
              <a:rPr lang="zh-CN" altLang="en-US" sz="2000" dirty="0" smtClean="0"/>
              <a:t>网络和共享中心</a:t>
            </a:r>
            <a:r>
              <a:rPr lang="en-US" sz="2000" dirty="0" smtClean="0"/>
              <a:t>—</a:t>
            </a:r>
            <a:r>
              <a:rPr lang="zh-CN" altLang="en-US" sz="2000" dirty="0" smtClean="0"/>
              <a:t>更改高级共享设置</a:t>
            </a:r>
            <a:r>
              <a:rPr lang="en-US" sz="2000" dirty="0" smtClean="0"/>
              <a:t>”,</a:t>
            </a:r>
            <a:r>
              <a:rPr lang="zh-CN" altLang="en-US" sz="2000" dirty="0" smtClean="0"/>
              <a:t>出现如图</a:t>
            </a:r>
            <a:r>
              <a:rPr lang="en-US" sz="2000" dirty="0" smtClean="0"/>
              <a:t>6—7</a:t>
            </a:r>
            <a:r>
              <a:rPr lang="zh-CN" altLang="en-US" sz="2000" dirty="0" smtClean="0"/>
              <a:t>所示的</a:t>
            </a:r>
            <a:r>
              <a:rPr lang="en-US" sz="2000" dirty="0" smtClean="0"/>
              <a:t>“</a:t>
            </a:r>
            <a:r>
              <a:rPr lang="zh-CN" altLang="en-US" sz="2000" dirty="0" smtClean="0"/>
              <a:t>网络和共享中心</a:t>
            </a:r>
            <a:r>
              <a:rPr lang="en-US" sz="2000" dirty="0" smtClean="0"/>
              <a:t>”</a:t>
            </a:r>
            <a:r>
              <a:rPr lang="zh-CN" altLang="en-US" sz="2000" dirty="0" smtClean="0"/>
              <a:t>窗口。</a:t>
            </a:r>
            <a:endParaRPr lang="zh-CN" altLang="en-US" sz="2000" dirty="0"/>
          </a:p>
        </p:txBody>
      </p:sp>
      <p:pic>
        <p:nvPicPr>
          <p:cNvPr id="6" name="6a7.jpg" descr="id:2147496277;FounderCES"/>
          <p:cNvPicPr/>
          <p:nvPr/>
        </p:nvPicPr>
        <p:blipFill>
          <a:blip r:embed="rId4"/>
          <a:stretch>
            <a:fillRect/>
          </a:stretch>
        </p:blipFill>
        <p:spPr>
          <a:xfrm>
            <a:off x="4381488" y="3714752"/>
            <a:ext cx="3929090" cy="1928826"/>
          </a:xfrm>
          <a:prstGeom prst="rect">
            <a:avLst/>
          </a:prstGeom>
        </p:spPr>
      </p:pic>
      <p:sp>
        <p:nvSpPr>
          <p:cNvPr id="7" name="矩形 6"/>
          <p:cNvSpPr/>
          <p:nvPr/>
        </p:nvSpPr>
        <p:spPr>
          <a:xfrm>
            <a:off x="4952992" y="6215082"/>
            <a:ext cx="2401570" cy="337185"/>
          </a:xfrm>
          <a:prstGeom prst="rect">
            <a:avLst/>
          </a:prstGeom>
        </p:spPr>
        <p:txBody>
          <a:bodyPr wrap="none">
            <a:spAutoFit/>
          </a:bodyPr>
          <a:lstStyle/>
          <a:p>
            <a:r>
              <a:rPr lang="zh-CN" altLang="en-US" sz="1600" dirty="0" smtClean="0"/>
              <a:t>图</a:t>
            </a:r>
            <a:r>
              <a:rPr lang="en-US" sz="1600" dirty="0" smtClean="0"/>
              <a:t>6—7</a:t>
            </a:r>
            <a:r>
              <a:rPr lang="zh-CN" altLang="en-US" sz="1600" dirty="0" smtClean="0"/>
              <a:t>　网络和共享中心</a:t>
            </a:r>
            <a:endParaRPr lang="zh-CN" alt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在图</a:t>
            </a:r>
            <a:r>
              <a:rPr lang="en-US" sz="2000" dirty="0" smtClean="0"/>
              <a:t>6—8</a:t>
            </a:r>
            <a:r>
              <a:rPr lang="zh-CN" altLang="en-US" sz="2000" dirty="0" smtClean="0"/>
              <a:t>所示的</a:t>
            </a:r>
            <a:r>
              <a:rPr lang="en-US" sz="2000" dirty="0" smtClean="0"/>
              <a:t> “</a:t>
            </a:r>
            <a:r>
              <a:rPr lang="zh-CN" altLang="en-US" sz="2000" dirty="0" smtClean="0"/>
              <a:t>高级共享设置</a:t>
            </a:r>
            <a:r>
              <a:rPr lang="en-US" sz="2000" dirty="0" smtClean="0"/>
              <a:t>”</a:t>
            </a:r>
            <a:r>
              <a:rPr lang="zh-CN" altLang="en-US" sz="2000" dirty="0" smtClean="0"/>
              <a:t>窗口</a:t>
            </a:r>
            <a:r>
              <a:rPr lang="en-US" sz="2000" dirty="0" smtClean="0"/>
              <a:t>,</a:t>
            </a:r>
            <a:r>
              <a:rPr lang="zh-CN" altLang="en-US" sz="2000" dirty="0" smtClean="0"/>
              <a:t>启用</a:t>
            </a:r>
            <a:r>
              <a:rPr lang="en-US" sz="2000" dirty="0" smtClean="0"/>
              <a:t>“</a:t>
            </a:r>
            <a:r>
              <a:rPr lang="zh-CN" altLang="en-US" sz="2000" dirty="0" smtClean="0"/>
              <a:t>网络发现</a:t>
            </a:r>
            <a:r>
              <a:rPr lang="en-US" sz="2000" dirty="0" smtClean="0"/>
              <a:t>”</a:t>
            </a:r>
            <a:r>
              <a:rPr lang="zh-CN" altLang="en-US" sz="2000" dirty="0" smtClean="0"/>
              <a:t>、</a:t>
            </a:r>
            <a:r>
              <a:rPr lang="en-US" sz="2000" dirty="0" smtClean="0"/>
              <a:t>“</a:t>
            </a:r>
            <a:r>
              <a:rPr lang="zh-CN" altLang="en-US" sz="2000" dirty="0" smtClean="0"/>
              <a:t>文件和打印机共享</a:t>
            </a:r>
            <a:r>
              <a:rPr lang="en-US" sz="2000" dirty="0" smtClean="0"/>
              <a:t>”</a:t>
            </a:r>
            <a:r>
              <a:rPr lang="zh-CN" altLang="en-US" sz="2000" dirty="0" smtClean="0"/>
              <a:t>、</a:t>
            </a:r>
            <a:r>
              <a:rPr lang="en-US" sz="2000" dirty="0" smtClean="0"/>
              <a:t>“</a:t>
            </a:r>
            <a:r>
              <a:rPr lang="zh-CN" altLang="en-US" sz="2000" dirty="0" smtClean="0"/>
              <a:t>公用文件夹共享</a:t>
            </a:r>
            <a:r>
              <a:rPr lang="en-US" sz="2000" dirty="0" smtClean="0"/>
              <a:t>”,</a:t>
            </a:r>
            <a:r>
              <a:rPr lang="zh-CN" altLang="en-US" sz="2000" dirty="0" smtClean="0"/>
              <a:t>关闭</a:t>
            </a:r>
            <a:r>
              <a:rPr lang="en-US" sz="2000" dirty="0" smtClean="0"/>
              <a:t>“</a:t>
            </a:r>
            <a:r>
              <a:rPr lang="zh-CN" altLang="en-US" sz="2000" dirty="0" smtClean="0"/>
              <a:t>密码保护的共享</a:t>
            </a:r>
            <a:r>
              <a:rPr lang="en-US" sz="2000" dirty="0" smtClean="0"/>
              <a:t>”</a:t>
            </a:r>
            <a:r>
              <a:rPr lang="zh-CN" altLang="en-US" sz="2000" dirty="0" smtClean="0"/>
              <a:t>。</a:t>
            </a:r>
            <a:endParaRPr lang="zh-CN" altLang="en-US" sz="2000" dirty="0"/>
          </a:p>
        </p:txBody>
      </p:sp>
      <p:sp>
        <p:nvSpPr>
          <p:cNvPr id="7" name="矩形 6"/>
          <p:cNvSpPr/>
          <p:nvPr/>
        </p:nvSpPr>
        <p:spPr>
          <a:xfrm>
            <a:off x="4734088" y="6215082"/>
            <a:ext cx="2244090" cy="337185"/>
          </a:xfrm>
          <a:prstGeom prst="rect">
            <a:avLst/>
          </a:prstGeom>
        </p:spPr>
        <p:txBody>
          <a:bodyPr wrap="none">
            <a:spAutoFit/>
          </a:bodyPr>
          <a:lstStyle/>
          <a:p>
            <a:r>
              <a:rPr lang="zh-CN" altLang="en-US" sz="1600" dirty="0" smtClean="0"/>
              <a:t>图</a:t>
            </a:r>
            <a:r>
              <a:rPr lang="en-US" sz="1600" dirty="0" smtClean="0"/>
              <a:t>6—8</a:t>
            </a:r>
            <a:r>
              <a:rPr lang="zh-CN" altLang="en-US" sz="1600" dirty="0" smtClean="0"/>
              <a:t>　高级共享设置 </a:t>
            </a:r>
            <a:endParaRPr lang="zh-CN" altLang="en-US" sz="1600" dirty="0"/>
          </a:p>
        </p:txBody>
      </p:sp>
      <p:pic>
        <p:nvPicPr>
          <p:cNvPr id="8" name="6a8.jpg" descr="id:2147496284;FounderCES"/>
          <p:cNvPicPr/>
          <p:nvPr/>
        </p:nvPicPr>
        <p:blipFill>
          <a:blip r:embed="rId4" cstate="print"/>
          <a:stretch>
            <a:fillRect/>
          </a:stretch>
        </p:blipFill>
        <p:spPr>
          <a:xfrm>
            <a:off x="4381488" y="2571744"/>
            <a:ext cx="3243600" cy="35564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en-US" sz="2000" dirty="0" smtClean="0"/>
              <a:t>(3)</a:t>
            </a:r>
            <a:r>
              <a:rPr lang="zh-CN" altLang="en-US" sz="2000" dirty="0" smtClean="0"/>
              <a:t>设置共享文件夹。</a:t>
            </a:r>
            <a:endParaRPr lang="zh-CN" altLang="en-US" sz="2000" dirty="0" smtClean="0"/>
          </a:p>
          <a:p>
            <a:pPr>
              <a:lnSpc>
                <a:spcPct val="150000"/>
              </a:lnSpc>
              <a:buNone/>
            </a:pPr>
            <a:r>
              <a:rPr lang="zh-CN" altLang="en-US" sz="2000" dirty="0" smtClean="0"/>
              <a:t>       在</a:t>
            </a:r>
            <a:r>
              <a:rPr lang="en-US" sz="2000" dirty="0" smtClean="0"/>
              <a:t>Win7</a:t>
            </a:r>
            <a:r>
              <a:rPr lang="zh-CN" altLang="en-US" sz="2000" dirty="0" smtClean="0"/>
              <a:t>系统的桌面</a:t>
            </a:r>
            <a:r>
              <a:rPr lang="en-US" sz="2000" dirty="0" smtClean="0"/>
              <a:t>,</a:t>
            </a:r>
            <a:r>
              <a:rPr lang="zh-CN" altLang="en-US" sz="2000" dirty="0" smtClean="0"/>
              <a:t>选择打开</a:t>
            </a:r>
            <a:r>
              <a:rPr lang="en-US" sz="2000" dirty="0" smtClean="0"/>
              <a:t>“</a:t>
            </a:r>
            <a:r>
              <a:rPr lang="zh-CN" altLang="en-US" sz="2000" dirty="0" smtClean="0"/>
              <a:t>计算机</a:t>
            </a:r>
            <a:r>
              <a:rPr lang="en-US" sz="2000" dirty="0" smtClean="0"/>
              <a:t>”,</a:t>
            </a:r>
            <a:r>
              <a:rPr lang="zh-CN" altLang="en-US" sz="2000" dirty="0" smtClean="0"/>
              <a:t>出现如图</a:t>
            </a:r>
            <a:r>
              <a:rPr lang="en-US" sz="2000" dirty="0" smtClean="0"/>
              <a:t>6—9</a:t>
            </a:r>
            <a:r>
              <a:rPr lang="zh-CN" altLang="en-US" sz="2000" dirty="0" smtClean="0"/>
              <a:t>所示的</a:t>
            </a:r>
            <a:r>
              <a:rPr lang="en-US" sz="2000" dirty="0" smtClean="0"/>
              <a:t>“</a:t>
            </a:r>
            <a:r>
              <a:rPr lang="zh-CN" altLang="en-US" sz="2000" dirty="0" smtClean="0"/>
              <a:t>计算机</a:t>
            </a:r>
            <a:r>
              <a:rPr lang="en-US" sz="2000" dirty="0" smtClean="0"/>
              <a:t>”</a:t>
            </a:r>
            <a:r>
              <a:rPr lang="zh-CN" altLang="en-US" sz="2000" dirty="0" smtClean="0"/>
              <a:t>窗口。</a:t>
            </a:r>
            <a:endParaRPr lang="zh-CN" altLang="en-US" sz="2000" dirty="0"/>
          </a:p>
        </p:txBody>
      </p:sp>
      <p:sp>
        <p:nvSpPr>
          <p:cNvPr id="7" name="矩形 6"/>
          <p:cNvSpPr/>
          <p:nvPr/>
        </p:nvSpPr>
        <p:spPr>
          <a:xfrm>
            <a:off x="4903671" y="6215082"/>
            <a:ext cx="1588770" cy="337185"/>
          </a:xfrm>
          <a:prstGeom prst="rect">
            <a:avLst/>
          </a:prstGeom>
        </p:spPr>
        <p:txBody>
          <a:bodyPr wrap="none">
            <a:spAutoFit/>
          </a:bodyPr>
          <a:lstStyle/>
          <a:p>
            <a:r>
              <a:rPr lang="zh-CN" altLang="en-US" sz="1600" dirty="0" smtClean="0"/>
              <a:t>图</a:t>
            </a:r>
            <a:r>
              <a:rPr lang="en-US" sz="1600" dirty="0" smtClean="0"/>
              <a:t>6—9</a:t>
            </a:r>
            <a:r>
              <a:rPr lang="zh-CN" altLang="en-US" sz="1600" dirty="0" smtClean="0"/>
              <a:t>　计算机</a:t>
            </a:r>
            <a:endParaRPr lang="zh-CN" altLang="en-US" sz="1600" dirty="0"/>
          </a:p>
        </p:txBody>
      </p:sp>
      <p:pic>
        <p:nvPicPr>
          <p:cNvPr id="10" name="6a9.jpg" descr="id:2147496291;FounderCES"/>
          <p:cNvPicPr/>
          <p:nvPr/>
        </p:nvPicPr>
        <p:blipFill>
          <a:blip r:embed="rId4"/>
          <a:stretch>
            <a:fillRect/>
          </a:stretch>
        </p:blipFill>
        <p:spPr>
          <a:xfrm>
            <a:off x="3738546" y="3214686"/>
            <a:ext cx="3587400" cy="2633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在图</a:t>
            </a:r>
            <a:r>
              <a:rPr lang="en-US" sz="2000" dirty="0" smtClean="0"/>
              <a:t>6—10 </a:t>
            </a:r>
            <a:r>
              <a:rPr lang="zh-CN" altLang="en-US" sz="2000" dirty="0" smtClean="0"/>
              <a:t>所示的</a:t>
            </a:r>
            <a:r>
              <a:rPr lang="en-US" sz="2000" dirty="0" smtClean="0"/>
              <a:t>“</a:t>
            </a:r>
            <a:r>
              <a:rPr lang="zh-CN" altLang="en-US" sz="2000" dirty="0" smtClean="0"/>
              <a:t>属性</a:t>
            </a:r>
            <a:r>
              <a:rPr lang="en-US" sz="2000" dirty="0" smtClean="0"/>
              <a:t>”</a:t>
            </a:r>
            <a:r>
              <a:rPr lang="zh-CN" altLang="en-US" sz="2000" dirty="0" smtClean="0"/>
              <a:t>对话框</a:t>
            </a:r>
            <a:r>
              <a:rPr lang="en-US" sz="2000" dirty="0" smtClean="0"/>
              <a:t>,</a:t>
            </a:r>
            <a:r>
              <a:rPr lang="zh-CN" altLang="en-US" sz="2000" dirty="0" smtClean="0"/>
              <a:t>选择</a:t>
            </a:r>
            <a:r>
              <a:rPr lang="en-US" sz="2000" dirty="0" smtClean="0"/>
              <a:t>“</a:t>
            </a:r>
            <a:r>
              <a:rPr lang="zh-CN" altLang="en-US" sz="2000" dirty="0" smtClean="0"/>
              <a:t>共享</a:t>
            </a:r>
            <a:r>
              <a:rPr lang="en-US" sz="2000" dirty="0" smtClean="0"/>
              <a:t>”</a:t>
            </a:r>
            <a:r>
              <a:rPr lang="zh-CN" altLang="en-US" sz="2000" dirty="0" smtClean="0"/>
              <a:t>标签</a:t>
            </a:r>
            <a:r>
              <a:rPr lang="en-US" sz="2000" dirty="0" smtClean="0"/>
              <a:t>,</a:t>
            </a:r>
            <a:r>
              <a:rPr lang="zh-CN" altLang="en-US" sz="2000" dirty="0" smtClean="0"/>
              <a:t>单击</a:t>
            </a:r>
            <a:r>
              <a:rPr lang="en-US" sz="2000" dirty="0" smtClean="0"/>
              <a:t>“</a:t>
            </a:r>
            <a:r>
              <a:rPr lang="zh-CN" altLang="en-US" sz="2000" dirty="0" smtClean="0"/>
              <a:t>高级共享</a:t>
            </a:r>
            <a:r>
              <a:rPr lang="en-US" sz="2000" dirty="0" smtClean="0"/>
              <a:t>”</a:t>
            </a:r>
            <a:r>
              <a:rPr lang="zh-CN" altLang="en-US" sz="2000" dirty="0" smtClean="0"/>
              <a:t>按钮</a:t>
            </a:r>
            <a:r>
              <a:rPr lang="en-US" sz="2000" dirty="0" smtClean="0"/>
              <a:t>,</a:t>
            </a:r>
            <a:r>
              <a:rPr lang="zh-CN" altLang="en-US" sz="2000" dirty="0" smtClean="0"/>
              <a:t>出现如图</a:t>
            </a:r>
            <a:r>
              <a:rPr lang="en-US" sz="2000" dirty="0" smtClean="0"/>
              <a:t>6—11</a:t>
            </a:r>
            <a:r>
              <a:rPr lang="zh-CN" altLang="en-US" sz="2000" dirty="0" smtClean="0"/>
              <a:t>所示的</a:t>
            </a:r>
            <a:r>
              <a:rPr lang="en-US" sz="2000" dirty="0" smtClean="0"/>
              <a:t>“</a:t>
            </a:r>
            <a:r>
              <a:rPr lang="zh-CN" altLang="en-US" sz="2000" dirty="0" smtClean="0"/>
              <a:t>高级共享</a:t>
            </a:r>
            <a:r>
              <a:rPr lang="en-US" sz="2000" dirty="0" smtClean="0"/>
              <a:t>”</a:t>
            </a:r>
            <a:r>
              <a:rPr lang="zh-CN" altLang="en-US" sz="2000" dirty="0" smtClean="0"/>
              <a:t>对话框。</a:t>
            </a:r>
            <a:endParaRPr lang="zh-CN" altLang="en-US" sz="2000" dirty="0"/>
          </a:p>
        </p:txBody>
      </p:sp>
      <p:sp>
        <p:nvSpPr>
          <p:cNvPr id="7" name="矩形 6"/>
          <p:cNvSpPr/>
          <p:nvPr/>
        </p:nvSpPr>
        <p:spPr>
          <a:xfrm>
            <a:off x="2648810" y="6305156"/>
            <a:ext cx="1488440" cy="337185"/>
          </a:xfrm>
          <a:prstGeom prst="rect">
            <a:avLst/>
          </a:prstGeom>
        </p:spPr>
        <p:txBody>
          <a:bodyPr wrap="none">
            <a:spAutoFit/>
          </a:bodyPr>
          <a:lstStyle/>
          <a:p>
            <a:r>
              <a:rPr lang="zh-CN" altLang="en-US" sz="1600" dirty="0" smtClean="0"/>
              <a:t>图</a:t>
            </a:r>
            <a:r>
              <a:rPr lang="en-US" sz="1600" dirty="0" smtClean="0"/>
              <a:t>6—10</a:t>
            </a:r>
            <a:r>
              <a:rPr lang="zh-CN" altLang="en-US" sz="1600" dirty="0" smtClean="0"/>
              <a:t>　属性</a:t>
            </a:r>
            <a:endParaRPr lang="zh-CN" altLang="en-US" sz="1600" dirty="0"/>
          </a:p>
        </p:txBody>
      </p:sp>
      <p:pic>
        <p:nvPicPr>
          <p:cNvPr id="8" name="6a10.jpg" descr="id:2147496298;FounderCES"/>
          <p:cNvPicPr/>
          <p:nvPr/>
        </p:nvPicPr>
        <p:blipFill>
          <a:blip r:embed="rId4" cstate="print"/>
          <a:stretch>
            <a:fillRect/>
          </a:stretch>
        </p:blipFill>
        <p:spPr>
          <a:xfrm>
            <a:off x="2166910" y="2643182"/>
            <a:ext cx="2428892" cy="3429024"/>
          </a:xfrm>
          <a:prstGeom prst="rect">
            <a:avLst/>
          </a:prstGeom>
        </p:spPr>
      </p:pic>
      <p:pic>
        <p:nvPicPr>
          <p:cNvPr id="11" name="6a11.jpg" descr="id:2147496305;FounderCES"/>
          <p:cNvPicPr/>
          <p:nvPr/>
        </p:nvPicPr>
        <p:blipFill>
          <a:blip r:embed="rId5" cstate="print"/>
          <a:stretch>
            <a:fillRect/>
          </a:stretch>
        </p:blipFill>
        <p:spPr>
          <a:xfrm>
            <a:off x="5881686" y="2786058"/>
            <a:ext cx="2928958" cy="3214710"/>
          </a:xfrm>
          <a:prstGeom prst="rect">
            <a:avLst/>
          </a:prstGeom>
        </p:spPr>
      </p:pic>
      <p:sp>
        <p:nvSpPr>
          <p:cNvPr id="12" name="矩形 11"/>
          <p:cNvSpPr/>
          <p:nvPr/>
        </p:nvSpPr>
        <p:spPr>
          <a:xfrm>
            <a:off x="5953124" y="6376594"/>
            <a:ext cx="2674620" cy="337185"/>
          </a:xfrm>
          <a:prstGeom prst="rect">
            <a:avLst/>
          </a:prstGeom>
        </p:spPr>
        <p:txBody>
          <a:bodyPr wrap="none">
            <a:spAutoFit/>
          </a:bodyPr>
          <a:lstStyle/>
          <a:p>
            <a:r>
              <a:rPr lang="zh-CN" altLang="en-US" sz="1600" dirty="0" smtClean="0"/>
              <a:t>图</a:t>
            </a:r>
            <a:r>
              <a:rPr lang="en-US" sz="1600" dirty="0" smtClean="0"/>
              <a:t>6—11</a:t>
            </a:r>
            <a:r>
              <a:rPr lang="zh-CN" altLang="en-US" sz="1600" dirty="0" smtClean="0"/>
              <a:t>　</a:t>
            </a:r>
            <a:r>
              <a:rPr lang="en-US" sz="1600" dirty="0" smtClean="0"/>
              <a:t>“</a:t>
            </a:r>
            <a:r>
              <a:rPr lang="zh-CN" altLang="en-US" sz="1600" dirty="0" smtClean="0"/>
              <a:t>高级共享</a:t>
            </a:r>
            <a:r>
              <a:rPr lang="en-US" sz="1600" dirty="0" smtClean="0"/>
              <a:t>”</a:t>
            </a:r>
            <a:r>
              <a:rPr lang="zh-CN" altLang="en-US" sz="1600" dirty="0" smtClean="0"/>
              <a:t>对话框</a:t>
            </a:r>
            <a:endParaRPr lang="zh-CN" alt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None/>
            </a:pPr>
            <a:r>
              <a:rPr lang="zh-CN" altLang="en-US" sz="2000" dirty="0" smtClean="0"/>
              <a:t>      在图</a:t>
            </a:r>
            <a:r>
              <a:rPr lang="en-US" sz="2000" dirty="0" smtClean="0"/>
              <a:t>6—12</a:t>
            </a:r>
            <a:r>
              <a:rPr lang="zh-CN" altLang="en-US" sz="2000" dirty="0" smtClean="0"/>
              <a:t>所示的</a:t>
            </a:r>
            <a:r>
              <a:rPr lang="en-US" sz="2000" dirty="0" smtClean="0"/>
              <a:t>“</a:t>
            </a:r>
            <a:r>
              <a:rPr lang="zh-CN" altLang="en-US" sz="2000" dirty="0" smtClean="0"/>
              <a:t>权限</a:t>
            </a:r>
            <a:r>
              <a:rPr lang="en-US" sz="2000" dirty="0" smtClean="0"/>
              <a:t>”</a:t>
            </a:r>
            <a:r>
              <a:rPr lang="zh-CN" altLang="en-US" sz="2000" dirty="0" smtClean="0"/>
              <a:t>对话框</a:t>
            </a:r>
            <a:r>
              <a:rPr lang="en-US" sz="2000" dirty="0" smtClean="0"/>
              <a:t>,</a:t>
            </a:r>
            <a:r>
              <a:rPr lang="zh-CN" altLang="en-US" sz="2000" dirty="0" smtClean="0"/>
              <a:t>设置</a:t>
            </a:r>
            <a:r>
              <a:rPr lang="en-US" sz="2000" dirty="0" smtClean="0"/>
              <a:t>“</a:t>
            </a:r>
            <a:r>
              <a:rPr lang="zh-CN" altLang="en-US" sz="2000" dirty="0" smtClean="0"/>
              <a:t>完全控制</a:t>
            </a:r>
            <a:r>
              <a:rPr lang="en-US" sz="2000" dirty="0" smtClean="0"/>
              <a:t>”</a:t>
            </a:r>
            <a:r>
              <a:rPr lang="zh-CN" altLang="en-US" sz="2000" dirty="0" smtClean="0"/>
              <a:t>、</a:t>
            </a:r>
            <a:r>
              <a:rPr lang="en-US" sz="2000" dirty="0" smtClean="0"/>
              <a:t>“</a:t>
            </a:r>
            <a:r>
              <a:rPr lang="zh-CN" altLang="en-US" sz="2000" dirty="0" smtClean="0"/>
              <a:t>更改</a:t>
            </a:r>
            <a:r>
              <a:rPr lang="en-US" sz="2000" dirty="0" smtClean="0"/>
              <a:t>”</a:t>
            </a:r>
            <a:r>
              <a:rPr lang="zh-CN" altLang="en-US" sz="2000" dirty="0" smtClean="0"/>
              <a:t>、</a:t>
            </a:r>
            <a:r>
              <a:rPr lang="en-US" sz="2000" dirty="0" smtClean="0"/>
              <a:t>“</a:t>
            </a:r>
            <a:r>
              <a:rPr lang="zh-CN" altLang="en-US" sz="2000" dirty="0" smtClean="0"/>
              <a:t>读取</a:t>
            </a:r>
            <a:r>
              <a:rPr lang="en-US" sz="2000" dirty="0" smtClean="0"/>
              <a:t>”</a:t>
            </a:r>
            <a:r>
              <a:rPr lang="zh-CN" altLang="en-US" sz="2000" dirty="0" smtClean="0"/>
              <a:t>的权限。</a:t>
            </a:r>
            <a:endParaRPr lang="zh-CN" altLang="en-US" sz="2000" dirty="0"/>
          </a:p>
        </p:txBody>
      </p:sp>
      <p:sp>
        <p:nvSpPr>
          <p:cNvPr id="12" name="矩形 11"/>
          <p:cNvSpPr/>
          <p:nvPr/>
        </p:nvSpPr>
        <p:spPr>
          <a:xfrm>
            <a:off x="4452926" y="6000768"/>
            <a:ext cx="2268220" cy="337185"/>
          </a:xfrm>
          <a:prstGeom prst="rect">
            <a:avLst/>
          </a:prstGeom>
        </p:spPr>
        <p:txBody>
          <a:bodyPr wrap="none">
            <a:spAutoFit/>
          </a:bodyPr>
          <a:lstStyle/>
          <a:p>
            <a:r>
              <a:rPr lang="zh-CN" altLang="en-US" sz="1600" dirty="0" smtClean="0"/>
              <a:t>图</a:t>
            </a:r>
            <a:r>
              <a:rPr lang="en-US" sz="1600" dirty="0" smtClean="0"/>
              <a:t>6—12</a:t>
            </a:r>
            <a:r>
              <a:rPr lang="zh-CN" altLang="en-US" sz="1600" dirty="0" smtClean="0"/>
              <a:t>　</a:t>
            </a:r>
            <a:r>
              <a:rPr lang="en-US" sz="1600" dirty="0" smtClean="0"/>
              <a:t>“</a:t>
            </a:r>
            <a:r>
              <a:rPr lang="zh-CN" altLang="en-US" sz="1600" dirty="0" smtClean="0"/>
              <a:t>权限</a:t>
            </a:r>
            <a:r>
              <a:rPr lang="en-US" sz="1600" dirty="0" smtClean="0"/>
              <a:t>”</a:t>
            </a:r>
            <a:r>
              <a:rPr lang="zh-CN" altLang="en-US" sz="1600" dirty="0" smtClean="0"/>
              <a:t>对话框</a:t>
            </a:r>
            <a:endParaRPr lang="zh-CN" altLang="en-US" sz="1600" dirty="0"/>
          </a:p>
        </p:txBody>
      </p:sp>
      <p:pic>
        <p:nvPicPr>
          <p:cNvPr id="10" name="6a12.jpg" descr="id:2147496312;FounderCES"/>
          <p:cNvPicPr/>
          <p:nvPr/>
        </p:nvPicPr>
        <p:blipFill>
          <a:blip r:embed="rId4" cstate="print"/>
          <a:stretch>
            <a:fillRect/>
          </a:stretch>
        </p:blipFill>
        <p:spPr>
          <a:xfrm>
            <a:off x="4381488" y="2714620"/>
            <a:ext cx="2500330" cy="30718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en-US" sz="2000" dirty="0" smtClean="0"/>
              <a:t>(4)</a:t>
            </a:r>
            <a:r>
              <a:rPr lang="zh-CN" altLang="en-US" sz="2000" dirty="0" smtClean="0"/>
              <a:t>设置共享文件夹的安全权限。</a:t>
            </a:r>
            <a:endParaRPr lang="zh-CN" altLang="en-US" sz="2000" dirty="0"/>
          </a:p>
        </p:txBody>
      </p:sp>
      <p:sp>
        <p:nvSpPr>
          <p:cNvPr id="12" name="矩形 11"/>
          <p:cNvSpPr/>
          <p:nvPr/>
        </p:nvSpPr>
        <p:spPr>
          <a:xfrm>
            <a:off x="2078905" y="6019404"/>
            <a:ext cx="2858770" cy="337185"/>
          </a:xfrm>
          <a:prstGeom prst="rect">
            <a:avLst/>
          </a:prstGeom>
        </p:spPr>
        <p:txBody>
          <a:bodyPr wrap="none">
            <a:spAutoFit/>
          </a:bodyPr>
          <a:lstStyle/>
          <a:p>
            <a:r>
              <a:rPr lang="zh-CN" altLang="en-US" sz="1600" dirty="0" smtClean="0"/>
              <a:t>图</a:t>
            </a:r>
            <a:r>
              <a:rPr lang="en-US" sz="1600" dirty="0" smtClean="0"/>
              <a:t>6—13</a:t>
            </a:r>
            <a:r>
              <a:rPr lang="zh-CN" altLang="en-US" sz="1600" dirty="0" smtClean="0"/>
              <a:t>　</a:t>
            </a:r>
            <a:r>
              <a:rPr lang="en-US" sz="1600" dirty="0" smtClean="0"/>
              <a:t>“</a:t>
            </a:r>
            <a:r>
              <a:rPr lang="zh-CN" altLang="en-US" sz="1600" dirty="0" smtClean="0"/>
              <a:t>属性</a:t>
            </a:r>
            <a:r>
              <a:rPr lang="en-US" sz="1600" dirty="0" smtClean="0"/>
              <a:t>—</a:t>
            </a:r>
            <a:r>
              <a:rPr lang="zh-CN" altLang="en-US" sz="1600" dirty="0" smtClean="0"/>
              <a:t>安全</a:t>
            </a:r>
            <a:r>
              <a:rPr lang="en-US" sz="1600" dirty="0" smtClean="0"/>
              <a:t>”</a:t>
            </a:r>
            <a:r>
              <a:rPr lang="zh-CN" altLang="en-US" sz="1600" dirty="0" smtClean="0"/>
              <a:t>对话框</a:t>
            </a:r>
            <a:endParaRPr lang="zh-CN" altLang="en-US" sz="1600" dirty="0"/>
          </a:p>
        </p:txBody>
      </p:sp>
      <p:pic>
        <p:nvPicPr>
          <p:cNvPr id="8" name="6a13.jpg" descr="id:2147496319;FounderCES"/>
          <p:cNvPicPr/>
          <p:nvPr/>
        </p:nvPicPr>
        <p:blipFill>
          <a:blip r:embed="rId4" cstate="print"/>
          <a:stretch>
            <a:fillRect/>
          </a:stretch>
        </p:blipFill>
        <p:spPr>
          <a:xfrm>
            <a:off x="2381224" y="2285992"/>
            <a:ext cx="2571768" cy="3429024"/>
          </a:xfrm>
          <a:prstGeom prst="rect">
            <a:avLst/>
          </a:prstGeom>
        </p:spPr>
      </p:pic>
      <p:pic>
        <p:nvPicPr>
          <p:cNvPr id="11" name="6a14.jpg" descr="id:2147496326;FounderCES"/>
          <p:cNvPicPr/>
          <p:nvPr/>
        </p:nvPicPr>
        <p:blipFill>
          <a:blip r:embed="rId5" cstate="print"/>
          <a:stretch>
            <a:fillRect/>
          </a:stretch>
        </p:blipFill>
        <p:spPr>
          <a:xfrm>
            <a:off x="6024562" y="2214554"/>
            <a:ext cx="3286148" cy="3500462"/>
          </a:xfrm>
          <a:prstGeom prst="rect">
            <a:avLst/>
          </a:prstGeom>
        </p:spPr>
      </p:pic>
      <p:sp>
        <p:nvSpPr>
          <p:cNvPr id="13" name="矩形 12"/>
          <p:cNvSpPr/>
          <p:nvPr/>
        </p:nvSpPr>
        <p:spPr>
          <a:xfrm>
            <a:off x="6542980" y="6000768"/>
            <a:ext cx="2301240" cy="337185"/>
          </a:xfrm>
          <a:prstGeom prst="rect">
            <a:avLst/>
          </a:prstGeom>
        </p:spPr>
        <p:txBody>
          <a:bodyPr wrap="none">
            <a:spAutoFit/>
          </a:bodyPr>
          <a:lstStyle/>
          <a:p>
            <a:r>
              <a:rPr lang="zh-CN" altLang="en-US" sz="1600" dirty="0" smtClean="0"/>
              <a:t>图</a:t>
            </a:r>
            <a:r>
              <a:rPr lang="en-US" sz="1600" dirty="0" smtClean="0"/>
              <a:t>6—14</a:t>
            </a:r>
            <a:r>
              <a:rPr lang="zh-CN" altLang="en-US" sz="1600" dirty="0" smtClean="0"/>
              <a:t>　设置共享权限</a:t>
            </a:r>
            <a:endParaRPr lang="zh-CN" alt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buNone/>
            </a:pPr>
            <a:r>
              <a:rPr lang="en-US" sz="2000" dirty="0" smtClean="0"/>
              <a:t>(5)</a:t>
            </a:r>
            <a:r>
              <a:rPr lang="zh-CN" altLang="en-US" sz="2000" dirty="0" smtClean="0"/>
              <a:t>设置防火墙。</a:t>
            </a:r>
            <a:endParaRPr lang="zh-CN" altLang="en-US" sz="2000" dirty="0"/>
          </a:p>
        </p:txBody>
      </p:sp>
      <p:sp>
        <p:nvSpPr>
          <p:cNvPr id="12" name="矩形 11"/>
          <p:cNvSpPr/>
          <p:nvPr/>
        </p:nvSpPr>
        <p:spPr>
          <a:xfrm>
            <a:off x="4462148" y="6019404"/>
            <a:ext cx="2098040" cy="337185"/>
          </a:xfrm>
          <a:prstGeom prst="rect">
            <a:avLst/>
          </a:prstGeom>
        </p:spPr>
        <p:txBody>
          <a:bodyPr wrap="none">
            <a:spAutoFit/>
          </a:bodyPr>
          <a:lstStyle/>
          <a:p>
            <a:r>
              <a:rPr lang="zh-CN" altLang="en-US" sz="1600" dirty="0" smtClean="0"/>
              <a:t>图</a:t>
            </a:r>
            <a:r>
              <a:rPr lang="en-US" sz="1600" dirty="0" smtClean="0"/>
              <a:t>6—15</a:t>
            </a:r>
            <a:r>
              <a:rPr lang="zh-CN" altLang="en-US" sz="1600" dirty="0" smtClean="0"/>
              <a:t>　防火墙设置</a:t>
            </a:r>
            <a:endParaRPr lang="zh-CN" altLang="en-US" sz="1600" dirty="0"/>
          </a:p>
        </p:txBody>
      </p:sp>
      <p:pic>
        <p:nvPicPr>
          <p:cNvPr id="10" name="6a15.jpg" descr="id:2147496333;FounderCES"/>
          <p:cNvPicPr/>
          <p:nvPr/>
        </p:nvPicPr>
        <p:blipFill>
          <a:blip r:embed="rId4"/>
          <a:stretch>
            <a:fillRect/>
          </a:stretch>
        </p:blipFill>
        <p:spPr>
          <a:xfrm>
            <a:off x="3167042" y="2071678"/>
            <a:ext cx="5357850" cy="378621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打印机共享</a:t>
            </a:r>
            <a:endParaRPr lang="zh-CN" altLang="en-US" sz="2000" dirty="0" smtClean="0"/>
          </a:p>
          <a:p>
            <a:pPr>
              <a:lnSpc>
                <a:spcPct val="150000"/>
              </a:lnSpc>
              <a:buNone/>
            </a:pPr>
            <a:r>
              <a:rPr lang="en-US" sz="2000" dirty="0" smtClean="0"/>
              <a:t>(1)</a:t>
            </a:r>
            <a:r>
              <a:rPr lang="zh-CN" altLang="en-US" sz="2000" dirty="0" smtClean="0"/>
              <a:t>共享打印机。 </a:t>
            </a:r>
            <a:r>
              <a:rPr lang="en-US" sz="2000" dirty="0" smtClean="0"/>
              <a:t>(2)</a:t>
            </a:r>
            <a:r>
              <a:rPr lang="zh-CN" altLang="en-US" sz="2000" dirty="0" smtClean="0"/>
              <a:t>在其他计算机上添加共享打印机。</a:t>
            </a:r>
            <a:endParaRPr lang="zh-CN" altLang="en-US" sz="2000" dirty="0" smtClean="0"/>
          </a:p>
          <a:p>
            <a:pPr>
              <a:lnSpc>
                <a:spcPct val="150000"/>
              </a:lnSpc>
              <a:buNone/>
            </a:pPr>
            <a:endParaRPr lang="zh-CN" altLang="en-US" sz="2000" dirty="0"/>
          </a:p>
        </p:txBody>
      </p:sp>
      <p:sp>
        <p:nvSpPr>
          <p:cNvPr id="12" name="矩形 11"/>
          <p:cNvSpPr/>
          <p:nvPr/>
        </p:nvSpPr>
        <p:spPr>
          <a:xfrm>
            <a:off x="3042518" y="6072206"/>
            <a:ext cx="2301240" cy="337185"/>
          </a:xfrm>
          <a:prstGeom prst="rect">
            <a:avLst/>
          </a:prstGeom>
        </p:spPr>
        <p:txBody>
          <a:bodyPr wrap="none">
            <a:spAutoFit/>
          </a:bodyPr>
          <a:lstStyle/>
          <a:p>
            <a:r>
              <a:rPr lang="zh-CN" altLang="en-US" sz="1600" dirty="0" smtClean="0"/>
              <a:t>图</a:t>
            </a:r>
            <a:r>
              <a:rPr lang="en-US" sz="1600" dirty="0" smtClean="0"/>
              <a:t>6—16</a:t>
            </a:r>
            <a:r>
              <a:rPr lang="zh-CN" altLang="en-US" sz="1600" dirty="0" smtClean="0"/>
              <a:t>　设备和打印机</a:t>
            </a:r>
            <a:endParaRPr lang="zh-CN" altLang="en-US" sz="1600" dirty="0"/>
          </a:p>
        </p:txBody>
      </p:sp>
      <p:pic>
        <p:nvPicPr>
          <p:cNvPr id="8" name="6a16.jpg" descr="id:2147496348;FounderCES"/>
          <p:cNvPicPr/>
          <p:nvPr/>
        </p:nvPicPr>
        <p:blipFill>
          <a:blip r:embed="rId4" cstate="print"/>
          <a:stretch>
            <a:fillRect/>
          </a:stretch>
        </p:blipFill>
        <p:spPr>
          <a:xfrm>
            <a:off x="2595538" y="2643182"/>
            <a:ext cx="3143272" cy="3214710"/>
          </a:xfrm>
          <a:prstGeom prst="rect">
            <a:avLst/>
          </a:prstGeom>
        </p:spPr>
      </p:pic>
      <p:pic>
        <p:nvPicPr>
          <p:cNvPr id="11" name="6a17.jpg" descr="id:2147496355;FounderCES"/>
          <p:cNvPicPr/>
          <p:nvPr/>
        </p:nvPicPr>
        <p:blipFill>
          <a:blip r:embed="rId5" cstate="print"/>
          <a:stretch>
            <a:fillRect/>
          </a:stretch>
        </p:blipFill>
        <p:spPr>
          <a:xfrm>
            <a:off x="6310314" y="2643182"/>
            <a:ext cx="2786082" cy="3214710"/>
          </a:xfrm>
          <a:prstGeom prst="rect">
            <a:avLst/>
          </a:prstGeom>
        </p:spPr>
      </p:pic>
      <p:sp>
        <p:nvSpPr>
          <p:cNvPr id="13" name="矩形 12"/>
          <p:cNvSpPr/>
          <p:nvPr/>
        </p:nvSpPr>
        <p:spPr>
          <a:xfrm>
            <a:off x="6150871" y="6090842"/>
            <a:ext cx="2877820" cy="337185"/>
          </a:xfrm>
          <a:prstGeom prst="rect">
            <a:avLst/>
          </a:prstGeom>
        </p:spPr>
        <p:txBody>
          <a:bodyPr wrap="none">
            <a:spAutoFit/>
          </a:bodyPr>
          <a:lstStyle/>
          <a:p>
            <a:r>
              <a:rPr lang="zh-CN" altLang="en-US" sz="1600" dirty="0" smtClean="0"/>
              <a:t>图</a:t>
            </a:r>
            <a:r>
              <a:rPr lang="en-US" sz="1600" dirty="0" smtClean="0"/>
              <a:t>6—17</a:t>
            </a:r>
            <a:r>
              <a:rPr lang="zh-CN" altLang="en-US" sz="1600" dirty="0" smtClean="0"/>
              <a:t>　</a:t>
            </a:r>
            <a:r>
              <a:rPr lang="en-US" sz="1600" dirty="0" smtClean="0"/>
              <a:t>“</a:t>
            </a:r>
            <a:r>
              <a:rPr lang="zh-CN" altLang="en-US" sz="1600" dirty="0" smtClean="0"/>
              <a:t>打印机属性</a:t>
            </a:r>
            <a:r>
              <a:rPr lang="en-US" sz="1600" dirty="0" smtClean="0"/>
              <a:t>”</a:t>
            </a:r>
            <a:r>
              <a:rPr lang="zh-CN" altLang="en-US" sz="1600" dirty="0" smtClean="0"/>
              <a:t>对话框</a:t>
            </a:r>
            <a:endParaRPr lang="zh-CN" alt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6.2</a:t>
            </a:r>
            <a:r>
              <a:rPr lang="zh-CN" altLang="en-US" dirty="0" smtClean="0"/>
              <a:t>　</a:t>
            </a:r>
            <a:r>
              <a:rPr lang="en-US" dirty="0" smtClean="0"/>
              <a:t>Internet</a:t>
            </a:r>
            <a:r>
              <a:rPr lang="zh-CN" altLang="en-US" dirty="0" smtClean="0"/>
              <a:t>基本概念</a:t>
            </a:r>
            <a:endParaRPr lang="en-US" altLang="zh-CN" dirty="0" smtClean="0"/>
          </a:p>
          <a:p>
            <a:pPr>
              <a:lnSpc>
                <a:spcPct val="150000"/>
              </a:lnSpc>
            </a:pPr>
            <a:endParaRPr lang="en-US" altLang="zh-CN" sz="2000" dirty="0" smtClean="0"/>
          </a:p>
          <a:p>
            <a:pPr>
              <a:lnSpc>
                <a:spcPct val="150000"/>
              </a:lnSpc>
            </a:pPr>
            <a:endParaRPr lang="zh-CN" altLang="en-US" sz="2000" dirty="0" smtClean="0"/>
          </a:p>
          <a:p>
            <a:pPr>
              <a:lnSpc>
                <a:spcPct val="150000"/>
              </a:lnSpc>
              <a:buNone/>
            </a:pPr>
            <a:r>
              <a:rPr lang="en-US" sz="2000" dirty="0" smtClean="0"/>
              <a:t>※ </a:t>
            </a:r>
            <a:r>
              <a:rPr lang="zh-CN" altLang="en-US" sz="2000" dirty="0" smtClean="0"/>
              <a:t>了解</a:t>
            </a:r>
            <a:r>
              <a:rPr lang="en-US" sz="2000" dirty="0" smtClean="0"/>
              <a:t>Internet</a:t>
            </a:r>
            <a:r>
              <a:rPr lang="zh-CN" altLang="en-US" sz="2000" dirty="0" smtClean="0"/>
              <a:t>的发展历史</a:t>
            </a:r>
            <a:r>
              <a:rPr lang="en-US" sz="2000" dirty="0" smtClean="0"/>
              <a:t>;</a:t>
            </a:r>
            <a:endParaRPr lang="zh-CN" altLang="en-US" sz="2000" dirty="0" smtClean="0"/>
          </a:p>
          <a:p>
            <a:pPr>
              <a:lnSpc>
                <a:spcPct val="150000"/>
              </a:lnSpc>
              <a:buNone/>
            </a:pPr>
            <a:r>
              <a:rPr lang="en-US" sz="2000" dirty="0" smtClean="0"/>
              <a:t>※ </a:t>
            </a:r>
            <a:r>
              <a:rPr lang="zh-CN" altLang="en-US" sz="2000" dirty="0" smtClean="0"/>
              <a:t>了解</a:t>
            </a:r>
            <a:r>
              <a:rPr lang="en-US" sz="2000" dirty="0" smtClean="0"/>
              <a:t>Internet</a:t>
            </a:r>
            <a:r>
              <a:rPr lang="zh-CN" altLang="en-US" sz="2000" dirty="0" smtClean="0"/>
              <a:t>的作用与特点</a:t>
            </a:r>
            <a:r>
              <a:rPr lang="en-US" sz="2000" dirty="0" smtClean="0"/>
              <a:t>;</a:t>
            </a:r>
            <a:endParaRPr lang="zh-CN" altLang="en-US" sz="2000" dirty="0" smtClean="0"/>
          </a:p>
          <a:p>
            <a:pPr>
              <a:lnSpc>
                <a:spcPct val="150000"/>
              </a:lnSpc>
              <a:buNone/>
            </a:pPr>
            <a:r>
              <a:rPr lang="en-US" sz="2000" dirty="0" smtClean="0"/>
              <a:t>※ </a:t>
            </a:r>
            <a:r>
              <a:rPr lang="zh-CN" altLang="en-US" sz="2000" dirty="0" smtClean="0"/>
              <a:t>理解</a:t>
            </a:r>
            <a:r>
              <a:rPr lang="en-US" sz="2000" dirty="0" smtClean="0"/>
              <a:t>TCP/IP</a:t>
            </a:r>
            <a:r>
              <a:rPr lang="zh-CN" altLang="en-US" sz="2000" dirty="0" smtClean="0"/>
              <a:t>网络协议的基本概念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了解</a:t>
            </a:r>
            <a:r>
              <a:rPr lang="en-US" sz="2000" dirty="0" smtClean="0"/>
              <a:t>IP</a:t>
            </a:r>
            <a:r>
              <a:rPr lang="zh-CN" altLang="en-US" sz="2000" dirty="0" smtClean="0"/>
              <a:t>地址、网关和子网掩码的基本概念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理解域名系统的基本概念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了解</a:t>
            </a:r>
            <a:r>
              <a:rPr lang="en-US" sz="2000" dirty="0" smtClean="0"/>
              <a:t>Internet</a:t>
            </a:r>
            <a:r>
              <a:rPr lang="zh-CN" altLang="en-US" sz="2000" dirty="0" smtClean="0"/>
              <a:t>的常用服务。</a:t>
            </a:r>
            <a:endParaRPr lang="zh-CN" altLang="en-US" sz="2000" dirty="0"/>
          </a:p>
        </p:txBody>
      </p:sp>
      <p:pic>
        <p:nvPicPr>
          <p:cNvPr id="10" name="学习目标.EPS" descr="id:2147496370;FounderCES"/>
          <p:cNvPicPr/>
          <p:nvPr/>
        </p:nvPicPr>
        <p:blipFill>
          <a:blip r:embed="rId4"/>
          <a:stretch>
            <a:fillRect/>
          </a:stretch>
        </p:blipFill>
        <p:spPr>
          <a:xfrm>
            <a:off x="2166910" y="2428868"/>
            <a:ext cx="1857388" cy="57150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6.2.1</a:t>
            </a:r>
            <a:r>
              <a:rPr lang="zh-CN" altLang="en-US" dirty="0" smtClean="0"/>
              <a:t>　</a:t>
            </a:r>
            <a:r>
              <a:rPr lang="en-US" dirty="0" smtClean="0"/>
              <a:t>Internet</a:t>
            </a:r>
            <a:r>
              <a:rPr lang="zh-CN" altLang="en-US" dirty="0" smtClean="0"/>
              <a:t>的发展历史</a:t>
            </a:r>
            <a:endParaRPr lang="zh-CN" altLang="en-US" dirty="0" smtClean="0"/>
          </a:p>
          <a:p>
            <a:pPr>
              <a:lnSpc>
                <a:spcPct val="150000"/>
              </a:lnSpc>
              <a:buNone/>
            </a:pPr>
            <a:r>
              <a:rPr lang="en-US" sz="2000" dirty="0" smtClean="0"/>
              <a:t>       Internet</a:t>
            </a:r>
            <a:r>
              <a:rPr lang="zh-CN" altLang="en-US" sz="2000" dirty="0" smtClean="0"/>
              <a:t>网络即互联网</a:t>
            </a:r>
            <a:r>
              <a:rPr lang="en-US" sz="2000" dirty="0" smtClean="0"/>
              <a:t>,</a:t>
            </a:r>
            <a:r>
              <a:rPr lang="zh-CN" altLang="en-US" sz="2000" dirty="0" smtClean="0"/>
              <a:t>它的前身是美国国防部高级研究计划局</a:t>
            </a:r>
            <a:r>
              <a:rPr lang="en-US" sz="2000" dirty="0" smtClean="0"/>
              <a:t>(ARPA)</a:t>
            </a:r>
            <a:r>
              <a:rPr lang="zh-CN" altLang="en-US" sz="2000" dirty="0" smtClean="0"/>
              <a:t>主持研制的</a:t>
            </a:r>
            <a:r>
              <a:rPr lang="en-US" sz="2000" dirty="0" smtClean="0"/>
              <a:t>ARPAnet</a:t>
            </a:r>
            <a:r>
              <a:rPr lang="zh-CN" altLang="en-US" sz="2000" dirty="0" smtClean="0"/>
              <a:t>网络。</a:t>
            </a:r>
            <a:endParaRPr lang="zh-CN" altLang="en-US" sz="2000" dirty="0" smtClean="0"/>
          </a:p>
          <a:p>
            <a:pPr>
              <a:lnSpc>
                <a:spcPct val="150000"/>
              </a:lnSpc>
              <a:buNone/>
            </a:pPr>
            <a:r>
              <a:rPr lang="en-US" sz="2000" dirty="0" smtClean="0"/>
              <a:t>       20</a:t>
            </a:r>
            <a:r>
              <a:rPr lang="zh-CN" altLang="en-US" sz="2000" dirty="0" smtClean="0"/>
              <a:t>世纪</a:t>
            </a:r>
            <a:r>
              <a:rPr lang="en-US" sz="2000" dirty="0" smtClean="0"/>
              <a:t>60</a:t>
            </a:r>
            <a:r>
              <a:rPr lang="zh-CN" altLang="en-US" sz="2000" dirty="0" smtClean="0"/>
              <a:t>年代末</a:t>
            </a:r>
            <a:r>
              <a:rPr lang="en-US" sz="2000" dirty="0" smtClean="0"/>
              <a:t>,</a:t>
            </a:r>
            <a:r>
              <a:rPr lang="zh-CN" altLang="en-US" sz="2000" dirty="0" smtClean="0"/>
              <a:t>美国军方为了自己的计算机网络在受到袭击时</a:t>
            </a:r>
            <a:r>
              <a:rPr lang="en-US" sz="2000" dirty="0" smtClean="0"/>
              <a:t>,</a:t>
            </a:r>
            <a:r>
              <a:rPr lang="zh-CN" altLang="en-US" sz="2000" dirty="0" smtClean="0"/>
              <a:t>即使部分被摧毁</a:t>
            </a:r>
            <a:r>
              <a:rPr lang="en-US" sz="2000" dirty="0" smtClean="0"/>
              <a:t>,</a:t>
            </a:r>
            <a:r>
              <a:rPr lang="zh-CN" altLang="en-US" sz="2000" dirty="0" smtClean="0"/>
              <a:t>其余部分仍能保持通信联系</a:t>
            </a:r>
            <a:r>
              <a:rPr lang="en-US" sz="2000" dirty="0" smtClean="0"/>
              <a:t>,</a:t>
            </a:r>
            <a:r>
              <a:rPr lang="zh-CN" altLang="en-US" sz="2000" dirty="0" smtClean="0"/>
              <a:t>便由美国国防部的高级研究计划局建设了一个军用网</a:t>
            </a:r>
            <a:r>
              <a:rPr lang="en-US" sz="2000" dirty="0" smtClean="0"/>
              <a:t>(ARPAnet),</a:t>
            </a:r>
            <a:r>
              <a:rPr lang="zh-CN" altLang="en-US" sz="2000" dirty="0" smtClean="0"/>
              <a:t>供科学家们进行计算机联网实验。</a:t>
            </a:r>
            <a:endParaRPr lang="zh-CN" altLang="en-US" sz="2000" dirty="0" smtClean="0"/>
          </a:p>
          <a:p>
            <a:pPr>
              <a:lnSpc>
                <a:spcPct val="150000"/>
              </a:lnSpc>
              <a:buNone/>
            </a:pPr>
            <a:r>
              <a:rPr lang="zh-CN" altLang="en-US" sz="2000" dirty="0" smtClean="0"/>
              <a:t>       到</a:t>
            </a:r>
            <a:r>
              <a:rPr lang="en-US" sz="2000" dirty="0" smtClean="0"/>
              <a:t>70</a:t>
            </a:r>
            <a:r>
              <a:rPr lang="zh-CN" altLang="en-US" sz="2000" dirty="0" smtClean="0"/>
              <a:t>年代</a:t>
            </a:r>
            <a:r>
              <a:rPr lang="en-US" sz="2000" dirty="0" smtClean="0"/>
              <a:t>,ARPAnet</a:t>
            </a:r>
            <a:r>
              <a:rPr lang="zh-CN" altLang="en-US" sz="2000" dirty="0" smtClean="0"/>
              <a:t>已经有了几十个计算机网络</a:t>
            </a:r>
            <a:r>
              <a:rPr lang="en-US" sz="2000" dirty="0" smtClean="0"/>
              <a:t>,</a:t>
            </a:r>
            <a:r>
              <a:rPr lang="zh-CN" altLang="en-US" sz="2000" dirty="0" smtClean="0"/>
              <a:t>但是每个网络只能在网络内部的计算机之间互连通信</a:t>
            </a:r>
            <a:r>
              <a:rPr lang="en-US" sz="2000" dirty="0" smtClean="0"/>
              <a:t>,</a:t>
            </a:r>
            <a:r>
              <a:rPr lang="zh-CN" altLang="en-US" sz="2000" dirty="0" smtClean="0"/>
              <a:t>不同计算机网络之间仍然不能互连。</a:t>
            </a:r>
            <a:r>
              <a:rPr lang="en-US" altLang="zh-CN" sz="2000" dirty="0" smtClean="0"/>
              <a:t>……</a:t>
            </a:r>
            <a:endParaRPr lang="zh-CN"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6.2.2</a:t>
            </a:r>
            <a:r>
              <a:rPr lang="zh-CN" altLang="en-US" dirty="0" smtClean="0"/>
              <a:t>　</a:t>
            </a:r>
            <a:r>
              <a:rPr lang="en-US" dirty="0" smtClean="0"/>
              <a:t>Internet</a:t>
            </a:r>
            <a:r>
              <a:rPr lang="zh-CN" altLang="en-US" dirty="0" smtClean="0"/>
              <a:t>的作用与特点</a:t>
            </a:r>
            <a:endParaRPr lang="zh-CN" altLang="en-US" dirty="0" smtClean="0"/>
          </a:p>
          <a:p>
            <a:pPr>
              <a:lnSpc>
                <a:spcPct val="150000"/>
              </a:lnSpc>
              <a:buNone/>
            </a:pPr>
            <a:r>
              <a:rPr lang="zh-CN" altLang="en-US" sz="2000" dirty="0" smtClean="0"/>
              <a:t>      由于</a:t>
            </a:r>
            <a:r>
              <a:rPr lang="en-US" sz="2000" dirty="0" smtClean="0"/>
              <a:t>Internet</a:t>
            </a:r>
            <a:r>
              <a:rPr lang="zh-CN" altLang="en-US" sz="2000" dirty="0" smtClean="0"/>
              <a:t>技术具有开放性、交互性、广泛性、平等性、虚拟性、技术通用性等特点</a:t>
            </a:r>
            <a:r>
              <a:rPr lang="en-US" sz="2000" dirty="0" smtClean="0"/>
              <a:t>,</a:t>
            </a:r>
            <a:r>
              <a:rPr lang="zh-CN" altLang="en-US" sz="2000" dirty="0" smtClean="0"/>
              <a:t>所以 </a:t>
            </a:r>
            <a:r>
              <a:rPr lang="en-US" sz="2000" dirty="0" smtClean="0"/>
              <a:t>Internet</a:t>
            </a:r>
            <a:r>
              <a:rPr lang="zh-CN" altLang="en-US" sz="2000" dirty="0" smtClean="0"/>
              <a:t>技术在很多领域得到了广泛应用。</a:t>
            </a:r>
            <a:endParaRPr lang="zh-CN" altLang="en-US" sz="2000" dirty="0" smtClean="0"/>
          </a:p>
          <a:p>
            <a:pPr>
              <a:lnSpc>
                <a:spcPct val="150000"/>
              </a:lnSpc>
            </a:pPr>
            <a:r>
              <a:rPr lang="en-US" dirty="0" smtClean="0"/>
              <a:t>6.2.3</a:t>
            </a:r>
            <a:r>
              <a:rPr lang="zh-CN" altLang="en-US" dirty="0" smtClean="0"/>
              <a:t>　</a:t>
            </a:r>
            <a:r>
              <a:rPr lang="en-US" dirty="0" smtClean="0"/>
              <a:t>TCP/IP</a:t>
            </a:r>
            <a:r>
              <a:rPr lang="zh-CN" altLang="en-US" dirty="0" smtClean="0"/>
              <a:t>网络协议的基本概念</a:t>
            </a:r>
            <a:endParaRPr lang="zh-CN" altLang="en-US" dirty="0" smtClean="0"/>
          </a:p>
          <a:p>
            <a:pPr>
              <a:lnSpc>
                <a:spcPct val="150000"/>
              </a:lnSpc>
              <a:buNone/>
            </a:pPr>
            <a:r>
              <a:rPr lang="zh-CN" altLang="en-US" sz="2000" dirty="0" smtClean="0"/>
              <a:t>      网络协议是指计算机在网络中传递、管理信息需要遵循的规则。传输控制协议</a:t>
            </a:r>
            <a:r>
              <a:rPr lang="en-US" sz="2000" dirty="0" smtClean="0"/>
              <a:t>/</a:t>
            </a:r>
            <a:r>
              <a:rPr lang="zh-CN" altLang="en-US" sz="2000" dirty="0" smtClean="0"/>
              <a:t>网间协议</a:t>
            </a:r>
            <a:r>
              <a:rPr lang="en-US" sz="2000" dirty="0" smtClean="0"/>
              <a:t>(TCP/IP:Transmission Control Protocol/Internet Protocol)</a:t>
            </a:r>
            <a:r>
              <a:rPr lang="zh-CN" altLang="en-US" sz="2000" dirty="0" smtClean="0"/>
              <a:t>是一种网络通信协议</a:t>
            </a:r>
            <a:r>
              <a:rPr lang="en-US" sz="2000" dirty="0" smtClean="0"/>
              <a:t>,</a:t>
            </a:r>
            <a:r>
              <a:rPr lang="zh-CN" altLang="en-US" sz="2000" dirty="0" smtClean="0"/>
              <a:t>它规范了网络上的所有通信设备</a:t>
            </a:r>
            <a:r>
              <a:rPr lang="en-US" sz="2000" dirty="0" smtClean="0"/>
              <a:t>,</a:t>
            </a:r>
            <a:r>
              <a:rPr lang="zh-CN" altLang="en-US" sz="2000" dirty="0" smtClean="0"/>
              <a:t>尤其是一个主机与另一个主机之间的数据往来格式以及传送方式。</a:t>
            </a:r>
            <a:r>
              <a:rPr lang="en-US" sz="2000" dirty="0" smtClean="0"/>
              <a:t>TCP/IP</a:t>
            </a:r>
            <a:r>
              <a:rPr lang="zh-CN" altLang="en-US" sz="2000" dirty="0" smtClean="0"/>
              <a:t>协议是</a:t>
            </a:r>
            <a:r>
              <a:rPr lang="en-US" sz="2000" dirty="0" smtClean="0"/>
              <a:t>Internet</a:t>
            </a:r>
            <a:r>
              <a:rPr lang="zh-CN" altLang="en-US" sz="2000" dirty="0" smtClean="0"/>
              <a:t>的基础协议。</a:t>
            </a:r>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6.2.4</a:t>
            </a:r>
            <a:r>
              <a:rPr lang="zh-CN" altLang="en-US" dirty="0" smtClean="0"/>
              <a:t>　</a:t>
            </a:r>
            <a:r>
              <a:rPr lang="en-US" dirty="0" smtClean="0"/>
              <a:t>IP</a:t>
            </a:r>
            <a:r>
              <a:rPr lang="zh-CN" altLang="en-US" dirty="0" smtClean="0"/>
              <a:t>地址、网关和子网掩码的基本概念</a:t>
            </a:r>
            <a:endParaRPr lang="zh-CN" altLang="en-US" dirty="0" smtClean="0"/>
          </a:p>
        </p:txBody>
      </p:sp>
      <p:graphicFrame>
        <p:nvGraphicFramePr>
          <p:cNvPr id="7" name="图示 6"/>
          <p:cNvGraphicFramePr/>
          <p:nvPr/>
        </p:nvGraphicFramePr>
        <p:xfrm>
          <a:off x="2024034" y="2357430"/>
          <a:ext cx="7786742" cy="38184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6.2.5</a:t>
            </a:r>
            <a:r>
              <a:rPr lang="zh-CN" altLang="en-US" dirty="0" smtClean="0"/>
              <a:t>　域名系统的基本概念</a:t>
            </a:r>
            <a:endParaRPr lang="zh-CN" altLang="en-US" dirty="0" smtClean="0"/>
          </a:p>
          <a:p>
            <a:pPr>
              <a:lnSpc>
                <a:spcPct val="150000"/>
              </a:lnSpc>
              <a:buNone/>
            </a:pPr>
            <a:r>
              <a:rPr lang="en-US" sz="2000" dirty="0" smtClean="0"/>
              <a:t>       IP</a:t>
            </a:r>
            <a:r>
              <a:rPr lang="zh-CN" altLang="en-US" sz="2000" dirty="0" smtClean="0"/>
              <a:t>地址用数字表示不便于记忆</a:t>
            </a:r>
            <a:r>
              <a:rPr lang="en-US" sz="2000" dirty="0" smtClean="0"/>
              <a:t>,</a:t>
            </a:r>
            <a:r>
              <a:rPr lang="zh-CN" altLang="en-US" sz="2000" dirty="0" smtClean="0"/>
              <a:t>为了便于识别</a:t>
            </a:r>
            <a:r>
              <a:rPr lang="en-US" sz="2000" dirty="0" smtClean="0"/>
              <a:t>,</a:t>
            </a:r>
            <a:r>
              <a:rPr lang="zh-CN" altLang="en-US" sz="2000" dirty="0" smtClean="0"/>
              <a:t>计算机的</a:t>
            </a:r>
            <a:r>
              <a:rPr lang="en-US" sz="2000" dirty="0" smtClean="0"/>
              <a:t>IP</a:t>
            </a:r>
            <a:r>
              <a:rPr lang="zh-CN" altLang="en-US" sz="2000" dirty="0" smtClean="0"/>
              <a:t>地址也采用字符表示</a:t>
            </a:r>
            <a:r>
              <a:rPr lang="en-US" sz="2000" dirty="0" smtClean="0"/>
              <a:t>,</a:t>
            </a:r>
            <a:r>
              <a:rPr lang="zh-CN" altLang="en-US" sz="2000" dirty="0" smtClean="0"/>
              <a:t>称作域名地址。例如</a:t>
            </a:r>
            <a:r>
              <a:rPr lang="en-US" sz="2000" dirty="0" smtClean="0"/>
              <a:t>,</a:t>
            </a:r>
            <a:r>
              <a:rPr lang="zh-CN" altLang="en-US" sz="2000" dirty="0" smtClean="0"/>
              <a:t>新浪网的域名地址是</a:t>
            </a:r>
            <a:r>
              <a:rPr lang="en-US" sz="2000" dirty="0" smtClean="0"/>
              <a:t>“www.sina.com”</a:t>
            </a:r>
            <a:r>
              <a:rPr lang="zh-CN" altLang="en-US" sz="2000" dirty="0" smtClean="0"/>
              <a:t>。域名能够表达网站的性质</a:t>
            </a:r>
            <a:r>
              <a:rPr lang="en-US" sz="2000" dirty="0" smtClean="0"/>
              <a:t>,</a:t>
            </a:r>
            <a:r>
              <a:rPr lang="zh-CN" altLang="en-US" sz="2000" dirty="0" smtClean="0"/>
              <a:t>常用的机构性域名和地理性域名如表</a:t>
            </a:r>
            <a:r>
              <a:rPr lang="en-US" sz="2000" dirty="0" smtClean="0"/>
              <a:t>6—1</a:t>
            </a:r>
            <a:r>
              <a:rPr lang="zh-CN" altLang="en-US" sz="2000" dirty="0" smtClean="0"/>
              <a:t>所示。</a:t>
            </a:r>
            <a:endParaRPr lang="zh-CN" altLang="en-US" sz="2000" dirty="0"/>
          </a:p>
        </p:txBody>
      </p:sp>
      <p:sp>
        <p:nvSpPr>
          <p:cNvPr id="6" name="矩形 5"/>
          <p:cNvSpPr/>
          <p:nvPr/>
        </p:nvSpPr>
        <p:spPr>
          <a:xfrm>
            <a:off x="2309786" y="4264231"/>
            <a:ext cx="3190875" cy="306705"/>
          </a:xfrm>
          <a:prstGeom prst="rect">
            <a:avLst/>
          </a:prstGeom>
        </p:spPr>
        <p:txBody>
          <a:bodyPr wrap="none">
            <a:spAutoFit/>
          </a:bodyPr>
          <a:lstStyle/>
          <a:p>
            <a:r>
              <a:rPr lang="zh-CN" altLang="en-US" sz="1400" dirty="0" smtClean="0"/>
              <a:t>表</a:t>
            </a:r>
            <a:r>
              <a:rPr lang="en-US" sz="1400" dirty="0" smtClean="0"/>
              <a:t>6—1</a:t>
            </a:r>
            <a:r>
              <a:rPr lang="zh-CN" altLang="en-US" sz="1400" dirty="0" smtClean="0"/>
              <a:t>常用的机构性域名和地理性域名</a:t>
            </a:r>
            <a:endParaRPr lang="zh-CN" altLang="en-US" sz="1400" dirty="0"/>
          </a:p>
        </p:txBody>
      </p:sp>
      <p:graphicFrame>
        <p:nvGraphicFramePr>
          <p:cNvPr id="7" name="表格 6"/>
          <p:cNvGraphicFramePr>
            <a:graphicFrameLocks noGrp="1"/>
          </p:cNvGraphicFramePr>
          <p:nvPr/>
        </p:nvGraphicFramePr>
        <p:xfrm>
          <a:off x="2452662" y="4572008"/>
          <a:ext cx="6643370" cy="1857375"/>
        </p:xfrm>
        <a:graphic>
          <a:graphicData uri="http://schemas.openxmlformats.org/drawingml/2006/table">
            <a:tbl>
              <a:tblPr>
                <a:tableStyleId>{284E427A-3D55-4303-BF80-6455036E1DE7}</a:tableStyleId>
              </a:tblPr>
              <a:tblGrid>
                <a:gridCol w="1562100"/>
                <a:gridCol w="1562735"/>
                <a:gridCol w="1561465"/>
                <a:gridCol w="1957070"/>
              </a:tblGrid>
              <a:tr h="362417">
                <a:tc>
                  <a:txBody>
                    <a:bodyPr/>
                    <a:lstStyle/>
                    <a:p>
                      <a:pPr algn="ctr">
                        <a:lnSpc>
                          <a:spcPts val="1610"/>
                        </a:lnSpc>
                        <a:spcAft>
                          <a:spcPts val="0"/>
                        </a:spcAft>
                      </a:pPr>
                      <a:r>
                        <a:rPr lang="zh-CN" sz="1600" kern="100"/>
                        <a:t>机构性域名</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含义</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地理性域名</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含义</a:t>
                      </a:r>
                      <a:endParaRPr lang="zh-CN" sz="2000" kern="100">
                        <a:solidFill>
                          <a:srgbClr val="000000"/>
                        </a:solidFill>
                        <a:latin typeface="NEU-BZ"/>
                        <a:ea typeface="方正书宋_GBK"/>
                        <a:cs typeface="Times New Roman" panose="02020603050405020304"/>
                      </a:endParaRPr>
                    </a:p>
                  </a:txBody>
                  <a:tcPr marL="0" marR="0" marT="0" marB="0" anchor="ctr"/>
                </a:tc>
              </a:tr>
              <a:tr h="362417">
                <a:tc>
                  <a:txBody>
                    <a:bodyPr/>
                    <a:lstStyle/>
                    <a:p>
                      <a:pPr algn="ctr">
                        <a:lnSpc>
                          <a:spcPts val="1610"/>
                        </a:lnSpc>
                        <a:spcAft>
                          <a:spcPts val="0"/>
                        </a:spcAft>
                      </a:pPr>
                      <a:r>
                        <a:rPr lang="en-US" sz="1600" kern="100"/>
                        <a:t>com</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商业机构</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600" kern="100"/>
                        <a:t>cn</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中国</a:t>
                      </a:r>
                      <a:endParaRPr lang="zh-CN" sz="2000" kern="100">
                        <a:solidFill>
                          <a:srgbClr val="000000"/>
                        </a:solidFill>
                        <a:latin typeface="NEU-BZ"/>
                        <a:ea typeface="方正书宋_GBK"/>
                        <a:cs typeface="Times New Roman" panose="02020603050405020304"/>
                      </a:endParaRPr>
                    </a:p>
                  </a:txBody>
                  <a:tcPr marL="0" marR="0" marT="0" marB="0" anchor="ctr"/>
                </a:tc>
              </a:tr>
              <a:tr h="362417">
                <a:tc>
                  <a:txBody>
                    <a:bodyPr/>
                    <a:lstStyle/>
                    <a:p>
                      <a:pPr algn="ctr">
                        <a:lnSpc>
                          <a:spcPts val="1610"/>
                        </a:lnSpc>
                        <a:spcAft>
                          <a:spcPts val="0"/>
                        </a:spcAft>
                      </a:pPr>
                      <a:r>
                        <a:rPr lang="en-US" sz="1600" kern="100"/>
                        <a:t>gov</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政府机构</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600" kern="100"/>
                        <a:t>tw</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中国台湾</a:t>
                      </a:r>
                      <a:endParaRPr lang="zh-CN" sz="2000" kern="100">
                        <a:solidFill>
                          <a:srgbClr val="000000"/>
                        </a:solidFill>
                        <a:latin typeface="NEU-BZ"/>
                        <a:ea typeface="方正书宋_GBK"/>
                        <a:cs typeface="Times New Roman" panose="02020603050405020304"/>
                      </a:endParaRPr>
                    </a:p>
                  </a:txBody>
                  <a:tcPr marL="0" marR="0" marT="0" marB="0" anchor="ctr"/>
                </a:tc>
              </a:tr>
              <a:tr h="362417">
                <a:tc>
                  <a:txBody>
                    <a:bodyPr/>
                    <a:lstStyle/>
                    <a:p>
                      <a:pPr algn="ctr">
                        <a:lnSpc>
                          <a:spcPts val="1610"/>
                        </a:lnSpc>
                        <a:spcAft>
                          <a:spcPts val="0"/>
                        </a:spcAft>
                      </a:pPr>
                      <a:r>
                        <a:rPr lang="en-US" sz="1600" kern="100"/>
                        <a:t>edu</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教育机构</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600" kern="100"/>
                        <a:t>hk</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中国香港</a:t>
                      </a:r>
                      <a:endParaRPr lang="zh-CN" sz="2000" kern="100">
                        <a:solidFill>
                          <a:srgbClr val="000000"/>
                        </a:solidFill>
                        <a:latin typeface="NEU-BZ"/>
                        <a:ea typeface="方正书宋_GBK"/>
                        <a:cs typeface="Times New Roman" panose="02020603050405020304"/>
                      </a:endParaRPr>
                    </a:p>
                  </a:txBody>
                  <a:tcPr marL="0" marR="0" marT="0" marB="0" anchor="ctr"/>
                </a:tc>
              </a:tr>
              <a:tr h="407720">
                <a:tc>
                  <a:txBody>
                    <a:bodyPr/>
                    <a:lstStyle/>
                    <a:p>
                      <a:pPr algn="ctr">
                        <a:lnSpc>
                          <a:spcPts val="1610"/>
                        </a:lnSpc>
                        <a:spcAft>
                          <a:spcPts val="0"/>
                        </a:spcAft>
                      </a:pPr>
                      <a:r>
                        <a:rPr lang="en-US" sz="1600" kern="100"/>
                        <a:t>net</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zh-CN" sz="1600" kern="100"/>
                        <a:t>网络服务商</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610"/>
                        </a:lnSpc>
                        <a:spcAft>
                          <a:spcPts val="0"/>
                        </a:spcAft>
                      </a:pPr>
                      <a:r>
                        <a:rPr lang="en-US" sz="1600" kern="100"/>
                        <a:t>us</a:t>
                      </a:r>
                      <a:endParaRPr lang="zh-CN" sz="2000" kern="100">
                        <a:solidFill>
                          <a:srgbClr val="000000"/>
                        </a:solidFill>
                        <a:latin typeface="NEU-BZ"/>
                        <a:ea typeface="方正书宋_GBK"/>
                        <a:cs typeface="Times New Roman" panose="02020603050405020304"/>
                      </a:endParaRPr>
                    </a:p>
                  </a:txBody>
                  <a:tcPr marL="0" marR="0" marT="0" marB="0" anchor="ctr"/>
                </a:tc>
                <a:tc>
                  <a:txBody>
                    <a:bodyPr/>
                    <a:lstStyle/>
                    <a:p>
                      <a:pPr algn="ctr">
                        <a:lnSpc>
                          <a:spcPts val="1800"/>
                        </a:lnSpc>
                        <a:spcAft>
                          <a:spcPts val="0"/>
                        </a:spcAft>
                      </a:pPr>
                      <a:r>
                        <a:rPr lang="zh-CN" sz="1600" kern="100" dirty="0"/>
                        <a:t>美国</a:t>
                      </a:r>
                      <a:endParaRPr lang="zh-CN" sz="2000" kern="100" dirty="0">
                        <a:solidFill>
                          <a:srgbClr val="000000"/>
                        </a:solidFill>
                        <a:latin typeface="NEU-BZ"/>
                        <a:ea typeface="方正书宋_GBK"/>
                        <a:cs typeface="Times New Roman" panose="02020603050405020304"/>
                      </a:endParaRPr>
                    </a:p>
                  </a:txBody>
                  <a:tcPr marL="0" marR="0" marT="0" marB="0" anchor="ct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4471990" cy="4873752"/>
          </a:xfrm>
        </p:spPr>
        <p:txBody>
          <a:bodyPr numCol="1">
            <a:noAutofit/>
          </a:bodyPr>
          <a:lstStyle/>
          <a:p>
            <a:pPr>
              <a:lnSpc>
                <a:spcPct val="150000"/>
              </a:lnSpc>
            </a:pPr>
            <a:r>
              <a:rPr lang="en-US" dirty="0" smtClean="0"/>
              <a:t>6.2.6</a:t>
            </a:r>
            <a:r>
              <a:rPr lang="zh-CN" altLang="en-US" dirty="0" smtClean="0"/>
              <a:t>　</a:t>
            </a:r>
            <a:r>
              <a:rPr lang="en-US" dirty="0" smtClean="0"/>
              <a:t>Internet</a:t>
            </a:r>
            <a:r>
              <a:rPr lang="zh-CN" altLang="en-US" dirty="0" smtClean="0"/>
              <a:t>的常用服务</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浏览信息</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发布信息</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电子邮件服务</a:t>
            </a:r>
            <a:endParaRPr lang="zh-CN" altLang="en-US" sz="2000" dirty="0" smtClean="0"/>
          </a:p>
          <a:p>
            <a:pPr>
              <a:lnSpc>
                <a:spcPct val="150000"/>
              </a:lnSpc>
              <a:buFont typeface="Wingdings" panose="05000000000000000000" pitchFamily="2" charset="2"/>
              <a:buChar char="Ø"/>
            </a:pPr>
            <a:r>
              <a:rPr lang="en-US" sz="2000" dirty="0" smtClean="0"/>
              <a:t>4.</a:t>
            </a:r>
            <a:r>
              <a:rPr lang="zh-CN" altLang="en-US" sz="2000" dirty="0" smtClean="0"/>
              <a:t>即时通信</a:t>
            </a:r>
            <a:endParaRPr lang="zh-CN" altLang="en-US" sz="2000" dirty="0" smtClean="0"/>
          </a:p>
          <a:p>
            <a:pPr>
              <a:lnSpc>
                <a:spcPct val="150000"/>
              </a:lnSpc>
              <a:buFont typeface="Wingdings" panose="05000000000000000000" pitchFamily="2" charset="2"/>
              <a:buChar char="Ø"/>
            </a:pPr>
            <a:r>
              <a:rPr lang="en-US" sz="2000" dirty="0" smtClean="0"/>
              <a:t>5.</a:t>
            </a:r>
            <a:r>
              <a:rPr lang="zh-CN" altLang="en-US" sz="2000" dirty="0" smtClean="0"/>
              <a:t>搜索引擎</a:t>
            </a:r>
            <a:endParaRPr lang="zh-CN" altLang="en-US" sz="2000" dirty="0" smtClean="0"/>
          </a:p>
        </p:txBody>
      </p:sp>
      <p:sp>
        <p:nvSpPr>
          <p:cNvPr id="7" name="内容占位符 8"/>
          <p:cNvSpPr txBox="1"/>
          <p:nvPr/>
        </p:nvSpPr>
        <p:spPr>
          <a:xfrm>
            <a:off x="5695976" y="1698520"/>
            <a:ext cx="4471990" cy="4873752"/>
          </a:xfrm>
          <a:prstGeom prst="rect">
            <a:avLst/>
          </a:prstGeom>
        </p:spPr>
        <p:txBody>
          <a:bodyPr vert="horz" numCol="1">
            <a:noAutofit/>
          </a:bodyPr>
          <a:lstStyle/>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pitchFamily="2" charset="2"/>
              <a:buChar char="Ø"/>
              <a:defRPr/>
            </a:pPr>
            <a:endParaRPr kumimoji="0" 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pitchFamily="2" charset="2"/>
              <a:buChar char="Ø"/>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6.</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远程登录</a:t>
            </a:r>
            <a:endParaRPr kumimoji="0" lang="zh-CN" alt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pitchFamily="2" charset="2"/>
              <a:buChar char="Ø"/>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7.</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文件传输 </a:t>
            </a:r>
            <a:endParaRPr kumimoji="0" lang="zh-CN" alt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pitchFamily="2" charset="2"/>
              <a:buChar char="Ø"/>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8.</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网络视听娱乐 </a:t>
            </a:r>
            <a:endParaRPr kumimoji="0" lang="zh-CN" altLang="en-US" sz="2000" b="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50000"/>
              </a:lnSpc>
              <a:spcBef>
                <a:spcPts val="600"/>
              </a:spcBef>
              <a:spcAft>
                <a:spcPts val="0"/>
              </a:spcAft>
              <a:buClr>
                <a:schemeClr val="accent1"/>
              </a:buClr>
              <a:buSzPct val="70000"/>
              <a:buFont typeface="Wingdings" panose="05000000000000000000" pitchFamily="2" charset="2"/>
              <a:buChar char="Ø"/>
              <a:defRPr/>
            </a:pPr>
            <a:r>
              <a:rPr kumimoji="0" lang="en-US" sz="2000" b="0" i="0" u="none" strike="noStrike" kern="1200" cap="none" spc="0" normalizeH="0" baseline="0" noProof="0" dirty="0" smtClean="0">
                <a:ln>
                  <a:noFill/>
                </a:ln>
                <a:solidFill>
                  <a:schemeClr val="tx1"/>
                </a:solidFill>
                <a:effectLst/>
                <a:uLnTx/>
                <a:uFillTx/>
                <a:latin typeface="+mn-lt"/>
                <a:ea typeface="+mn-ea"/>
                <a:cs typeface="+mn-cs"/>
              </a:rPr>
              <a:t>9.IP</a:t>
            </a:r>
            <a:r>
              <a:rPr kumimoji="0" lang="zh-CN" altLang="en-US" sz="2000" b="0" i="0" u="none" strike="noStrike" kern="1200" cap="none" spc="0" normalizeH="0" baseline="0" noProof="0" dirty="0" smtClean="0">
                <a:ln>
                  <a:noFill/>
                </a:ln>
                <a:solidFill>
                  <a:schemeClr val="tx1"/>
                </a:solidFill>
                <a:effectLst/>
                <a:uLnTx/>
                <a:uFillTx/>
                <a:latin typeface="+mn-lt"/>
                <a:ea typeface="+mn-ea"/>
                <a:cs typeface="+mn-cs"/>
              </a:rPr>
              <a:t>电话</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6.3</a:t>
            </a:r>
            <a:r>
              <a:rPr lang="zh-CN" altLang="en-US" dirty="0" smtClean="0"/>
              <a:t>　网络接入</a:t>
            </a:r>
            <a:endParaRPr lang="en-US" altLang="zh-CN" dirty="0" smtClean="0"/>
          </a:p>
          <a:p>
            <a:pPr>
              <a:lnSpc>
                <a:spcPct val="150000"/>
              </a:lnSpc>
              <a:buNone/>
            </a:pPr>
            <a:endParaRPr lang="zh-CN" altLang="en-US" dirty="0" smtClean="0"/>
          </a:p>
          <a:p>
            <a:pPr>
              <a:lnSpc>
                <a:spcPct val="150000"/>
              </a:lnSpc>
              <a:buNone/>
            </a:pPr>
            <a:r>
              <a:rPr lang="en-US" sz="2000" dirty="0" smtClean="0"/>
              <a:t>※ </a:t>
            </a:r>
            <a:r>
              <a:rPr lang="zh-CN" altLang="en-US" sz="2000" dirty="0" smtClean="0"/>
              <a:t>理解</a:t>
            </a:r>
            <a:r>
              <a:rPr lang="en-US" sz="2000" dirty="0" smtClean="0"/>
              <a:t>Internet</a:t>
            </a:r>
            <a:r>
              <a:rPr lang="zh-CN" altLang="en-US" sz="2000" dirty="0" smtClean="0"/>
              <a:t>的常用接入方式</a:t>
            </a:r>
            <a:r>
              <a:rPr lang="en-US" sz="2000" dirty="0" smtClean="0"/>
              <a:t>;</a:t>
            </a:r>
            <a:endParaRPr lang="zh-CN" altLang="en-US" sz="2000" dirty="0" smtClean="0"/>
          </a:p>
          <a:p>
            <a:pPr>
              <a:lnSpc>
                <a:spcPct val="150000"/>
              </a:lnSpc>
              <a:buNone/>
            </a:pPr>
            <a:r>
              <a:rPr lang="en-US" sz="2000" dirty="0" smtClean="0"/>
              <a:t>※ </a:t>
            </a:r>
            <a:r>
              <a:rPr lang="zh-CN" altLang="en-US" sz="2000" dirty="0" smtClean="0"/>
              <a:t>掌握通过局域网接入</a:t>
            </a:r>
            <a:r>
              <a:rPr lang="en-US" sz="2000" dirty="0" smtClean="0"/>
              <a:t>Internet;</a:t>
            </a:r>
            <a:endParaRPr lang="zh-CN" altLang="en-US" sz="2000" dirty="0" smtClean="0"/>
          </a:p>
          <a:p>
            <a:pPr>
              <a:lnSpc>
                <a:spcPct val="150000"/>
              </a:lnSpc>
              <a:buNone/>
            </a:pPr>
            <a:r>
              <a:rPr lang="en-US" sz="2000" dirty="0" smtClean="0"/>
              <a:t>※ </a:t>
            </a:r>
            <a:r>
              <a:rPr lang="zh-CN" altLang="en-US" sz="2000" dirty="0" smtClean="0"/>
              <a:t>掌握通过无线网络接入</a:t>
            </a:r>
            <a:r>
              <a:rPr lang="en-US" sz="2000" dirty="0" smtClean="0"/>
              <a:t>Internet;</a:t>
            </a:r>
            <a:endParaRPr lang="zh-CN" altLang="en-US" sz="2000" dirty="0" smtClean="0"/>
          </a:p>
          <a:p>
            <a:pPr>
              <a:lnSpc>
                <a:spcPct val="150000"/>
              </a:lnSpc>
              <a:buNone/>
            </a:pPr>
            <a:r>
              <a:rPr lang="en-US" sz="2000" dirty="0" smtClean="0"/>
              <a:t>※ </a:t>
            </a:r>
            <a:r>
              <a:rPr lang="zh-CN" altLang="en-US" sz="2000" dirty="0" smtClean="0"/>
              <a:t>掌握通过拨号网络接入</a:t>
            </a:r>
            <a:r>
              <a:rPr lang="en-US" sz="2000" dirty="0" smtClean="0"/>
              <a:t>Internet;</a:t>
            </a:r>
            <a:endParaRPr lang="zh-CN" altLang="en-US" sz="2000" dirty="0" smtClean="0"/>
          </a:p>
          <a:p>
            <a:pPr>
              <a:lnSpc>
                <a:spcPct val="150000"/>
              </a:lnSpc>
              <a:buNone/>
            </a:pPr>
            <a:r>
              <a:rPr lang="en-US" sz="2000" dirty="0" smtClean="0"/>
              <a:t>※ </a:t>
            </a:r>
            <a:r>
              <a:rPr lang="zh-CN" altLang="en-US" sz="2000" dirty="0" smtClean="0"/>
              <a:t>了解通过代理服务器访问</a:t>
            </a:r>
            <a:r>
              <a:rPr lang="en-US" sz="2000" dirty="0" smtClean="0"/>
              <a:t>Internet</a:t>
            </a:r>
            <a:r>
              <a:rPr lang="zh-CN" altLang="en-US" sz="2000" dirty="0" smtClean="0"/>
              <a:t>的方法</a:t>
            </a:r>
            <a:r>
              <a:rPr lang="en-US" sz="2000" dirty="0" smtClean="0"/>
              <a:t>;</a:t>
            </a:r>
            <a:endParaRPr lang="zh-CN" altLang="en-US" sz="2000" dirty="0" smtClean="0"/>
          </a:p>
          <a:p>
            <a:pPr>
              <a:lnSpc>
                <a:spcPct val="150000"/>
              </a:lnSpc>
              <a:buNone/>
            </a:pPr>
            <a:r>
              <a:rPr lang="en-US" sz="2000" dirty="0" smtClean="0"/>
              <a:t>※ </a:t>
            </a:r>
            <a:r>
              <a:rPr lang="zh-CN" altLang="en-US" sz="2000" dirty="0" smtClean="0"/>
              <a:t>了解网络检测的简单方法。</a:t>
            </a:r>
            <a:endParaRPr lang="zh-CN" altLang="en-US" sz="2000" dirty="0"/>
          </a:p>
        </p:txBody>
      </p:sp>
      <p:pic>
        <p:nvPicPr>
          <p:cNvPr id="6" name="学习目标.EPS" descr="id:2147496553;FounderCES"/>
          <p:cNvPicPr/>
          <p:nvPr/>
        </p:nvPicPr>
        <p:blipFill>
          <a:blip r:embed="rId4"/>
          <a:stretch>
            <a:fillRect/>
          </a:stretch>
        </p:blipFill>
        <p:spPr>
          <a:xfrm>
            <a:off x="2309786" y="2357430"/>
            <a:ext cx="1714512" cy="50006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6.3.1</a:t>
            </a:r>
            <a:r>
              <a:rPr lang="zh-CN" altLang="en-US" dirty="0" smtClean="0"/>
              <a:t>　</a:t>
            </a:r>
            <a:r>
              <a:rPr lang="en-US" dirty="0" smtClean="0"/>
              <a:t>Internet</a:t>
            </a:r>
            <a:r>
              <a:rPr lang="zh-CN" altLang="en-US" dirty="0" smtClean="0"/>
              <a:t>的常用接入方式</a:t>
            </a:r>
            <a:endParaRPr lang="zh-CN" altLang="en-US" dirty="0" smtClean="0"/>
          </a:p>
          <a:p>
            <a:pPr>
              <a:lnSpc>
                <a:spcPct val="150000"/>
              </a:lnSpc>
              <a:buNone/>
            </a:pPr>
            <a:r>
              <a:rPr lang="zh-CN" altLang="en-US" sz="2000" dirty="0" smtClean="0"/>
              <a:t>       接入互联网的方式有多种</a:t>
            </a:r>
            <a:r>
              <a:rPr lang="en-US" sz="2000" dirty="0" smtClean="0"/>
              <a:t>,</a:t>
            </a:r>
            <a:r>
              <a:rPr lang="zh-CN" altLang="en-US" sz="2000" dirty="0" smtClean="0"/>
              <a:t>例如</a:t>
            </a:r>
            <a:r>
              <a:rPr lang="en-US" sz="2000" dirty="0" smtClean="0"/>
              <a:t>,</a:t>
            </a:r>
            <a:r>
              <a:rPr lang="zh-CN" altLang="en-US" sz="2000" dirty="0" smtClean="0"/>
              <a:t>拨号连接、</a:t>
            </a:r>
            <a:r>
              <a:rPr lang="en-US" sz="2000" dirty="0" smtClean="0"/>
              <a:t>ISDN</a:t>
            </a:r>
            <a:r>
              <a:rPr lang="zh-CN" altLang="en-US" sz="2000" dirty="0" smtClean="0"/>
              <a:t>连接、</a:t>
            </a:r>
            <a:r>
              <a:rPr lang="en-US" sz="2000" dirty="0" smtClean="0"/>
              <a:t>ADSL</a:t>
            </a:r>
            <a:r>
              <a:rPr lang="zh-CN" altLang="en-US" sz="2000" dirty="0" smtClean="0"/>
              <a:t>连接、</a:t>
            </a:r>
            <a:r>
              <a:rPr lang="en-US" sz="2000" dirty="0" smtClean="0"/>
              <a:t>DDN</a:t>
            </a:r>
            <a:r>
              <a:rPr lang="zh-CN" altLang="en-US" sz="2000" dirty="0" smtClean="0"/>
              <a:t>连接、无线连接、电力线连接等多种方式。</a:t>
            </a:r>
            <a:endParaRPr lang="zh-CN" altLang="en-US" sz="2000" dirty="0" smtClean="0"/>
          </a:p>
          <a:p>
            <a:pPr>
              <a:lnSpc>
                <a:spcPct val="150000"/>
              </a:lnSpc>
            </a:pPr>
            <a:r>
              <a:rPr lang="en-US" dirty="0" smtClean="0"/>
              <a:t>6.3.2</a:t>
            </a:r>
            <a:r>
              <a:rPr lang="zh-CN" altLang="en-US" dirty="0" smtClean="0"/>
              <a:t>　通过局域网接入</a:t>
            </a:r>
            <a:r>
              <a:rPr lang="en-US" dirty="0" smtClean="0"/>
              <a:t>Internet</a:t>
            </a:r>
            <a:endParaRPr lang="zh-CN" altLang="en-US" dirty="0" smtClean="0"/>
          </a:p>
          <a:p>
            <a:pPr>
              <a:lnSpc>
                <a:spcPct val="150000"/>
              </a:lnSpc>
              <a:buNone/>
            </a:pPr>
            <a:r>
              <a:rPr lang="zh-CN" altLang="en-US" sz="2000" dirty="0" smtClean="0"/>
              <a:t>      目前</a:t>
            </a:r>
            <a:r>
              <a:rPr lang="en-US" sz="2000" dirty="0" smtClean="0"/>
              <a:t>,</a:t>
            </a:r>
            <a:r>
              <a:rPr lang="zh-CN" altLang="en-US" sz="2000" dirty="0" smtClean="0"/>
              <a:t>很多单位已经建立了局域网</a:t>
            </a:r>
            <a:r>
              <a:rPr lang="en-US" sz="2000" dirty="0" smtClean="0"/>
              <a:t>,</a:t>
            </a:r>
            <a:r>
              <a:rPr lang="zh-CN" altLang="en-US" sz="2000" dirty="0" smtClean="0"/>
              <a:t>例如</a:t>
            </a:r>
            <a:r>
              <a:rPr lang="en-US" sz="2000" dirty="0" smtClean="0"/>
              <a:t>Novell</a:t>
            </a:r>
            <a:r>
              <a:rPr lang="zh-CN" altLang="en-US" sz="2000" dirty="0" smtClean="0"/>
              <a:t>网、</a:t>
            </a:r>
            <a:r>
              <a:rPr lang="en-US" sz="2000" dirty="0" smtClean="0"/>
              <a:t>NT</a:t>
            </a:r>
            <a:r>
              <a:rPr lang="zh-CN" altLang="en-US" sz="2000" dirty="0" smtClean="0"/>
              <a:t>网等</a:t>
            </a:r>
            <a:r>
              <a:rPr lang="en-US" sz="2000" dirty="0" smtClean="0"/>
              <a:t>,</a:t>
            </a:r>
            <a:r>
              <a:rPr lang="zh-CN" altLang="en-US" sz="2000" dirty="0" smtClean="0"/>
              <a:t>如果能将这种局域网与</a:t>
            </a:r>
            <a:r>
              <a:rPr lang="en-US" sz="2000" dirty="0" smtClean="0"/>
              <a:t>Internet</a:t>
            </a:r>
            <a:r>
              <a:rPr lang="zh-CN" altLang="en-US" sz="2000" dirty="0" smtClean="0"/>
              <a:t>的一台主机连接起来</a:t>
            </a:r>
            <a:r>
              <a:rPr lang="en-US" sz="2000" dirty="0" smtClean="0"/>
              <a:t>,</a:t>
            </a:r>
            <a:r>
              <a:rPr lang="zh-CN" altLang="en-US" sz="2000" dirty="0" smtClean="0"/>
              <a:t>那么</a:t>
            </a:r>
            <a:r>
              <a:rPr lang="en-US" sz="2000" dirty="0" smtClean="0"/>
              <a:t>,</a:t>
            </a:r>
            <a:r>
              <a:rPr lang="zh-CN" altLang="en-US" sz="2000" dirty="0" smtClean="0"/>
              <a:t>无须增加设备</a:t>
            </a:r>
            <a:r>
              <a:rPr lang="en-US" sz="2000" dirty="0" smtClean="0"/>
              <a:t>,</a:t>
            </a:r>
            <a:r>
              <a:rPr lang="zh-CN" altLang="en-US" sz="2000" dirty="0" smtClean="0"/>
              <a:t>单位内的所有用户就能进入并访问</a:t>
            </a:r>
            <a:r>
              <a:rPr lang="en-US" sz="2000" dirty="0" smtClean="0"/>
              <a:t>Internet</a:t>
            </a:r>
            <a:r>
              <a:rPr lang="zh-CN" altLang="en-US" sz="2000" dirty="0" smtClean="0"/>
              <a:t>。 </a:t>
            </a:r>
            <a:endParaRPr lang="zh-CN" altLang="en-US" sz="2000"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6.3.3</a:t>
            </a:r>
            <a:r>
              <a:rPr lang="zh-CN" altLang="en-US" dirty="0" smtClean="0"/>
              <a:t>　通过无线网络接入</a:t>
            </a:r>
            <a:r>
              <a:rPr lang="en-US" dirty="0" smtClean="0"/>
              <a:t>Internet</a:t>
            </a:r>
            <a:endParaRPr lang="zh-CN" altLang="en-US" dirty="0" smtClean="0"/>
          </a:p>
          <a:p>
            <a:pPr>
              <a:lnSpc>
                <a:spcPct val="150000"/>
              </a:lnSpc>
              <a:buNone/>
            </a:pPr>
            <a:r>
              <a:rPr lang="en-US" sz="2000" dirty="0" smtClean="0"/>
              <a:t>      WAP( Wireless Application Protocol)</a:t>
            </a:r>
            <a:r>
              <a:rPr lang="zh-CN" altLang="en-US" sz="2000" dirty="0" smtClean="0"/>
              <a:t>即无线应用协议。这是一个使用户借助无线手持设备</a:t>
            </a:r>
            <a:r>
              <a:rPr lang="en-US" sz="2000" dirty="0" smtClean="0"/>
              <a:t>(</a:t>
            </a:r>
            <a:r>
              <a:rPr lang="zh-CN" altLang="en-US" sz="2000" dirty="0" smtClean="0"/>
              <a:t>如掌上电脑、手机等</a:t>
            </a:r>
            <a:r>
              <a:rPr lang="en-US" sz="2000" dirty="0" smtClean="0"/>
              <a:t>)</a:t>
            </a:r>
            <a:r>
              <a:rPr lang="zh-CN" altLang="en-US" sz="2000" dirty="0" smtClean="0"/>
              <a:t>获取信息的安全标准。</a:t>
            </a:r>
            <a:endParaRPr lang="zh-CN" altLang="en-US" sz="2000" dirty="0" smtClean="0"/>
          </a:p>
          <a:p>
            <a:pPr>
              <a:lnSpc>
                <a:spcPct val="150000"/>
              </a:lnSpc>
            </a:pPr>
            <a:r>
              <a:rPr lang="en-US" dirty="0" smtClean="0"/>
              <a:t>6.3.4</a:t>
            </a:r>
            <a:r>
              <a:rPr lang="zh-CN" altLang="en-US" dirty="0" smtClean="0"/>
              <a:t>　通过拨号网络接入</a:t>
            </a:r>
            <a:r>
              <a:rPr lang="en-US" dirty="0" smtClean="0"/>
              <a:t>Internet</a:t>
            </a:r>
            <a:endParaRPr lang="zh-CN" altLang="en-US" dirty="0" smtClean="0"/>
          </a:p>
          <a:p>
            <a:pPr>
              <a:lnSpc>
                <a:spcPct val="150000"/>
              </a:lnSpc>
              <a:buNone/>
            </a:pPr>
            <a:r>
              <a:rPr lang="zh-CN" altLang="en-US" sz="2000" dirty="0" smtClean="0"/>
              <a:t>      拨号上网是指以拨号接入的方式使电脑连接到</a:t>
            </a:r>
            <a:r>
              <a:rPr lang="en-US" sz="2000" dirty="0" smtClean="0"/>
              <a:t>Internet</a:t>
            </a:r>
            <a:r>
              <a:rPr lang="zh-CN" altLang="en-US" sz="2000" dirty="0" smtClean="0"/>
              <a:t>。拨号接入是指计算机在设置相关软件和协议后</a:t>
            </a:r>
            <a:r>
              <a:rPr lang="en-US" sz="2000" dirty="0" smtClean="0"/>
              <a:t>,</a:t>
            </a:r>
            <a:r>
              <a:rPr lang="zh-CN" altLang="en-US" sz="2000" dirty="0" smtClean="0"/>
              <a:t>通过调制解调器与普通电话线连接</a:t>
            </a:r>
            <a:r>
              <a:rPr lang="en-US" sz="2000" dirty="0" smtClean="0"/>
              <a:t>,</a:t>
            </a:r>
            <a:r>
              <a:rPr lang="zh-CN" altLang="en-US" sz="2000" dirty="0" smtClean="0"/>
              <a:t>接入互联网的服务。</a:t>
            </a:r>
            <a:endParaRPr lang="zh-CN"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6.3.5</a:t>
            </a:r>
            <a:r>
              <a:rPr lang="zh-CN" altLang="en-US" dirty="0" smtClean="0"/>
              <a:t>　通过代理服务器访问</a:t>
            </a:r>
            <a:r>
              <a:rPr lang="en-US" dirty="0" smtClean="0"/>
              <a:t>Internet</a:t>
            </a:r>
            <a:endParaRPr lang="zh-CN" altLang="en-US" dirty="0" smtClean="0"/>
          </a:p>
          <a:p>
            <a:pPr>
              <a:lnSpc>
                <a:spcPct val="150000"/>
              </a:lnSpc>
              <a:buFont typeface="Wingdings" panose="05000000000000000000" pitchFamily="2" charset="2"/>
              <a:buChar char="Ø"/>
            </a:pPr>
            <a:r>
              <a:rPr lang="en-US" sz="2000" dirty="0" smtClean="0"/>
              <a:t>1.</a:t>
            </a:r>
            <a:r>
              <a:rPr lang="zh-CN" altLang="en-US" sz="2000" dirty="0" smtClean="0"/>
              <a:t>代理服务器的概念</a:t>
            </a:r>
            <a:endParaRPr lang="zh-CN" altLang="en-US" sz="2000" dirty="0" smtClean="0"/>
          </a:p>
          <a:p>
            <a:pPr>
              <a:lnSpc>
                <a:spcPct val="150000"/>
              </a:lnSpc>
              <a:buNone/>
            </a:pPr>
            <a:r>
              <a:rPr lang="zh-CN" altLang="en-US" sz="2000" dirty="0" smtClean="0"/>
              <a:t>       随着</a:t>
            </a:r>
            <a:r>
              <a:rPr lang="en-US" sz="2000" dirty="0" smtClean="0"/>
              <a:t>Internet</a:t>
            </a:r>
            <a:r>
              <a:rPr lang="zh-CN" altLang="en-US" sz="2000" dirty="0" smtClean="0"/>
              <a:t>技术的迅速发展</a:t>
            </a:r>
            <a:r>
              <a:rPr lang="en-US" sz="2000" dirty="0" smtClean="0"/>
              <a:t>,</a:t>
            </a:r>
            <a:r>
              <a:rPr lang="zh-CN" altLang="en-US" sz="2000" dirty="0" smtClean="0"/>
              <a:t>越来越多的计算机连入了</a:t>
            </a:r>
            <a:r>
              <a:rPr lang="en-US" sz="2000" dirty="0" smtClean="0"/>
              <a:t>Internet</a:t>
            </a:r>
            <a:r>
              <a:rPr lang="zh-CN" altLang="en-US" sz="2000" dirty="0" smtClean="0"/>
              <a:t>。</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代理服务器的功能</a:t>
            </a:r>
            <a:endParaRPr lang="zh-CN" altLang="en-US" sz="2000" dirty="0" smtClean="0"/>
          </a:p>
          <a:p>
            <a:pPr>
              <a:lnSpc>
                <a:spcPct val="150000"/>
              </a:lnSpc>
              <a:buNone/>
            </a:pPr>
            <a:r>
              <a:rPr lang="en-US" sz="2000" dirty="0" smtClean="0"/>
              <a:t>(1)</a:t>
            </a:r>
            <a:r>
              <a:rPr lang="zh-CN" altLang="en-US" sz="2000" dirty="0" smtClean="0"/>
              <a:t>充当局域网与外部网络的连接出口。    </a:t>
            </a:r>
            <a:r>
              <a:rPr lang="en-US" sz="2000" dirty="0" smtClean="0"/>
              <a:t>(2)</a:t>
            </a:r>
            <a:r>
              <a:rPr lang="zh-CN" altLang="en-US" sz="2000" dirty="0" smtClean="0"/>
              <a:t>作为防火墙。</a:t>
            </a:r>
            <a:endParaRPr lang="zh-CN" altLang="en-US" sz="2000" dirty="0" smtClean="0"/>
          </a:p>
          <a:p>
            <a:pPr>
              <a:lnSpc>
                <a:spcPct val="150000"/>
              </a:lnSpc>
              <a:buNone/>
            </a:pPr>
            <a:r>
              <a:rPr lang="en-US" sz="2000" dirty="0" smtClean="0"/>
              <a:t>(3)</a:t>
            </a:r>
            <a:r>
              <a:rPr lang="zh-CN" altLang="en-US" sz="2000" dirty="0" smtClean="0"/>
              <a:t>网址过滤和访问权限限制。    </a:t>
            </a:r>
            <a:r>
              <a:rPr lang="en-US" sz="2000" dirty="0" smtClean="0"/>
              <a:t>(4)</a:t>
            </a:r>
            <a:r>
              <a:rPr lang="zh-CN" altLang="en-US" sz="2000" dirty="0" smtClean="0"/>
              <a:t>提高访问速度。</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代理服务器的配置</a:t>
            </a:r>
            <a:endParaRPr lang="zh-CN" alt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en-US" dirty="0" smtClean="0"/>
              <a:t>6.3.6</a:t>
            </a:r>
            <a:r>
              <a:rPr lang="zh-CN" altLang="en-US" dirty="0" smtClean="0"/>
              <a:t>　网络检测的简单方法</a:t>
            </a:r>
            <a:endParaRPr lang="zh-CN" altLang="en-US" dirty="0" smtClean="0"/>
          </a:p>
          <a:p>
            <a:pPr>
              <a:lnSpc>
                <a:spcPct val="150000"/>
              </a:lnSpc>
              <a:buNone/>
            </a:pPr>
            <a:r>
              <a:rPr lang="zh-CN" altLang="en-US" sz="2000" dirty="0" smtClean="0"/>
              <a:t>       随着网络应用的日益广泛</a:t>
            </a:r>
            <a:r>
              <a:rPr lang="en-US" sz="2000" dirty="0" smtClean="0"/>
              <a:t>,</a:t>
            </a:r>
            <a:r>
              <a:rPr lang="zh-CN" altLang="en-US" sz="2000" dirty="0" smtClean="0"/>
              <a:t>网络故障的检测对解决网络故障就显得非常重要。在网络管理中</a:t>
            </a:r>
            <a:r>
              <a:rPr lang="en-US" sz="2000" dirty="0" smtClean="0"/>
              <a:t>,</a:t>
            </a:r>
            <a:r>
              <a:rPr lang="zh-CN" altLang="en-US" sz="2000" dirty="0" smtClean="0"/>
              <a:t>利用</a:t>
            </a:r>
            <a:r>
              <a:rPr lang="en-US" sz="2000" dirty="0" smtClean="0"/>
              <a:t>ping</a:t>
            </a:r>
            <a:r>
              <a:rPr lang="zh-CN" altLang="en-US" sz="2000" dirty="0" smtClean="0"/>
              <a:t>、</a:t>
            </a:r>
            <a:r>
              <a:rPr lang="en-US" sz="2000" dirty="0" smtClean="0"/>
              <a:t>ipconfig</a:t>
            </a:r>
            <a:r>
              <a:rPr lang="zh-CN" altLang="en-US" sz="2000" dirty="0" smtClean="0"/>
              <a:t>命令可以简单检测是否联网成功。 </a:t>
            </a:r>
            <a:endParaRPr lang="zh-CN" altLang="en-US" sz="2000" dirty="0" smtClean="0"/>
          </a:p>
        </p:txBody>
      </p:sp>
      <p:graphicFrame>
        <p:nvGraphicFramePr>
          <p:cNvPr id="7" name="图示 6"/>
          <p:cNvGraphicFramePr/>
          <p:nvPr/>
        </p:nvGraphicFramePr>
        <p:xfrm>
          <a:off x="3095604" y="4143380"/>
          <a:ext cx="5643602" cy="13573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说明计算机网络的含义。</a:t>
            </a:r>
            <a:endParaRPr lang="zh-CN" altLang="en-US" sz="2000" dirty="0" smtClean="0"/>
          </a:p>
          <a:p>
            <a:pPr>
              <a:lnSpc>
                <a:spcPct val="150000"/>
              </a:lnSpc>
              <a:buNone/>
            </a:pPr>
            <a:r>
              <a:rPr lang="en-US" sz="2000" dirty="0" smtClean="0"/>
              <a:t>2.</a:t>
            </a:r>
            <a:r>
              <a:rPr lang="zh-CN" altLang="en-US" sz="2000" dirty="0" smtClean="0"/>
              <a:t>说明</a:t>
            </a:r>
            <a:r>
              <a:rPr lang="en-US" sz="2000" dirty="0" smtClean="0"/>
              <a:t>ISO/OSI</a:t>
            </a:r>
            <a:r>
              <a:rPr lang="zh-CN" altLang="en-US" sz="2000" dirty="0" smtClean="0"/>
              <a:t>网路参考模型的组成。</a:t>
            </a:r>
            <a:endParaRPr lang="zh-CN" altLang="en-US" sz="2000" dirty="0" smtClean="0"/>
          </a:p>
          <a:p>
            <a:pPr>
              <a:lnSpc>
                <a:spcPct val="150000"/>
              </a:lnSpc>
              <a:buNone/>
            </a:pPr>
            <a:r>
              <a:rPr lang="en-US" sz="2000" dirty="0" smtClean="0"/>
              <a:t>3.</a:t>
            </a:r>
            <a:r>
              <a:rPr lang="zh-CN" altLang="en-US" sz="2000" dirty="0" smtClean="0"/>
              <a:t>什么是网络协议</a:t>
            </a:r>
            <a:r>
              <a:rPr lang="en-US" sz="2000" dirty="0" smtClean="0"/>
              <a:t>?</a:t>
            </a:r>
            <a:r>
              <a:rPr lang="zh-CN" altLang="en-US" sz="2000" dirty="0" smtClean="0"/>
              <a:t>常见的网络协议有哪些</a:t>
            </a:r>
            <a:r>
              <a:rPr lang="en-US" sz="2000" dirty="0" smtClean="0"/>
              <a:t>?</a:t>
            </a:r>
            <a:endParaRPr lang="zh-CN" altLang="en-US" sz="2000" dirty="0" smtClean="0"/>
          </a:p>
          <a:p>
            <a:pPr>
              <a:lnSpc>
                <a:spcPct val="150000"/>
              </a:lnSpc>
              <a:buNone/>
            </a:pPr>
            <a:r>
              <a:rPr lang="en-US" sz="2000" dirty="0" smtClean="0"/>
              <a:t>4.</a:t>
            </a:r>
            <a:r>
              <a:rPr lang="zh-CN" altLang="en-US" sz="2000" dirty="0" smtClean="0"/>
              <a:t>局域网包括哪些设备</a:t>
            </a:r>
            <a:r>
              <a:rPr lang="en-US" sz="2000" dirty="0" smtClean="0"/>
              <a:t>?</a:t>
            </a:r>
            <a:r>
              <a:rPr lang="zh-CN" altLang="en-US" sz="2000" dirty="0" smtClean="0"/>
              <a:t>广域网包括哪些设备</a:t>
            </a:r>
            <a:r>
              <a:rPr lang="en-US" sz="2000" dirty="0" smtClean="0"/>
              <a:t>?</a:t>
            </a:r>
            <a:endParaRPr lang="zh-CN" altLang="en-US" sz="2000" dirty="0" smtClean="0"/>
          </a:p>
          <a:p>
            <a:pPr>
              <a:lnSpc>
                <a:spcPct val="150000"/>
              </a:lnSpc>
              <a:buNone/>
            </a:pPr>
            <a:r>
              <a:rPr lang="en-US" sz="2000" dirty="0" smtClean="0"/>
              <a:t>5.</a:t>
            </a:r>
            <a:r>
              <a:rPr lang="zh-CN" altLang="en-US" sz="2000" dirty="0" smtClean="0"/>
              <a:t>说明</a:t>
            </a:r>
            <a:r>
              <a:rPr lang="en-US" sz="2000" dirty="0" smtClean="0"/>
              <a:t>TCP/IP</a:t>
            </a:r>
            <a:r>
              <a:rPr lang="zh-CN" altLang="en-US" sz="2000" dirty="0" smtClean="0"/>
              <a:t>的作用、网桥的作用。</a:t>
            </a:r>
            <a:endParaRPr lang="zh-CN" altLang="en-US" sz="2000" dirty="0" smtClean="0"/>
          </a:p>
          <a:p>
            <a:pPr>
              <a:lnSpc>
                <a:spcPct val="150000"/>
              </a:lnSpc>
              <a:buNone/>
            </a:pPr>
            <a:r>
              <a:rPr lang="en-US" sz="2000" dirty="0" smtClean="0"/>
              <a:t>6.</a:t>
            </a:r>
            <a:r>
              <a:rPr lang="zh-CN" altLang="en-US" sz="2000" dirty="0" smtClean="0"/>
              <a:t>说明</a:t>
            </a:r>
            <a:r>
              <a:rPr lang="en-US" sz="2000" dirty="0" smtClean="0"/>
              <a:t>IP</a:t>
            </a:r>
            <a:r>
              <a:rPr lang="zh-CN" altLang="en-US" sz="2000" dirty="0" smtClean="0"/>
              <a:t>地址与域名地址的关系。</a:t>
            </a:r>
            <a:endParaRPr lang="zh-CN" altLang="en-US" sz="2000" dirty="0" smtClean="0"/>
          </a:p>
          <a:p>
            <a:pPr>
              <a:lnSpc>
                <a:spcPct val="150000"/>
              </a:lnSpc>
              <a:buNone/>
            </a:pPr>
            <a:r>
              <a:rPr lang="en-US" sz="2000" dirty="0" smtClean="0"/>
              <a:t>7.</a:t>
            </a:r>
            <a:r>
              <a:rPr lang="zh-CN" altLang="en-US" sz="2000" dirty="0" smtClean="0"/>
              <a:t>接入互联网有哪些方式</a:t>
            </a:r>
            <a:r>
              <a:rPr lang="en-US" sz="2000" dirty="0" smtClean="0"/>
              <a:t>?</a:t>
            </a:r>
            <a:endParaRPr lang="zh-CN" altLang="en-US"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638"/>
            <a:ext cx="8291264" cy="1143000"/>
          </a:xfrm>
        </p:spPr>
        <p:txBody>
          <a:bodyPr>
            <a:normAutofit/>
          </a:bodyPr>
          <a:lstStyle/>
          <a:p>
            <a:pPr algn="r"/>
            <a:r>
              <a:rPr lang="zh-CN" altLang="en-US" sz="2800" dirty="0" smtClean="0">
                <a:solidFill>
                  <a:schemeClr val="accent1">
                    <a:lumMod val="75000"/>
                  </a:schemeClr>
                </a:solidFill>
                <a:latin typeface="方正姚体" pitchFamily="2" charset="-122"/>
                <a:ea typeface="方正姚体" pitchFamily="2" charset="-122"/>
              </a:rPr>
              <a:t>第</a:t>
            </a:r>
            <a:r>
              <a:rPr lang="en-US" sz="2800" dirty="0" smtClean="0">
                <a:solidFill>
                  <a:schemeClr val="accent1">
                    <a:lumMod val="75000"/>
                  </a:schemeClr>
                </a:solidFill>
                <a:latin typeface="方正姚体" pitchFamily="2" charset="-122"/>
                <a:ea typeface="方正姚体" pitchFamily="2" charset="-122"/>
              </a:rPr>
              <a:t>6</a:t>
            </a:r>
            <a:r>
              <a:rPr lang="zh-CN" altLang="en-US" sz="2800" dirty="0" smtClean="0">
                <a:solidFill>
                  <a:schemeClr val="accent1">
                    <a:lumMod val="75000"/>
                  </a:schemeClr>
                </a:solidFill>
                <a:latin typeface="方正姚体" pitchFamily="2" charset="-122"/>
                <a:ea typeface="方正姚体" pitchFamily="2" charset="-122"/>
              </a:rPr>
              <a:t>章    计算机网络基础</a:t>
            </a:r>
            <a:br>
              <a:rPr lang="en-US" altLang="zh-CN" sz="2800" dirty="0" smtClean="0">
                <a:solidFill>
                  <a:schemeClr val="accent1">
                    <a:lumMod val="75000"/>
                  </a:schemeClr>
                </a:solidFill>
                <a:latin typeface="方正姚体" pitchFamily="2" charset="-122"/>
                <a:ea typeface="方正姚体" pitchFamily="2" charset="-122"/>
              </a:rPr>
            </a:br>
            <a:endParaRPr lang="zh-CN" altLang="en-US" sz="2800" dirty="0">
              <a:solidFill>
                <a:schemeClr val="accent1">
                  <a:lumMod val="75000"/>
                </a:schemeClr>
              </a:solidFill>
              <a:latin typeface="方正姚体" pitchFamily="2" charset="-122"/>
              <a:ea typeface="方正姚体" pitchFamily="2" charset="-122"/>
            </a:endParaRPr>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189441" name="4a7a.jpg"/>
          <p:cNvPicPr>
            <a:picLocks noChangeAspect="1" noChangeArrowheads="1"/>
          </p:cNvPicPr>
          <p:nvPr/>
        </p:nvPicPr>
        <p:blipFill>
          <a:blip r:embed="rId3" cstate="print"/>
          <a:srcRect/>
          <a:stretch>
            <a:fillRect/>
          </a:stretch>
        </p:blipFill>
        <p:spPr bwMode="auto">
          <a:xfrm>
            <a:off x="1524000" y="0"/>
            <a:ext cx="180975" cy="104775"/>
          </a:xfrm>
          <a:prstGeom prst="rect">
            <a:avLst/>
          </a:prstGeom>
          <a:noFill/>
        </p:spPr>
      </p:pic>
      <p:sp>
        <p:nvSpPr>
          <p:cNvPr id="9" name="内容占位符 8"/>
          <p:cNvSpPr>
            <a:spLocks noGrp="1"/>
          </p:cNvSpPr>
          <p:nvPr>
            <p:ph sz="quarter" idx="1"/>
          </p:nvPr>
        </p:nvSpPr>
        <p:spPr>
          <a:xfrm>
            <a:off x="1981200" y="1600200"/>
            <a:ext cx="7901014" cy="4873752"/>
          </a:xfrm>
        </p:spPr>
        <p:txBody>
          <a:bodyPr>
            <a:noAutofit/>
          </a:bodyPr>
          <a:lstStyle/>
          <a:p>
            <a:pPr>
              <a:lnSpc>
                <a:spcPct val="150000"/>
              </a:lnSpc>
              <a:buFont typeface="Wingdings" panose="05000000000000000000" pitchFamily="2" charset="2"/>
              <a:buChar char="Ø"/>
            </a:pPr>
            <a:r>
              <a:rPr lang="zh-CN" altLang="en-US" sz="2000" dirty="0" smtClean="0"/>
              <a:t>二、操作题</a:t>
            </a:r>
            <a:endParaRPr lang="zh-CN" altLang="en-US" sz="2000" dirty="0" smtClean="0"/>
          </a:p>
          <a:p>
            <a:pPr>
              <a:lnSpc>
                <a:spcPct val="150000"/>
              </a:lnSpc>
              <a:buNone/>
            </a:pPr>
            <a:r>
              <a:rPr lang="en-US" sz="2000" dirty="0" smtClean="0"/>
              <a:t>1.</a:t>
            </a:r>
            <a:r>
              <a:rPr lang="zh-CN" altLang="en-US" sz="2000" dirty="0" smtClean="0"/>
              <a:t>将你的计算机接入互联网</a:t>
            </a:r>
            <a:r>
              <a:rPr lang="en-US" sz="2000" dirty="0" smtClean="0"/>
              <a:t>,</a:t>
            </a:r>
            <a:r>
              <a:rPr lang="zh-CN" altLang="en-US" sz="2000" dirty="0" smtClean="0"/>
              <a:t>并说明你的计算机</a:t>
            </a:r>
            <a:r>
              <a:rPr lang="en-US" sz="2000" dirty="0" smtClean="0"/>
              <a:t>IP</a:t>
            </a:r>
            <a:r>
              <a:rPr lang="zh-CN" altLang="en-US" sz="2000" dirty="0" smtClean="0"/>
              <a:t>地址。</a:t>
            </a:r>
            <a:endParaRPr lang="zh-CN" altLang="en-US" sz="2000" dirty="0" smtClean="0"/>
          </a:p>
          <a:p>
            <a:pPr>
              <a:lnSpc>
                <a:spcPct val="150000"/>
              </a:lnSpc>
              <a:buNone/>
            </a:pPr>
            <a:r>
              <a:rPr lang="en-US" sz="2000" dirty="0" smtClean="0"/>
              <a:t>2.</a:t>
            </a:r>
            <a:r>
              <a:rPr lang="zh-CN" altLang="en-US" sz="2000" dirty="0" smtClean="0"/>
              <a:t>检测你的计算机能否连入</a:t>
            </a:r>
            <a:r>
              <a:rPr lang="en-US" sz="2000" dirty="0" smtClean="0"/>
              <a:t>www.163.com</a:t>
            </a:r>
            <a:r>
              <a:rPr lang="zh-CN" altLang="en-US" sz="2000" dirty="0" smtClean="0"/>
              <a:t>网站。</a:t>
            </a:r>
            <a:endParaRPr lang="en-US" altLang="zh-CN" sz="2000" dirty="0" smtClean="0"/>
          </a:p>
          <a:p>
            <a:pPr>
              <a:lnSpc>
                <a:spcPct val="150000"/>
              </a:lnSpc>
              <a:buNone/>
            </a:pPr>
            <a:endParaRPr lang="zh-CN" altLang="en-US" sz="2000" dirty="0" smtClean="0"/>
          </a:p>
          <a:p>
            <a:pPr>
              <a:lnSpc>
                <a:spcPct val="150000"/>
              </a:lnSpc>
              <a:buFont typeface="Wingdings" panose="05000000000000000000" pitchFamily="2" charset="2"/>
              <a:buChar char="Ø"/>
            </a:pPr>
            <a:r>
              <a:rPr lang="zh-CN" altLang="en-US" sz="2000" dirty="0" smtClean="0"/>
              <a:t>三、单选题</a:t>
            </a:r>
            <a:endParaRPr lang="zh-CN" altLang="en-US" sz="2000" dirty="0" smtClean="0"/>
          </a:p>
          <a:p>
            <a:pPr>
              <a:lnSpc>
                <a:spcPct val="150000"/>
              </a:lnSpc>
              <a:buNone/>
            </a:pPr>
            <a:r>
              <a:rPr lang="en-US" sz="2000" dirty="0" smtClean="0"/>
              <a:t>1.</a:t>
            </a:r>
            <a:r>
              <a:rPr lang="zh-CN" altLang="en-US" sz="2000" dirty="0" smtClean="0"/>
              <a:t>计算机网络是</a:t>
            </a:r>
            <a:r>
              <a:rPr lang="zh-CN" altLang="en-US" sz="2000" u="sng" dirty="0" smtClean="0"/>
              <a:t>　　</a:t>
            </a:r>
            <a:r>
              <a:rPr lang="zh-CN" altLang="en-US" sz="2000" dirty="0" smtClean="0"/>
              <a:t>相结合的产物。</a:t>
            </a:r>
            <a:r>
              <a:rPr lang="en-US" sz="2000" dirty="0" smtClean="0"/>
              <a:t> </a:t>
            </a:r>
            <a:endParaRPr lang="zh-CN" altLang="en-US" sz="2000" dirty="0" smtClean="0"/>
          </a:p>
          <a:p>
            <a:pPr>
              <a:lnSpc>
                <a:spcPct val="150000"/>
              </a:lnSpc>
              <a:buNone/>
            </a:pPr>
            <a:r>
              <a:rPr lang="en-US" sz="2000" dirty="0" smtClean="0"/>
              <a:t>A.</a:t>
            </a:r>
            <a:r>
              <a:rPr lang="zh-CN" altLang="en-US" sz="2000" dirty="0" smtClean="0"/>
              <a:t>计算机技术和通信技术</a:t>
            </a:r>
            <a:r>
              <a:rPr lang="en-US" sz="2000" dirty="0" smtClean="0"/>
              <a:t>	B. </a:t>
            </a:r>
            <a:r>
              <a:rPr lang="zh-CN" altLang="en-US" sz="2000" dirty="0" smtClean="0"/>
              <a:t>计算机技术和信息管理</a:t>
            </a:r>
            <a:endParaRPr lang="zh-CN" altLang="en-US" sz="2000" dirty="0" smtClean="0"/>
          </a:p>
          <a:p>
            <a:pPr>
              <a:lnSpc>
                <a:spcPct val="150000"/>
              </a:lnSpc>
              <a:buNone/>
            </a:pPr>
            <a:r>
              <a:rPr lang="en-US" sz="2000" dirty="0" smtClean="0"/>
              <a:t>C.</a:t>
            </a:r>
            <a:r>
              <a:rPr lang="zh-CN" altLang="en-US" sz="2000" dirty="0" smtClean="0"/>
              <a:t>信息技术和通信技术</a:t>
            </a:r>
            <a:r>
              <a:rPr lang="en-US" sz="2000" dirty="0" smtClean="0"/>
              <a:t>	D. </a:t>
            </a:r>
            <a:r>
              <a:rPr lang="zh-CN" altLang="en-US" sz="2000" dirty="0" smtClean="0"/>
              <a:t>数据处理和通信技术</a:t>
            </a:r>
            <a:endParaRPr lang="en-US" altLang="zh-CN" sz="2000" dirty="0" smtClean="0"/>
          </a:p>
          <a:p>
            <a:pPr>
              <a:lnSpc>
                <a:spcPct val="150000"/>
              </a:lnSpc>
              <a:buNone/>
            </a:pPr>
            <a:r>
              <a:rPr lang="en-US" altLang="zh-CN" sz="2000" dirty="0" smtClean="0"/>
              <a:t>……</a:t>
            </a:r>
            <a:endParaRPr lang="zh-CN" altLang="en-US" sz="2000" dirty="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5498</Words>
  <Application>WPS 演示</Application>
  <PresentationFormat>宽屏</PresentationFormat>
  <Paragraphs>345</Paragraphs>
  <Slides>39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Arial</vt:lpstr>
      <vt:lpstr>宋体</vt:lpstr>
      <vt:lpstr>Wingdings</vt:lpstr>
      <vt:lpstr>Arial Unicode MS</vt:lpstr>
      <vt:lpstr>Calibri</vt:lpstr>
      <vt:lpstr>微软雅黑</vt:lpstr>
      <vt:lpstr>方正姚体</vt:lpstr>
      <vt:lpstr>NEU-BZ</vt:lpstr>
      <vt:lpstr>方正书宋_GBK</vt:lpstr>
      <vt:lpstr>Times New Roman</vt:lpstr>
      <vt:lpstr>Segoe Print</vt:lpstr>
      <vt:lpstr>WPS</vt:lpstr>
      <vt:lpstr>PowerPoint 演示文稿</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lpstr>第6章    计算机网络基础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3</cp:revision>
  <dcterms:created xsi:type="dcterms:W3CDTF">2023-08-09T12:44:00Z</dcterms:created>
  <dcterms:modified xsi:type="dcterms:W3CDTF">2025-02-12T15:33:56Z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