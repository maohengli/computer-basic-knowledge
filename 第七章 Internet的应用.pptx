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2.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1B57866A-81D8-435D-A157-3367722211F8}" type="doc">
      <dgm:prSet loTypeId="urn:microsoft.com/office/officeart/2005/8/layout/vList2" loCatId="list" qsTypeId="urn:microsoft.com/office/officeart/2005/8/quickstyle/simple5" qsCatId="simple" csTypeId="urn:microsoft.com/office/officeart/2005/8/colors/accent1_2" csCatId="accent1"/>
      <dgm:spPr/>
      <dgm:t>
        <a:bodyPr/>
        <a:lstStyle/>
        <a:p>
          <a:endParaRPr lang="zh-CN" altLang="en-US"/>
        </a:p>
      </dgm:t>
    </dgm:pt>
    <dgm:pt modelId="{F0192AC8-43E3-4FF5-BF2A-87982BAF281B}">
      <dgm:prSet/>
      <dgm:spPr/>
      <dgm:t>
        <a:bodyPr/>
        <a:lstStyle/>
        <a:p>
          <a:pPr rtl="0"/>
          <a:r>
            <a:rPr lang="zh-CN" b="1" baseline="0" dirty="0" smtClean="0"/>
            <a:t>计算机应用基础</a:t>
          </a:r>
          <a:endParaRPr lang="zh-CN" b="1" baseline="0" dirty="0"/>
        </a:p>
      </dgm:t>
    </dgm:pt>
    <dgm:pt modelId="{C4E4E130-DCB0-428A-9FE5-22BBBE910632}" cxnId="{5429AF45-1512-4598-A42E-4AC4E8485839}" type="parTrans">
      <dgm:prSet/>
      <dgm:spPr/>
      <dgm:t>
        <a:bodyPr/>
        <a:lstStyle/>
        <a:p>
          <a:endParaRPr lang="zh-CN" altLang="en-US"/>
        </a:p>
      </dgm:t>
    </dgm:pt>
    <dgm:pt modelId="{1BC3EF03-A09B-4381-B408-FE7B1882FC32}" cxnId="{5429AF45-1512-4598-A42E-4AC4E8485839}" type="sibTrans">
      <dgm:prSet/>
      <dgm:spPr/>
      <dgm:t>
        <a:bodyPr/>
        <a:lstStyle/>
        <a:p>
          <a:endParaRPr lang="zh-CN" altLang="en-US"/>
        </a:p>
      </dgm:t>
    </dgm:pt>
    <dgm:pt modelId="{6F362D5F-0BCD-44B4-A7B1-B3D64175853D}" type="pres">
      <dgm:prSet presAssocID="{1B57866A-81D8-435D-A157-3367722211F8}" presName="linear" presStyleCnt="0">
        <dgm:presLayoutVars>
          <dgm:animLvl val="lvl"/>
          <dgm:resizeHandles val="exact"/>
        </dgm:presLayoutVars>
      </dgm:prSet>
      <dgm:spPr/>
      <dgm:t>
        <a:bodyPr/>
        <a:lstStyle/>
        <a:p>
          <a:endParaRPr lang="zh-CN" altLang="en-US"/>
        </a:p>
      </dgm:t>
    </dgm:pt>
    <dgm:pt modelId="{97527EBF-0E0A-4225-BED5-15810BA395FC}" type="pres">
      <dgm:prSet presAssocID="{F0192AC8-43E3-4FF5-BF2A-87982BAF281B}" presName="parentText" presStyleLbl="node1" presStyleIdx="0" presStyleCnt="1">
        <dgm:presLayoutVars>
          <dgm:chMax val="0"/>
          <dgm:bulletEnabled val="1"/>
        </dgm:presLayoutVars>
      </dgm:prSet>
      <dgm:spPr/>
      <dgm:t>
        <a:bodyPr/>
        <a:lstStyle/>
        <a:p>
          <a:endParaRPr lang="zh-CN" altLang="en-US"/>
        </a:p>
      </dgm:t>
    </dgm:pt>
  </dgm:ptLst>
  <dgm:cxnLst>
    <dgm:cxn modelId="{DF225CA3-4BE6-4838-BD2C-E27B259528E6}" type="presOf" srcId="{1B57866A-81D8-435D-A157-3367722211F8}" destId="{6F362D5F-0BCD-44B4-A7B1-B3D64175853D}" srcOrd="0" destOrd="0" presId="urn:microsoft.com/office/officeart/2005/8/layout/vList2"/>
    <dgm:cxn modelId="{5429AF45-1512-4598-A42E-4AC4E8485839}" srcId="{1B57866A-81D8-435D-A157-3367722211F8}" destId="{F0192AC8-43E3-4FF5-BF2A-87982BAF281B}" srcOrd="0" destOrd="0" parTransId="{C4E4E130-DCB0-428A-9FE5-22BBBE910632}" sibTransId="{1BC3EF03-A09B-4381-B408-FE7B1882FC32}"/>
    <dgm:cxn modelId="{F164CD36-7D63-4D81-8FA8-91497452450D}" type="presOf" srcId="{F0192AC8-43E3-4FF5-BF2A-87982BAF281B}" destId="{97527EBF-0E0A-4225-BED5-15810BA395FC}" srcOrd="0" destOrd="0" presId="urn:microsoft.com/office/officeart/2005/8/layout/vList2"/>
    <dgm:cxn modelId="{500DE62B-56FB-4020-BAC1-0C1105E5CE35}" type="presParOf" srcId="{6F362D5F-0BCD-44B4-A7B1-B3D64175853D}" destId="{97527EBF-0E0A-4225-BED5-15810BA395FC}"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EDB8DAC-3E52-4DA5-AD6E-06B5F0FDF352}" type="doc">
      <dgm:prSet loTypeId="urn:microsoft.com/office/officeart/2005/8/layout/process1" loCatId="process" qsTypeId="urn:microsoft.com/office/officeart/2005/8/quickstyle/simple1" qsCatId="simple" csTypeId="urn:microsoft.com/office/officeart/2005/8/colors/colorful2" csCatId="colorful"/>
      <dgm:spPr/>
      <dgm:t>
        <a:bodyPr/>
        <a:lstStyle/>
        <a:p>
          <a:endParaRPr lang="zh-CN" altLang="en-US"/>
        </a:p>
      </dgm:t>
    </dgm:pt>
    <dgm:pt modelId="{5446810E-6F1E-4512-8F54-9DDCC6B28721}">
      <dgm:prSet custT="1"/>
      <dgm:spPr/>
      <dgm:t>
        <a:bodyPr/>
        <a:lstStyle/>
        <a:p>
          <a:pPr rtl="0"/>
          <a:r>
            <a:rPr lang="en-US" sz="1800" dirty="0" smtClean="0"/>
            <a:t>1.</a:t>
          </a:r>
          <a:r>
            <a:rPr lang="zh-CN" sz="1800" dirty="0" smtClean="0"/>
            <a:t>申请电子邮箱</a:t>
          </a:r>
          <a:endParaRPr lang="zh-CN" sz="1800" dirty="0"/>
        </a:p>
      </dgm:t>
    </dgm:pt>
    <dgm:pt modelId="{D55E5F04-E5EE-4058-8823-D3F63A3797E6}" cxnId="{7DC08565-EAA4-4CA9-BFF2-AB5550886E97}" type="parTrans">
      <dgm:prSet/>
      <dgm:spPr/>
      <dgm:t>
        <a:bodyPr/>
        <a:lstStyle/>
        <a:p>
          <a:endParaRPr lang="zh-CN" altLang="en-US" sz="1400"/>
        </a:p>
      </dgm:t>
    </dgm:pt>
    <dgm:pt modelId="{091E6FD5-BBCC-40B1-B630-EB18BE0D535D}" cxnId="{7DC08565-EAA4-4CA9-BFF2-AB5550886E97}" type="sibTrans">
      <dgm:prSet custT="1"/>
      <dgm:spPr/>
      <dgm:t>
        <a:bodyPr/>
        <a:lstStyle/>
        <a:p>
          <a:endParaRPr lang="zh-CN" altLang="en-US" sz="1600"/>
        </a:p>
      </dgm:t>
    </dgm:pt>
    <dgm:pt modelId="{ADC8FF15-916A-472D-AF44-2C5D8B60365D}">
      <dgm:prSet custT="1"/>
      <dgm:spPr/>
      <dgm:t>
        <a:bodyPr/>
        <a:lstStyle/>
        <a:p>
          <a:pPr rtl="0"/>
          <a:r>
            <a:rPr lang="en-US" sz="1800" dirty="0" smtClean="0"/>
            <a:t>2.</a:t>
          </a:r>
          <a:r>
            <a:rPr lang="zh-CN" sz="1800" dirty="0" smtClean="0"/>
            <a:t>管理电子邮箱</a:t>
          </a:r>
          <a:endParaRPr lang="zh-CN" sz="1800" dirty="0"/>
        </a:p>
      </dgm:t>
    </dgm:pt>
    <dgm:pt modelId="{12085170-5DFE-471B-8B60-745E40ED2EA0}" cxnId="{7F22F9AF-B3F6-41EA-99C6-04D31E4B5BB9}" type="parTrans">
      <dgm:prSet/>
      <dgm:spPr/>
      <dgm:t>
        <a:bodyPr/>
        <a:lstStyle/>
        <a:p>
          <a:endParaRPr lang="zh-CN" altLang="en-US" sz="1400"/>
        </a:p>
      </dgm:t>
    </dgm:pt>
    <dgm:pt modelId="{49A18A5F-7C0C-4622-B452-B858C18C43DB}" cxnId="{7F22F9AF-B3F6-41EA-99C6-04D31E4B5BB9}" type="sibTrans">
      <dgm:prSet/>
      <dgm:spPr/>
      <dgm:t>
        <a:bodyPr/>
        <a:lstStyle/>
        <a:p>
          <a:endParaRPr lang="zh-CN" altLang="en-US" sz="1400"/>
        </a:p>
      </dgm:t>
    </dgm:pt>
    <dgm:pt modelId="{EBA82C1A-8CC3-44E0-B572-60AA35950946}" type="pres">
      <dgm:prSet presAssocID="{6EDB8DAC-3E52-4DA5-AD6E-06B5F0FDF352}" presName="Name0" presStyleCnt="0">
        <dgm:presLayoutVars>
          <dgm:dir/>
          <dgm:resizeHandles val="exact"/>
        </dgm:presLayoutVars>
      </dgm:prSet>
      <dgm:spPr/>
      <dgm:t>
        <a:bodyPr/>
        <a:lstStyle/>
        <a:p>
          <a:endParaRPr lang="zh-CN" altLang="en-US"/>
        </a:p>
      </dgm:t>
    </dgm:pt>
    <dgm:pt modelId="{A2EA30F0-473C-4B02-935B-D6D511098BF5}" type="pres">
      <dgm:prSet presAssocID="{5446810E-6F1E-4512-8F54-9DDCC6B28721}" presName="node" presStyleLbl="node1" presStyleIdx="0" presStyleCnt="2">
        <dgm:presLayoutVars>
          <dgm:bulletEnabled val="1"/>
        </dgm:presLayoutVars>
      </dgm:prSet>
      <dgm:spPr/>
      <dgm:t>
        <a:bodyPr/>
        <a:lstStyle/>
        <a:p>
          <a:endParaRPr lang="zh-CN" altLang="en-US"/>
        </a:p>
      </dgm:t>
    </dgm:pt>
    <dgm:pt modelId="{28A74847-571B-4B6A-B5E2-4138813D91A8}" type="pres">
      <dgm:prSet presAssocID="{091E6FD5-BBCC-40B1-B630-EB18BE0D535D}" presName="sibTrans" presStyleLbl="sibTrans2D1" presStyleIdx="0" presStyleCnt="1"/>
      <dgm:spPr/>
      <dgm:t>
        <a:bodyPr/>
        <a:lstStyle/>
        <a:p>
          <a:endParaRPr lang="zh-CN" altLang="en-US"/>
        </a:p>
      </dgm:t>
    </dgm:pt>
    <dgm:pt modelId="{9B6587A5-3A35-4311-97B1-C44EEEBD1E88}" type="pres">
      <dgm:prSet presAssocID="{091E6FD5-BBCC-40B1-B630-EB18BE0D535D}" presName="connectorText" presStyleLbl="sibTrans2D1" presStyleIdx="0" presStyleCnt="1"/>
      <dgm:spPr/>
      <dgm:t>
        <a:bodyPr/>
        <a:lstStyle/>
        <a:p>
          <a:endParaRPr lang="zh-CN" altLang="en-US"/>
        </a:p>
      </dgm:t>
    </dgm:pt>
    <dgm:pt modelId="{3DC714F4-C44B-464F-A4B2-DF2AED0CED31}" type="pres">
      <dgm:prSet presAssocID="{ADC8FF15-916A-472D-AF44-2C5D8B60365D}" presName="node" presStyleLbl="node1" presStyleIdx="1" presStyleCnt="2">
        <dgm:presLayoutVars>
          <dgm:bulletEnabled val="1"/>
        </dgm:presLayoutVars>
      </dgm:prSet>
      <dgm:spPr/>
      <dgm:t>
        <a:bodyPr/>
        <a:lstStyle/>
        <a:p>
          <a:endParaRPr lang="zh-CN" altLang="en-US"/>
        </a:p>
      </dgm:t>
    </dgm:pt>
  </dgm:ptLst>
  <dgm:cxnLst>
    <dgm:cxn modelId="{252827BE-5591-41E5-9682-2D09533019C3}" type="presOf" srcId="{6EDB8DAC-3E52-4DA5-AD6E-06B5F0FDF352}" destId="{EBA82C1A-8CC3-44E0-B572-60AA35950946}" srcOrd="0" destOrd="0" presId="urn:microsoft.com/office/officeart/2005/8/layout/process1"/>
    <dgm:cxn modelId="{7DC08565-EAA4-4CA9-BFF2-AB5550886E97}" srcId="{6EDB8DAC-3E52-4DA5-AD6E-06B5F0FDF352}" destId="{5446810E-6F1E-4512-8F54-9DDCC6B28721}" srcOrd="0" destOrd="0" parTransId="{D55E5F04-E5EE-4058-8823-D3F63A3797E6}" sibTransId="{091E6FD5-BBCC-40B1-B630-EB18BE0D535D}"/>
    <dgm:cxn modelId="{7F22F9AF-B3F6-41EA-99C6-04D31E4B5BB9}" srcId="{6EDB8DAC-3E52-4DA5-AD6E-06B5F0FDF352}" destId="{ADC8FF15-916A-472D-AF44-2C5D8B60365D}" srcOrd="1" destOrd="0" parTransId="{12085170-5DFE-471B-8B60-745E40ED2EA0}" sibTransId="{49A18A5F-7C0C-4622-B452-B858C18C43DB}"/>
    <dgm:cxn modelId="{21DC7235-45E1-4CB1-B2E5-0C14A5E014CB}" type="presOf" srcId="{091E6FD5-BBCC-40B1-B630-EB18BE0D535D}" destId="{28A74847-571B-4B6A-B5E2-4138813D91A8}" srcOrd="0" destOrd="0" presId="urn:microsoft.com/office/officeart/2005/8/layout/process1"/>
    <dgm:cxn modelId="{BE07D2DB-BAA4-4432-84FB-DC913FA79AD0}" type="presOf" srcId="{5446810E-6F1E-4512-8F54-9DDCC6B28721}" destId="{A2EA30F0-473C-4B02-935B-D6D511098BF5}" srcOrd="0" destOrd="0" presId="urn:microsoft.com/office/officeart/2005/8/layout/process1"/>
    <dgm:cxn modelId="{0E412481-998B-4DB4-9A34-9C27176300FF}" type="presOf" srcId="{091E6FD5-BBCC-40B1-B630-EB18BE0D535D}" destId="{9B6587A5-3A35-4311-97B1-C44EEEBD1E88}" srcOrd="1" destOrd="0" presId="urn:microsoft.com/office/officeart/2005/8/layout/process1"/>
    <dgm:cxn modelId="{468A5E59-8DF2-44AA-B8BE-5870D42C2259}" type="presOf" srcId="{ADC8FF15-916A-472D-AF44-2C5D8B60365D}" destId="{3DC714F4-C44B-464F-A4B2-DF2AED0CED31}" srcOrd="0" destOrd="0" presId="urn:microsoft.com/office/officeart/2005/8/layout/process1"/>
    <dgm:cxn modelId="{A1C530F1-CEE2-406F-9AD3-2F5D414D5526}" type="presParOf" srcId="{EBA82C1A-8CC3-44E0-B572-60AA35950946}" destId="{A2EA30F0-473C-4B02-935B-D6D511098BF5}" srcOrd="0" destOrd="0" presId="urn:microsoft.com/office/officeart/2005/8/layout/process1"/>
    <dgm:cxn modelId="{FC595E11-1EA4-4D89-AF27-771DA13221E8}" type="presParOf" srcId="{EBA82C1A-8CC3-44E0-B572-60AA35950946}" destId="{28A74847-571B-4B6A-B5E2-4138813D91A8}" srcOrd="1" destOrd="0" presId="urn:microsoft.com/office/officeart/2005/8/layout/process1"/>
    <dgm:cxn modelId="{9CA5CA7D-219D-44F8-BCBF-9EE92BB23BF4}" type="presParOf" srcId="{28A74847-571B-4B6A-B5E2-4138813D91A8}" destId="{9B6587A5-3A35-4311-97B1-C44EEEBD1E88}" srcOrd="0" destOrd="0" presId="urn:microsoft.com/office/officeart/2005/8/layout/process1"/>
    <dgm:cxn modelId="{0B577CC7-C875-4C40-A328-760E28136980}" type="presParOf" srcId="{EBA82C1A-8CC3-44E0-B572-60AA35950946}" destId="{3DC714F4-C44B-464F-A4B2-DF2AED0CED31}" srcOrd="2"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6172200" cy="1944216"/>
        <a:chOff x="0" y="0"/>
        <a:chExt cx="6172200" cy="1944216"/>
      </a:xfrm>
    </dsp:grpSpPr>
    <dsp:sp modelId="{97527EBF-0E0A-4225-BED5-15810BA395FC}">
      <dsp:nvSpPr>
        <dsp:cNvPr id="3" name="圆角矩形 2"/>
        <dsp:cNvSpPr/>
      </dsp:nvSpPr>
      <dsp:spPr bwMode="white">
        <a:xfrm>
          <a:off x="0" y="162800"/>
          <a:ext cx="6172200" cy="1618615"/>
        </a:xfrm>
        <a:prstGeom prst="roundRect">
          <a:avLst/>
        </a:prstGeom>
      </dsp:spPr>
      <dsp:style>
        <a:lnRef idx="0">
          <a:schemeClr val="lt1"/>
        </a:lnRef>
        <a:fillRef idx="3">
          <a:schemeClr val="accent1"/>
        </a:fillRef>
        <a:effectRef idx="3">
          <a:scrgbClr r="0" g="0" b="0"/>
        </a:effectRef>
        <a:fontRef idx="minor">
          <a:schemeClr val="lt1"/>
        </a:fontRef>
      </dsp:style>
      <dsp:txBody>
        <a:bodyPr lIns="232410" tIns="232410" rIns="232410" bIns="232410" anchor="ctr"/>
        <a:lstStyle>
          <a:lvl1pPr algn="l">
            <a:defRPr sz="6100"/>
          </a:lvl1pPr>
          <a:lvl2pPr marL="285750" indent="-285750" algn="l">
            <a:defRPr sz="4700"/>
          </a:lvl2pPr>
          <a:lvl3pPr marL="571500" indent="-285750" algn="l">
            <a:defRPr sz="4700"/>
          </a:lvl3pPr>
          <a:lvl4pPr marL="857250" indent="-285750" algn="l">
            <a:defRPr sz="4700"/>
          </a:lvl4pPr>
          <a:lvl5pPr marL="1143000" indent="-285750" algn="l">
            <a:defRPr sz="4700"/>
          </a:lvl5pPr>
          <a:lvl6pPr marL="1428750" indent="-285750" algn="l">
            <a:defRPr sz="4700"/>
          </a:lvl6pPr>
          <a:lvl7pPr marL="1714500" indent="-285750" algn="l">
            <a:defRPr sz="4700"/>
          </a:lvl7pPr>
          <a:lvl8pPr marL="2000250" indent="-285750" algn="l">
            <a:defRPr sz="4700"/>
          </a:lvl8pPr>
          <a:lvl9pPr marL="2286000" indent="-285750" algn="l">
            <a:defRPr sz="4700"/>
          </a:lvl9pPr>
        </a:lstStyle>
        <a:p>
          <a:pPr lvl="0" rtl="0">
            <a:lnSpc>
              <a:spcPct val="100000"/>
            </a:lnSpc>
            <a:spcBef>
              <a:spcPct val="0"/>
            </a:spcBef>
            <a:spcAft>
              <a:spcPct val="35000"/>
            </a:spcAft>
          </a:pPr>
          <a:r>
            <a:rPr lang="zh-CN" b="1" baseline="0" dirty="0" smtClean="0"/>
            <a:t>计算机应用基础</a:t>
          </a:r>
          <a:endParaRPr lang="zh-CN" b="1" baseline="0" dirty="0"/>
        </a:p>
      </dsp:txBody>
      <dsp:txXfrm>
        <a:off x="0" y="162800"/>
        <a:ext cx="6172200" cy="1618615"/>
      </dsp:txXfrm>
    </dsp:sp>
  </dsp:spTree>
</dsp:drawing>
</file>

<file path=ppt/diagrams/drawing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5715040" cy="923330"/>
        <a:chOff x="0" y="0"/>
        <a:chExt cx="5715040" cy="923330"/>
      </a:xfrm>
    </dsp:grpSpPr>
    <dsp:sp modelId="{A2EA30F0-473C-4B02-935B-D6D511098BF5}">
      <dsp:nvSpPr>
        <dsp:cNvPr id="3" name="圆角矩形 2"/>
        <dsp:cNvSpPr/>
      </dsp:nvSpPr>
      <dsp:spPr bwMode="white">
        <a:xfrm>
          <a:off x="0" y="0"/>
          <a:ext cx="2381267" cy="923330"/>
        </a:xfrm>
        <a:prstGeom prst="roundRect">
          <a:avLst>
            <a:gd name="adj" fmla="val 10000"/>
          </a:avLst>
        </a:prstGeom>
      </dsp:spPr>
      <dsp:style>
        <a:lnRef idx="2">
          <a:schemeClr val="lt1"/>
        </a:lnRef>
        <a:fillRef idx="1">
          <a:schemeClr val="accent2">
            <a:hueOff val="0"/>
            <a:satOff val="0"/>
            <a:lumOff val="0"/>
            <a:alpha val="100000"/>
          </a:schemeClr>
        </a:fillRef>
        <a:effectRef idx="0">
          <a:scrgbClr r="0" g="0" b="0"/>
        </a:effectRef>
        <a:fontRef idx="minor">
          <a:schemeClr val="lt1"/>
        </a:fontRef>
      </dsp:style>
      <dsp:txBody>
        <a:bodyPr lIns="68580" tIns="68580" rIns="68580" bIns="685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en-US" sz="1800" dirty="0" smtClean="0"/>
            <a:t>1.</a:t>
          </a:r>
          <a:r>
            <a:rPr lang="zh-CN" sz="1800" dirty="0" smtClean="0"/>
            <a:t>申请电子邮箱</a:t>
          </a:r>
          <a:endParaRPr lang="zh-CN" sz="1800" dirty="0"/>
        </a:p>
      </dsp:txBody>
      <dsp:txXfrm>
        <a:off x="0" y="0"/>
        <a:ext cx="2381267" cy="923330"/>
      </dsp:txXfrm>
    </dsp:sp>
    <dsp:sp modelId="{28A74847-571B-4B6A-B5E2-4138813D91A8}">
      <dsp:nvSpPr>
        <dsp:cNvPr id="4" name="右箭头 3"/>
        <dsp:cNvSpPr/>
      </dsp:nvSpPr>
      <dsp:spPr bwMode="white">
        <a:xfrm>
          <a:off x="2605106" y="166388"/>
          <a:ext cx="504829" cy="590554"/>
        </a:xfrm>
        <a:prstGeom prst="rightArrow">
          <a:avLst>
            <a:gd name="adj1" fmla="val 60000"/>
            <a:gd name="adj2" fmla="val 50000"/>
          </a:avLst>
        </a:prstGeom>
      </dsp:spPr>
      <dsp:style>
        <a:lnRef idx="0">
          <a:schemeClr val="lt1"/>
        </a:lnRef>
        <a:fillRef idx="1">
          <a:schemeClr val="accent2"/>
        </a:fillRef>
        <a:effectRef idx="0">
          <a:scrgbClr r="0" g="0" b="0"/>
        </a:effectRef>
        <a:fontRef idx="minor">
          <a:schemeClr val="lt1"/>
        </a:fontRef>
      </dsp:style>
      <dsp:txBody>
        <a:bodyPr anchor="ctr"/>
        <a:lstStyle>
          <a:lvl1pPr algn="ctr"/>
          <a:lvl2pPr algn="ctr"/>
          <a:lvl3pPr algn="ctr"/>
          <a:lvl4pPr algn="ctr"/>
          <a:lvl5pPr algn="ctr"/>
          <a:lvl6pPr algn="ctr"/>
          <a:lvl7pPr algn="ctr"/>
          <a:lvl8pPr algn="ctr"/>
          <a:lvl9pPr algn="ctr"/>
        </a:lstStyle>
        <a:p>
          <a:pPr lvl="0">
            <a:lnSpc>
              <a:spcPct val="100000"/>
            </a:lnSpc>
            <a:spcBef>
              <a:spcPct val="0"/>
            </a:spcBef>
            <a:spcAft>
              <a:spcPct val="35000"/>
            </a:spcAft>
          </a:pPr>
          <a:endParaRPr lang="zh-CN" altLang="en-US" sz="1600"/>
        </a:p>
      </dsp:txBody>
      <dsp:txXfrm>
        <a:off x="2605106" y="166388"/>
        <a:ext cx="504829" cy="590554"/>
      </dsp:txXfrm>
    </dsp:sp>
    <dsp:sp modelId="{3DC714F4-C44B-464F-A4B2-DF2AED0CED31}">
      <dsp:nvSpPr>
        <dsp:cNvPr id="5" name="圆角矩形 4"/>
        <dsp:cNvSpPr/>
      </dsp:nvSpPr>
      <dsp:spPr bwMode="white">
        <a:xfrm>
          <a:off x="3333773" y="0"/>
          <a:ext cx="2381267" cy="923330"/>
        </a:xfrm>
        <a:prstGeom prst="roundRect">
          <a:avLst>
            <a:gd name="adj" fmla="val 10000"/>
          </a:avLst>
        </a:prstGeom>
      </dsp:spPr>
      <dsp:style>
        <a:lnRef idx="2">
          <a:schemeClr val="lt1"/>
        </a:lnRef>
        <a:fillRef idx="1">
          <a:schemeClr val="accent2">
            <a:hueOff val="-12660000"/>
            <a:satOff val="21176"/>
            <a:lumOff val="-26274"/>
            <a:alpha val="100000"/>
          </a:schemeClr>
        </a:fillRef>
        <a:effectRef idx="0">
          <a:scrgbClr r="0" g="0" b="0"/>
        </a:effectRef>
        <a:fontRef idx="minor">
          <a:schemeClr val="lt1"/>
        </a:fontRef>
      </dsp:style>
      <dsp:txBody>
        <a:bodyPr lIns="68580" tIns="68580" rIns="68580" bIns="685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en-US" sz="1800" dirty="0" smtClean="0"/>
            <a:t>2.</a:t>
          </a:r>
          <a:r>
            <a:rPr lang="zh-CN" sz="1800" dirty="0" smtClean="0"/>
            <a:t>管理电子邮箱</a:t>
          </a:r>
          <a:endParaRPr lang="zh-CN" sz="1800" dirty="0"/>
        </a:p>
      </dsp:txBody>
      <dsp:txXfrm>
        <a:off x="3333773" y="0"/>
        <a:ext cx="2381267" cy="92333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align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alignNode1">
    <dgm:scene3d>
      <a:camera prst="orthographicFront"/>
      <a:lightRig rig="threePt" dir="t"/>
    </dgm:scene3d>
    <dgm:txPr/>
    <dgm:style>
      <a:lnRef idx="1">
        <a:scrgbClr r="0" g="0" b="0"/>
      </a:lnRef>
      <a:fillRef idx="3">
        <a:scrgbClr r="0" g="0" b="0"/>
      </a:fillRef>
      <a:effectRef idx="3">
        <a:scrgbClr r="0" g="0" b="0"/>
      </a:effectRef>
      <a:fontRef idx="minor">
        <a:schemeClr val="lt1"/>
      </a:fontRef>
    </dgm:style>
  </dgm:styleLbl>
  <dgm:styleLbl name="asst0">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b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bg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callout">
    <dgm:scene3d>
      <a:camera prst="orthographicFront"/>
      <a:lightRig rig="threePt" dir="t"/>
    </dgm:scene3d>
    <dgm:txPr/>
    <dgm:style>
      <a:lnRef idx="1">
        <a:scrgbClr r="0" g="0" b="0"/>
      </a:lnRef>
      <a:fillRef idx="0">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3">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fg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fgShp">
    <dgm:scene3d>
      <a:camera prst="orthographicFront"/>
      <a:lightRig rig="threePt" dir="t"/>
    </dgm:scene3d>
    <dgm:txPr/>
    <dgm:style>
      <a:lnRef idx="0">
        <a:scrgbClr r="0" g="0" b="0"/>
      </a:lnRef>
      <a:fillRef idx="3">
        <a:scrgbClr r="0" g="0" b="0"/>
      </a:fillRef>
      <a:effectRef idx="3">
        <a:scrgbClr r="0" g="0" b="0"/>
      </a:effectRef>
      <a:fontRef idx="minor"/>
    </dgm:style>
  </dgm:styleLbl>
  <dgm:styleLbl name="fg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0">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solidAlignAcc1">
    <dgm:scene3d>
      <a:camera prst="orthographicFront"/>
      <a:lightRig rig="threePt" dir="t"/>
    </dgm:scene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3">
        <a:scrgbClr r="0" g="0" b="0"/>
      </a:effectRef>
      <a:fontRef idx="minor"/>
    </dgm:style>
  </dgm:styleLbl>
  <dgm:styleLbl name="solid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0">
        <a:scrgbClr r="0" g="0" b="0"/>
      </a:lnRef>
      <a:fillRef idx="3">
        <a:scrgbClr r="0" g="0" b="0"/>
      </a:fillRef>
      <a:effectRef idx="3">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632BC719-7C55-4B95-8FD5-639CCFF77299}"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notesSlide" Target="../notesSlides/notesSlide1.xml"/><Relationship Id="rId7"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5.jpeg"/><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6.jpeg"/><Relationship Id="rId2" Type="http://schemas.openxmlformats.org/officeDocument/2006/relationships/image" Target="../media/image4.jpeg"/><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9.jpeg"/><Relationship Id="rId4" Type="http://schemas.openxmlformats.org/officeDocument/2006/relationships/image" Target="../media/image8.jpeg"/><Relationship Id="rId3" Type="http://schemas.openxmlformats.org/officeDocument/2006/relationships/image" Target="../media/image7.jpeg"/><Relationship Id="rId2" Type="http://schemas.openxmlformats.org/officeDocument/2006/relationships/image" Target="../media/image4.jpeg"/><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0.jpeg"/><Relationship Id="rId2" Type="http://schemas.openxmlformats.org/officeDocument/2006/relationships/image" Target="../media/image4.jpeg"/><Relationship Id="rId1" Type="http://schemas.openxmlformats.org/officeDocument/2006/relationships/image" Target="../media/image3.jpe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1.jpeg"/><Relationship Id="rId2" Type="http://schemas.openxmlformats.org/officeDocument/2006/relationships/image" Target="../media/image4.jpeg"/><Relationship Id="rId1" Type="http://schemas.openxmlformats.org/officeDocument/2006/relationships/image" Target="../media/image3.jpeg"/></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3.jpeg"/><Relationship Id="rId3" Type="http://schemas.openxmlformats.org/officeDocument/2006/relationships/image" Target="../media/image12.jpeg"/><Relationship Id="rId2" Type="http://schemas.openxmlformats.org/officeDocument/2006/relationships/image" Target="../media/image4.jpeg"/><Relationship Id="rId1" Type="http://schemas.openxmlformats.org/officeDocument/2006/relationships/image" Target="../media/image3.jpeg"/></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5.jpeg"/><Relationship Id="rId3" Type="http://schemas.openxmlformats.org/officeDocument/2006/relationships/image" Target="../media/image14.jpeg"/><Relationship Id="rId2" Type="http://schemas.openxmlformats.org/officeDocument/2006/relationships/image" Target="../media/image4.jpeg"/><Relationship Id="rId1" Type="http://schemas.openxmlformats.org/officeDocument/2006/relationships/image" Target="../media/image3.jpeg"/></Relationships>
</file>

<file path=ppt/slides/_rels/slide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7.jpeg"/><Relationship Id="rId3" Type="http://schemas.openxmlformats.org/officeDocument/2006/relationships/image" Target="../media/image16.jpeg"/><Relationship Id="rId2" Type="http://schemas.openxmlformats.org/officeDocument/2006/relationships/image" Target="../media/image4.jpeg"/><Relationship Id="rId1" Type="http://schemas.openxmlformats.org/officeDocument/2006/relationships/image" Target="../media/image3.jpe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jpeg"/><Relationship Id="rId1" Type="http://schemas.openxmlformats.org/officeDocument/2006/relationships/image" Target="../media/image3.jpe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jpeg"/><Relationship Id="rId1" Type="http://schemas.openxmlformats.org/officeDocument/2006/relationships/image" Target="../media/image3.jpe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8.jpeg"/><Relationship Id="rId2" Type="http://schemas.openxmlformats.org/officeDocument/2006/relationships/image" Target="../media/image4.jpeg"/><Relationship Id="rId1" Type="http://schemas.openxmlformats.org/officeDocument/2006/relationships/image" Target="../media/image3.jpeg"/></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6.jpeg"/><Relationship Id="rId2" Type="http://schemas.openxmlformats.org/officeDocument/2006/relationships/image" Target="../media/image4.jpeg"/><Relationship Id="rId1" Type="http://schemas.openxmlformats.org/officeDocument/2006/relationships/image" Target="../media/image3.jpeg"/></Relationships>
</file>

<file path=ppt/slides/_rels/slide14.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microsoft.com/office/2007/relationships/diagramDrawing" Target="../diagrams/drawing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 Id="rId3" Type="http://schemas.openxmlformats.org/officeDocument/2006/relationships/diagramData" Target="../diagrams/data2.xml"/><Relationship Id="rId2" Type="http://schemas.openxmlformats.org/officeDocument/2006/relationships/image" Target="../media/image4.jpeg"/><Relationship Id="rId1" Type="http://schemas.openxmlformats.org/officeDocument/2006/relationships/image" Target="../media/image3.jpe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jpeg"/><Relationship Id="rId1" Type="http://schemas.openxmlformats.org/officeDocument/2006/relationships/image" Target="../media/image3.jpeg"/></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9.jpeg"/><Relationship Id="rId2" Type="http://schemas.openxmlformats.org/officeDocument/2006/relationships/image" Target="../media/image4.jpeg"/><Relationship Id="rId1" Type="http://schemas.openxmlformats.org/officeDocument/2006/relationships/image" Target="../media/image3.jpeg"/></Relationships>
</file>

<file path=ppt/slides/_rels/slide1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1.jpeg"/><Relationship Id="rId3" Type="http://schemas.openxmlformats.org/officeDocument/2006/relationships/image" Target="../media/image20.jpeg"/><Relationship Id="rId2" Type="http://schemas.openxmlformats.org/officeDocument/2006/relationships/image" Target="../media/image4.jpeg"/><Relationship Id="rId1" Type="http://schemas.openxmlformats.org/officeDocument/2006/relationships/image" Target="../media/image3.jpeg"/></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2.jpeg"/><Relationship Id="rId2" Type="http://schemas.openxmlformats.org/officeDocument/2006/relationships/image" Target="../media/image4.jpeg"/><Relationship Id="rId1" Type="http://schemas.openxmlformats.org/officeDocument/2006/relationships/image" Target="../media/image3.jpeg"/></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3.jpeg"/><Relationship Id="rId2" Type="http://schemas.openxmlformats.org/officeDocument/2006/relationships/image" Target="../media/image4.jpeg"/><Relationship Id="rId1" Type="http://schemas.openxmlformats.org/officeDocument/2006/relationships/image" Target="../media/image3.jpe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jpeg"/><Relationship Id="rId1" Type="http://schemas.openxmlformats.org/officeDocument/2006/relationships/image" Target="../media/image3.jpe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jpeg"/><Relationship Id="rId1"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graphicFrame>
        <p:nvGraphicFramePr>
          <p:cNvPr id="5" name="图示 4"/>
          <p:cNvGraphicFramePr/>
          <p:nvPr/>
        </p:nvGraphicFramePr>
        <p:xfrm>
          <a:off x="3191034" y="2276872"/>
          <a:ext cx="6172200" cy="194421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副标题 2"/>
          <p:cNvSpPr>
            <a:spLocks noGrp="1"/>
          </p:cNvSpPr>
          <p:nvPr>
            <p:ph type="subTitle" idx="1"/>
          </p:nvPr>
        </p:nvSpPr>
        <p:spPr/>
        <p:txBody>
          <a:bodyPr/>
          <a:lstStyle/>
          <a:p>
            <a:r>
              <a:rPr lang="zh-CN" altLang="en-US" dirty="0" smtClean="0">
                <a:solidFill>
                  <a:schemeClr val="accent1">
                    <a:lumMod val="75000"/>
                  </a:schemeClr>
                </a:solidFill>
                <a:effectLst>
                  <a:outerShdw blurRad="38100" dist="38100" dir="2700000" algn="tl">
                    <a:srgbClr val="000000">
                      <a:alpha val="43137"/>
                    </a:srgbClr>
                  </a:outerShdw>
                </a:effectLst>
              </a:rPr>
              <a:t> </a:t>
            </a:r>
            <a:endParaRPr lang="zh-CN" altLang="en-US" dirty="0">
              <a:solidFill>
                <a:schemeClr val="accent1">
                  <a:lumMod val="75000"/>
                </a:schemeClr>
              </a:solidFill>
              <a:effectLst>
                <a:outerShdw blurRad="38100" dist="38100" dir="2700000" algn="tl">
                  <a:srgbClr val="000000">
                    <a:alpha val="43137"/>
                  </a:srgbClr>
                </a:outerShdw>
              </a:effectLst>
            </a:endParaRPr>
          </a:p>
        </p:txBody>
      </p:sp>
      <p:sp>
        <p:nvSpPr>
          <p:cNvPr id="4" name="TextBox 3"/>
          <p:cNvSpPr txBox="1"/>
          <p:nvPr/>
        </p:nvSpPr>
        <p:spPr>
          <a:xfrm>
            <a:off x="5303912" y="188640"/>
            <a:ext cx="5184576" cy="368300"/>
          </a:xfrm>
          <a:prstGeom prst="rect">
            <a:avLst/>
          </a:prstGeom>
          <a:noFill/>
        </p:spPr>
        <p:txBody>
          <a:bodyPr wrap="square" rtlCol="0">
            <a:spAutoFit/>
          </a:bodyPr>
          <a:lstStyle/>
          <a:p>
            <a:pPr algn="r"/>
            <a:r>
              <a:rPr lang="en-US" altLang="zh-CN" dirty="0" smtClean="0">
                <a:solidFill>
                  <a:schemeClr val="accent1">
                    <a:lumMod val="75000"/>
                  </a:schemeClr>
                </a:solidFill>
              </a:rPr>
              <a:t> </a:t>
            </a:r>
            <a:endParaRPr lang="zh-CN" altLang="zh-CN" dirty="0">
              <a:solidFill>
                <a:schemeClr val="accent1">
                  <a:lumMod val="75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7A0.EPS" descr="id:2147496781;FounderCES"/>
          <p:cNvPicPr/>
          <p:nvPr/>
        </p:nvPicPr>
        <p:blipFill>
          <a:blip r:embed="rId1"/>
          <a:stretch>
            <a:fillRect/>
          </a:stretch>
        </p:blipFill>
        <p:spPr>
          <a:xfrm>
            <a:off x="2881290" y="1571612"/>
            <a:ext cx="6715172" cy="4071966"/>
          </a:xfrm>
          <a:prstGeom prst="rect">
            <a:avLst/>
          </a:prstGeom>
        </p:spPr>
        <p:style>
          <a:lnRef idx="1">
            <a:schemeClr val="accent5"/>
          </a:lnRef>
          <a:fillRef idx="2">
            <a:schemeClr val="accent5"/>
          </a:fillRef>
          <a:effectRef idx="1">
            <a:schemeClr val="accent5"/>
          </a:effectRef>
          <a:fontRef idx="minor">
            <a:schemeClr val="dk1"/>
          </a:fontRef>
        </p:style>
      </p:pic>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7</a:t>
            </a:r>
            <a:r>
              <a:rPr lang="zh-CN" altLang="en-US" sz="2800" dirty="0" smtClean="0">
                <a:solidFill>
                  <a:schemeClr val="accent1">
                    <a:lumMod val="75000"/>
                  </a:schemeClr>
                </a:solidFill>
                <a:latin typeface="方正姚体" pitchFamily="2" charset="-122"/>
                <a:ea typeface="方正姚体" pitchFamily="2" charset="-122"/>
              </a:rPr>
              <a:t>章    </a:t>
            </a:r>
            <a:r>
              <a:rPr lang="en-US" sz="2800" dirty="0" smtClean="0">
                <a:solidFill>
                  <a:schemeClr val="accent1">
                    <a:lumMod val="75000"/>
                  </a:schemeClr>
                </a:solidFill>
                <a:latin typeface="方正姚体" pitchFamily="2" charset="-122"/>
                <a:ea typeface="方正姚体" pitchFamily="2" charset="-122"/>
              </a:rPr>
              <a:t>Internet</a:t>
            </a:r>
            <a:r>
              <a:rPr lang="zh-CN" altLang="en-US" sz="2800" dirty="0" smtClean="0">
                <a:solidFill>
                  <a:schemeClr val="accent1">
                    <a:lumMod val="75000"/>
                  </a:schemeClr>
                </a:solidFill>
                <a:latin typeface="方正姚体" pitchFamily="2" charset="-122"/>
                <a:ea typeface="方正姚体" pitchFamily="2" charset="-122"/>
              </a:rPr>
              <a:t>的应用</a:t>
            </a:r>
            <a:br>
              <a:rPr lang="en-US" altLang="zh-CN" sz="2800" dirty="0" smtClean="0">
                <a:solidFill>
                  <a:schemeClr val="accent1">
                    <a:lumMod val="75000"/>
                  </a:schemeClr>
                </a:solidFill>
                <a:latin typeface="方正姚体" pitchFamily="2" charset="-122"/>
                <a:ea typeface="方正姚体" pitchFamily="2" charset="-122"/>
              </a:rPr>
            </a:br>
            <a:r>
              <a:rPr lang="zh-CN" altLang="en-US" sz="2800" dirty="0" smtClean="0"/>
              <a:t> </a:t>
            </a:r>
            <a:endParaRPr lang="zh-CN" altLang="en-US" sz="2800" dirty="0"/>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pic>
        <p:nvPicPr>
          <p:cNvPr id="7" name="知识导论.EPS" descr="id:2147496774;FounderCES"/>
          <p:cNvPicPr/>
          <p:nvPr/>
        </p:nvPicPr>
        <p:blipFill>
          <a:blip r:embed="rId4"/>
          <a:stretch>
            <a:fillRect/>
          </a:stretch>
        </p:blipFill>
        <p:spPr>
          <a:xfrm>
            <a:off x="1881158" y="1785926"/>
            <a:ext cx="1857388" cy="571504"/>
          </a:xfrm>
          <a:prstGeom prst="rect">
            <a:avLst/>
          </a:prstGeom>
        </p:spPr>
        <p:style>
          <a:lnRef idx="1">
            <a:schemeClr val="accent5"/>
          </a:lnRef>
          <a:fillRef idx="2">
            <a:schemeClr val="accent5"/>
          </a:fillRef>
          <a:effectRef idx="1">
            <a:schemeClr val="accent5"/>
          </a:effectRef>
          <a:fontRef idx="minor">
            <a:schemeClr val="dk1"/>
          </a:fontRef>
        </p:style>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7</a:t>
            </a:r>
            <a:r>
              <a:rPr lang="zh-CN" altLang="en-US" sz="2800" dirty="0" smtClean="0">
                <a:solidFill>
                  <a:schemeClr val="accent1">
                    <a:lumMod val="75000"/>
                  </a:schemeClr>
                </a:solidFill>
                <a:latin typeface="方正姚体" pitchFamily="2" charset="-122"/>
                <a:ea typeface="方正姚体" pitchFamily="2" charset="-122"/>
              </a:rPr>
              <a:t>章    </a:t>
            </a:r>
            <a:r>
              <a:rPr lang="en-US" sz="2800" dirty="0" smtClean="0">
                <a:solidFill>
                  <a:schemeClr val="accent1">
                    <a:lumMod val="75000"/>
                  </a:schemeClr>
                </a:solidFill>
                <a:latin typeface="方正姚体" pitchFamily="2" charset="-122"/>
                <a:ea typeface="方正姚体" pitchFamily="2" charset="-122"/>
              </a:rPr>
              <a:t>Internet</a:t>
            </a:r>
            <a:r>
              <a:rPr lang="zh-CN" altLang="en-US" sz="2800" dirty="0" smtClean="0">
                <a:solidFill>
                  <a:schemeClr val="accent1">
                    <a:lumMod val="75000"/>
                  </a:schemeClr>
                </a:solidFill>
                <a:latin typeface="方正姚体" pitchFamily="2" charset="-122"/>
                <a:ea typeface="方正姚体" pitchFamily="2" charset="-122"/>
              </a:rPr>
              <a:t>的应用</a:t>
            </a:r>
            <a:br>
              <a:rPr lang="en-US" altLang="zh-CN" sz="2800" dirty="0" smtClean="0">
                <a:solidFill>
                  <a:schemeClr val="accent1">
                    <a:lumMod val="75000"/>
                  </a:schemeClr>
                </a:solidFill>
                <a:latin typeface="方正姚体" pitchFamily="2" charset="-122"/>
                <a:ea typeface="方正姚体" pitchFamily="2" charset="-122"/>
              </a:rPr>
            </a:br>
            <a:r>
              <a:rPr lang="zh-CN" altLang="en-US" sz="2800" dirty="0" smtClean="0"/>
              <a:t> </a:t>
            </a:r>
            <a:endParaRPr lang="zh-CN" altLang="en-US" sz="2800" dirty="0"/>
          </a:p>
        </p:txBody>
      </p:sp>
      <p:pic>
        <p:nvPicPr>
          <p:cNvPr id="5" name="Z.EPS" descr="id:2147491553;FounderCES"/>
          <p:cNvPicPr/>
          <p:nvPr/>
        </p:nvPicPr>
        <p:blipFill>
          <a:blip r:embed="rId1"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2"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150000"/>
              </a:lnSpc>
            </a:pPr>
            <a:r>
              <a:rPr lang="en-US" dirty="0" smtClean="0"/>
              <a:t>7.1</a:t>
            </a:r>
            <a:r>
              <a:rPr lang="zh-CN" altLang="en-US" dirty="0" smtClean="0"/>
              <a:t>　</a:t>
            </a:r>
            <a:r>
              <a:rPr lang="en-US" dirty="0" smtClean="0"/>
              <a:t>IE</a:t>
            </a:r>
            <a:r>
              <a:rPr lang="zh-CN" altLang="en-US" dirty="0" smtClean="0"/>
              <a:t>浏览器的使用</a:t>
            </a:r>
            <a:endParaRPr lang="en-US" altLang="zh-CN" dirty="0" smtClean="0"/>
          </a:p>
          <a:p>
            <a:pPr>
              <a:lnSpc>
                <a:spcPct val="150000"/>
              </a:lnSpc>
            </a:pPr>
            <a:endParaRPr lang="zh-CN" altLang="en-US" dirty="0" smtClean="0"/>
          </a:p>
          <a:p>
            <a:pPr>
              <a:lnSpc>
                <a:spcPct val="150000"/>
              </a:lnSpc>
              <a:buNone/>
            </a:pPr>
            <a:r>
              <a:rPr lang="en-US" sz="2000" dirty="0" smtClean="0"/>
              <a:t>※ </a:t>
            </a:r>
            <a:r>
              <a:rPr lang="zh-CN" altLang="en-US" sz="2000" dirty="0" smtClean="0"/>
              <a:t>了解文本、超文本、</a:t>
            </a:r>
            <a:r>
              <a:rPr lang="en-US" sz="2000" dirty="0" smtClean="0"/>
              <a:t>Web</a:t>
            </a:r>
            <a:r>
              <a:rPr lang="zh-CN" altLang="en-US" sz="2000" dirty="0" smtClean="0"/>
              <a:t>超文本结构和统一资源定位器</a:t>
            </a:r>
            <a:r>
              <a:rPr lang="en-US" sz="2000" dirty="0" smtClean="0"/>
              <a:t>URL</a:t>
            </a:r>
            <a:r>
              <a:rPr lang="zh-CN" altLang="en-US" sz="2000" dirty="0" smtClean="0"/>
              <a:t>的基本概念</a:t>
            </a:r>
            <a:r>
              <a:rPr lang="en-US" sz="2000" dirty="0" smtClean="0"/>
              <a:t>;</a:t>
            </a:r>
            <a:endParaRPr lang="zh-CN" altLang="en-US" sz="2000" dirty="0" smtClean="0"/>
          </a:p>
          <a:p>
            <a:pPr>
              <a:lnSpc>
                <a:spcPct val="150000"/>
              </a:lnSpc>
              <a:buNone/>
            </a:pPr>
            <a:r>
              <a:rPr lang="en-US" sz="2000" dirty="0" smtClean="0"/>
              <a:t>※ </a:t>
            </a:r>
            <a:r>
              <a:rPr lang="zh-CN" altLang="en-US" sz="2000" dirty="0" smtClean="0"/>
              <a:t>熟练掌握</a:t>
            </a:r>
            <a:r>
              <a:rPr lang="en-US" sz="2000" dirty="0" smtClean="0"/>
              <a:t>Internet Explorer</a:t>
            </a:r>
            <a:r>
              <a:rPr lang="zh-CN" altLang="en-US" sz="2000" dirty="0" smtClean="0"/>
              <a:t>的打开和关闭</a:t>
            </a:r>
            <a:r>
              <a:rPr lang="en-US" sz="2000" dirty="0" smtClean="0"/>
              <a:t>;</a:t>
            </a:r>
            <a:endParaRPr lang="zh-CN" altLang="en-US" sz="2000" dirty="0" smtClean="0"/>
          </a:p>
          <a:p>
            <a:pPr>
              <a:lnSpc>
                <a:spcPct val="150000"/>
              </a:lnSpc>
              <a:buNone/>
            </a:pPr>
            <a:r>
              <a:rPr lang="en-US" sz="2000" dirty="0" smtClean="0"/>
              <a:t>※ </a:t>
            </a:r>
            <a:r>
              <a:rPr lang="zh-CN" altLang="en-US" sz="2000" dirty="0" smtClean="0"/>
              <a:t>熟练掌握浏览网页的基本操作</a:t>
            </a:r>
            <a:r>
              <a:rPr lang="en-US" sz="2000" dirty="0" smtClean="0"/>
              <a:t>;</a:t>
            </a:r>
            <a:endParaRPr lang="zh-CN" altLang="en-US" sz="2000" dirty="0" smtClean="0"/>
          </a:p>
          <a:p>
            <a:pPr>
              <a:lnSpc>
                <a:spcPct val="150000"/>
              </a:lnSpc>
              <a:buNone/>
            </a:pPr>
            <a:r>
              <a:rPr lang="en-US" sz="2000" dirty="0" smtClean="0"/>
              <a:t>※ </a:t>
            </a:r>
            <a:r>
              <a:rPr lang="zh-CN" altLang="en-US" sz="2000" dirty="0" smtClean="0"/>
              <a:t>掌握</a:t>
            </a:r>
            <a:r>
              <a:rPr lang="en-US" sz="2000" dirty="0" smtClean="0"/>
              <a:t>Internet Explorer</a:t>
            </a:r>
            <a:r>
              <a:rPr lang="zh-CN" altLang="en-US" sz="2000" dirty="0" smtClean="0"/>
              <a:t>浏览器选项的基本设置</a:t>
            </a:r>
            <a:r>
              <a:rPr lang="en-US" sz="2000" dirty="0" smtClean="0"/>
              <a:t>;</a:t>
            </a:r>
            <a:endParaRPr lang="zh-CN" altLang="en-US" sz="2000" dirty="0" smtClean="0"/>
          </a:p>
          <a:p>
            <a:pPr>
              <a:lnSpc>
                <a:spcPct val="150000"/>
              </a:lnSpc>
              <a:buNone/>
            </a:pPr>
            <a:r>
              <a:rPr lang="en-US" sz="2000" dirty="0" smtClean="0"/>
              <a:t>※ </a:t>
            </a:r>
            <a:r>
              <a:rPr lang="zh-CN" altLang="en-US" sz="2000" dirty="0" smtClean="0"/>
              <a:t>熟练掌握</a:t>
            </a:r>
            <a:r>
              <a:rPr lang="en-US" sz="2000" dirty="0" smtClean="0"/>
              <a:t>Internet Explorer</a:t>
            </a:r>
            <a:r>
              <a:rPr lang="zh-CN" altLang="en-US" sz="2000" dirty="0" smtClean="0"/>
              <a:t>浏览器收藏夹的基本使用</a:t>
            </a:r>
            <a:r>
              <a:rPr lang="en-US" sz="2000" dirty="0" smtClean="0"/>
              <a:t>; </a:t>
            </a:r>
            <a:endParaRPr lang="zh-CN" altLang="en-US" sz="2000" dirty="0" smtClean="0"/>
          </a:p>
          <a:p>
            <a:pPr>
              <a:lnSpc>
                <a:spcPct val="150000"/>
              </a:lnSpc>
              <a:buNone/>
            </a:pPr>
            <a:r>
              <a:rPr lang="en-US" sz="2000" dirty="0" smtClean="0"/>
              <a:t>……</a:t>
            </a:r>
            <a:endParaRPr lang="zh-CN" altLang="en-US" sz="2000" dirty="0"/>
          </a:p>
        </p:txBody>
      </p:sp>
      <p:pic>
        <p:nvPicPr>
          <p:cNvPr id="6" name="学习目标.EPS" descr="id:2147496796;FounderCES"/>
          <p:cNvPicPr/>
          <p:nvPr/>
        </p:nvPicPr>
        <p:blipFill>
          <a:blip r:embed="rId3"/>
          <a:stretch>
            <a:fillRect/>
          </a:stretch>
        </p:blipFill>
        <p:spPr>
          <a:xfrm>
            <a:off x="2238348" y="2285992"/>
            <a:ext cx="1785950" cy="57150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7</a:t>
            </a:r>
            <a:r>
              <a:rPr lang="zh-CN" altLang="en-US" sz="2800" dirty="0" smtClean="0">
                <a:solidFill>
                  <a:schemeClr val="accent1">
                    <a:lumMod val="75000"/>
                  </a:schemeClr>
                </a:solidFill>
                <a:latin typeface="方正姚体" pitchFamily="2" charset="-122"/>
                <a:ea typeface="方正姚体" pitchFamily="2" charset="-122"/>
              </a:rPr>
              <a:t>章    </a:t>
            </a:r>
            <a:r>
              <a:rPr lang="en-US" sz="2800" dirty="0" smtClean="0">
                <a:solidFill>
                  <a:schemeClr val="accent1">
                    <a:lumMod val="75000"/>
                  </a:schemeClr>
                </a:solidFill>
                <a:latin typeface="方正姚体" pitchFamily="2" charset="-122"/>
                <a:ea typeface="方正姚体" pitchFamily="2" charset="-122"/>
              </a:rPr>
              <a:t>Internet</a:t>
            </a:r>
            <a:r>
              <a:rPr lang="zh-CN" altLang="en-US" sz="2800" dirty="0" smtClean="0">
                <a:solidFill>
                  <a:schemeClr val="accent1">
                    <a:lumMod val="75000"/>
                  </a:schemeClr>
                </a:solidFill>
                <a:latin typeface="方正姚体" pitchFamily="2" charset="-122"/>
                <a:ea typeface="方正姚体" pitchFamily="2" charset="-122"/>
              </a:rPr>
              <a:t>的应用</a:t>
            </a:r>
            <a:br>
              <a:rPr lang="en-US" altLang="zh-CN" sz="2800" dirty="0" smtClean="0">
                <a:solidFill>
                  <a:schemeClr val="accent1">
                    <a:lumMod val="75000"/>
                  </a:schemeClr>
                </a:solidFill>
                <a:latin typeface="方正姚体" pitchFamily="2" charset="-122"/>
                <a:ea typeface="方正姚体" pitchFamily="2" charset="-122"/>
              </a:rPr>
            </a:br>
            <a:r>
              <a:rPr lang="zh-CN" altLang="en-US" sz="2800" dirty="0" smtClean="0"/>
              <a:t> </a:t>
            </a:r>
            <a:endParaRPr lang="zh-CN" altLang="en-US" sz="2800" dirty="0"/>
          </a:p>
        </p:txBody>
      </p:sp>
      <p:pic>
        <p:nvPicPr>
          <p:cNvPr id="5" name="Z.EPS" descr="id:2147491553;FounderCES"/>
          <p:cNvPicPr/>
          <p:nvPr/>
        </p:nvPicPr>
        <p:blipFill>
          <a:blip r:embed="rId1"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2"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829576" cy="4873752"/>
          </a:xfrm>
        </p:spPr>
        <p:txBody>
          <a:bodyPr>
            <a:noAutofit/>
          </a:bodyPr>
          <a:lstStyle/>
          <a:p>
            <a:pPr>
              <a:lnSpc>
                <a:spcPct val="150000"/>
              </a:lnSpc>
            </a:pPr>
            <a:r>
              <a:rPr lang="en-US" dirty="0" smtClean="0"/>
              <a:t>7.1.2</a:t>
            </a:r>
            <a:r>
              <a:rPr lang="zh-CN" altLang="en-US" dirty="0" smtClean="0"/>
              <a:t>　</a:t>
            </a:r>
            <a:r>
              <a:rPr lang="en-US" dirty="0" smtClean="0"/>
              <a:t>Internet Explorer</a:t>
            </a:r>
            <a:r>
              <a:rPr lang="zh-CN" altLang="en-US" dirty="0" smtClean="0"/>
              <a:t>的打开和关闭</a:t>
            </a:r>
            <a:endParaRPr lang="zh-CN" altLang="en-US" dirty="0" smtClean="0"/>
          </a:p>
          <a:p>
            <a:pPr>
              <a:lnSpc>
                <a:spcPct val="150000"/>
              </a:lnSpc>
              <a:buFont typeface="Wingdings" panose="05000000000000000000" pitchFamily="2" charset="2"/>
              <a:buChar char="Ø"/>
            </a:pPr>
            <a:r>
              <a:rPr lang="en-US" sz="2000" dirty="0" smtClean="0"/>
              <a:t>1.</a:t>
            </a:r>
            <a:r>
              <a:rPr lang="zh-CN" altLang="en-US" sz="2000" dirty="0" smtClean="0"/>
              <a:t>打开</a:t>
            </a:r>
            <a:r>
              <a:rPr lang="en-US" sz="2000" dirty="0" smtClean="0"/>
              <a:t>Internet Explorer</a:t>
            </a:r>
            <a:r>
              <a:rPr lang="zh-CN" altLang="en-US" sz="2000" dirty="0" smtClean="0"/>
              <a:t>    在</a:t>
            </a:r>
            <a:r>
              <a:rPr lang="en-US" sz="2000" dirty="0" smtClean="0"/>
              <a:t>Win7</a:t>
            </a:r>
            <a:r>
              <a:rPr lang="zh-CN" altLang="en-US" sz="2000" dirty="0" smtClean="0"/>
              <a:t>系统的桌面</a:t>
            </a:r>
            <a:r>
              <a:rPr lang="en-US" sz="2000" dirty="0" smtClean="0"/>
              <a:t>,</a:t>
            </a:r>
            <a:r>
              <a:rPr lang="zh-CN" altLang="en-US" sz="2000" dirty="0" smtClean="0"/>
              <a:t>选择打开</a:t>
            </a:r>
            <a:r>
              <a:rPr lang="en-US" sz="2000" dirty="0" smtClean="0"/>
              <a:t>“Internet Explorer”,</a:t>
            </a:r>
            <a:r>
              <a:rPr lang="zh-CN" altLang="en-US" sz="2000" dirty="0" smtClean="0"/>
              <a:t>出现如图</a:t>
            </a:r>
            <a:r>
              <a:rPr lang="en-US" sz="2000" dirty="0" smtClean="0"/>
              <a:t>7—1</a:t>
            </a:r>
            <a:r>
              <a:rPr lang="zh-CN" altLang="en-US" sz="2000" dirty="0" smtClean="0"/>
              <a:t>所示的</a:t>
            </a:r>
            <a:r>
              <a:rPr lang="en-US" sz="2000" dirty="0" smtClean="0"/>
              <a:t>“Internet Explorer”</a:t>
            </a:r>
            <a:r>
              <a:rPr lang="zh-CN" altLang="en-US" sz="2000" dirty="0" smtClean="0"/>
              <a:t>窗口。</a:t>
            </a:r>
            <a:r>
              <a:rPr lang="en-US" sz="2000" dirty="0" smtClean="0"/>
              <a:t>    </a:t>
            </a:r>
            <a:r>
              <a:rPr lang="zh-CN" altLang="en-US" sz="2000" dirty="0" smtClean="0"/>
              <a:t>是工具按钮</a:t>
            </a:r>
            <a:r>
              <a:rPr lang="en-US" sz="2000" dirty="0" smtClean="0"/>
              <a:t>,    </a:t>
            </a:r>
            <a:r>
              <a:rPr lang="zh-CN" altLang="en-US" sz="2000" dirty="0" smtClean="0"/>
              <a:t>是查看按钮。</a:t>
            </a:r>
            <a:endParaRPr lang="zh-CN" altLang="en-US" sz="2000" dirty="0" smtClean="0"/>
          </a:p>
          <a:p>
            <a:pPr>
              <a:lnSpc>
                <a:spcPct val="150000"/>
              </a:lnSpc>
              <a:buFont typeface="Wingdings" panose="05000000000000000000" pitchFamily="2" charset="2"/>
              <a:buChar char="Ø"/>
            </a:pPr>
            <a:r>
              <a:rPr lang="en-US" sz="2000" dirty="0" smtClean="0"/>
              <a:t>2.</a:t>
            </a:r>
            <a:r>
              <a:rPr lang="zh-CN" altLang="en-US" sz="2000" dirty="0" smtClean="0"/>
              <a:t>关闭</a:t>
            </a:r>
            <a:r>
              <a:rPr lang="en-US" sz="2000" dirty="0" smtClean="0"/>
              <a:t>Internet Explorer</a:t>
            </a:r>
            <a:endParaRPr lang="zh-CN" altLang="en-US" sz="2000" dirty="0"/>
          </a:p>
        </p:txBody>
      </p:sp>
      <p:pic>
        <p:nvPicPr>
          <p:cNvPr id="7" name="7a1.jpg" descr="id:2147496881;FounderCES"/>
          <p:cNvPicPr/>
          <p:nvPr/>
        </p:nvPicPr>
        <p:blipFill>
          <a:blip r:embed="rId3"/>
          <a:stretch>
            <a:fillRect/>
          </a:stretch>
        </p:blipFill>
        <p:spPr>
          <a:xfrm>
            <a:off x="2809852" y="4286256"/>
            <a:ext cx="6215106" cy="1857388"/>
          </a:xfrm>
          <a:prstGeom prst="rect">
            <a:avLst/>
          </a:prstGeom>
        </p:spPr>
      </p:pic>
      <p:sp>
        <p:nvSpPr>
          <p:cNvPr id="8" name="矩形 7"/>
          <p:cNvSpPr/>
          <p:nvPr/>
        </p:nvSpPr>
        <p:spPr>
          <a:xfrm>
            <a:off x="4560964" y="6162280"/>
            <a:ext cx="2380615" cy="337185"/>
          </a:xfrm>
          <a:prstGeom prst="rect">
            <a:avLst/>
          </a:prstGeom>
        </p:spPr>
        <p:txBody>
          <a:bodyPr wrap="none">
            <a:spAutoFit/>
          </a:bodyPr>
          <a:lstStyle/>
          <a:p>
            <a:r>
              <a:rPr lang="zh-CN" altLang="en-US" sz="1600" dirty="0" smtClean="0"/>
              <a:t>图</a:t>
            </a:r>
            <a:r>
              <a:rPr lang="en-US" sz="1600" dirty="0" smtClean="0"/>
              <a:t>7—1</a:t>
            </a:r>
            <a:r>
              <a:rPr lang="zh-CN" altLang="en-US" sz="1600" dirty="0" smtClean="0"/>
              <a:t>　</a:t>
            </a:r>
            <a:r>
              <a:rPr lang="en-US" sz="1600" dirty="0" smtClean="0"/>
              <a:t>Internet Explorer</a:t>
            </a:r>
            <a:endParaRPr lang="zh-CN" altLang="en-US" sz="1600" dirty="0"/>
          </a:p>
        </p:txBody>
      </p:sp>
      <p:pic>
        <p:nvPicPr>
          <p:cNvPr id="10" name="7a0a.jpg" descr="id:2147496867;FounderCES"/>
          <p:cNvPicPr/>
          <p:nvPr/>
        </p:nvPicPr>
        <p:blipFill>
          <a:blip r:embed="rId4" cstate="print"/>
          <a:stretch>
            <a:fillRect/>
          </a:stretch>
        </p:blipFill>
        <p:spPr>
          <a:xfrm>
            <a:off x="4455402" y="3214686"/>
            <a:ext cx="426152" cy="428628"/>
          </a:xfrm>
          <a:prstGeom prst="rect">
            <a:avLst/>
          </a:prstGeom>
        </p:spPr>
      </p:pic>
      <p:pic>
        <p:nvPicPr>
          <p:cNvPr id="11" name="7a0b.jpg" descr="id:2147496874;FounderCES"/>
          <p:cNvPicPr/>
          <p:nvPr/>
        </p:nvPicPr>
        <p:blipFill>
          <a:blip r:embed="rId5" cstate="print"/>
          <a:stretch>
            <a:fillRect/>
          </a:stretch>
        </p:blipFill>
        <p:spPr>
          <a:xfrm>
            <a:off x="6310314" y="3286124"/>
            <a:ext cx="415641" cy="35451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7</a:t>
            </a:r>
            <a:r>
              <a:rPr lang="zh-CN" altLang="en-US" sz="2800" dirty="0" smtClean="0">
                <a:solidFill>
                  <a:schemeClr val="accent1">
                    <a:lumMod val="75000"/>
                  </a:schemeClr>
                </a:solidFill>
                <a:latin typeface="方正姚体" pitchFamily="2" charset="-122"/>
                <a:ea typeface="方正姚体" pitchFamily="2" charset="-122"/>
              </a:rPr>
              <a:t>章    </a:t>
            </a:r>
            <a:r>
              <a:rPr lang="en-US" sz="2800" dirty="0" smtClean="0">
                <a:solidFill>
                  <a:schemeClr val="accent1">
                    <a:lumMod val="75000"/>
                  </a:schemeClr>
                </a:solidFill>
                <a:latin typeface="方正姚体" pitchFamily="2" charset="-122"/>
                <a:ea typeface="方正姚体" pitchFamily="2" charset="-122"/>
              </a:rPr>
              <a:t>Internet</a:t>
            </a:r>
            <a:r>
              <a:rPr lang="zh-CN" altLang="en-US" sz="2800" dirty="0" smtClean="0">
                <a:solidFill>
                  <a:schemeClr val="accent1">
                    <a:lumMod val="75000"/>
                  </a:schemeClr>
                </a:solidFill>
                <a:latin typeface="方正姚体" pitchFamily="2" charset="-122"/>
                <a:ea typeface="方正姚体" pitchFamily="2" charset="-122"/>
              </a:rPr>
              <a:t>的应用</a:t>
            </a:r>
            <a:br>
              <a:rPr lang="en-US" altLang="zh-CN" sz="2800" dirty="0" smtClean="0">
                <a:solidFill>
                  <a:schemeClr val="accent1">
                    <a:lumMod val="75000"/>
                  </a:schemeClr>
                </a:solidFill>
                <a:latin typeface="方正姚体" pitchFamily="2" charset="-122"/>
                <a:ea typeface="方正姚体" pitchFamily="2" charset="-122"/>
              </a:rPr>
            </a:br>
            <a:r>
              <a:rPr lang="zh-CN" altLang="en-US" sz="2800" dirty="0" smtClean="0"/>
              <a:t> </a:t>
            </a:r>
            <a:endParaRPr lang="zh-CN" altLang="en-US" sz="2800" dirty="0"/>
          </a:p>
        </p:txBody>
      </p:sp>
      <p:pic>
        <p:nvPicPr>
          <p:cNvPr id="5" name="Z.EPS" descr="id:2147491553;FounderCES"/>
          <p:cNvPicPr/>
          <p:nvPr/>
        </p:nvPicPr>
        <p:blipFill>
          <a:blip r:embed="rId1"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2"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150000"/>
              </a:lnSpc>
            </a:pPr>
            <a:r>
              <a:rPr lang="en-US" dirty="0" smtClean="0"/>
              <a:t>7.1.3</a:t>
            </a:r>
            <a:r>
              <a:rPr lang="zh-CN" altLang="en-US" dirty="0" smtClean="0"/>
              <a:t>　浏览网页的基本操作</a:t>
            </a:r>
            <a:endParaRPr lang="zh-CN" altLang="en-US" dirty="0" smtClean="0"/>
          </a:p>
          <a:p>
            <a:pPr>
              <a:lnSpc>
                <a:spcPct val="150000"/>
              </a:lnSpc>
              <a:buFont typeface="Wingdings" panose="05000000000000000000" pitchFamily="2" charset="2"/>
              <a:buChar char="Ø"/>
            </a:pPr>
            <a:r>
              <a:rPr lang="en-US" sz="2000" dirty="0" smtClean="0"/>
              <a:t>1.</a:t>
            </a:r>
            <a:r>
              <a:rPr lang="zh-CN" altLang="en-US" sz="2000" dirty="0" smtClean="0"/>
              <a:t>浏览网页</a:t>
            </a:r>
            <a:endParaRPr lang="zh-CN" altLang="en-US" sz="2000" dirty="0" smtClean="0"/>
          </a:p>
          <a:p>
            <a:pPr>
              <a:lnSpc>
                <a:spcPct val="150000"/>
              </a:lnSpc>
              <a:buFont typeface="Wingdings" panose="05000000000000000000" pitchFamily="2" charset="2"/>
              <a:buChar char="Ø"/>
            </a:pPr>
            <a:r>
              <a:rPr lang="en-US" sz="2000" dirty="0" smtClean="0"/>
              <a:t>2.</a:t>
            </a:r>
            <a:r>
              <a:rPr lang="zh-CN" altLang="en-US" sz="2000" dirty="0" smtClean="0"/>
              <a:t>浏览历史记录</a:t>
            </a:r>
            <a:endParaRPr lang="zh-CN" altLang="en-US" sz="2000" dirty="0" smtClean="0"/>
          </a:p>
          <a:p>
            <a:pPr>
              <a:lnSpc>
                <a:spcPct val="150000"/>
              </a:lnSpc>
            </a:pPr>
            <a:r>
              <a:rPr lang="en-US" dirty="0" smtClean="0"/>
              <a:t>7.1.4</a:t>
            </a:r>
            <a:r>
              <a:rPr lang="zh-CN" altLang="en-US" dirty="0" smtClean="0"/>
              <a:t>　</a:t>
            </a:r>
            <a:r>
              <a:rPr lang="en-US" dirty="0" smtClean="0"/>
              <a:t>Internet Explorer</a:t>
            </a:r>
            <a:r>
              <a:rPr lang="zh-CN" altLang="en-US" dirty="0" smtClean="0"/>
              <a:t>选项的基本设置</a:t>
            </a:r>
            <a:endParaRPr lang="zh-CN" altLang="en-US" dirty="0" smtClean="0"/>
          </a:p>
          <a:p>
            <a:pPr>
              <a:lnSpc>
                <a:spcPct val="150000"/>
              </a:lnSpc>
              <a:buFont typeface="Wingdings" panose="05000000000000000000" pitchFamily="2" charset="2"/>
              <a:buChar char="Ø"/>
            </a:pPr>
            <a:r>
              <a:rPr lang="en-US" sz="2000" dirty="0" smtClean="0"/>
              <a:t>1.</a:t>
            </a:r>
            <a:r>
              <a:rPr lang="zh-CN" altLang="en-US" sz="2000" dirty="0" smtClean="0"/>
              <a:t>常规设置</a:t>
            </a:r>
            <a:endParaRPr lang="zh-CN" altLang="en-US" sz="2000" dirty="0"/>
          </a:p>
        </p:txBody>
      </p:sp>
      <p:pic>
        <p:nvPicPr>
          <p:cNvPr id="7" name="7a2.jpg" descr="id:2147496936;FounderCES"/>
          <p:cNvPicPr/>
          <p:nvPr/>
        </p:nvPicPr>
        <p:blipFill>
          <a:blip r:embed="rId3" cstate="print"/>
          <a:stretch>
            <a:fillRect/>
          </a:stretch>
        </p:blipFill>
        <p:spPr>
          <a:xfrm>
            <a:off x="3809984" y="3857628"/>
            <a:ext cx="2302200" cy="2739600"/>
          </a:xfrm>
          <a:prstGeom prst="rect">
            <a:avLst/>
          </a:prstGeom>
        </p:spPr>
      </p:pic>
      <p:sp>
        <p:nvSpPr>
          <p:cNvPr id="8" name="矩形 7"/>
          <p:cNvSpPr/>
          <p:nvPr/>
        </p:nvSpPr>
        <p:spPr>
          <a:xfrm>
            <a:off x="6310346" y="5929330"/>
            <a:ext cx="2928926" cy="583565"/>
          </a:xfrm>
          <a:prstGeom prst="rect">
            <a:avLst/>
          </a:prstGeom>
        </p:spPr>
        <p:txBody>
          <a:bodyPr wrap="square">
            <a:spAutoFit/>
          </a:bodyPr>
          <a:lstStyle/>
          <a:p>
            <a:r>
              <a:rPr lang="zh-CN" altLang="en-US" sz="1600" dirty="0" smtClean="0"/>
              <a:t>图</a:t>
            </a:r>
            <a:r>
              <a:rPr lang="en-US" sz="1600" dirty="0" smtClean="0"/>
              <a:t>7—2</a:t>
            </a:r>
            <a:r>
              <a:rPr lang="zh-CN" altLang="en-US" sz="1600" dirty="0" smtClean="0"/>
              <a:t>　</a:t>
            </a:r>
            <a:r>
              <a:rPr lang="en-US" sz="1600" dirty="0" smtClean="0"/>
              <a:t>Internet Explorer</a:t>
            </a:r>
            <a:endParaRPr lang="en-US" sz="1600" dirty="0" smtClean="0"/>
          </a:p>
          <a:p>
            <a:r>
              <a:rPr lang="zh-CN" altLang="en-US" sz="1600" dirty="0" smtClean="0"/>
              <a:t>浏览器</a:t>
            </a:r>
            <a:r>
              <a:rPr lang="en-US" sz="1600" dirty="0" smtClean="0"/>
              <a:t>—</a:t>
            </a:r>
            <a:r>
              <a:rPr lang="zh-CN" altLang="en-US" sz="1600" dirty="0" smtClean="0"/>
              <a:t>常规设置</a:t>
            </a:r>
            <a:endParaRPr lang="zh-CN" alt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7</a:t>
            </a:r>
            <a:r>
              <a:rPr lang="zh-CN" altLang="en-US" sz="2800" dirty="0" smtClean="0">
                <a:solidFill>
                  <a:schemeClr val="accent1">
                    <a:lumMod val="75000"/>
                  </a:schemeClr>
                </a:solidFill>
                <a:latin typeface="方正姚体" pitchFamily="2" charset="-122"/>
                <a:ea typeface="方正姚体" pitchFamily="2" charset="-122"/>
              </a:rPr>
              <a:t>章    </a:t>
            </a:r>
            <a:r>
              <a:rPr lang="en-US" sz="2800" dirty="0" smtClean="0">
                <a:solidFill>
                  <a:schemeClr val="accent1">
                    <a:lumMod val="75000"/>
                  </a:schemeClr>
                </a:solidFill>
                <a:latin typeface="方正姚体" pitchFamily="2" charset="-122"/>
                <a:ea typeface="方正姚体" pitchFamily="2" charset="-122"/>
              </a:rPr>
              <a:t>Internet</a:t>
            </a:r>
            <a:r>
              <a:rPr lang="zh-CN" altLang="en-US" sz="2800" dirty="0" smtClean="0">
                <a:solidFill>
                  <a:schemeClr val="accent1">
                    <a:lumMod val="75000"/>
                  </a:schemeClr>
                </a:solidFill>
                <a:latin typeface="方正姚体" pitchFamily="2" charset="-122"/>
                <a:ea typeface="方正姚体" pitchFamily="2" charset="-122"/>
              </a:rPr>
              <a:t>的应用</a:t>
            </a:r>
            <a:br>
              <a:rPr lang="en-US" altLang="zh-CN" sz="2800" dirty="0" smtClean="0">
                <a:solidFill>
                  <a:schemeClr val="accent1">
                    <a:lumMod val="75000"/>
                  </a:schemeClr>
                </a:solidFill>
                <a:latin typeface="方正姚体" pitchFamily="2" charset="-122"/>
                <a:ea typeface="方正姚体" pitchFamily="2" charset="-122"/>
              </a:rPr>
            </a:br>
            <a:r>
              <a:rPr lang="zh-CN" altLang="en-US" sz="2800" dirty="0" smtClean="0"/>
              <a:t> </a:t>
            </a:r>
            <a:endParaRPr lang="zh-CN" altLang="en-US" sz="2800" dirty="0"/>
          </a:p>
        </p:txBody>
      </p:sp>
      <p:pic>
        <p:nvPicPr>
          <p:cNvPr id="5" name="Z.EPS" descr="id:2147491553;FounderCES"/>
          <p:cNvPicPr/>
          <p:nvPr/>
        </p:nvPicPr>
        <p:blipFill>
          <a:blip r:embed="rId1"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2"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150000"/>
              </a:lnSpc>
              <a:buNone/>
            </a:pPr>
            <a:r>
              <a:rPr lang="en-US" sz="2000" dirty="0" smtClean="0"/>
              <a:t>2.</a:t>
            </a:r>
            <a:r>
              <a:rPr lang="zh-CN" altLang="en-US" sz="2000" dirty="0" smtClean="0"/>
              <a:t>安全设置</a:t>
            </a:r>
            <a:endParaRPr lang="zh-CN" altLang="en-US" sz="2000" dirty="0" smtClean="0"/>
          </a:p>
          <a:p>
            <a:pPr>
              <a:lnSpc>
                <a:spcPct val="150000"/>
              </a:lnSpc>
              <a:buFont typeface="Wingdings" panose="05000000000000000000" pitchFamily="2" charset="2"/>
              <a:buChar char="Ø"/>
            </a:pPr>
            <a:endParaRPr lang="zh-CN" altLang="en-US" sz="2000" dirty="0"/>
          </a:p>
        </p:txBody>
      </p:sp>
      <p:sp>
        <p:nvSpPr>
          <p:cNvPr id="8" name="矩形 7"/>
          <p:cNvSpPr/>
          <p:nvPr/>
        </p:nvSpPr>
        <p:spPr>
          <a:xfrm>
            <a:off x="3881422" y="5929330"/>
            <a:ext cx="5072098" cy="337185"/>
          </a:xfrm>
          <a:prstGeom prst="rect">
            <a:avLst/>
          </a:prstGeom>
        </p:spPr>
        <p:txBody>
          <a:bodyPr wrap="square">
            <a:spAutoFit/>
          </a:bodyPr>
          <a:lstStyle/>
          <a:p>
            <a:r>
              <a:rPr lang="zh-CN" altLang="en-US" sz="1600" dirty="0" smtClean="0"/>
              <a:t>图</a:t>
            </a:r>
            <a:r>
              <a:rPr lang="en-US" sz="1600" dirty="0" smtClean="0"/>
              <a:t>7—3</a:t>
            </a:r>
            <a:r>
              <a:rPr lang="zh-CN" altLang="en-US" sz="1600" dirty="0" smtClean="0"/>
              <a:t>　</a:t>
            </a:r>
            <a:r>
              <a:rPr lang="en-US" sz="1600" dirty="0" smtClean="0"/>
              <a:t>Internet Explorer—</a:t>
            </a:r>
            <a:r>
              <a:rPr lang="zh-CN" altLang="en-US" sz="1600" dirty="0" smtClean="0"/>
              <a:t>安全设置</a:t>
            </a:r>
            <a:endParaRPr lang="zh-CN" altLang="en-US" sz="1600" dirty="0"/>
          </a:p>
        </p:txBody>
      </p:sp>
      <p:pic>
        <p:nvPicPr>
          <p:cNvPr id="10" name="7a3.jpg" descr="id:2147496951;FounderCES"/>
          <p:cNvPicPr/>
          <p:nvPr/>
        </p:nvPicPr>
        <p:blipFill>
          <a:blip r:embed="rId3" cstate="print"/>
          <a:stretch>
            <a:fillRect/>
          </a:stretch>
        </p:blipFill>
        <p:spPr>
          <a:xfrm>
            <a:off x="4095736" y="1714488"/>
            <a:ext cx="3214710" cy="392909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7</a:t>
            </a:r>
            <a:r>
              <a:rPr lang="zh-CN" altLang="en-US" sz="2800" dirty="0" smtClean="0">
                <a:solidFill>
                  <a:schemeClr val="accent1">
                    <a:lumMod val="75000"/>
                  </a:schemeClr>
                </a:solidFill>
                <a:latin typeface="方正姚体" pitchFamily="2" charset="-122"/>
                <a:ea typeface="方正姚体" pitchFamily="2" charset="-122"/>
              </a:rPr>
              <a:t>章    </a:t>
            </a:r>
            <a:r>
              <a:rPr lang="en-US" sz="2800" dirty="0" smtClean="0">
                <a:solidFill>
                  <a:schemeClr val="accent1">
                    <a:lumMod val="75000"/>
                  </a:schemeClr>
                </a:solidFill>
                <a:latin typeface="方正姚体" pitchFamily="2" charset="-122"/>
                <a:ea typeface="方正姚体" pitchFamily="2" charset="-122"/>
              </a:rPr>
              <a:t>Internet</a:t>
            </a:r>
            <a:r>
              <a:rPr lang="zh-CN" altLang="en-US" sz="2800" dirty="0" smtClean="0">
                <a:solidFill>
                  <a:schemeClr val="accent1">
                    <a:lumMod val="75000"/>
                  </a:schemeClr>
                </a:solidFill>
                <a:latin typeface="方正姚体" pitchFamily="2" charset="-122"/>
                <a:ea typeface="方正姚体" pitchFamily="2" charset="-122"/>
              </a:rPr>
              <a:t>的应用</a:t>
            </a:r>
            <a:br>
              <a:rPr lang="en-US" altLang="zh-CN" sz="2800" dirty="0" smtClean="0">
                <a:solidFill>
                  <a:schemeClr val="accent1">
                    <a:lumMod val="75000"/>
                  </a:schemeClr>
                </a:solidFill>
                <a:latin typeface="方正姚体" pitchFamily="2" charset="-122"/>
                <a:ea typeface="方正姚体" pitchFamily="2" charset="-122"/>
              </a:rPr>
            </a:br>
            <a:r>
              <a:rPr lang="zh-CN" altLang="en-US" sz="2800" dirty="0" smtClean="0"/>
              <a:t> </a:t>
            </a:r>
            <a:endParaRPr lang="zh-CN" altLang="en-US" sz="2800" dirty="0"/>
          </a:p>
        </p:txBody>
      </p:sp>
      <p:pic>
        <p:nvPicPr>
          <p:cNvPr id="5" name="Z.EPS" descr="id:2147491553;FounderCES"/>
          <p:cNvPicPr/>
          <p:nvPr/>
        </p:nvPicPr>
        <p:blipFill>
          <a:blip r:embed="rId1"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2"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150000"/>
              </a:lnSpc>
              <a:buNone/>
            </a:pPr>
            <a:r>
              <a:rPr lang="en-US" sz="2000" dirty="0" smtClean="0"/>
              <a:t>     3.</a:t>
            </a:r>
            <a:r>
              <a:rPr lang="zh-CN" altLang="en-US" sz="2000" dirty="0" smtClean="0"/>
              <a:t>隐私设置                      </a:t>
            </a:r>
            <a:r>
              <a:rPr lang="en-US" sz="2000" dirty="0" smtClean="0"/>
              <a:t>4.</a:t>
            </a:r>
            <a:r>
              <a:rPr lang="zh-CN" altLang="en-US" sz="2000" dirty="0" smtClean="0"/>
              <a:t>内容设置</a:t>
            </a:r>
            <a:endParaRPr lang="zh-CN" altLang="en-US" sz="2000" dirty="0"/>
          </a:p>
        </p:txBody>
      </p:sp>
      <p:sp>
        <p:nvSpPr>
          <p:cNvPr id="8" name="矩形 7"/>
          <p:cNvSpPr/>
          <p:nvPr/>
        </p:nvSpPr>
        <p:spPr>
          <a:xfrm>
            <a:off x="1952596" y="5876528"/>
            <a:ext cx="3929090" cy="337185"/>
          </a:xfrm>
          <a:prstGeom prst="rect">
            <a:avLst/>
          </a:prstGeom>
        </p:spPr>
        <p:txBody>
          <a:bodyPr wrap="square">
            <a:spAutoFit/>
          </a:bodyPr>
          <a:lstStyle/>
          <a:p>
            <a:r>
              <a:rPr lang="zh-CN" altLang="en-US" sz="1600" dirty="0" smtClean="0"/>
              <a:t>图</a:t>
            </a:r>
            <a:r>
              <a:rPr lang="en-US" sz="1600" dirty="0" smtClean="0"/>
              <a:t>7—4</a:t>
            </a:r>
            <a:r>
              <a:rPr lang="zh-CN" altLang="en-US" sz="1600" dirty="0" smtClean="0"/>
              <a:t>　</a:t>
            </a:r>
            <a:r>
              <a:rPr lang="en-US" sz="1600" dirty="0" smtClean="0"/>
              <a:t>Internet Explorer—</a:t>
            </a:r>
            <a:r>
              <a:rPr lang="zh-CN" altLang="en-US" sz="1600" dirty="0" smtClean="0"/>
              <a:t>隐私设置</a:t>
            </a:r>
            <a:endParaRPr lang="zh-CN" altLang="en-US" sz="1600" dirty="0"/>
          </a:p>
        </p:txBody>
      </p:sp>
      <p:pic>
        <p:nvPicPr>
          <p:cNvPr id="11" name="7a4.jpg" descr="id:2147496974;FounderCES"/>
          <p:cNvPicPr/>
          <p:nvPr/>
        </p:nvPicPr>
        <p:blipFill>
          <a:blip r:embed="rId3" cstate="print"/>
          <a:stretch>
            <a:fillRect/>
          </a:stretch>
        </p:blipFill>
        <p:spPr>
          <a:xfrm>
            <a:off x="2381224" y="2428868"/>
            <a:ext cx="2643206" cy="3214710"/>
          </a:xfrm>
          <a:prstGeom prst="rect">
            <a:avLst/>
          </a:prstGeom>
        </p:spPr>
      </p:pic>
      <p:pic>
        <p:nvPicPr>
          <p:cNvPr id="12" name="7a5.jpg" descr="id:2147496981;FounderCES"/>
          <p:cNvPicPr/>
          <p:nvPr/>
        </p:nvPicPr>
        <p:blipFill>
          <a:blip r:embed="rId4" cstate="print"/>
          <a:stretch>
            <a:fillRect/>
          </a:stretch>
        </p:blipFill>
        <p:spPr>
          <a:xfrm>
            <a:off x="6238876" y="2357430"/>
            <a:ext cx="2714644" cy="3286148"/>
          </a:xfrm>
          <a:prstGeom prst="rect">
            <a:avLst/>
          </a:prstGeom>
        </p:spPr>
      </p:pic>
      <p:sp>
        <p:nvSpPr>
          <p:cNvPr id="13" name="矩形 12"/>
          <p:cNvSpPr/>
          <p:nvPr/>
        </p:nvSpPr>
        <p:spPr>
          <a:xfrm>
            <a:off x="5821069" y="5857892"/>
            <a:ext cx="3377565" cy="337185"/>
          </a:xfrm>
          <a:prstGeom prst="rect">
            <a:avLst/>
          </a:prstGeom>
        </p:spPr>
        <p:txBody>
          <a:bodyPr wrap="none">
            <a:spAutoFit/>
          </a:bodyPr>
          <a:lstStyle/>
          <a:p>
            <a:r>
              <a:rPr lang="zh-CN" altLang="en-US" sz="1600" dirty="0" smtClean="0"/>
              <a:t>图</a:t>
            </a:r>
            <a:r>
              <a:rPr lang="en-US" sz="1600" dirty="0" smtClean="0"/>
              <a:t>7—5</a:t>
            </a:r>
            <a:r>
              <a:rPr lang="zh-CN" altLang="en-US" sz="1600" dirty="0" smtClean="0"/>
              <a:t>　</a:t>
            </a:r>
            <a:r>
              <a:rPr lang="en-US" sz="1600" dirty="0" smtClean="0"/>
              <a:t>Internet Explorer—</a:t>
            </a:r>
            <a:r>
              <a:rPr lang="zh-CN" altLang="en-US" sz="1600" dirty="0" smtClean="0"/>
              <a:t>内容设置</a:t>
            </a:r>
            <a:endParaRPr lang="zh-CN" alt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7</a:t>
            </a:r>
            <a:r>
              <a:rPr lang="zh-CN" altLang="en-US" sz="2800" dirty="0" smtClean="0">
                <a:solidFill>
                  <a:schemeClr val="accent1">
                    <a:lumMod val="75000"/>
                  </a:schemeClr>
                </a:solidFill>
                <a:latin typeface="方正姚体" pitchFamily="2" charset="-122"/>
                <a:ea typeface="方正姚体" pitchFamily="2" charset="-122"/>
              </a:rPr>
              <a:t>章    </a:t>
            </a:r>
            <a:r>
              <a:rPr lang="en-US" sz="2800" dirty="0" smtClean="0">
                <a:solidFill>
                  <a:schemeClr val="accent1">
                    <a:lumMod val="75000"/>
                  </a:schemeClr>
                </a:solidFill>
                <a:latin typeface="方正姚体" pitchFamily="2" charset="-122"/>
                <a:ea typeface="方正姚体" pitchFamily="2" charset="-122"/>
              </a:rPr>
              <a:t>Internet</a:t>
            </a:r>
            <a:r>
              <a:rPr lang="zh-CN" altLang="en-US" sz="2800" dirty="0" smtClean="0">
                <a:solidFill>
                  <a:schemeClr val="accent1">
                    <a:lumMod val="75000"/>
                  </a:schemeClr>
                </a:solidFill>
                <a:latin typeface="方正姚体" pitchFamily="2" charset="-122"/>
                <a:ea typeface="方正姚体" pitchFamily="2" charset="-122"/>
              </a:rPr>
              <a:t>的应用</a:t>
            </a:r>
            <a:br>
              <a:rPr lang="en-US" altLang="zh-CN" sz="2800" dirty="0" smtClean="0">
                <a:solidFill>
                  <a:schemeClr val="accent1">
                    <a:lumMod val="75000"/>
                  </a:schemeClr>
                </a:solidFill>
                <a:latin typeface="方正姚体" pitchFamily="2" charset="-122"/>
                <a:ea typeface="方正姚体" pitchFamily="2" charset="-122"/>
              </a:rPr>
            </a:br>
            <a:r>
              <a:rPr lang="zh-CN" altLang="en-US" sz="2800" dirty="0" smtClean="0"/>
              <a:t> </a:t>
            </a:r>
            <a:endParaRPr lang="zh-CN" altLang="en-US" sz="2800" dirty="0"/>
          </a:p>
        </p:txBody>
      </p:sp>
      <p:pic>
        <p:nvPicPr>
          <p:cNvPr id="5" name="Z.EPS" descr="id:2147491553;FounderCES"/>
          <p:cNvPicPr/>
          <p:nvPr/>
        </p:nvPicPr>
        <p:blipFill>
          <a:blip r:embed="rId1"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2"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buNone/>
            </a:pPr>
            <a:r>
              <a:rPr lang="en-US" sz="2000" dirty="0" smtClean="0"/>
              <a:t>      5.</a:t>
            </a:r>
            <a:r>
              <a:rPr lang="zh-CN" altLang="en-US" sz="2000" dirty="0" smtClean="0"/>
              <a:t>连接设置                      </a:t>
            </a:r>
            <a:r>
              <a:rPr lang="en-US" sz="2000" dirty="0" smtClean="0"/>
              <a:t>6.</a:t>
            </a:r>
            <a:r>
              <a:rPr lang="zh-CN" altLang="en-US" sz="2000" dirty="0" smtClean="0"/>
              <a:t>程序设置</a:t>
            </a:r>
            <a:endParaRPr lang="zh-CN" altLang="en-US" sz="2000" dirty="0" smtClean="0"/>
          </a:p>
          <a:p>
            <a:pPr>
              <a:lnSpc>
                <a:spcPct val="150000"/>
              </a:lnSpc>
              <a:buNone/>
            </a:pPr>
            <a:endParaRPr lang="zh-CN" altLang="en-US" sz="2000" dirty="0"/>
          </a:p>
        </p:txBody>
      </p:sp>
      <p:sp>
        <p:nvSpPr>
          <p:cNvPr id="8" name="矩形 7"/>
          <p:cNvSpPr/>
          <p:nvPr/>
        </p:nvSpPr>
        <p:spPr>
          <a:xfrm>
            <a:off x="1881158" y="5929330"/>
            <a:ext cx="3786214" cy="337185"/>
          </a:xfrm>
          <a:prstGeom prst="rect">
            <a:avLst/>
          </a:prstGeom>
        </p:spPr>
        <p:txBody>
          <a:bodyPr wrap="square">
            <a:spAutoFit/>
          </a:bodyPr>
          <a:lstStyle/>
          <a:p>
            <a:r>
              <a:rPr lang="zh-CN" altLang="en-US" sz="1600" dirty="0" smtClean="0"/>
              <a:t>图</a:t>
            </a:r>
            <a:r>
              <a:rPr lang="en-US" sz="1600" dirty="0" smtClean="0"/>
              <a:t>7—6</a:t>
            </a:r>
            <a:r>
              <a:rPr lang="zh-CN" altLang="en-US" sz="1600" dirty="0" smtClean="0"/>
              <a:t>　</a:t>
            </a:r>
            <a:r>
              <a:rPr lang="en-US" sz="1600" dirty="0" smtClean="0"/>
              <a:t>Internet Explorer—</a:t>
            </a:r>
            <a:r>
              <a:rPr lang="zh-CN" altLang="en-US" sz="1600" dirty="0" smtClean="0"/>
              <a:t>连接设置</a:t>
            </a:r>
            <a:endParaRPr lang="zh-CN" altLang="en-US" sz="1600" dirty="0"/>
          </a:p>
        </p:txBody>
      </p:sp>
      <p:pic>
        <p:nvPicPr>
          <p:cNvPr id="11" name="7a6.jpg" descr="id:2147496996;FounderCES"/>
          <p:cNvPicPr/>
          <p:nvPr/>
        </p:nvPicPr>
        <p:blipFill>
          <a:blip r:embed="rId3"/>
          <a:stretch>
            <a:fillRect/>
          </a:stretch>
        </p:blipFill>
        <p:spPr>
          <a:xfrm>
            <a:off x="2452662" y="2285992"/>
            <a:ext cx="2643206" cy="3286148"/>
          </a:xfrm>
          <a:prstGeom prst="rect">
            <a:avLst/>
          </a:prstGeom>
        </p:spPr>
      </p:pic>
      <p:pic>
        <p:nvPicPr>
          <p:cNvPr id="12" name="7a7.jpg" descr="id:2147497011;FounderCES"/>
          <p:cNvPicPr/>
          <p:nvPr/>
        </p:nvPicPr>
        <p:blipFill>
          <a:blip r:embed="rId4"/>
          <a:stretch>
            <a:fillRect/>
          </a:stretch>
        </p:blipFill>
        <p:spPr>
          <a:xfrm>
            <a:off x="6453190" y="2214554"/>
            <a:ext cx="2643206" cy="3357586"/>
          </a:xfrm>
          <a:prstGeom prst="rect">
            <a:avLst/>
          </a:prstGeom>
        </p:spPr>
      </p:pic>
      <p:sp>
        <p:nvSpPr>
          <p:cNvPr id="13" name="矩形 12"/>
          <p:cNvSpPr/>
          <p:nvPr/>
        </p:nvSpPr>
        <p:spPr>
          <a:xfrm>
            <a:off x="5963945" y="5947966"/>
            <a:ext cx="3377565" cy="337185"/>
          </a:xfrm>
          <a:prstGeom prst="rect">
            <a:avLst/>
          </a:prstGeom>
        </p:spPr>
        <p:txBody>
          <a:bodyPr wrap="none">
            <a:spAutoFit/>
          </a:bodyPr>
          <a:lstStyle/>
          <a:p>
            <a:r>
              <a:rPr lang="zh-CN" altLang="en-US" sz="1600" dirty="0" smtClean="0"/>
              <a:t>图</a:t>
            </a:r>
            <a:r>
              <a:rPr lang="en-US" sz="1600" dirty="0" smtClean="0"/>
              <a:t>7—7</a:t>
            </a:r>
            <a:r>
              <a:rPr lang="zh-CN" altLang="en-US" sz="1600" dirty="0" smtClean="0"/>
              <a:t>　</a:t>
            </a:r>
            <a:r>
              <a:rPr lang="en-US" sz="1600" dirty="0" smtClean="0"/>
              <a:t>Internet Explorer—</a:t>
            </a:r>
            <a:r>
              <a:rPr lang="zh-CN" altLang="en-US" sz="1600" dirty="0" smtClean="0"/>
              <a:t>程序设置</a:t>
            </a:r>
            <a:endParaRPr lang="zh-CN" alt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7</a:t>
            </a:r>
            <a:r>
              <a:rPr lang="zh-CN" altLang="en-US" sz="2800" dirty="0" smtClean="0">
                <a:solidFill>
                  <a:schemeClr val="accent1">
                    <a:lumMod val="75000"/>
                  </a:schemeClr>
                </a:solidFill>
                <a:latin typeface="方正姚体" pitchFamily="2" charset="-122"/>
                <a:ea typeface="方正姚体" pitchFamily="2" charset="-122"/>
              </a:rPr>
              <a:t>章    </a:t>
            </a:r>
            <a:r>
              <a:rPr lang="en-US" sz="2800" dirty="0" smtClean="0">
                <a:solidFill>
                  <a:schemeClr val="accent1">
                    <a:lumMod val="75000"/>
                  </a:schemeClr>
                </a:solidFill>
                <a:latin typeface="方正姚体" pitchFamily="2" charset="-122"/>
                <a:ea typeface="方正姚体" pitchFamily="2" charset="-122"/>
              </a:rPr>
              <a:t>Internet</a:t>
            </a:r>
            <a:r>
              <a:rPr lang="zh-CN" altLang="en-US" sz="2800" dirty="0" smtClean="0">
                <a:solidFill>
                  <a:schemeClr val="accent1">
                    <a:lumMod val="75000"/>
                  </a:schemeClr>
                </a:solidFill>
                <a:latin typeface="方正姚体" pitchFamily="2" charset="-122"/>
                <a:ea typeface="方正姚体" pitchFamily="2" charset="-122"/>
              </a:rPr>
              <a:t>的应用</a:t>
            </a:r>
            <a:br>
              <a:rPr lang="en-US" altLang="zh-CN" sz="2800" dirty="0" smtClean="0">
                <a:solidFill>
                  <a:schemeClr val="accent1">
                    <a:lumMod val="75000"/>
                  </a:schemeClr>
                </a:solidFill>
                <a:latin typeface="方正姚体" pitchFamily="2" charset="-122"/>
                <a:ea typeface="方正姚体" pitchFamily="2" charset="-122"/>
              </a:rPr>
            </a:br>
            <a:r>
              <a:rPr lang="zh-CN" altLang="en-US" sz="2800" dirty="0" smtClean="0"/>
              <a:t> </a:t>
            </a:r>
            <a:endParaRPr lang="zh-CN" altLang="en-US" sz="2800" dirty="0"/>
          </a:p>
        </p:txBody>
      </p:sp>
      <p:pic>
        <p:nvPicPr>
          <p:cNvPr id="5" name="Z.EPS" descr="id:2147491553;FounderCES"/>
          <p:cNvPicPr/>
          <p:nvPr/>
        </p:nvPicPr>
        <p:blipFill>
          <a:blip r:embed="rId1"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2"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150000"/>
              </a:lnSpc>
            </a:pPr>
            <a:r>
              <a:rPr lang="en-US" dirty="0" smtClean="0"/>
              <a:t>7.1.5</a:t>
            </a:r>
            <a:r>
              <a:rPr lang="zh-CN" altLang="en-US" dirty="0" smtClean="0"/>
              <a:t>　</a:t>
            </a:r>
            <a:r>
              <a:rPr lang="en-US" dirty="0" smtClean="0"/>
              <a:t>Internet Explorer</a:t>
            </a:r>
            <a:r>
              <a:rPr lang="zh-CN" altLang="en-US" dirty="0" smtClean="0"/>
              <a:t>收藏夹的基本使用 </a:t>
            </a:r>
            <a:endParaRPr lang="zh-CN" altLang="en-US" dirty="0" smtClean="0"/>
          </a:p>
          <a:p>
            <a:pPr>
              <a:lnSpc>
                <a:spcPct val="150000"/>
              </a:lnSpc>
              <a:buNone/>
            </a:pPr>
            <a:r>
              <a:rPr lang="en-US" sz="2000" dirty="0" smtClean="0"/>
              <a:t>1.</a:t>
            </a:r>
            <a:r>
              <a:rPr lang="zh-CN" altLang="en-US" sz="2000" dirty="0" smtClean="0"/>
              <a:t>收藏夹的作用          </a:t>
            </a:r>
            <a:r>
              <a:rPr lang="en-US" sz="2000" dirty="0" smtClean="0"/>
              <a:t>2.</a:t>
            </a:r>
            <a:r>
              <a:rPr lang="zh-CN" altLang="en-US" sz="2000" dirty="0" smtClean="0"/>
              <a:t>添加到收藏夹          </a:t>
            </a:r>
            <a:r>
              <a:rPr lang="en-US" sz="2000" dirty="0" smtClean="0"/>
              <a:t>3.</a:t>
            </a:r>
            <a:r>
              <a:rPr lang="zh-CN" altLang="en-US" sz="2000" dirty="0" smtClean="0"/>
              <a:t>整理收藏夹</a:t>
            </a:r>
            <a:endParaRPr lang="zh-CN" altLang="en-US" sz="2000" dirty="0" smtClean="0"/>
          </a:p>
        </p:txBody>
      </p:sp>
      <p:pic>
        <p:nvPicPr>
          <p:cNvPr id="11" name="7a8.jpg" descr="id:2147497042;FounderCES"/>
          <p:cNvPicPr/>
          <p:nvPr/>
        </p:nvPicPr>
        <p:blipFill>
          <a:blip r:embed="rId3"/>
          <a:stretch>
            <a:fillRect/>
          </a:stretch>
        </p:blipFill>
        <p:spPr>
          <a:xfrm>
            <a:off x="2166910" y="3357562"/>
            <a:ext cx="3500462" cy="2214578"/>
          </a:xfrm>
          <a:prstGeom prst="rect">
            <a:avLst/>
          </a:prstGeom>
        </p:spPr>
      </p:pic>
      <p:sp>
        <p:nvSpPr>
          <p:cNvPr id="12" name="矩形 11"/>
          <p:cNvSpPr/>
          <p:nvPr/>
        </p:nvSpPr>
        <p:spPr>
          <a:xfrm>
            <a:off x="2983975" y="5947966"/>
            <a:ext cx="1791970" cy="337185"/>
          </a:xfrm>
          <a:prstGeom prst="rect">
            <a:avLst/>
          </a:prstGeom>
        </p:spPr>
        <p:txBody>
          <a:bodyPr wrap="none">
            <a:spAutoFit/>
          </a:bodyPr>
          <a:lstStyle/>
          <a:p>
            <a:r>
              <a:rPr lang="zh-CN" altLang="en-US" sz="1600" dirty="0" smtClean="0"/>
              <a:t>图</a:t>
            </a:r>
            <a:r>
              <a:rPr lang="en-US" sz="1600" dirty="0" smtClean="0"/>
              <a:t>7—8</a:t>
            </a:r>
            <a:r>
              <a:rPr lang="zh-CN" altLang="en-US" sz="1600" dirty="0" smtClean="0"/>
              <a:t>　添加收藏</a:t>
            </a:r>
            <a:endParaRPr lang="zh-CN" altLang="en-US" sz="1600" dirty="0"/>
          </a:p>
        </p:txBody>
      </p:sp>
      <p:pic>
        <p:nvPicPr>
          <p:cNvPr id="13" name="7a9.jpg" descr="id:2147497057;FounderCES"/>
          <p:cNvPicPr/>
          <p:nvPr/>
        </p:nvPicPr>
        <p:blipFill>
          <a:blip r:embed="rId4" cstate="print"/>
          <a:stretch>
            <a:fillRect/>
          </a:stretch>
        </p:blipFill>
        <p:spPr>
          <a:xfrm>
            <a:off x="7024694" y="3000372"/>
            <a:ext cx="2214578" cy="2857520"/>
          </a:xfrm>
          <a:prstGeom prst="rect">
            <a:avLst/>
          </a:prstGeom>
        </p:spPr>
      </p:pic>
      <p:sp>
        <p:nvSpPr>
          <p:cNvPr id="14" name="矩形 13"/>
          <p:cNvSpPr/>
          <p:nvPr/>
        </p:nvSpPr>
        <p:spPr>
          <a:xfrm>
            <a:off x="7279385" y="6000768"/>
            <a:ext cx="1995170" cy="337185"/>
          </a:xfrm>
          <a:prstGeom prst="rect">
            <a:avLst/>
          </a:prstGeom>
        </p:spPr>
        <p:txBody>
          <a:bodyPr wrap="none">
            <a:spAutoFit/>
          </a:bodyPr>
          <a:lstStyle/>
          <a:p>
            <a:r>
              <a:rPr lang="zh-CN" altLang="en-US" sz="1600" dirty="0" smtClean="0"/>
              <a:t>图</a:t>
            </a:r>
            <a:r>
              <a:rPr lang="en-US" sz="1600" dirty="0" smtClean="0"/>
              <a:t>7—9</a:t>
            </a:r>
            <a:r>
              <a:rPr lang="zh-CN" altLang="en-US" sz="1600" dirty="0" smtClean="0"/>
              <a:t>　整理收藏夹</a:t>
            </a:r>
            <a:endParaRPr lang="zh-CN" alt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7</a:t>
            </a:r>
            <a:r>
              <a:rPr lang="zh-CN" altLang="en-US" sz="2800" dirty="0" smtClean="0">
                <a:solidFill>
                  <a:schemeClr val="accent1">
                    <a:lumMod val="75000"/>
                  </a:schemeClr>
                </a:solidFill>
                <a:latin typeface="方正姚体" pitchFamily="2" charset="-122"/>
                <a:ea typeface="方正姚体" pitchFamily="2" charset="-122"/>
              </a:rPr>
              <a:t>章    </a:t>
            </a:r>
            <a:r>
              <a:rPr lang="en-US" sz="2800" dirty="0" smtClean="0">
                <a:solidFill>
                  <a:schemeClr val="accent1">
                    <a:lumMod val="75000"/>
                  </a:schemeClr>
                </a:solidFill>
                <a:latin typeface="方正姚体" pitchFamily="2" charset="-122"/>
                <a:ea typeface="方正姚体" pitchFamily="2" charset="-122"/>
              </a:rPr>
              <a:t>Internet</a:t>
            </a:r>
            <a:r>
              <a:rPr lang="zh-CN" altLang="en-US" sz="2800" dirty="0" smtClean="0">
                <a:solidFill>
                  <a:schemeClr val="accent1">
                    <a:lumMod val="75000"/>
                  </a:schemeClr>
                </a:solidFill>
                <a:latin typeface="方正姚体" pitchFamily="2" charset="-122"/>
                <a:ea typeface="方正姚体" pitchFamily="2" charset="-122"/>
              </a:rPr>
              <a:t>的应用</a:t>
            </a:r>
            <a:br>
              <a:rPr lang="en-US" altLang="zh-CN" sz="2800" dirty="0" smtClean="0">
                <a:solidFill>
                  <a:schemeClr val="accent1">
                    <a:lumMod val="75000"/>
                  </a:schemeClr>
                </a:solidFill>
                <a:latin typeface="方正姚体" pitchFamily="2" charset="-122"/>
                <a:ea typeface="方正姚体" pitchFamily="2" charset="-122"/>
              </a:rPr>
            </a:br>
            <a:r>
              <a:rPr lang="zh-CN" altLang="en-US" sz="2800" dirty="0" smtClean="0"/>
              <a:t> </a:t>
            </a:r>
            <a:endParaRPr lang="zh-CN" altLang="en-US" sz="2800" dirty="0"/>
          </a:p>
        </p:txBody>
      </p:sp>
      <p:pic>
        <p:nvPicPr>
          <p:cNvPr id="5" name="Z.EPS" descr="id:2147491553;FounderCES"/>
          <p:cNvPicPr/>
          <p:nvPr/>
        </p:nvPicPr>
        <p:blipFill>
          <a:blip r:embed="rId1"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2"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150000"/>
              </a:lnSpc>
            </a:pPr>
            <a:r>
              <a:rPr lang="en-US" sz="2000" dirty="0" smtClean="0"/>
              <a:t>7.1.6</a:t>
            </a:r>
            <a:r>
              <a:rPr lang="zh-CN" altLang="en-US" sz="2000" dirty="0" smtClean="0"/>
              <a:t>　常用搜索引擎及其使用方法</a:t>
            </a:r>
            <a:endParaRPr lang="zh-CN" altLang="en-US" sz="2000" dirty="0" smtClean="0"/>
          </a:p>
          <a:p>
            <a:pPr>
              <a:lnSpc>
                <a:spcPct val="150000"/>
              </a:lnSpc>
              <a:buFont typeface="Wingdings" panose="05000000000000000000" pitchFamily="2" charset="2"/>
              <a:buChar char="Ø"/>
            </a:pPr>
            <a:r>
              <a:rPr lang="en-US" sz="2000" dirty="0" smtClean="0"/>
              <a:t>1.</a:t>
            </a:r>
            <a:r>
              <a:rPr lang="zh-CN" altLang="en-US" sz="2000" dirty="0" smtClean="0"/>
              <a:t>搜索引擎</a:t>
            </a:r>
            <a:endParaRPr lang="zh-CN" altLang="en-US" sz="2000" dirty="0" smtClean="0"/>
          </a:p>
          <a:p>
            <a:pPr>
              <a:lnSpc>
                <a:spcPct val="150000"/>
              </a:lnSpc>
              <a:buNone/>
            </a:pPr>
            <a:r>
              <a:rPr lang="zh-CN" altLang="en-US" sz="2000" dirty="0" smtClean="0"/>
              <a:t>       搜索引擎是指自动从互联网搜集信息、经过整理以后提供给用户进行查询的系统。</a:t>
            </a:r>
            <a:endParaRPr lang="zh-CN" altLang="en-US" sz="2000" dirty="0" smtClean="0"/>
          </a:p>
          <a:p>
            <a:pPr>
              <a:lnSpc>
                <a:spcPct val="150000"/>
              </a:lnSpc>
              <a:buFont typeface="Wingdings" panose="05000000000000000000" pitchFamily="2" charset="2"/>
              <a:buChar char="Ø"/>
            </a:pPr>
            <a:r>
              <a:rPr lang="en-US" sz="2000" dirty="0" smtClean="0"/>
              <a:t>2.</a:t>
            </a:r>
            <a:r>
              <a:rPr lang="zh-CN" altLang="en-US" sz="2000" dirty="0" smtClean="0"/>
              <a:t>搜索引擎的分类</a:t>
            </a:r>
            <a:endParaRPr lang="zh-CN" altLang="en-US" sz="2000" dirty="0" smtClean="0"/>
          </a:p>
          <a:p>
            <a:pPr>
              <a:lnSpc>
                <a:spcPct val="150000"/>
              </a:lnSpc>
              <a:buNone/>
            </a:pPr>
            <a:r>
              <a:rPr lang="zh-CN" altLang="en-US" sz="2000" dirty="0" smtClean="0"/>
              <a:t>       搜索引擎按其工作方式主要分为全文搜索引擎、目录索引类搜索引擎和元搜索引擎。</a:t>
            </a:r>
            <a:endParaRPr lang="zh-CN" altLang="en-US" sz="2000" dirty="0" smtClean="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7</a:t>
            </a:r>
            <a:r>
              <a:rPr lang="zh-CN" altLang="en-US" sz="2800" dirty="0" smtClean="0">
                <a:solidFill>
                  <a:schemeClr val="accent1">
                    <a:lumMod val="75000"/>
                  </a:schemeClr>
                </a:solidFill>
                <a:latin typeface="方正姚体" pitchFamily="2" charset="-122"/>
                <a:ea typeface="方正姚体" pitchFamily="2" charset="-122"/>
              </a:rPr>
              <a:t>章    </a:t>
            </a:r>
            <a:r>
              <a:rPr lang="en-US" sz="2800" dirty="0" smtClean="0">
                <a:solidFill>
                  <a:schemeClr val="accent1">
                    <a:lumMod val="75000"/>
                  </a:schemeClr>
                </a:solidFill>
                <a:latin typeface="方正姚体" pitchFamily="2" charset="-122"/>
                <a:ea typeface="方正姚体" pitchFamily="2" charset="-122"/>
              </a:rPr>
              <a:t>Internet</a:t>
            </a:r>
            <a:r>
              <a:rPr lang="zh-CN" altLang="en-US" sz="2800" dirty="0" smtClean="0">
                <a:solidFill>
                  <a:schemeClr val="accent1">
                    <a:lumMod val="75000"/>
                  </a:schemeClr>
                </a:solidFill>
                <a:latin typeface="方正姚体" pitchFamily="2" charset="-122"/>
                <a:ea typeface="方正姚体" pitchFamily="2" charset="-122"/>
              </a:rPr>
              <a:t>的应用</a:t>
            </a:r>
            <a:br>
              <a:rPr lang="en-US" altLang="zh-CN" sz="2800" dirty="0" smtClean="0">
                <a:solidFill>
                  <a:schemeClr val="accent1">
                    <a:lumMod val="75000"/>
                  </a:schemeClr>
                </a:solidFill>
                <a:latin typeface="方正姚体" pitchFamily="2" charset="-122"/>
                <a:ea typeface="方正姚体" pitchFamily="2" charset="-122"/>
              </a:rPr>
            </a:br>
            <a:r>
              <a:rPr lang="zh-CN" altLang="en-US" sz="2800" dirty="0" smtClean="0"/>
              <a:t> </a:t>
            </a:r>
            <a:endParaRPr lang="zh-CN" altLang="en-US" sz="2800" dirty="0"/>
          </a:p>
        </p:txBody>
      </p:sp>
      <p:pic>
        <p:nvPicPr>
          <p:cNvPr id="5" name="Z.EPS" descr="id:2147491553;FounderCES"/>
          <p:cNvPicPr/>
          <p:nvPr/>
        </p:nvPicPr>
        <p:blipFill>
          <a:blip r:embed="rId1"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2"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150000"/>
              </a:lnSpc>
              <a:buFont typeface="Wingdings" panose="05000000000000000000" pitchFamily="2" charset="2"/>
              <a:buChar char="Ø"/>
            </a:pPr>
            <a:r>
              <a:rPr lang="en-US" sz="2000" dirty="0" smtClean="0"/>
              <a:t>3.</a:t>
            </a:r>
            <a:r>
              <a:rPr lang="zh-CN" altLang="en-US" sz="2000" dirty="0" smtClean="0"/>
              <a:t>搜索引擎的工作原理 </a:t>
            </a:r>
            <a:endParaRPr lang="zh-CN" altLang="en-US" sz="2000" dirty="0" smtClean="0"/>
          </a:p>
          <a:p>
            <a:pPr>
              <a:lnSpc>
                <a:spcPct val="150000"/>
              </a:lnSpc>
              <a:buNone/>
            </a:pPr>
            <a:r>
              <a:rPr lang="en-US" sz="2000" dirty="0" smtClean="0"/>
              <a:t>(1)</a:t>
            </a:r>
            <a:r>
              <a:rPr lang="zh-CN" altLang="en-US" sz="2000" dirty="0" smtClean="0"/>
              <a:t>搜集信息。   </a:t>
            </a:r>
            <a:r>
              <a:rPr lang="en-US" sz="2000" dirty="0" smtClean="0"/>
              <a:t>(2)</a:t>
            </a:r>
            <a:r>
              <a:rPr lang="zh-CN" altLang="en-US" sz="2000" dirty="0" smtClean="0"/>
              <a:t>整理信息。   </a:t>
            </a:r>
            <a:r>
              <a:rPr lang="en-US" sz="2000" dirty="0" smtClean="0"/>
              <a:t>(3)</a:t>
            </a:r>
            <a:r>
              <a:rPr lang="zh-CN" altLang="en-US" sz="2000" dirty="0" smtClean="0"/>
              <a:t>接受查询。</a:t>
            </a:r>
            <a:endParaRPr lang="zh-CN" altLang="en-US" sz="2000" dirty="0" smtClean="0"/>
          </a:p>
          <a:p>
            <a:pPr>
              <a:lnSpc>
                <a:spcPct val="150000"/>
              </a:lnSpc>
              <a:buFont typeface="Wingdings" panose="05000000000000000000" pitchFamily="2" charset="2"/>
              <a:buChar char="Ø"/>
            </a:pPr>
            <a:r>
              <a:rPr lang="en-US" sz="2000" dirty="0" smtClean="0"/>
              <a:t>4.</a:t>
            </a:r>
            <a:r>
              <a:rPr lang="zh-CN" altLang="en-US" sz="2000" dirty="0" smtClean="0"/>
              <a:t>搜索引擎的检索方法</a:t>
            </a:r>
            <a:endParaRPr lang="zh-CN" altLang="en-US" sz="2000" dirty="0" smtClean="0"/>
          </a:p>
          <a:p>
            <a:pPr>
              <a:lnSpc>
                <a:spcPct val="150000"/>
              </a:lnSpc>
              <a:buNone/>
            </a:pPr>
            <a:r>
              <a:rPr lang="en-US" sz="2000" dirty="0" smtClean="0"/>
              <a:t>(1)</a:t>
            </a:r>
            <a:r>
              <a:rPr lang="zh-CN" altLang="en-US" sz="2000" dirty="0" smtClean="0"/>
              <a:t>简单查询。      </a:t>
            </a:r>
            <a:r>
              <a:rPr lang="en-US" sz="2000" dirty="0" smtClean="0"/>
              <a:t>(2)</a:t>
            </a:r>
            <a:r>
              <a:rPr lang="zh-CN" altLang="en-US" sz="2000" dirty="0" smtClean="0"/>
              <a:t>使用双引号用</a:t>
            </a:r>
            <a:r>
              <a:rPr lang="en-US" sz="2000" dirty="0" smtClean="0"/>
              <a:t>(“”)</a:t>
            </a:r>
            <a:r>
              <a:rPr lang="zh-CN" altLang="en-US" sz="2000" dirty="0" smtClean="0"/>
              <a:t>。</a:t>
            </a:r>
            <a:endParaRPr lang="zh-CN" altLang="en-US" sz="2000" dirty="0" smtClean="0"/>
          </a:p>
          <a:p>
            <a:pPr>
              <a:lnSpc>
                <a:spcPct val="150000"/>
              </a:lnSpc>
              <a:buNone/>
            </a:pPr>
            <a:r>
              <a:rPr lang="en-US" sz="2000" dirty="0" smtClean="0"/>
              <a:t>(3)</a:t>
            </a:r>
            <a:r>
              <a:rPr lang="zh-CN" altLang="en-US" sz="2000" dirty="0" smtClean="0"/>
              <a:t>使用加号</a:t>
            </a:r>
            <a:r>
              <a:rPr lang="en-US" sz="2000" dirty="0" smtClean="0"/>
              <a:t>(+)</a:t>
            </a:r>
            <a:r>
              <a:rPr lang="zh-CN" altLang="en-US" sz="2000" dirty="0" smtClean="0"/>
              <a:t>。      </a:t>
            </a:r>
            <a:r>
              <a:rPr lang="en-US" sz="2000" dirty="0" smtClean="0"/>
              <a:t>(4)</a:t>
            </a:r>
            <a:r>
              <a:rPr lang="zh-CN" altLang="en-US" sz="2000" dirty="0" smtClean="0"/>
              <a:t>使用减号</a:t>
            </a:r>
            <a:r>
              <a:rPr lang="en-US" sz="2000" dirty="0" smtClean="0"/>
              <a:t>(-)</a:t>
            </a:r>
            <a:r>
              <a:rPr lang="zh-CN" altLang="en-US" sz="2000" dirty="0" smtClean="0"/>
              <a:t>。</a:t>
            </a:r>
            <a:endParaRPr lang="zh-CN" altLang="en-US" sz="2000" dirty="0" smtClean="0"/>
          </a:p>
          <a:p>
            <a:pPr>
              <a:lnSpc>
                <a:spcPct val="150000"/>
              </a:lnSpc>
              <a:buNone/>
            </a:pPr>
            <a:r>
              <a:rPr lang="en-US" sz="2000" dirty="0" smtClean="0"/>
              <a:t>(5)</a:t>
            </a:r>
            <a:r>
              <a:rPr lang="zh-CN" altLang="en-US" sz="2000" dirty="0" smtClean="0"/>
              <a:t>使用通配符</a:t>
            </a:r>
            <a:r>
              <a:rPr lang="en-US" sz="2000" dirty="0" smtClean="0"/>
              <a:t>(*</a:t>
            </a:r>
            <a:r>
              <a:rPr lang="zh-CN" altLang="en-US" sz="2000" dirty="0" smtClean="0"/>
              <a:t>和</a:t>
            </a:r>
            <a:r>
              <a:rPr lang="en-US" sz="2000" dirty="0" smtClean="0"/>
              <a:t>?)</a:t>
            </a:r>
            <a:r>
              <a:rPr lang="zh-CN" altLang="en-US" sz="2000" dirty="0" smtClean="0"/>
              <a:t>。    </a:t>
            </a:r>
            <a:r>
              <a:rPr lang="en-US" sz="2000" dirty="0" smtClean="0"/>
              <a:t>(6)</a:t>
            </a:r>
            <a:r>
              <a:rPr lang="zh-CN" altLang="en-US" sz="2000" dirty="0" smtClean="0"/>
              <a:t>使用布尔检索。</a:t>
            </a:r>
            <a:endParaRPr lang="zh-CN" altLang="en-US" sz="2000" dirty="0" smtClean="0"/>
          </a:p>
          <a:p>
            <a:pPr>
              <a:lnSpc>
                <a:spcPct val="150000"/>
              </a:lnSpc>
              <a:buNone/>
            </a:pPr>
            <a:r>
              <a:rPr lang="en-US" sz="2000" dirty="0" smtClean="0"/>
              <a:t>(7)</a:t>
            </a:r>
            <a:r>
              <a:rPr lang="zh-CN" altLang="en-US" sz="2000" dirty="0" smtClean="0"/>
              <a:t>使用括号。     </a:t>
            </a:r>
            <a:r>
              <a:rPr lang="en-US" sz="2000" dirty="0" smtClean="0"/>
              <a:t>(8)</a:t>
            </a:r>
            <a:r>
              <a:rPr lang="zh-CN" altLang="en-US" sz="2000" dirty="0" smtClean="0"/>
              <a:t>使用元词检索。</a:t>
            </a:r>
            <a:endParaRPr lang="zh-CN" altLang="en-US" sz="2000" dirty="0" smtClean="0"/>
          </a:p>
          <a:p>
            <a:pPr>
              <a:lnSpc>
                <a:spcPct val="150000"/>
              </a:lnSpc>
              <a:buNone/>
            </a:pPr>
            <a:r>
              <a:rPr lang="en-US" sz="2000" dirty="0" smtClean="0"/>
              <a:t>(9)</a:t>
            </a:r>
            <a:r>
              <a:rPr lang="zh-CN" altLang="en-US" sz="2000" dirty="0" smtClean="0"/>
              <a:t>区分大小写。</a:t>
            </a:r>
            <a:endParaRPr lang="zh-CN" alt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7</a:t>
            </a:r>
            <a:r>
              <a:rPr lang="zh-CN" altLang="en-US" sz="2800" dirty="0" smtClean="0">
                <a:solidFill>
                  <a:schemeClr val="accent1">
                    <a:lumMod val="75000"/>
                  </a:schemeClr>
                </a:solidFill>
                <a:latin typeface="方正姚体" pitchFamily="2" charset="-122"/>
                <a:ea typeface="方正姚体" pitchFamily="2" charset="-122"/>
              </a:rPr>
              <a:t>章    </a:t>
            </a:r>
            <a:r>
              <a:rPr lang="en-US" sz="2800" dirty="0" smtClean="0">
                <a:solidFill>
                  <a:schemeClr val="accent1">
                    <a:lumMod val="75000"/>
                  </a:schemeClr>
                </a:solidFill>
                <a:latin typeface="方正姚体" pitchFamily="2" charset="-122"/>
                <a:ea typeface="方正姚体" pitchFamily="2" charset="-122"/>
              </a:rPr>
              <a:t>Internet</a:t>
            </a:r>
            <a:r>
              <a:rPr lang="zh-CN" altLang="en-US" sz="2800" dirty="0" smtClean="0">
                <a:solidFill>
                  <a:schemeClr val="accent1">
                    <a:lumMod val="75000"/>
                  </a:schemeClr>
                </a:solidFill>
                <a:latin typeface="方正姚体" pitchFamily="2" charset="-122"/>
                <a:ea typeface="方正姚体" pitchFamily="2" charset="-122"/>
              </a:rPr>
              <a:t>的应用</a:t>
            </a:r>
            <a:br>
              <a:rPr lang="en-US" altLang="zh-CN" sz="2800" dirty="0" smtClean="0">
                <a:solidFill>
                  <a:schemeClr val="accent1">
                    <a:lumMod val="75000"/>
                  </a:schemeClr>
                </a:solidFill>
                <a:latin typeface="方正姚体" pitchFamily="2" charset="-122"/>
                <a:ea typeface="方正姚体" pitchFamily="2" charset="-122"/>
              </a:rPr>
            </a:br>
            <a:r>
              <a:rPr lang="zh-CN" altLang="en-US" sz="2800" dirty="0" smtClean="0"/>
              <a:t> </a:t>
            </a:r>
            <a:endParaRPr lang="zh-CN" altLang="en-US" sz="2800" dirty="0"/>
          </a:p>
        </p:txBody>
      </p:sp>
      <p:pic>
        <p:nvPicPr>
          <p:cNvPr id="5" name="Z.EPS" descr="id:2147491553;FounderCES"/>
          <p:cNvPicPr/>
          <p:nvPr/>
        </p:nvPicPr>
        <p:blipFill>
          <a:blip r:embed="rId1"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2"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150000"/>
              </a:lnSpc>
            </a:pPr>
            <a:r>
              <a:rPr lang="en-US" sz="2000" dirty="0" smtClean="0"/>
              <a:t>7.1.7</a:t>
            </a:r>
            <a:r>
              <a:rPr lang="zh-CN" altLang="en-US" sz="2000" dirty="0" smtClean="0"/>
              <a:t>　</a:t>
            </a:r>
            <a:r>
              <a:rPr lang="en-US" sz="2000" dirty="0" smtClean="0"/>
              <a:t>FTP</a:t>
            </a:r>
            <a:r>
              <a:rPr lang="zh-CN" altLang="en-US" sz="2000" dirty="0" smtClean="0"/>
              <a:t>站点和</a:t>
            </a:r>
            <a:r>
              <a:rPr lang="en-US" sz="2000" dirty="0" smtClean="0"/>
              <a:t>FTP</a:t>
            </a:r>
            <a:r>
              <a:rPr lang="zh-CN" altLang="en-US" sz="2000" dirty="0" smtClean="0"/>
              <a:t>传输</a:t>
            </a:r>
            <a:endParaRPr lang="zh-CN" altLang="en-US" sz="2000" dirty="0" smtClean="0"/>
          </a:p>
          <a:p>
            <a:pPr>
              <a:lnSpc>
                <a:spcPct val="150000"/>
              </a:lnSpc>
              <a:buNone/>
            </a:pPr>
            <a:r>
              <a:rPr lang="en-US" sz="2000" dirty="0" smtClean="0"/>
              <a:t>1.FTP</a:t>
            </a:r>
            <a:r>
              <a:rPr lang="zh-CN" altLang="en-US" sz="2000" dirty="0" smtClean="0"/>
              <a:t>站点      </a:t>
            </a:r>
            <a:r>
              <a:rPr lang="en-US" sz="2000" dirty="0" smtClean="0"/>
              <a:t>2.FTP</a:t>
            </a:r>
            <a:r>
              <a:rPr lang="zh-CN" altLang="en-US" sz="2000" dirty="0" smtClean="0"/>
              <a:t>传输</a:t>
            </a:r>
            <a:endParaRPr lang="zh-CN" altLang="en-US" sz="2000" dirty="0" smtClean="0"/>
          </a:p>
          <a:p>
            <a:pPr>
              <a:lnSpc>
                <a:spcPct val="150000"/>
              </a:lnSpc>
            </a:pPr>
            <a:r>
              <a:rPr lang="en-US" sz="2000" dirty="0" smtClean="0"/>
              <a:t>7.1.8</a:t>
            </a:r>
            <a:r>
              <a:rPr lang="zh-CN" altLang="en-US" sz="2000" dirty="0" smtClean="0"/>
              <a:t>　博客的使用</a:t>
            </a:r>
            <a:endParaRPr lang="zh-CN" altLang="en-US" sz="2000" dirty="0" smtClean="0"/>
          </a:p>
          <a:p>
            <a:pPr>
              <a:lnSpc>
                <a:spcPct val="150000"/>
              </a:lnSpc>
              <a:buNone/>
            </a:pPr>
            <a:r>
              <a:rPr lang="en-US" sz="2000" dirty="0" smtClean="0"/>
              <a:t>1.</a:t>
            </a:r>
            <a:r>
              <a:rPr lang="zh-CN" altLang="en-US" sz="2000" dirty="0" smtClean="0"/>
              <a:t>博客        </a:t>
            </a:r>
            <a:r>
              <a:rPr lang="en-US" sz="2000" dirty="0" smtClean="0"/>
              <a:t>2.</a:t>
            </a:r>
            <a:r>
              <a:rPr lang="zh-CN" altLang="en-US" sz="2000" dirty="0" smtClean="0"/>
              <a:t>如何申请博客空间        </a:t>
            </a:r>
            <a:r>
              <a:rPr lang="en-US" sz="2000" dirty="0" smtClean="0"/>
              <a:t>3.</a:t>
            </a:r>
            <a:r>
              <a:rPr lang="zh-CN" altLang="en-US" sz="2000" dirty="0" smtClean="0"/>
              <a:t>怎样写博客</a:t>
            </a:r>
            <a:endParaRPr lang="zh-CN" altLang="en-US" sz="2000" dirty="0"/>
          </a:p>
        </p:txBody>
      </p:sp>
      <p:pic>
        <p:nvPicPr>
          <p:cNvPr id="6" name="7a10.jpg" descr="id:2147497152;FounderCES"/>
          <p:cNvPicPr/>
          <p:nvPr/>
        </p:nvPicPr>
        <p:blipFill>
          <a:blip r:embed="rId3" cstate="print"/>
          <a:stretch>
            <a:fillRect/>
          </a:stretch>
        </p:blipFill>
        <p:spPr>
          <a:xfrm>
            <a:off x="3667108" y="3798402"/>
            <a:ext cx="3242160" cy="2416680"/>
          </a:xfrm>
          <a:prstGeom prst="rect">
            <a:avLst/>
          </a:prstGeom>
        </p:spPr>
      </p:pic>
      <p:sp>
        <p:nvSpPr>
          <p:cNvPr id="7" name="矩形 6"/>
          <p:cNvSpPr/>
          <p:nvPr/>
        </p:nvSpPr>
        <p:spPr>
          <a:xfrm>
            <a:off x="4024298" y="6345816"/>
            <a:ext cx="2301240" cy="337185"/>
          </a:xfrm>
          <a:prstGeom prst="rect">
            <a:avLst/>
          </a:prstGeom>
        </p:spPr>
        <p:txBody>
          <a:bodyPr wrap="none">
            <a:spAutoFit/>
          </a:bodyPr>
          <a:lstStyle/>
          <a:p>
            <a:r>
              <a:rPr lang="zh-CN" altLang="en-US" sz="1600" dirty="0" smtClean="0"/>
              <a:t>图</a:t>
            </a:r>
            <a:r>
              <a:rPr lang="en-US" sz="1600" dirty="0" smtClean="0"/>
              <a:t>7—10</a:t>
            </a:r>
            <a:r>
              <a:rPr lang="zh-CN" altLang="en-US" sz="1600" dirty="0" smtClean="0"/>
              <a:t>　注册网易博客</a:t>
            </a:r>
            <a:endParaRPr lang="zh-CN" alt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7</a:t>
            </a:r>
            <a:r>
              <a:rPr lang="zh-CN" altLang="en-US" sz="2800" dirty="0" smtClean="0">
                <a:solidFill>
                  <a:schemeClr val="accent1">
                    <a:lumMod val="75000"/>
                  </a:schemeClr>
                </a:solidFill>
                <a:latin typeface="方正姚体" pitchFamily="2" charset="-122"/>
                <a:ea typeface="方正姚体" pitchFamily="2" charset="-122"/>
              </a:rPr>
              <a:t>章    </a:t>
            </a:r>
            <a:r>
              <a:rPr lang="en-US" sz="2800" dirty="0" smtClean="0">
                <a:solidFill>
                  <a:schemeClr val="accent1">
                    <a:lumMod val="75000"/>
                  </a:schemeClr>
                </a:solidFill>
                <a:latin typeface="方正姚体" pitchFamily="2" charset="-122"/>
                <a:ea typeface="方正姚体" pitchFamily="2" charset="-122"/>
              </a:rPr>
              <a:t>Internet</a:t>
            </a:r>
            <a:r>
              <a:rPr lang="zh-CN" altLang="en-US" sz="2800" dirty="0" smtClean="0">
                <a:solidFill>
                  <a:schemeClr val="accent1">
                    <a:lumMod val="75000"/>
                  </a:schemeClr>
                </a:solidFill>
                <a:latin typeface="方正姚体" pitchFamily="2" charset="-122"/>
                <a:ea typeface="方正姚体" pitchFamily="2" charset="-122"/>
              </a:rPr>
              <a:t>的应用</a:t>
            </a:r>
            <a:br>
              <a:rPr lang="en-US" altLang="zh-CN" sz="2800" dirty="0" smtClean="0">
                <a:solidFill>
                  <a:schemeClr val="accent1">
                    <a:lumMod val="75000"/>
                  </a:schemeClr>
                </a:solidFill>
                <a:latin typeface="方正姚体" pitchFamily="2" charset="-122"/>
                <a:ea typeface="方正姚体" pitchFamily="2" charset="-122"/>
              </a:rPr>
            </a:br>
            <a:r>
              <a:rPr lang="zh-CN" altLang="en-US" sz="2800" dirty="0" smtClean="0"/>
              <a:t> </a:t>
            </a:r>
            <a:endParaRPr lang="zh-CN" altLang="en-US" sz="2800" dirty="0"/>
          </a:p>
        </p:txBody>
      </p:sp>
      <p:pic>
        <p:nvPicPr>
          <p:cNvPr id="5" name="Z.EPS" descr="id:2147491553;FounderCES"/>
          <p:cNvPicPr/>
          <p:nvPr/>
        </p:nvPicPr>
        <p:blipFill>
          <a:blip r:embed="rId1"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2"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150000"/>
              </a:lnSpc>
            </a:pPr>
            <a:r>
              <a:rPr lang="en-US" dirty="0" smtClean="0"/>
              <a:t>7.2</a:t>
            </a:r>
            <a:r>
              <a:rPr lang="zh-CN" altLang="en-US" dirty="0" smtClean="0"/>
              <a:t>　电子邮件的使用</a:t>
            </a:r>
            <a:endParaRPr lang="en-US" altLang="zh-CN" dirty="0" smtClean="0"/>
          </a:p>
          <a:p>
            <a:pPr>
              <a:lnSpc>
                <a:spcPct val="150000"/>
              </a:lnSpc>
            </a:pPr>
            <a:endParaRPr lang="en-US" altLang="zh-CN" sz="2000" dirty="0" smtClean="0"/>
          </a:p>
          <a:p>
            <a:pPr>
              <a:lnSpc>
                <a:spcPct val="150000"/>
              </a:lnSpc>
            </a:pPr>
            <a:endParaRPr lang="zh-CN" altLang="en-US" sz="2000" dirty="0" smtClean="0"/>
          </a:p>
          <a:p>
            <a:pPr>
              <a:lnSpc>
                <a:spcPct val="150000"/>
              </a:lnSpc>
              <a:buNone/>
            </a:pPr>
            <a:r>
              <a:rPr lang="en-US" sz="2000" dirty="0" smtClean="0"/>
              <a:t>※ </a:t>
            </a:r>
            <a:r>
              <a:rPr lang="zh-CN" altLang="en-US" sz="2000" dirty="0" smtClean="0"/>
              <a:t>了解电子邮件的基本概念</a:t>
            </a:r>
            <a:r>
              <a:rPr lang="en-US" sz="2000" dirty="0" smtClean="0"/>
              <a:t>;</a:t>
            </a:r>
            <a:endParaRPr lang="zh-CN" altLang="en-US" sz="2000" dirty="0" smtClean="0"/>
          </a:p>
          <a:p>
            <a:pPr>
              <a:lnSpc>
                <a:spcPct val="150000"/>
              </a:lnSpc>
              <a:buNone/>
            </a:pPr>
            <a:r>
              <a:rPr lang="en-US" sz="2000" dirty="0" smtClean="0"/>
              <a:t>※ </a:t>
            </a:r>
            <a:r>
              <a:rPr lang="zh-CN" altLang="en-US" sz="2000" dirty="0" smtClean="0"/>
              <a:t>掌握</a:t>
            </a:r>
            <a:r>
              <a:rPr lang="en-US" sz="2000" dirty="0" smtClean="0"/>
              <a:t>Outlook</a:t>
            </a:r>
            <a:r>
              <a:rPr lang="zh-CN" altLang="en-US" sz="2000" dirty="0" smtClean="0"/>
              <a:t>基本参数设置</a:t>
            </a:r>
            <a:r>
              <a:rPr lang="en-US" sz="2000" dirty="0" smtClean="0"/>
              <a:t>;</a:t>
            </a:r>
            <a:endParaRPr lang="zh-CN" altLang="en-US" sz="2000" dirty="0" smtClean="0"/>
          </a:p>
          <a:p>
            <a:pPr>
              <a:lnSpc>
                <a:spcPct val="150000"/>
              </a:lnSpc>
              <a:buNone/>
            </a:pPr>
            <a:r>
              <a:rPr lang="en-US" sz="2000" dirty="0" smtClean="0"/>
              <a:t>※ </a:t>
            </a:r>
            <a:r>
              <a:rPr lang="zh-CN" altLang="en-US" sz="2000" dirty="0" smtClean="0"/>
              <a:t>熟练掌握</a:t>
            </a:r>
            <a:r>
              <a:rPr lang="en-US" sz="2000" dirty="0" smtClean="0"/>
              <a:t>Outlook</a:t>
            </a:r>
            <a:r>
              <a:rPr lang="zh-CN" altLang="en-US" sz="2000" dirty="0" smtClean="0"/>
              <a:t>的基本操作</a:t>
            </a:r>
            <a:r>
              <a:rPr lang="en-US" sz="2000" dirty="0" smtClean="0"/>
              <a:t>;</a:t>
            </a:r>
            <a:endParaRPr lang="zh-CN" altLang="en-US" sz="2000" dirty="0" smtClean="0"/>
          </a:p>
          <a:p>
            <a:pPr>
              <a:lnSpc>
                <a:spcPct val="150000"/>
              </a:lnSpc>
              <a:buNone/>
            </a:pPr>
            <a:r>
              <a:rPr lang="en-US" sz="2000" dirty="0" smtClean="0"/>
              <a:t>※ </a:t>
            </a:r>
            <a:r>
              <a:rPr lang="zh-CN" altLang="en-US" sz="2000" dirty="0" smtClean="0"/>
              <a:t>掌握</a:t>
            </a:r>
            <a:r>
              <a:rPr lang="en-US" sz="2000" dirty="0" smtClean="0"/>
              <a:t>Outlook</a:t>
            </a:r>
            <a:r>
              <a:rPr lang="zh-CN" altLang="en-US" sz="2000" dirty="0" smtClean="0"/>
              <a:t>电子邮件管理的基本操作</a:t>
            </a:r>
            <a:r>
              <a:rPr lang="en-US" sz="2000" dirty="0" smtClean="0"/>
              <a:t>;</a:t>
            </a:r>
            <a:endParaRPr lang="zh-CN" altLang="en-US" sz="2000" dirty="0" smtClean="0"/>
          </a:p>
          <a:p>
            <a:pPr>
              <a:lnSpc>
                <a:spcPct val="150000"/>
              </a:lnSpc>
              <a:buNone/>
            </a:pPr>
            <a:r>
              <a:rPr lang="en-US" sz="2000" dirty="0" smtClean="0"/>
              <a:t>※ </a:t>
            </a:r>
            <a:r>
              <a:rPr lang="zh-CN" altLang="en-US" sz="2000" dirty="0" smtClean="0"/>
              <a:t>掌握</a:t>
            </a:r>
            <a:r>
              <a:rPr lang="en-US" sz="2000" dirty="0" smtClean="0"/>
              <a:t>Outlook</a:t>
            </a:r>
            <a:r>
              <a:rPr lang="zh-CN" altLang="en-US" sz="2000" dirty="0" smtClean="0"/>
              <a:t>联系人的使用方法。</a:t>
            </a:r>
            <a:endParaRPr lang="zh-CN" altLang="en-US" sz="2000" dirty="0"/>
          </a:p>
        </p:txBody>
      </p:sp>
      <p:pic>
        <p:nvPicPr>
          <p:cNvPr id="6" name="学习目标.EPS" descr="id:2147497175;FounderCES"/>
          <p:cNvPicPr/>
          <p:nvPr/>
        </p:nvPicPr>
        <p:blipFill>
          <a:blip r:embed="rId3"/>
          <a:stretch>
            <a:fillRect/>
          </a:stretch>
        </p:blipFill>
        <p:spPr>
          <a:xfrm>
            <a:off x="2238348" y="2285992"/>
            <a:ext cx="1785950" cy="57150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7</a:t>
            </a:r>
            <a:r>
              <a:rPr lang="zh-CN" altLang="en-US" sz="2800" dirty="0" smtClean="0">
                <a:solidFill>
                  <a:schemeClr val="accent1">
                    <a:lumMod val="75000"/>
                  </a:schemeClr>
                </a:solidFill>
                <a:latin typeface="方正姚体" pitchFamily="2" charset="-122"/>
                <a:ea typeface="方正姚体" pitchFamily="2" charset="-122"/>
              </a:rPr>
              <a:t>章    </a:t>
            </a:r>
            <a:r>
              <a:rPr lang="en-US" sz="2800" dirty="0" smtClean="0">
                <a:solidFill>
                  <a:schemeClr val="accent1">
                    <a:lumMod val="75000"/>
                  </a:schemeClr>
                </a:solidFill>
                <a:latin typeface="方正姚体" pitchFamily="2" charset="-122"/>
                <a:ea typeface="方正姚体" pitchFamily="2" charset="-122"/>
              </a:rPr>
              <a:t>Internet</a:t>
            </a:r>
            <a:r>
              <a:rPr lang="zh-CN" altLang="en-US" sz="2800" dirty="0" smtClean="0">
                <a:solidFill>
                  <a:schemeClr val="accent1">
                    <a:lumMod val="75000"/>
                  </a:schemeClr>
                </a:solidFill>
                <a:latin typeface="方正姚体" pitchFamily="2" charset="-122"/>
                <a:ea typeface="方正姚体" pitchFamily="2" charset="-122"/>
              </a:rPr>
              <a:t>的应用</a:t>
            </a:r>
            <a:br>
              <a:rPr lang="en-US" altLang="zh-CN" sz="2800" dirty="0" smtClean="0">
                <a:solidFill>
                  <a:schemeClr val="accent1">
                    <a:lumMod val="75000"/>
                  </a:schemeClr>
                </a:solidFill>
                <a:latin typeface="方正姚体" pitchFamily="2" charset="-122"/>
                <a:ea typeface="方正姚体" pitchFamily="2" charset="-122"/>
              </a:rPr>
            </a:br>
            <a:r>
              <a:rPr lang="zh-CN" altLang="en-US" sz="2800" dirty="0" smtClean="0"/>
              <a:t> </a:t>
            </a:r>
            <a:endParaRPr lang="zh-CN" altLang="en-US" sz="2800" dirty="0"/>
          </a:p>
        </p:txBody>
      </p:sp>
      <p:pic>
        <p:nvPicPr>
          <p:cNvPr id="5" name="Z.EPS" descr="id:2147491553;FounderCES"/>
          <p:cNvPicPr/>
          <p:nvPr/>
        </p:nvPicPr>
        <p:blipFill>
          <a:blip r:embed="rId1"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2"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150000"/>
              </a:lnSpc>
            </a:pPr>
            <a:r>
              <a:rPr lang="en-US" dirty="0" smtClean="0"/>
              <a:t>7.2.1</a:t>
            </a:r>
            <a:r>
              <a:rPr lang="zh-CN" altLang="en-US" dirty="0" smtClean="0"/>
              <a:t>　电子邮件的基本概念</a:t>
            </a:r>
            <a:endParaRPr lang="zh-CN" altLang="en-US" dirty="0" smtClean="0"/>
          </a:p>
          <a:p>
            <a:pPr>
              <a:lnSpc>
                <a:spcPct val="150000"/>
              </a:lnSpc>
              <a:buNone/>
            </a:pPr>
            <a:r>
              <a:rPr lang="zh-CN" altLang="en-US" sz="2000" dirty="0" smtClean="0"/>
              <a:t>      电子邮件已经成为网络用户日常交往过程中进行信息交流与传送的重要手段</a:t>
            </a:r>
            <a:r>
              <a:rPr lang="en-US" sz="2000" dirty="0" smtClean="0"/>
              <a:t>,</a:t>
            </a:r>
            <a:r>
              <a:rPr lang="zh-CN" altLang="en-US" sz="2000" dirty="0" smtClean="0"/>
              <a:t>它具有速度快、信息内容丰富、使用方便等优点</a:t>
            </a:r>
            <a:r>
              <a:rPr lang="en-US" sz="2000" dirty="0" smtClean="0"/>
              <a:t>,</a:t>
            </a:r>
            <a:r>
              <a:rPr lang="zh-CN" altLang="en-US" sz="2000" dirty="0" smtClean="0"/>
              <a:t>特别是与</a:t>
            </a:r>
            <a:r>
              <a:rPr lang="en-US" sz="2000" dirty="0" smtClean="0"/>
              <a:t>Outlook</a:t>
            </a:r>
            <a:r>
              <a:rPr lang="zh-CN" altLang="en-US" sz="2000" dirty="0" smtClean="0"/>
              <a:t>结合使用</a:t>
            </a:r>
            <a:r>
              <a:rPr lang="en-US" sz="2000" dirty="0" smtClean="0"/>
              <a:t>,</a:t>
            </a:r>
            <a:r>
              <a:rPr lang="zh-CN" altLang="en-US" sz="2000" dirty="0" smtClean="0"/>
              <a:t>更能发挥电子邮件的优势。</a:t>
            </a:r>
            <a:endParaRPr lang="zh-CN" altLang="en-US" sz="2000" dirty="0" smtClean="0"/>
          </a:p>
        </p:txBody>
      </p:sp>
      <p:graphicFrame>
        <p:nvGraphicFramePr>
          <p:cNvPr id="7" name="图示 6"/>
          <p:cNvGraphicFramePr/>
          <p:nvPr/>
        </p:nvGraphicFramePr>
        <p:xfrm>
          <a:off x="2952728" y="4071942"/>
          <a:ext cx="5715040" cy="92333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7</a:t>
            </a:r>
            <a:r>
              <a:rPr lang="zh-CN" altLang="en-US" sz="2800" dirty="0" smtClean="0">
                <a:solidFill>
                  <a:schemeClr val="accent1">
                    <a:lumMod val="75000"/>
                  </a:schemeClr>
                </a:solidFill>
                <a:latin typeface="方正姚体" pitchFamily="2" charset="-122"/>
                <a:ea typeface="方正姚体" pitchFamily="2" charset="-122"/>
              </a:rPr>
              <a:t>章    </a:t>
            </a:r>
            <a:r>
              <a:rPr lang="en-US" sz="2800" dirty="0" smtClean="0">
                <a:solidFill>
                  <a:schemeClr val="accent1">
                    <a:lumMod val="75000"/>
                  </a:schemeClr>
                </a:solidFill>
                <a:latin typeface="方正姚体" pitchFamily="2" charset="-122"/>
                <a:ea typeface="方正姚体" pitchFamily="2" charset="-122"/>
              </a:rPr>
              <a:t>Internet</a:t>
            </a:r>
            <a:r>
              <a:rPr lang="zh-CN" altLang="en-US" sz="2800" dirty="0" smtClean="0">
                <a:solidFill>
                  <a:schemeClr val="accent1">
                    <a:lumMod val="75000"/>
                  </a:schemeClr>
                </a:solidFill>
                <a:latin typeface="方正姚体" pitchFamily="2" charset="-122"/>
                <a:ea typeface="方正姚体" pitchFamily="2" charset="-122"/>
              </a:rPr>
              <a:t>的应用</a:t>
            </a:r>
            <a:br>
              <a:rPr lang="en-US" altLang="zh-CN" sz="2800" dirty="0" smtClean="0">
                <a:solidFill>
                  <a:schemeClr val="accent1">
                    <a:lumMod val="75000"/>
                  </a:schemeClr>
                </a:solidFill>
                <a:latin typeface="方正姚体" pitchFamily="2" charset="-122"/>
                <a:ea typeface="方正姚体" pitchFamily="2" charset="-122"/>
              </a:rPr>
            </a:br>
            <a:r>
              <a:rPr lang="zh-CN" altLang="en-US" sz="2800" dirty="0" smtClean="0"/>
              <a:t> </a:t>
            </a:r>
            <a:endParaRPr lang="zh-CN" altLang="en-US" sz="2800" dirty="0"/>
          </a:p>
        </p:txBody>
      </p:sp>
      <p:pic>
        <p:nvPicPr>
          <p:cNvPr id="5" name="Z.EPS" descr="id:2147491553;FounderCES"/>
          <p:cNvPicPr/>
          <p:nvPr/>
        </p:nvPicPr>
        <p:blipFill>
          <a:blip r:embed="rId1"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2"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200000"/>
              </a:lnSpc>
            </a:pPr>
            <a:r>
              <a:rPr lang="en-US" dirty="0" smtClean="0"/>
              <a:t>7.2.2</a:t>
            </a:r>
            <a:r>
              <a:rPr lang="zh-CN" altLang="en-US" dirty="0" smtClean="0"/>
              <a:t>　</a:t>
            </a:r>
            <a:r>
              <a:rPr lang="en-US" dirty="0" smtClean="0"/>
              <a:t>Outlook</a:t>
            </a:r>
            <a:r>
              <a:rPr lang="zh-CN" altLang="en-US" dirty="0" smtClean="0"/>
              <a:t>的基本操作</a:t>
            </a:r>
            <a:endParaRPr lang="zh-CN" altLang="en-US" dirty="0" smtClean="0"/>
          </a:p>
          <a:p>
            <a:pPr>
              <a:lnSpc>
                <a:spcPct val="200000"/>
              </a:lnSpc>
              <a:buNone/>
            </a:pPr>
            <a:r>
              <a:rPr lang="en-US" sz="2000" dirty="0" smtClean="0"/>
              <a:t>       Outlook</a:t>
            </a:r>
            <a:r>
              <a:rPr lang="zh-CN" altLang="en-US" sz="2000" dirty="0" smtClean="0"/>
              <a:t>是微软</a:t>
            </a:r>
            <a:r>
              <a:rPr lang="en-US" sz="2000" dirty="0" smtClean="0"/>
              <a:t>Office</a:t>
            </a:r>
            <a:r>
              <a:rPr lang="zh-CN" altLang="en-US" sz="2000" dirty="0" smtClean="0"/>
              <a:t>软件的一个组件。它不仅是电子邮件收发器</a:t>
            </a:r>
            <a:r>
              <a:rPr lang="en-US" sz="2000" dirty="0" smtClean="0"/>
              <a:t>,</a:t>
            </a:r>
            <a:r>
              <a:rPr lang="zh-CN" altLang="en-US" sz="2000" dirty="0" smtClean="0"/>
              <a:t>而且还提供了个人记事本、日历、提醒、公用文件夹等功能</a:t>
            </a:r>
            <a:r>
              <a:rPr lang="en-US" sz="2000" dirty="0" smtClean="0"/>
              <a:t>,</a:t>
            </a:r>
            <a:r>
              <a:rPr lang="zh-CN" altLang="en-US" sz="2000" dirty="0" smtClean="0"/>
              <a:t>是一个体贴入微的办公助手。</a:t>
            </a:r>
            <a:endParaRPr lang="zh-CN" alt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7</a:t>
            </a:r>
            <a:r>
              <a:rPr lang="zh-CN" altLang="en-US" sz="2800" dirty="0" smtClean="0">
                <a:solidFill>
                  <a:schemeClr val="accent1">
                    <a:lumMod val="75000"/>
                  </a:schemeClr>
                </a:solidFill>
                <a:latin typeface="方正姚体" pitchFamily="2" charset="-122"/>
                <a:ea typeface="方正姚体" pitchFamily="2" charset="-122"/>
              </a:rPr>
              <a:t>章    </a:t>
            </a:r>
            <a:r>
              <a:rPr lang="en-US" sz="2800" dirty="0" smtClean="0">
                <a:solidFill>
                  <a:schemeClr val="accent1">
                    <a:lumMod val="75000"/>
                  </a:schemeClr>
                </a:solidFill>
                <a:latin typeface="方正姚体" pitchFamily="2" charset="-122"/>
                <a:ea typeface="方正姚体" pitchFamily="2" charset="-122"/>
              </a:rPr>
              <a:t>Internet</a:t>
            </a:r>
            <a:r>
              <a:rPr lang="zh-CN" altLang="en-US" sz="2800" dirty="0" smtClean="0">
                <a:solidFill>
                  <a:schemeClr val="accent1">
                    <a:lumMod val="75000"/>
                  </a:schemeClr>
                </a:solidFill>
                <a:latin typeface="方正姚体" pitchFamily="2" charset="-122"/>
                <a:ea typeface="方正姚体" pitchFamily="2" charset="-122"/>
              </a:rPr>
              <a:t>的应用</a:t>
            </a:r>
            <a:br>
              <a:rPr lang="en-US" altLang="zh-CN" sz="2800" dirty="0" smtClean="0">
                <a:solidFill>
                  <a:schemeClr val="accent1">
                    <a:lumMod val="75000"/>
                  </a:schemeClr>
                </a:solidFill>
                <a:latin typeface="方正姚体" pitchFamily="2" charset="-122"/>
                <a:ea typeface="方正姚体" pitchFamily="2" charset="-122"/>
              </a:rPr>
            </a:br>
            <a:r>
              <a:rPr lang="zh-CN" altLang="en-US" sz="2800" dirty="0" smtClean="0"/>
              <a:t> </a:t>
            </a:r>
            <a:endParaRPr lang="zh-CN" altLang="en-US" sz="2800" dirty="0"/>
          </a:p>
        </p:txBody>
      </p:sp>
      <p:pic>
        <p:nvPicPr>
          <p:cNvPr id="5" name="Z.EPS" descr="id:2147491553;FounderCES"/>
          <p:cNvPicPr/>
          <p:nvPr/>
        </p:nvPicPr>
        <p:blipFill>
          <a:blip r:embed="rId1"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2"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150000"/>
              </a:lnSpc>
            </a:pPr>
            <a:r>
              <a:rPr lang="en-US" dirty="0" smtClean="0"/>
              <a:t>7.2.3</a:t>
            </a:r>
            <a:r>
              <a:rPr lang="zh-CN" altLang="en-US" dirty="0" smtClean="0"/>
              <a:t>　</a:t>
            </a:r>
            <a:r>
              <a:rPr lang="en-US" dirty="0" smtClean="0"/>
              <a:t>Outlook</a:t>
            </a:r>
            <a:r>
              <a:rPr lang="zh-CN" altLang="en-US" dirty="0" smtClean="0"/>
              <a:t>电子邮件管理的基本操作</a:t>
            </a:r>
            <a:endParaRPr lang="zh-CN" altLang="en-US" dirty="0" smtClean="0"/>
          </a:p>
          <a:p>
            <a:pPr>
              <a:lnSpc>
                <a:spcPct val="150000"/>
              </a:lnSpc>
              <a:buFont typeface="Wingdings" panose="05000000000000000000" pitchFamily="2" charset="2"/>
              <a:buChar char="Ø"/>
            </a:pPr>
            <a:r>
              <a:rPr lang="en-US" sz="2000" dirty="0" smtClean="0"/>
              <a:t>1.Outlook</a:t>
            </a:r>
            <a:r>
              <a:rPr lang="zh-CN" altLang="en-US" sz="2000" dirty="0" smtClean="0"/>
              <a:t>主界面</a:t>
            </a:r>
            <a:endParaRPr lang="zh-CN" altLang="en-US" sz="2000" dirty="0" smtClean="0"/>
          </a:p>
          <a:p>
            <a:pPr>
              <a:lnSpc>
                <a:spcPct val="150000"/>
              </a:lnSpc>
              <a:buNone/>
            </a:pPr>
            <a:r>
              <a:rPr lang="zh-CN" altLang="en-US" sz="2000" dirty="0" smtClean="0"/>
              <a:t>      进入</a:t>
            </a:r>
            <a:r>
              <a:rPr lang="en-US" sz="2000" dirty="0" smtClean="0"/>
              <a:t>Outlook</a:t>
            </a:r>
            <a:r>
              <a:rPr lang="zh-CN" altLang="en-US" sz="2000" dirty="0" smtClean="0"/>
              <a:t>系统后</a:t>
            </a:r>
            <a:r>
              <a:rPr lang="en-US" sz="2000" dirty="0" smtClean="0"/>
              <a:t>,</a:t>
            </a:r>
            <a:r>
              <a:rPr lang="zh-CN" altLang="en-US" sz="2000" dirty="0" smtClean="0"/>
              <a:t>出现如图</a:t>
            </a:r>
            <a:r>
              <a:rPr lang="en-US" sz="2000" dirty="0" smtClean="0"/>
              <a:t>7—30</a:t>
            </a:r>
            <a:r>
              <a:rPr lang="zh-CN" altLang="en-US" sz="2000" dirty="0" smtClean="0"/>
              <a:t>所示的</a:t>
            </a:r>
            <a:r>
              <a:rPr lang="en-US" sz="2000" dirty="0" smtClean="0"/>
              <a:t>Outlook</a:t>
            </a:r>
            <a:r>
              <a:rPr lang="zh-CN" altLang="en-US" sz="2000" dirty="0" smtClean="0"/>
              <a:t>主界面。</a:t>
            </a:r>
            <a:endParaRPr lang="zh-CN" altLang="en-US" dirty="0"/>
          </a:p>
        </p:txBody>
      </p:sp>
      <p:pic>
        <p:nvPicPr>
          <p:cNvPr id="6" name="7a30.jpg" descr="id:2147497370;FounderCES"/>
          <p:cNvPicPr/>
          <p:nvPr/>
        </p:nvPicPr>
        <p:blipFill>
          <a:blip r:embed="rId3" cstate="print"/>
          <a:stretch>
            <a:fillRect/>
          </a:stretch>
        </p:blipFill>
        <p:spPr>
          <a:xfrm>
            <a:off x="3738546" y="3429000"/>
            <a:ext cx="4357718" cy="2500330"/>
          </a:xfrm>
          <a:prstGeom prst="rect">
            <a:avLst/>
          </a:prstGeom>
        </p:spPr>
      </p:pic>
      <p:sp>
        <p:nvSpPr>
          <p:cNvPr id="7" name="矩形 6"/>
          <p:cNvSpPr/>
          <p:nvPr/>
        </p:nvSpPr>
        <p:spPr>
          <a:xfrm>
            <a:off x="4667240" y="6000768"/>
            <a:ext cx="2353945" cy="337185"/>
          </a:xfrm>
          <a:prstGeom prst="rect">
            <a:avLst/>
          </a:prstGeom>
        </p:spPr>
        <p:txBody>
          <a:bodyPr wrap="none">
            <a:spAutoFit/>
          </a:bodyPr>
          <a:lstStyle/>
          <a:p>
            <a:r>
              <a:rPr lang="zh-CN" altLang="en-US" sz="1600" dirty="0" smtClean="0"/>
              <a:t>图</a:t>
            </a:r>
            <a:r>
              <a:rPr lang="en-US" sz="1600" dirty="0" smtClean="0"/>
              <a:t>7—30</a:t>
            </a:r>
            <a:r>
              <a:rPr lang="zh-CN" altLang="en-US" sz="1600" dirty="0" smtClean="0"/>
              <a:t>　</a:t>
            </a:r>
            <a:r>
              <a:rPr lang="en-US" sz="1600" dirty="0" smtClean="0"/>
              <a:t>Outlook</a:t>
            </a:r>
            <a:r>
              <a:rPr lang="zh-CN" altLang="en-US" sz="1600" dirty="0" smtClean="0"/>
              <a:t>主界面</a:t>
            </a:r>
            <a:endParaRPr lang="zh-CN" alt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7</a:t>
            </a:r>
            <a:r>
              <a:rPr lang="zh-CN" altLang="en-US" sz="2800" dirty="0" smtClean="0">
                <a:solidFill>
                  <a:schemeClr val="accent1">
                    <a:lumMod val="75000"/>
                  </a:schemeClr>
                </a:solidFill>
                <a:latin typeface="方正姚体" pitchFamily="2" charset="-122"/>
                <a:ea typeface="方正姚体" pitchFamily="2" charset="-122"/>
              </a:rPr>
              <a:t>章    </a:t>
            </a:r>
            <a:r>
              <a:rPr lang="en-US" sz="2800" dirty="0" smtClean="0">
                <a:solidFill>
                  <a:schemeClr val="accent1">
                    <a:lumMod val="75000"/>
                  </a:schemeClr>
                </a:solidFill>
                <a:latin typeface="方正姚体" pitchFamily="2" charset="-122"/>
                <a:ea typeface="方正姚体" pitchFamily="2" charset="-122"/>
              </a:rPr>
              <a:t>Internet</a:t>
            </a:r>
            <a:r>
              <a:rPr lang="zh-CN" altLang="en-US" sz="2800" dirty="0" smtClean="0">
                <a:solidFill>
                  <a:schemeClr val="accent1">
                    <a:lumMod val="75000"/>
                  </a:schemeClr>
                </a:solidFill>
                <a:latin typeface="方正姚体" pitchFamily="2" charset="-122"/>
                <a:ea typeface="方正姚体" pitchFamily="2" charset="-122"/>
              </a:rPr>
              <a:t>的应用</a:t>
            </a:r>
            <a:br>
              <a:rPr lang="en-US" altLang="zh-CN" sz="2800" dirty="0" smtClean="0">
                <a:solidFill>
                  <a:schemeClr val="accent1">
                    <a:lumMod val="75000"/>
                  </a:schemeClr>
                </a:solidFill>
                <a:latin typeface="方正姚体" pitchFamily="2" charset="-122"/>
                <a:ea typeface="方正姚体" pitchFamily="2" charset="-122"/>
              </a:rPr>
            </a:br>
            <a:r>
              <a:rPr lang="zh-CN" altLang="en-US" sz="2800" dirty="0" smtClean="0"/>
              <a:t> </a:t>
            </a:r>
            <a:endParaRPr lang="zh-CN" altLang="en-US" sz="2800" dirty="0"/>
          </a:p>
        </p:txBody>
      </p:sp>
      <p:pic>
        <p:nvPicPr>
          <p:cNvPr id="5" name="Z.EPS" descr="id:2147491553;FounderCES"/>
          <p:cNvPicPr/>
          <p:nvPr/>
        </p:nvPicPr>
        <p:blipFill>
          <a:blip r:embed="rId1"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2"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150000"/>
              </a:lnSpc>
              <a:buNone/>
            </a:pPr>
            <a:r>
              <a:rPr lang="en-US" sz="2000" dirty="0" smtClean="0"/>
              <a:t>2.</a:t>
            </a:r>
            <a:r>
              <a:rPr lang="zh-CN" altLang="en-US" sz="2000" dirty="0" smtClean="0"/>
              <a:t>浏览电子邮件  </a:t>
            </a:r>
            <a:r>
              <a:rPr lang="en-US" sz="2000" dirty="0" smtClean="0"/>
              <a:t>3.</a:t>
            </a:r>
            <a:r>
              <a:rPr lang="zh-CN" altLang="en-US" sz="2000" dirty="0" smtClean="0"/>
              <a:t>删除电子邮件  </a:t>
            </a:r>
            <a:r>
              <a:rPr lang="en-US" sz="2000" dirty="0" smtClean="0"/>
              <a:t>4.</a:t>
            </a:r>
            <a:r>
              <a:rPr lang="zh-CN" altLang="en-US" sz="2000" dirty="0" smtClean="0"/>
              <a:t>新建电子邮件  </a:t>
            </a:r>
            <a:r>
              <a:rPr lang="en-US" sz="2000" dirty="0" smtClean="0"/>
              <a:t>5.</a:t>
            </a:r>
            <a:r>
              <a:rPr lang="zh-CN" altLang="en-US" sz="2000" dirty="0" smtClean="0"/>
              <a:t>日历管理</a:t>
            </a:r>
            <a:endParaRPr lang="zh-CN" altLang="en-US" sz="2000" dirty="0"/>
          </a:p>
        </p:txBody>
      </p:sp>
      <p:pic>
        <p:nvPicPr>
          <p:cNvPr id="6" name="7a31.jpg" descr="id:2147497401;FounderCES"/>
          <p:cNvPicPr/>
          <p:nvPr/>
        </p:nvPicPr>
        <p:blipFill>
          <a:blip r:embed="rId3"/>
          <a:stretch>
            <a:fillRect/>
          </a:stretch>
        </p:blipFill>
        <p:spPr>
          <a:xfrm>
            <a:off x="1952596" y="3000372"/>
            <a:ext cx="3929090" cy="2357454"/>
          </a:xfrm>
          <a:prstGeom prst="rect">
            <a:avLst/>
          </a:prstGeom>
        </p:spPr>
      </p:pic>
      <p:sp>
        <p:nvSpPr>
          <p:cNvPr id="7" name="矩形 6"/>
          <p:cNvSpPr/>
          <p:nvPr/>
        </p:nvSpPr>
        <p:spPr>
          <a:xfrm>
            <a:off x="2095472" y="6019404"/>
            <a:ext cx="3147695" cy="337185"/>
          </a:xfrm>
          <a:prstGeom prst="rect">
            <a:avLst/>
          </a:prstGeom>
        </p:spPr>
        <p:txBody>
          <a:bodyPr wrap="none">
            <a:spAutoFit/>
          </a:bodyPr>
          <a:lstStyle/>
          <a:p>
            <a:r>
              <a:rPr lang="zh-CN" altLang="en-US" sz="1600" dirty="0" smtClean="0"/>
              <a:t>图</a:t>
            </a:r>
            <a:r>
              <a:rPr lang="en-US" sz="1600" dirty="0" smtClean="0"/>
              <a:t>7—31</a:t>
            </a:r>
            <a:r>
              <a:rPr lang="zh-CN" altLang="en-US" sz="1600" dirty="0" smtClean="0"/>
              <a:t>　</a:t>
            </a:r>
            <a:r>
              <a:rPr lang="en-US" sz="1600" dirty="0" smtClean="0"/>
              <a:t>Outlook—</a:t>
            </a:r>
            <a:r>
              <a:rPr lang="zh-CN" altLang="en-US" sz="1600" dirty="0" smtClean="0"/>
              <a:t>新建电子邮件</a:t>
            </a:r>
            <a:endParaRPr lang="zh-CN" altLang="en-US" sz="1600" dirty="0"/>
          </a:p>
        </p:txBody>
      </p:sp>
      <p:pic>
        <p:nvPicPr>
          <p:cNvPr id="8" name="7a32.jpg" descr="id:2147497416;FounderCES"/>
          <p:cNvPicPr/>
          <p:nvPr/>
        </p:nvPicPr>
        <p:blipFill>
          <a:blip r:embed="rId4" cstate="print"/>
          <a:stretch>
            <a:fillRect/>
          </a:stretch>
        </p:blipFill>
        <p:spPr>
          <a:xfrm>
            <a:off x="6167438" y="3000372"/>
            <a:ext cx="3786214" cy="2357454"/>
          </a:xfrm>
          <a:prstGeom prst="rect">
            <a:avLst/>
          </a:prstGeom>
        </p:spPr>
      </p:pic>
      <p:sp>
        <p:nvSpPr>
          <p:cNvPr id="10" name="矩形 9"/>
          <p:cNvSpPr/>
          <p:nvPr/>
        </p:nvSpPr>
        <p:spPr>
          <a:xfrm>
            <a:off x="6953256" y="6019404"/>
            <a:ext cx="2334895" cy="337185"/>
          </a:xfrm>
          <a:prstGeom prst="rect">
            <a:avLst/>
          </a:prstGeom>
        </p:spPr>
        <p:txBody>
          <a:bodyPr wrap="none">
            <a:spAutoFit/>
          </a:bodyPr>
          <a:lstStyle/>
          <a:p>
            <a:r>
              <a:rPr lang="zh-CN" altLang="en-US" sz="1600" dirty="0" smtClean="0"/>
              <a:t>图</a:t>
            </a:r>
            <a:r>
              <a:rPr lang="en-US" sz="1600" dirty="0" smtClean="0"/>
              <a:t>7—32</a:t>
            </a:r>
            <a:r>
              <a:rPr lang="zh-CN" altLang="en-US" sz="1600" dirty="0" smtClean="0"/>
              <a:t>　</a:t>
            </a:r>
            <a:r>
              <a:rPr lang="en-US" sz="1600" dirty="0" smtClean="0"/>
              <a:t>Outlook—</a:t>
            </a:r>
            <a:r>
              <a:rPr lang="zh-CN" altLang="en-US" sz="1600" dirty="0" smtClean="0"/>
              <a:t>日历</a:t>
            </a:r>
            <a:endParaRPr lang="zh-CN" alt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7</a:t>
            </a:r>
            <a:r>
              <a:rPr lang="zh-CN" altLang="en-US" sz="2800" dirty="0" smtClean="0">
                <a:solidFill>
                  <a:schemeClr val="accent1">
                    <a:lumMod val="75000"/>
                  </a:schemeClr>
                </a:solidFill>
                <a:latin typeface="方正姚体" pitchFamily="2" charset="-122"/>
                <a:ea typeface="方正姚体" pitchFamily="2" charset="-122"/>
              </a:rPr>
              <a:t>章    </a:t>
            </a:r>
            <a:r>
              <a:rPr lang="en-US" sz="2800" dirty="0" smtClean="0">
                <a:solidFill>
                  <a:schemeClr val="accent1">
                    <a:lumMod val="75000"/>
                  </a:schemeClr>
                </a:solidFill>
                <a:latin typeface="方正姚体" pitchFamily="2" charset="-122"/>
                <a:ea typeface="方正姚体" pitchFamily="2" charset="-122"/>
              </a:rPr>
              <a:t>Internet</a:t>
            </a:r>
            <a:r>
              <a:rPr lang="zh-CN" altLang="en-US" sz="2800" dirty="0" smtClean="0">
                <a:solidFill>
                  <a:schemeClr val="accent1">
                    <a:lumMod val="75000"/>
                  </a:schemeClr>
                </a:solidFill>
                <a:latin typeface="方正姚体" pitchFamily="2" charset="-122"/>
                <a:ea typeface="方正姚体" pitchFamily="2" charset="-122"/>
              </a:rPr>
              <a:t>的应用</a:t>
            </a:r>
            <a:br>
              <a:rPr lang="en-US" altLang="zh-CN" sz="2800" dirty="0" smtClean="0">
                <a:solidFill>
                  <a:schemeClr val="accent1">
                    <a:lumMod val="75000"/>
                  </a:schemeClr>
                </a:solidFill>
                <a:latin typeface="方正姚体" pitchFamily="2" charset="-122"/>
                <a:ea typeface="方正姚体" pitchFamily="2" charset="-122"/>
              </a:rPr>
            </a:br>
            <a:r>
              <a:rPr lang="zh-CN" altLang="en-US" sz="2800" dirty="0" smtClean="0"/>
              <a:t> </a:t>
            </a:r>
            <a:endParaRPr lang="zh-CN" altLang="en-US" sz="2800" dirty="0"/>
          </a:p>
        </p:txBody>
      </p:sp>
      <p:pic>
        <p:nvPicPr>
          <p:cNvPr id="5" name="Z.EPS" descr="id:2147491553;FounderCES"/>
          <p:cNvPicPr/>
          <p:nvPr/>
        </p:nvPicPr>
        <p:blipFill>
          <a:blip r:embed="rId1"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2"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150000"/>
              </a:lnSpc>
            </a:pPr>
            <a:r>
              <a:rPr lang="en-US" sz="2000" dirty="0" smtClean="0"/>
              <a:t>7.2.4</a:t>
            </a:r>
            <a:r>
              <a:rPr lang="zh-CN" altLang="en-US" sz="2000" dirty="0" smtClean="0"/>
              <a:t>　</a:t>
            </a:r>
            <a:r>
              <a:rPr lang="en-US" sz="2000" dirty="0" smtClean="0"/>
              <a:t>Outlook</a:t>
            </a:r>
            <a:r>
              <a:rPr lang="zh-CN" altLang="en-US" sz="2000" dirty="0" smtClean="0"/>
              <a:t>联系人的使用</a:t>
            </a:r>
            <a:endParaRPr lang="zh-CN" altLang="en-US" sz="2000" dirty="0" smtClean="0"/>
          </a:p>
          <a:p>
            <a:pPr>
              <a:lnSpc>
                <a:spcPct val="150000"/>
              </a:lnSpc>
              <a:buFont typeface="Wingdings" panose="05000000000000000000" pitchFamily="2" charset="2"/>
              <a:buChar char="Ø"/>
            </a:pPr>
            <a:r>
              <a:rPr lang="en-US" sz="2000" dirty="0" smtClean="0"/>
              <a:t>1.</a:t>
            </a:r>
            <a:r>
              <a:rPr lang="zh-CN" altLang="en-US" sz="2000" dirty="0" smtClean="0"/>
              <a:t>联系人界面</a:t>
            </a:r>
            <a:endParaRPr lang="zh-CN" altLang="en-US" sz="2000" dirty="0"/>
          </a:p>
        </p:txBody>
      </p:sp>
      <p:pic>
        <p:nvPicPr>
          <p:cNvPr id="11" name="7a33.jpg" descr="id:2147497439;FounderCES"/>
          <p:cNvPicPr/>
          <p:nvPr/>
        </p:nvPicPr>
        <p:blipFill>
          <a:blip r:embed="rId3" cstate="print"/>
          <a:stretch>
            <a:fillRect/>
          </a:stretch>
        </p:blipFill>
        <p:spPr>
          <a:xfrm>
            <a:off x="3452794" y="2714620"/>
            <a:ext cx="5429288" cy="2928958"/>
          </a:xfrm>
          <a:prstGeom prst="rect">
            <a:avLst/>
          </a:prstGeom>
        </p:spPr>
      </p:pic>
      <p:sp>
        <p:nvSpPr>
          <p:cNvPr id="12" name="矩形 11"/>
          <p:cNvSpPr/>
          <p:nvPr/>
        </p:nvSpPr>
        <p:spPr>
          <a:xfrm>
            <a:off x="4877882" y="5845750"/>
            <a:ext cx="2538095" cy="337185"/>
          </a:xfrm>
          <a:prstGeom prst="rect">
            <a:avLst/>
          </a:prstGeom>
        </p:spPr>
        <p:txBody>
          <a:bodyPr wrap="none">
            <a:spAutoFit/>
          </a:bodyPr>
          <a:lstStyle/>
          <a:p>
            <a:r>
              <a:rPr lang="zh-CN" altLang="en-US" sz="1600" dirty="0" smtClean="0"/>
              <a:t>图</a:t>
            </a:r>
            <a:r>
              <a:rPr lang="en-US" sz="1600" dirty="0" smtClean="0"/>
              <a:t>7—33</a:t>
            </a:r>
            <a:r>
              <a:rPr lang="zh-CN" altLang="en-US" sz="1600" dirty="0" smtClean="0"/>
              <a:t>　</a:t>
            </a:r>
            <a:r>
              <a:rPr lang="en-US" sz="1600" dirty="0" smtClean="0"/>
              <a:t>Outlook—</a:t>
            </a:r>
            <a:r>
              <a:rPr lang="zh-CN" altLang="en-US" sz="1600" dirty="0" smtClean="0"/>
              <a:t>联系人</a:t>
            </a:r>
            <a:endParaRPr lang="zh-CN" alt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7</a:t>
            </a:r>
            <a:r>
              <a:rPr lang="zh-CN" altLang="en-US" sz="2800" dirty="0" smtClean="0">
                <a:solidFill>
                  <a:schemeClr val="accent1">
                    <a:lumMod val="75000"/>
                  </a:schemeClr>
                </a:solidFill>
                <a:latin typeface="方正姚体" pitchFamily="2" charset="-122"/>
                <a:ea typeface="方正姚体" pitchFamily="2" charset="-122"/>
              </a:rPr>
              <a:t>章    </a:t>
            </a:r>
            <a:r>
              <a:rPr lang="en-US" sz="2800" dirty="0" smtClean="0">
                <a:solidFill>
                  <a:schemeClr val="accent1">
                    <a:lumMod val="75000"/>
                  </a:schemeClr>
                </a:solidFill>
                <a:latin typeface="方正姚体" pitchFamily="2" charset="-122"/>
                <a:ea typeface="方正姚体" pitchFamily="2" charset="-122"/>
              </a:rPr>
              <a:t>Internet</a:t>
            </a:r>
            <a:r>
              <a:rPr lang="zh-CN" altLang="en-US" sz="2800" dirty="0" smtClean="0">
                <a:solidFill>
                  <a:schemeClr val="accent1">
                    <a:lumMod val="75000"/>
                  </a:schemeClr>
                </a:solidFill>
                <a:latin typeface="方正姚体" pitchFamily="2" charset="-122"/>
                <a:ea typeface="方正姚体" pitchFamily="2" charset="-122"/>
              </a:rPr>
              <a:t>的应用</a:t>
            </a:r>
            <a:br>
              <a:rPr lang="en-US" altLang="zh-CN" sz="2800" dirty="0" smtClean="0">
                <a:solidFill>
                  <a:schemeClr val="accent1">
                    <a:lumMod val="75000"/>
                  </a:schemeClr>
                </a:solidFill>
                <a:latin typeface="方正姚体" pitchFamily="2" charset="-122"/>
                <a:ea typeface="方正姚体" pitchFamily="2" charset="-122"/>
              </a:rPr>
            </a:br>
            <a:r>
              <a:rPr lang="zh-CN" altLang="en-US" sz="2800" dirty="0" smtClean="0"/>
              <a:t> </a:t>
            </a:r>
            <a:endParaRPr lang="zh-CN" altLang="en-US" sz="2800" dirty="0"/>
          </a:p>
        </p:txBody>
      </p:sp>
      <p:pic>
        <p:nvPicPr>
          <p:cNvPr id="5" name="Z.EPS" descr="id:2147491553;FounderCES"/>
          <p:cNvPicPr/>
          <p:nvPr/>
        </p:nvPicPr>
        <p:blipFill>
          <a:blip r:embed="rId1"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2"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buFont typeface="Wingdings" panose="05000000000000000000" pitchFamily="2" charset="2"/>
              <a:buChar char="Ø"/>
            </a:pPr>
            <a:r>
              <a:rPr lang="en-US" sz="2000" dirty="0" smtClean="0"/>
              <a:t>2.</a:t>
            </a:r>
            <a:r>
              <a:rPr lang="zh-CN" altLang="en-US" sz="2000" dirty="0" smtClean="0"/>
              <a:t>新建联系人 </a:t>
            </a:r>
            <a:endParaRPr lang="zh-CN" altLang="en-US" sz="2000" dirty="0" smtClean="0"/>
          </a:p>
          <a:p>
            <a:pPr>
              <a:buFont typeface="Wingdings" panose="05000000000000000000" pitchFamily="2" charset="2"/>
              <a:buChar char="Ø"/>
            </a:pPr>
            <a:r>
              <a:rPr lang="en-US" sz="2000" dirty="0" smtClean="0"/>
              <a:t>3.</a:t>
            </a:r>
            <a:r>
              <a:rPr lang="zh-CN" altLang="en-US" sz="2000" dirty="0" smtClean="0"/>
              <a:t>删除联系人 </a:t>
            </a:r>
            <a:endParaRPr lang="zh-CN" altLang="en-US" sz="2000" dirty="0" smtClean="0"/>
          </a:p>
          <a:p>
            <a:pPr>
              <a:buFont typeface="Wingdings" panose="05000000000000000000" pitchFamily="2" charset="2"/>
              <a:buChar char="Ø"/>
            </a:pPr>
            <a:r>
              <a:rPr lang="en-US" sz="2000" dirty="0" smtClean="0"/>
              <a:t>4.</a:t>
            </a:r>
            <a:r>
              <a:rPr lang="zh-CN" altLang="en-US" sz="2000" dirty="0" smtClean="0"/>
              <a:t>给联系人发邮件 </a:t>
            </a:r>
            <a:endParaRPr lang="zh-CN" altLang="en-US" sz="2000" dirty="0"/>
          </a:p>
        </p:txBody>
      </p:sp>
      <p:sp>
        <p:nvSpPr>
          <p:cNvPr id="12" name="矩形 11"/>
          <p:cNvSpPr/>
          <p:nvPr/>
        </p:nvSpPr>
        <p:spPr>
          <a:xfrm>
            <a:off x="4877882" y="5845750"/>
            <a:ext cx="2944495" cy="337185"/>
          </a:xfrm>
          <a:prstGeom prst="rect">
            <a:avLst/>
          </a:prstGeom>
        </p:spPr>
        <p:txBody>
          <a:bodyPr wrap="none">
            <a:spAutoFit/>
          </a:bodyPr>
          <a:lstStyle/>
          <a:p>
            <a:r>
              <a:rPr lang="zh-CN" altLang="en-US" sz="1600" dirty="0" smtClean="0"/>
              <a:t>图</a:t>
            </a:r>
            <a:r>
              <a:rPr lang="en-US" sz="1600" dirty="0" smtClean="0"/>
              <a:t>7—34</a:t>
            </a:r>
            <a:r>
              <a:rPr lang="zh-CN" altLang="en-US" sz="1600" dirty="0" smtClean="0"/>
              <a:t>　</a:t>
            </a:r>
            <a:r>
              <a:rPr lang="en-US" sz="1600" dirty="0" smtClean="0"/>
              <a:t>Outlook—</a:t>
            </a:r>
            <a:r>
              <a:rPr lang="zh-CN" altLang="en-US" sz="1600" dirty="0" smtClean="0"/>
              <a:t>新建联系人</a:t>
            </a:r>
            <a:endParaRPr lang="zh-CN" altLang="en-US" sz="1600" dirty="0"/>
          </a:p>
        </p:txBody>
      </p:sp>
      <p:pic>
        <p:nvPicPr>
          <p:cNvPr id="8" name="7a34.jpg" descr="id:2147497454;FounderCES"/>
          <p:cNvPicPr/>
          <p:nvPr/>
        </p:nvPicPr>
        <p:blipFill>
          <a:blip r:embed="rId3"/>
          <a:stretch>
            <a:fillRect/>
          </a:stretch>
        </p:blipFill>
        <p:spPr>
          <a:xfrm>
            <a:off x="3667108" y="2786058"/>
            <a:ext cx="5429288" cy="285752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7</a:t>
            </a:r>
            <a:r>
              <a:rPr lang="zh-CN" altLang="en-US" sz="2800" dirty="0" smtClean="0">
                <a:solidFill>
                  <a:schemeClr val="accent1">
                    <a:lumMod val="75000"/>
                  </a:schemeClr>
                </a:solidFill>
                <a:latin typeface="方正姚体" pitchFamily="2" charset="-122"/>
                <a:ea typeface="方正姚体" pitchFamily="2" charset="-122"/>
              </a:rPr>
              <a:t>章    </a:t>
            </a:r>
            <a:r>
              <a:rPr lang="en-US" sz="2800" dirty="0" smtClean="0">
                <a:solidFill>
                  <a:schemeClr val="accent1">
                    <a:lumMod val="75000"/>
                  </a:schemeClr>
                </a:solidFill>
                <a:latin typeface="方正姚体" pitchFamily="2" charset="-122"/>
                <a:ea typeface="方正姚体" pitchFamily="2" charset="-122"/>
              </a:rPr>
              <a:t>Internet</a:t>
            </a:r>
            <a:r>
              <a:rPr lang="zh-CN" altLang="en-US" sz="2800" dirty="0" smtClean="0">
                <a:solidFill>
                  <a:schemeClr val="accent1">
                    <a:lumMod val="75000"/>
                  </a:schemeClr>
                </a:solidFill>
                <a:latin typeface="方正姚体" pitchFamily="2" charset="-122"/>
                <a:ea typeface="方正姚体" pitchFamily="2" charset="-122"/>
              </a:rPr>
              <a:t>的应用</a:t>
            </a:r>
            <a:br>
              <a:rPr lang="en-US" altLang="zh-CN" sz="2800" dirty="0" smtClean="0">
                <a:solidFill>
                  <a:schemeClr val="accent1">
                    <a:lumMod val="75000"/>
                  </a:schemeClr>
                </a:solidFill>
                <a:latin typeface="方正姚体" pitchFamily="2" charset="-122"/>
                <a:ea typeface="方正姚体" pitchFamily="2" charset="-122"/>
              </a:rPr>
            </a:br>
            <a:r>
              <a:rPr lang="zh-CN" altLang="en-US" sz="2800" dirty="0" smtClean="0"/>
              <a:t> </a:t>
            </a:r>
            <a:endParaRPr lang="zh-CN" altLang="en-US" sz="2800" dirty="0"/>
          </a:p>
        </p:txBody>
      </p:sp>
      <p:pic>
        <p:nvPicPr>
          <p:cNvPr id="5" name="Z.EPS" descr="id:2147491553;FounderCES"/>
          <p:cNvPicPr/>
          <p:nvPr/>
        </p:nvPicPr>
        <p:blipFill>
          <a:blip r:embed="rId1"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2"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150000"/>
              </a:lnSpc>
            </a:pPr>
            <a:r>
              <a:rPr lang="zh-CN" altLang="en-US" dirty="0" smtClean="0"/>
              <a:t>习　题</a:t>
            </a:r>
            <a:endParaRPr lang="zh-CN" altLang="en-US" dirty="0" smtClean="0"/>
          </a:p>
          <a:p>
            <a:pPr>
              <a:lnSpc>
                <a:spcPct val="150000"/>
              </a:lnSpc>
              <a:buFont typeface="Wingdings" panose="05000000000000000000" pitchFamily="2" charset="2"/>
              <a:buChar char="Ø"/>
            </a:pPr>
            <a:r>
              <a:rPr lang="zh-CN" altLang="en-US" sz="2000" dirty="0" smtClean="0"/>
              <a:t>一、简答题</a:t>
            </a:r>
            <a:endParaRPr lang="zh-CN" altLang="en-US" sz="2000" dirty="0" smtClean="0"/>
          </a:p>
          <a:p>
            <a:pPr>
              <a:lnSpc>
                <a:spcPct val="150000"/>
              </a:lnSpc>
              <a:buNone/>
            </a:pPr>
            <a:r>
              <a:rPr lang="en-US" sz="2000" dirty="0" smtClean="0"/>
              <a:t>1.</a:t>
            </a:r>
            <a:r>
              <a:rPr lang="zh-CN" altLang="en-US" sz="2000" dirty="0" smtClean="0"/>
              <a:t>计算机安全所涵盖的内容是什么</a:t>
            </a:r>
            <a:r>
              <a:rPr lang="en-US" sz="2000" dirty="0" smtClean="0"/>
              <a:t>?</a:t>
            </a:r>
            <a:endParaRPr lang="zh-CN" altLang="en-US" sz="2000" dirty="0" smtClean="0"/>
          </a:p>
          <a:p>
            <a:pPr>
              <a:lnSpc>
                <a:spcPct val="150000"/>
              </a:lnSpc>
              <a:buNone/>
            </a:pPr>
            <a:r>
              <a:rPr lang="en-US" sz="2000" dirty="0" smtClean="0"/>
              <a:t>2.</a:t>
            </a:r>
            <a:r>
              <a:rPr lang="zh-CN" altLang="en-US" sz="2000" dirty="0" smtClean="0"/>
              <a:t>影响计算机安全的主要因素有哪些</a:t>
            </a:r>
            <a:r>
              <a:rPr lang="en-US" sz="2000" dirty="0" smtClean="0"/>
              <a:t>?</a:t>
            </a:r>
            <a:endParaRPr lang="zh-CN" altLang="en-US" sz="2000" dirty="0" smtClean="0"/>
          </a:p>
          <a:p>
            <a:pPr>
              <a:lnSpc>
                <a:spcPct val="150000"/>
              </a:lnSpc>
              <a:buNone/>
            </a:pPr>
            <a:r>
              <a:rPr lang="en-US" sz="2000" dirty="0" smtClean="0"/>
              <a:t>3.</a:t>
            </a:r>
            <a:r>
              <a:rPr lang="zh-CN" altLang="en-US" sz="2000" dirty="0" smtClean="0"/>
              <a:t>保证计算机安全有哪些措施</a:t>
            </a:r>
            <a:r>
              <a:rPr lang="en-US" sz="2000" dirty="0" smtClean="0"/>
              <a:t>?</a:t>
            </a:r>
            <a:endParaRPr lang="zh-CN" altLang="en-US" sz="2000" dirty="0" smtClean="0"/>
          </a:p>
          <a:p>
            <a:pPr>
              <a:lnSpc>
                <a:spcPct val="150000"/>
              </a:lnSpc>
              <a:buNone/>
            </a:pPr>
            <a:r>
              <a:rPr lang="en-US" sz="2000" dirty="0" smtClean="0"/>
              <a:t>4.</a:t>
            </a:r>
            <a:r>
              <a:rPr lang="zh-CN" altLang="en-US" sz="2000" dirty="0" smtClean="0"/>
              <a:t>什么是计算机病毒</a:t>
            </a:r>
            <a:r>
              <a:rPr lang="en-US" sz="2000" dirty="0" smtClean="0"/>
              <a:t>?</a:t>
            </a:r>
            <a:r>
              <a:rPr lang="zh-CN" altLang="en-US" sz="2000" dirty="0" smtClean="0"/>
              <a:t>计算机病毒有哪些特征</a:t>
            </a:r>
            <a:r>
              <a:rPr lang="en-US" sz="2000" dirty="0" smtClean="0"/>
              <a:t>?</a:t>
            </a:r>
            <a:endParaRPr lang="zh-CN" altLang="en-US" sz="2000" dirty="0" smtClean="0"/>
          </a:p>
          <a:p>
            <a:pPr>
              <a:lnSpc>
                <a:spcPct val="150000"/>
              </a:lnSpc>
              <a:buNone/>
            </a:pPr>
            <a:r>
              <a:rPr lang="en-US" sz="2000" dirty="0" smtClean="0"/>
              <a:t>5.</a:t>
            </a:r>
            <a:r>
              <a:rPr lang="zh-CN" altLang="en-US" sz="2000" dirty="0" smtClean="0"/>
              <a:t>说明病毒、黑客、木马的概念。</a:t>
            </a:r>
            <a:endParaRPr lang="zh-CN" altLang="en-US" sz="2000" dirty="0" smtClean="0"/>
          </a:p>
          <a:p>
            <a:pPr>
              <a:lnSpc>
                <a:spcPct val="150000"/>
              </a:lnSpc>
              <a:buNone/>
            </a:pPr>
            <a:r>
              <a:rPr lang="en-US" sz="2000" dirty="0" smtClean="0"/>
              <a:t>6.</a:t>
            </a:r>
            <a:r>
              <a:rPr lang="zh-CN" altLang="en-US" sz="2000" dirty="0" smtClean="0"/>
              <a:t>说明应当遵守哪些网络道德规范。</a:t>
            </a:r>
            <a:endParaRPr lang="zh-CN" altLang="en-US"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7</a:t>
            </a:r>
            <a:r>
              <a:rPr lang="zh-CN" altLang="en-US" sz="2800" dirty="0" smtClean="0">
                <a:solidFill>
                  <a:schemeClr val="accent1">
                    <a:lumMod val="75000"/>
                  </a:schemeClr>
                </a:solidFill>
                <a:latin typeface="方正姚体" pitchFamily="2" charset="-122"/>
                <a:ea typeface="方正姚体" pitchFamily="2" charset="-122"/>
              </a:rPr>
              <a:t>章    </a:t>
            </a:r>
            <a:r>
              <a:rPr lang="en-US" sz="2800" dirty="0" smtClean="0">
                <a:solidFill>
                  <a:schemeClr val="accent1">
                    <a:lumMod val="75000"/>
                  </a:schemeClr>
                </a:solidFill>
                <a:latin typeface="方正姚体" pitchFamily="2" charset="-122"/>
                <a:ea typeface="方正姚体" pitchFamily="2" charset="-122"/>
              </a:rPr>
              <a:t>Internet</a:t>
            </a:r>
            <a:r>
              <a:rPr lang="zh-CN" altLang="en-US" sz="2800" dirty="0" smtClean="0">
                <a:solidFill>
                  <a:schemeClr val="accent1">
                    <a:lumMod val="75000"/>
                  </a:schemeClr>
                </a:solidFill>
                <a:latin typeface="方正姚体" pitchFamily="2" charset="-122"/>
                <a:ea typeface="方正姚体" pitchFamily="2" charset="-122"/>
              </a:rPr>
              <a:t>的应用</a:t>
            </a:r>
            <a:br>
              <a:rPr lang="en-US" altLang="zh-CN" sz="2800" dirty="0" smtClean="0">
                <a:solidFill>
                  <a:schemeClr val="accent1">
                    <a:lumMod val="75000"/>
                  </a:schemeClr>
                </a:solidFill>
                <a:latin typeface="方正姚体" pitchFamily="2" charset="-122"/>
                <a:ea typeface="方正姚体" pitchFamily="2" charset="-122"/>
              </a:rPr>
            </a:br>
            <a:r>
              <a:rPr lang="zh-CN" altLang="en-US" sz="2800" dirty="0" smtClean="0"/>
              <a:t> </a:t>
            </a:r>
            <a:endParaRPr lang="zh-CN" altLang="en-US" sz="2800" dirty="0"/>
          </a:p>
        </p:txBody>
      </p:sp>
      <p:pic>
        <p:nvPicPr>
          <p:cNvPr id="5" name="Z.EPS" descr="id:2147491553;FounderCES"/>
          <p:cNvPicPr/>
          <p:nvPr/>
        </p:nvPicPr>
        <p:blipFill>
          <a:blip r:embed="rId1"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2"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130000"/>
              </a:lnSpc>
              <a:buFont typeface="Wingdings" panose="05000000000000000000" pitchFamily="2" charset="2"/>
              <a:buChar char="Ø"/>
            </a:pPr>
            <a:r>
              <a:rPr lang="zh-CN" altLang="en-US" sz="2000" dirty="0" smtClean="0"/>
              <a:t>二、操作题</a:t>
            </a:r>
            <a:endParaRPr lang="zh-CN" altLang="en-US" sz="2000" dirty="0" smtClean="0"/>
          </a:p>
          <a:p>
            <a:pPr>
              <a:lnSpc>
                <a:spcPct val="130000"/>
              </a:lnSpc>
              <a:buNone/>
            </a:pPr>
            <a:r>
              <a:rPr lang="en-US" sz="2000" dirty="0" smtClean="0"/>
              <a:t>1.</a:t>
            </a:r>
            <a:r>
              <a:rPr lang="zh-CN" altLang="en-US" sz="2000" dirty="0" smtClean="0"/>
              <a:t>设置计算机的防火墙提高信息安全级别。</a:t>
            </a:r>
            <a:endParaRPr lang="zh-CN" altLang="en-US" sz="2000" dirty="0" smtClean="0"/>
          </a:p>
          <a:p>
            <a:pPr>
              <a:lnSpc>
                <a:spcPct val="130000"/>
              </a:lnSpc>
              <a:buNone/>
            </a:pPr>
            <a:r>
              <a:rPr lang="en-US" sz="2000" dirty="0" smtClean="0"/>
              <a:t>2.</a:t>
            </a:r>
            <a:r>
              <a:rPr lang="zh-CN" altLang="en-US" sz="2000" dirty="0" smtClean="0"/>
              <a:t>利用</a:t>
            </a:r>
            <a:r>
              <a:rPr lang="en-US" sz="2000" dirty="0" smtClean="0"/>
              <a:t>360</a:t>
            </a:r>
            <a:r>
              <a:rPr lang="zh-CN" altLang="en-US" sz="2000" dirty="0" smtClean="0"/>
              <a:t>安全卫士监测你的计算机系统。</a:t>
            </a:r>
            <a:endParaRPr lang="zh-CN" altLang="en-US" sz="2000" dirty="0" smtClean="0"/>
          </a:p>
          <a:p>
            <a:pPr>
              <a:lnSpc>
                <a:spcPct val="130000"/>
              </a:lnSpc>
              <a:buNone/>
            </a:pPr>
            <a:r>
              <a:rPr lang="en-US" sz="2000" dirty="0" smtClean="0"/>
              <a:t>3.</a:t>
            </a:r>
            <a:r>
              <a:rPr lang="zh-CN" altLang="en-US" sz="2000" dirty="0" smtClean="0"/>
              <a:t>利用</a:t>
            </a:r>
            <a:r>
              <a:rPr lang="en-US" sz="2000" dirty="0" smtClean="0"/>
              <a:t>Outlook</a:t>
            </a:r>
            <a:r>
              <a:rPr lang="zh-CN" altLang="en-US" sz="2000" dirty="0" smtClean="0"/>
              <a:t>软件建立邮件账号</a:t>
            </a:r>
            <a:r>
              <a:rPr lang="en-US" sz="2000" dirty="0" smtClean="0"/>
              <a:t>,</a:t>
            </a:r>
            <a:r>
              <a:rPr lang="zh-CN" altLang="en-US" sz="2000" dirty="0" smtClean="0"/>
              <a:t>实现邮件管理。</a:t>
            </a:r>
            <a:endParaRPr lang="en-US" altLang="zh-CN" sz="2000" dirty="0" smtClean="0"/>
          </a:p>
          <a:p>
            <a:pPr>
              <a:lnSpc>
                <a:spcPct val="130000"/>
              </a:lnSpc>
              <a:buFont typeface="Wingdings" panose="05000000000000000000" pitchFamily="2" charset="2"/>
              <a:buChar char="Ø"/>
            </a:pPr>
            <a:r>
              <a:rPr lang="zh-CN" altLang="en-US" sz="2000" dirty="0" smtClean="0"/>
              <a:t>三、单选题</a:t>
            </a:r>
            <a:endParaRPr lang="zh-CN" altLang="en-US" sz="2000" dirty="0" smtClean="0"/>
          </a:p>
          <a:p>
            <a:pPr>
              <a:lnSpc>
                <a:spcPct val="130000"/>
              </a:lnSpc>
              <a:buNone/>
            </a:pPr>
            <a:r>
              <a:rPr lang="en-US" sz="2000" dirty="0" smtClean="0"/>
              <a:t>1.</a:t>
            </a:r>
            <a:r>
              <a:rPr lang="zh-CN" altLang="en-US" sz="2000" dirty="0" smtClean="0"/>
              <a:t>以下关于</a:t>
            </a:r>
            <a:r>
              <a:rPr lang="en-US" sz="2000" dirty="0" smtClean="0"/>
              <a:t>Web</a:t>
            </a:r>
            <a:r>
              <a:rPr lang="zh-CN" altLang="en-US" sz="2000" dirty="0" smtClean="0"/>
              <a:t>服务器虚拟目录的说法正确的是</a:t>
            </a:r>
            <a:r>
              <a:rPr lang="zh-CN" altLang="en-US" sz="2000" u="sng" dirty="0" smtClean="0"/>
              <a:t>　　</a:t>
            </a:r>
            <a:r>
              <a:rPr lang="zh-CN" altLang="en-US" sz="2000" dirty="0" smtClean="0"/>
              <a:t>。</a:t>
            </a:r>
            <a:r>
              <a:rPr lang="en-US" sz="2000" dirty="0" smtClean="0"/>
              <a:t> </a:t>
            </a:r>
            <a:endParaRPr lang="zh-CN" altLang="en-US" sz="2000" dirty="0" smtClean="0"/>
          </a:p>
          <a:p>
            <a:pPr>
              <a:lnSpc>
                <a:spcPct val="130000"/>
              </a:lnSpc>
              <a:buNone/>
            </a:pPr>
            <a:r>
              <a:rPr lang="en-US" sz="2000" dirty="0" smtClean="0"/>
              <a:t>A.</a:t>
            </a:r>
            <a:r>
              <a:rPr lang="zh-CN" altLang="en-US" sz="2000" dirty="0" smtClean="0"/>
              <a:t>虚拟目录可以是物理上未包含在主目录中的目录</a:t>
            </a:r>
            <a:endParaRPr lang="zh-CN" altLang="en-US" sz="2000" dirty="0" smtClean="0"/>
          </a:p>
          <a:p>
            <a:pPr>
              <a:lnSpc>
                <a:spcPct val="130000"/>
              </a:lnSpc>
              <a:buNone/>
            </a:pPr>
            <a:r>
              <a:rPr lang="en-US" sz="2000" dirty="0" smtClean="0"/>
              <a:t>B.</a:t>
            </a:r>
            <a:r>
              <a:rPr lang="zh-CN" altLang="en-US" sz="2000" dirty="0" smtClean="0"/>
              <a:t>虚拟目录必须有一个别名</a:t>
            </a:r>
            <a:r>
              <a:rPr lang="en-US" sz="2000" dirty="0" smtClean="0"/>
              <a:t>,</a:t>
            </a:r>
            <a:r>
              <a:rPr lang="zh-CN" altLang="en-US" sz="2000" dirty="0" smtClean="0"/>
              <a:t>供</a:t>
            </a:r>
            <a:r>
              <a:rPr lang="en-US" sz="2000" dirty="0" smtClean="0"/>
              <a:t>Web</a:t>
            </a:r>
            <a:r>
              <a:rPr lang="zh-CN" altLang="en-US" sz="2000" dirty="0" smtClean="0"/>
              <a:t>浏览器用于访问此目录</a:t>
            </a:r>
            <a:endParaRPr lang="zh-CN" altLang="en-US" sz="2000" dirty="0" smtClean="0"/>
          </a:p>
          <a:p>
            <a:pPr>
              <a:lnSpc>
                <a:spcPct val="130000"/>
              </a:lnSpc>
              <a:buNone/>
            </a:pPr>
            <a:r>
              <a:rPr lang="en-US" sz="2000" dirty="0" smtClean="0"/>
              <a:t>C.</a:t>
            </a:r>
            <a:r>
              <a:rPr lang="zh-CN" altLang="en-US" sz="2000" dirty="0" smtClean="0"/>
              <a:t>虚拟目录必须是物理上包含在主目录中的目录</a:t>
            </a:r>
            <a:endParaRPr lang="zh-CN" altLang="en-US" sz="2000" dirty="0" smtClean="0"/>
          </a:p>
          <a:p>
            <a:pPr>
              <a:lnSpc>
                <a:spcPct val="130000"/>
              </a:lnSpc>
              <a:buNone/>
            </a:pPr>
            <a:r>
              <a:rPr lang="en-US" sz="2000" dirty="0" smtClean="0"/>
              <a:t>D.</a:t>
            </a:r>
            <a:r>
              <a:rPr lang="zh-CN" altLang="en-US" sz="2000" dirty="0" smtClean="0"/>
              <a:t>表示虚拟目录的图标与文件夹的图标相同</a:t>
            </a:r>
            <a:endParaRPr lang="zh-CN" altLang="en-US" sz="2000" dirty="0" smtClean="0"/>
          </a:p>
          <a:p>
            <a:pPr>
              <a:lnSpc>
                <a:spcPct val="130000"/>
              </a:lnSpc>
              <a:buNone/>
            </a:pPr>
            <a:r>
              <a:rPr lang="en-US" altLang="zh-CN" sz="2000" dirty="0" smtClean="0"/>
              <a:t>……</a:t>
            </a:r>
            <a:endParaRPr lang="zh-CN" altLang="en-US" sz="2000" dirty="0"/>
          </a:p>
        </p:txBody>
      </p:sp>
    </p:spTree>
  </p:cSld>
  <p:clrMapOvr>
    <a:masterClrMapping/>
  </p:clrMapOvr>
</p:sld>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2422</Words>
  <Application>WPS 演示</Application>
  <PresentationFormat>宽屏</PresentationFormat>
  <Paragraphs>174</Paragraphs>
  <Slides>21</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21</vt:i4>
      </vt:variant>
    </vt:vector>
  </HeadingPairs>
  <TitlesOfParts>
    <vt:vector size="29" baseType="lpstr">
      <vt:lpstr>Arial</vt:lpstr>
      <vt:lpstr>宋体</vt:lpstr>
      <vt:lpstr>Wingdings</vt:lpstr>
      <vt:lpstr>Arial Unicode MS</vt:lpstr>
      <vt:lpstr>Calibri</vt:lpstr>
      <vt:lpstr>微软雅黑</vt:lpstr>
      <vt:lpstr>方正姚体</vt:lpstr>
      <vt:lpstr>WPS</vt:lpstr>
      <vt:lpstr>PowerPoint 演示文稿</vt:lpstr>
      <vt:lpstr>第7章    Internet的应用  </vt:lpstr>
      <vt:lpstr>第7章    Internet的应用  </vt:lpstr>
      <vt:lpstr>第7章    Internet的应用  </vt:lpstr>
      <vt:lpstr>第7章    Internet的应用  </vt:lpstr>
      <vt:lpstr>第7章    Internet的应用  </vt:lpstr>
      <vt:lpstr>第7章    Internet的应用  </vt:lpstr>
      <vt:lpstr>第7章    Internet的应用  </vt:lpstr>
      <vt:lpstr>第7章    Internet的应用  </vt:lpstr>
      <vt:lpstr>第7章    Internet的应用  </vt:lpstr>
      <vt:lpstr>第7章    Internet的应用  </vt:lpstr>
      <vt:lpstr>第7章    Internet的应用  </vt:lpstr>
      <vt:lpstr>第7章    Internet的应用  </vt:lpstr>
      <vt:lpstr>第7章    Internet的应用  </vt:lpstr>
      <vt:lpstr>第7章    Internet的应用  </vt:lpstr>
      <vt:lpstr>第7章    Internet的应用  </vt:lpstr>
      <vt:lpstr>第7章    Internet的应用  </vt:lpstr>
      <vt:lpstr>第7章    Internet的应用  </vt:lpstr>
      <vt:lpstr>第7章    Internet的应用  </vt:lpstr>
      <vt:lpstr>第7章    Internet的应用  </vt:lpstr>
      <vt:lpstr>第7章    Internet的应用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18900819605</cp:lastModifiedBy>
  <cp:revision>3</cp:revision>
  <dcterms:created xsi:type="dcterms:W3CDTF">2023-08-09T12:44:00Z</dcterms:created>
  <dcterms:modified xsi:type="dcterms:W3CDTF">2025-02-12T15:35:05Z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3B0086CAF875411CACBDA13AB9801EF4_13</vt:lpwstr>
  </property>
  <property fmtid="{D5CDD505-2E9C-101B-9397-08002B2CF9AE}" pid="3" name="KSOProductBuildVer">
    <vt:lpwstr>2052-12.1.0.19770</vt:lpwstr>
  </property>
</Properties>
</file>