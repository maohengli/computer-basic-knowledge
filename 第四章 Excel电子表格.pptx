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深色样式 1 - 强调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B57866A-81D8-435D-A157-3367722211F8}"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zh-CN" altLang="en-US"/>
        </a:p>
      </dgm:t>
    </dgm:pt>
    <dgm:pt modelId="{F0192AC8-43E3-4FF5-BF2A-87982BAF281B}">
      <dgm:prSet/>
      <dgm:spPr/>
      <dgm:t>
        <a:bodyPr/>
        <a:lstStyle/>
        <a:p>
          <a:pPr rtl="0"/>
          <a:r>
            <a:rPr lang="zh-CN" b="1" baseline="0" dirty="0" smtClean="0"/>
            <a:t>计算机应用基础</a:t>
          </a:r>
          <a:endParaRPr lang="zh-CN" b="1" baseline="0" dirty="0"/>
        </a:p>
      </dgm:t>
    </dgm:pt>
    <dgm:pt modelId="{C4E4E130-DCB0-428A-9FE5-22BBBE910632}" cxnId="{5429AF45-1512-4598-A42E-4AC4E8485839}" type="parTrans">
      <dgm:prSet/>
      <dgm:spPr/>
      <dgm:t>
        <a:bodyPr/>
        <a:lstStyle/>
        <a:p>
          <a:endParaRPr lang="zh-CN" altLang="en-US"/>
        </a:p>
      </dgm:t>
    </dgm:pt>
    <dgm:pt modelId="{1BC3EF03-A09B-4381-B408-FE7B1882FC32}" cxnId="{5429AF45-1512-4598-A42E-4AC4E8485839}" type="sibTrans">
      <dgm:prSet/>
      <dgm:spPr/>
      <dgm:t>
        <a:bodyPr/>
        <a:lstStyle/>
        <a:p>
          <a:endParaRPr lang="zh-CN" altLang="en-US"/>
        </a:p>
      </dgm:t>
    </dgm:pt>
    <dgm:pt modelId="{6F362D5F-0BCD-44B4-A7B1-B3D64175853D}" type="pres">
      <dgm:prSet presAssocID="{1B57866A-81D8-435D-A157-3367722211F8}" presName="linear" presStyleCnt="0">
        <dgm:presLayoutVars>
          <dgm:animLvl val="lvl"/>
          <dgm:resizeHandles val="exact"/>
        </dgm:presLayoutVars>
      </dgm:prSet>
      <dgm:spPr/>
      <dgm:t>
        <a:bodyPr/>
        <a:lstStyle/>
        <a:p>
          <a:endParaRPr lang="zh-CN" altLang="en-US"/>
        </a:p>
      </dgm:t>
    </dgm:pt>
    <dgm:pt modelId="{97527EBF-0E0A-4225-BED5-15810BA395FC}" type="pres">
      <dgm:prSet presAssocID="{F0192AC8-43E3-4FF5-BF2A-87982BAF281B}" presName="parentText" presStyleLbl="node1" presStyleIdx="0" presStyleCnt="1">
        <dgm:presLayoutVars>
          <dgm:chMax val="0"/>
          <dgm:bulletEnabled val="1"/>
        </dgm:presLayoutVars>
      </dgm:prSet>
      <dgm:spPr/>
      <dgm:t>
        <a:bodyPr/>
        <a:lstStyle/>
        <a:p>
          <a:endParaRPr lang="zh-CN" altLang="en-US"/>
        </a:p>
      </dgm:t>
    </dgm:pt>
  </dgm:ptLst>
  <dgm:cxnLst>
    <dgm:cxn modelId="{DF225CA3-4BE6-4838-BD2C-E27B259528E6}" type="presOf" srcId="{1B57866A-81D8-435D-A157-3367722211F8}" destId="{6F362D5F-0BCD-44B4-A7B1-B3D64175853D}" srcOrd="0" destOrd="0" presId="urn:microsoft.com/office/officeart/2005/8/layout/vList2"/>
    <dgm:cxn modelId="{5429AF45-1512-4598-A42E-4AC4E8485839}" srcId="{1B57866A-81D8-435D-A157-3367722211F8}" destId="{F0192AC8-43E3-4FF5-BF2A-87982BAF281B}" srcOrd="0" destOrd="0" parTransId="{C4E4E130-DCB0-428A-9FE5-22BBBE910632}" sibTransId="{1BC3EF03-A09B-4381-B408-FE7B1882FC32}"/>
    <dgm:cxn modelId="{F164CD36-7D63-4D81-8FA8-91497452450D}" type="presOf" srcId="{F0192AC8-43E3-4FF5-BF2A-87982BAF281B}" destId="{97527EBF-0E0A-4225-BED5-15810BA395FC}" srcOrd="0" destOrd="0" presId="urn:microsoft.com/office/officeart/2005/8/layout/vList2"/>
    <dgm:cxn modelId="{500DE62B-56FB-4020-BAC1-0C1105E5CE35}" type="presParOf" srcId="{6F362D5F-0BCD-44B4-A7B1-B3D64175853D}" destId="{97527EBF-0E0A-4225-BED5-15810BA395F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9884AC-53C0-449E-95C3-89E95F57570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1D0789F9-421A-4695-ADA3-396E3B7DCB11}">
      <dgm:prSet custT="1">
        <dgm:style>
          <a:lnRef idx="1">
            <a:schemeClr val="accent1"/>
          </a:lnRef>
          <a:fillRef idx="2">
            <a:schemeClr val="accent1"/>
          </a:fillRef>
          <a:effectRef idx="1">
            <a:schemeClr val="accent1"/>
          </a:effectRef>
          <a:fontRef idx="minor">
            <a:schemeClr val="dk1"/>
          </a:fontRef>
        </dgm:style>
      </dgm:prSet>
      <dgm:spPr/>
      <dgm:t>
        <a:bodyPr/>
        <a:lstStyle/>
        <a:p>
          <a:pPr rtl="0">
            <a:lnSpc>
              <a:spcPct val="150000"/>
            </a:lnSpc>
          </a:pPr>
          <a:r>
            <a:rPr lang="en-US" altLang="zh-CN" sz="2000" dirty="0" smtClean="0"/>
            <a:t>    </a:t>
          </a:r>
          <a:r>
            <a:rPr lang="zh-CN" sz="2000" dirty="0" smtClean="0"/>
            <a:t>本章主要介绍</a:t>
          </a:r>
          <a:r>
            <a:rPr lang="en-US" sz="2000" dirty="0" smtClean="0"/>
            <a:t>Microsoft Office</a:t>
          </a:r>
          <a:r>
            <a:rPr lang="zh-CN" sz="2000" dirty="0" smtClean="0"/>
            <a:t>办公套件中的电子表格软件</a:t>
          </a:r>
          <a:r>
            <a:rPr lang="en-US" sz="2000" dirty="0" smtClean="0"/>
            <a:t>Excel 2010,</a:t>
          </a:r>
          <a:r>
            <a:rPr lang="zh-CN" sz="2000" dirty="0" smtClean="0"/>
            <a:t>在对</a:t>
          </a:r>
          <a:r>
            <a:rPr lang="en-US" sz="2000" dirty="0" smtClean="0"/>
            <a:t>Excel</a:t>
          </a:r>
          <a:r>
            <a:rPr lang="zh-CN" sz="2000" dirty="0" smtClean="0"/>
            <a:t>基本功能进行讲解的基础上</a:t>
          </a:r>
          <a:r>
            <a:rPr lang="en-US" sz="2000" dirty="0" smtClean="0"/>
            <a:t>,</a:t>
          </a:r>
          <a:r>
            <a:rPr lang="zh-CN" sz="2000" dirty="0" smtClean="0"/>
            <a:t>结合实例演示表格编辑及数据图表的制作技巧。</a:t>
          </a:r>
          <a:endParaRPr lang="zh-CN" sz="2000" dirty="0"/>
        </a:p>
      </dgm:t>
    </dgm:pt>
    <dgm:pt modelId="{7A460C48-7E3E-4692-B14E-094601D39B83}" cxnId="{B06B9C4F-A5A0-4E65-8213-E689CF37FC48}" type="parTrans">
      <dgm:prSet/>
      <dgm:spPr/>
      <dgm:t>
        <a:bodyPr/>
        <a:lstStyle/>
        <a:p>
          <a:endParaRPr lang="zh-CN" altLang="en-US"/>
        </a:p>
      </dgm:t>
    </dgm:pt>
    <dgm:pt modelId="{8137AAE4-CB5E-43B9-B7D6-E8D665D90437}" cxnId="{B06B9C4F-A5A0-4E65-8213-E689CF37FC48}" type="sibTrans">
      <dgm:prSet/>
      <dgm:spPr/>
      <dgm:t>
        <a:bodyPr/>
        <a:lstStyle/>
        <a:p>
          <a:endParaRPr lang="zh-CN" altLang="en-US"/>
        </a:p>
      </dgm:t>
    </dgm:pt>
    <dgm:pt modelId="{C33F74DA-F256-4B8F-8047-C5452063D328}" type="pres">
      <dgm:prSet presAssocID="{BD9884AC-53C0-449E-95C3-89E95F57570F}" presName="linear" presStyleCnt="0">
        <dgm:presLayoutVars>
          <dgm:animLvl val="lvl"/>
          <dgm:resizeHandles val="exact"/>
        </dgm:presLayoutVars>
      </dgm:prSet>
      <dgm:spPr/>
      <dgm:t>
        <a:bodyPr/>
        <a:lstStyle/>
        <a:p>
          <a:endParaRPr lang="zh-CN" altLang="en-US"/>
        </a:p>
      </dgm:t>
    </dgm:pt>
    <dgm:pt modelId="{239109EB-7698-4F85-B76B-D07FD78094A9}" type="pres">
      <dgm:prSet presAssocID="{1D0789F9-421A-4695-ADA3-396E3B7DCB11}" presName="parentText" presStyleLbl="node1" presStyleIdx="0" presStyleCnt="1" custScaleY="198148">
        <dgm:presLayoutVars>
          <dgm:chMax val="0"/>
          <dgm:bulletEnabled val="1"/>
        </dgm:presLayoutVars>
      </dgm:prSet>
      <dgm:spPr/>
      <dgm:t>
        <a:bodyPr/>
        <a:lstStyle/>
        <a:p>
          <a:endParaRPr lang="zh-CN" altLang="en-US"/>
        </a:p>
      </dgm:t>
    </dgm:pt>
  </dgm:ptLst>
  <dgm:cxnLst>
    <dgm:cxn modelId="{B06B9C4F-A5A0-4E65-8213-E689CF37FC48}" srcId="{BD9884AC-53C0-449E-95C3-89E95F57570F}" destId="{1D0789F9-421A-4695-ADA3-396E3B7DCB11}" srcOrd="0" destOrd="0" parTransId="{7A460C48-7E3E-4692-B14E-094601D39B83}" sibTransId="{8137AAE4-CB5E-43B9-B7D6-E8D665D90437}"/>
    <dgm:cxn modelId="{B7E9AD53-BCDF-4732-97E3-C0C6428CFAF9}" type="presOf" srcId="{1D0789F9-421A-4695-ADA3-396E3B7DCB11}" destId="{239109EB-7698-4F85-B76B-D07FD78094A9}" srcOrd="0" destOrd="0" presId="urn:microsoft.com/office/officeart/2005/8/layout/vList2"/>
    <dgm:cxn modelId="{3D03A66B-E915-42AC-811C-50BBF29EAD38}" type="presOf" srcId="{BD9884AC-53C0-449E-95C3-89E95F57570F}" destId="{C33F74DA-F256-4B8F-8047-C5452063D328}" srcOrd="0" destOrd="0" presId="urn:microsoft.com/office/officeart/2005/8/layout/vList2"/>
    <dgm:cxn modelId="{7E0EE56E-EA9E-4E60-86ED-EF5E7462B05F}" type="presParOf" srcId="{C33F74DA-F256-4B8F-8047-C5452063D328}" destId="{239109EB-7698-4F85-B76B-D07FD78094A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81C03F-ADFD-49EB-8F3B-77E927CB2141}"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zh-CN" altLang="en-US"/>
        </a:p>
      </dgm:t>
    </dgm:pt>
    <dgm:pt modelId="{C7682ECD-11C4-4D4E-A5F6-EFA29DA2228B}">
      <dgm:prSet custT="1"/>
      <dgm:spPr/>
      <dgm:t>
        <a:bodyPr/>
        <a:lstStyle/>
        <a:p>
          <a:pPr rtl="0"/>
          <a:r>
            <a:rPr lang="en-US" sz="2000" dirty="0" smtClean="0"/>
            <a:t>1.</a:t>
          </a:r>
          <a:r>
            <a:rPr lang="zh-CN" sz="2000" dirty="0" smtClean="0"/>
            <a:t>数字数据</a:t>
          </a:r>
          <a:endParaRPr lang="zh-CN" sz="2000" dirty="0"/>
        </a:p>
      </dgm:t>
    </dgm:pt>
    <dgm:pt modelId="{25F3504A-EED8-4B9A-B439-43FA15E7A8F2}" cxnId="{F8CEBBAC-C67B-4D94-BC0E-6AC35FCC6CC6}" type="parTrans">
      <dgm:prSet/>
      <dgm:spPr/>
      <dgm:t>
        <a:bodyPr/>
        <a:lstStyle/>
        <a:p>
          <a:endParaRPr lang="zh-CN" altLang="en-US"/>
        </a:p>
      </dgm:t>
    </dgm:pt>
    <dgm:pt modelId="{9839E4E7-96F3-4DB3-A3F1-C6288967D279}" cxnId="{F8CEBBAC-C67B-4D94-BC0E-6AC35FCC6CC6}" type="sibTrans">
      <dgm:prSet/>
      <dgm:spPr/>
      <dgm:t>
        <a:bodyPr/>
        <a:lstStyle/>
        <a:p>
          <a:endParaRPr lang="zh-CN" altLang="en-US"/>
        </a:p>
      </dgm:t>
    </dgm:pt>
    <dgm:pt modelId="{033782F5-C2E7-48DD-919A-6E85FA81AA4F}">
      <dgm:prSet custT="1"/>
      <dgm:spPr/>
      <dgm:t>
        <a:bodyPr/>
        <a:lstStyle/>
        <a:p>
          <a:pPr rtl="0"/>
          <a:r>
            <a:rPr lang="en-US" sz="2000" dirty="0" smtClean="0"/>
            <a:t>2.</a:t>
          </a:r>
          <a:r>
            <a:rPr lang="zh-CN" sz="2000" dirty="0" smtClean="0"/>
            <a:t>文本数据</a:t>
          </a:r>
          <a:endParaRPr lang="zh-CN" sz="2000" dirty="0"/>
        </a:p>
      </dgm:t>
    </dgm:pt>
    <dgm:pt modelId="{6211524C-EDCE-4F1E-B685-3C68EFF6069C}" cxnId="{6920282B-6268-4B1D-B977-16B1BE5E4A5F}" type="parTrans">
      <dgm:prSet/>
      <dgm:spPr/>
      <dgm:t>
        <a:bodyPr/>
        <a:lstStyle/>
        <a:p>
          <a:endParaRPr lang="zh-CN" altLang="en-US"/>
        </a:p>
      </dgm:t>
    </dgm:pt>
    <dgm:pt modelId="{14E5CA71-AD9E-4005-9EB5-4EA7E099AB07}" cxnId="{6920282B-6268-4B1D-B977-16B1BE5E4A5F}" type="sibTrans">
      <dgm:prSet/>
      <dgm:spPr/>
      <dgm:t>
        <a:bodyPr/>
        <a:lstStyle/>
        <a:p>
          <a:endParaRPr lang="zh-CN" altLang="en-US"/>
        </a:p>
      </dgm:t>
    </dgm:pt>
    <dgm:pt modelId="{3C1B7A9B-0815-43EE-ADA0-36503DDA202E}">
      <dgm:prSet custT="1"/>
      <dgm:spPr/>
      <dgm:t>
        <a:bodyPr/>
        <a:lstStyle/>
        <a:p>
          <a:pPr rtl="0"/>
          <a:r>
            <a:rPr lang="en-US" sz="2000" dirty="0" smtClean="0"/>
            <a:t>3.</a:t>
          </a:r>
          <a:r>
            <a:rPr lang="zh-CN" sz="2000" dirty="0" smtClean="0"/>
            <a:t>逻辑数据</a:t>
          </a:r>
          <a:endParaRPr lang="zh-CN" sz="2000" dirty="0"/>
        </a:p>
      </dgm:t>
    </dgm:pt>
    <dgm:pt modelId="{47EF353A-528D-4B14-B54E-E98BDC5055CF}" cxnId="{1A739ED7-4E91-43F9-A587-E9FB6DF1E447}" type="parTrans">
      <dgm:prSet/>
      <dgm:spPr/>
      <dgm:t>
        <a:bodyPr/>
        <a:lstStyle/>
        <a:p>
          <a:endParaRPr lang="zh-CN" altLang="en-US"/>
        </a:p>
      </dgm:t>
    </dgm:pt>
    <dgm:pt modelId="{2AC41B11-2E8C-441C-AAE4-47FE7D62CEE2}" cxnId="{1A739ED7-4E91-43F9-A587-E9FB6DF1E447}" type="sibTrans">
      <dgm:prSet/>
      <dgm:spPr/>
      <dgm:t>
        <a:bodyPr/>
        <a:lstStyle/>
        <a:p>
          <a:endParaRPr lang="zh-CN" altLang="en-US"/>
        </a:p>
      </dgm:t>
    </dgm:pt>
    <dgm:pt modelId="{868670CA-95AE-493F-BD5C-3D2D195AAD5B}" type="pres">
      <dgm:prSet presAssocID="{FA81C03F-ADFD-49EB-8F3B-77E927CB2141}" presName="Name0" presStyleCnt="0">
        <dgm:presLayoutVars>
          <dgm:chPref val="3"/>
          <dgm:dir/>
          <dgm:animLvl val="lvl"/>
          <dgm:resizeHandles/>
        </dgm:presLayoutVars>
      </dgm:prSet>
      <dgm:spPr/>
      <dgm:t>
        <a:bodyPr/>
        <a:lstStyle/>
        <a:p>
          <a:endParaRPr lang="zh-CN" altLang="en-US"/>
        </a:p>
      </dgm:t>
    </dgm:pt>
    <dgm:pt modelId="{4830B6E4-1A1D-4AA2-93FF-0CFE6880989B}" type="pres">
      <dgm:prSet presAssocID="{C7682ECD-11C4-4D4E-A5F6-EFA29DA2228B}" presName="horFlow" presStyleCnt="0"/>
      <dgm:spPr/>
    </dgm:pt>
    <dgm:pt modelId="{BC30DFB8-D9E0-42B8-83A9-F12A59B6DF13}" type="pres">
      <dgm:prSet presAssocID="{C7682ECD-11C4-4D4E-A5F6-EFA29DA2228B}" presName="bigChev" presStyleLbl="node1" presStyleIdx="0" presStyleCnt="3" custScaleX="184503" custLinFactNeighborY="-56958"/>
      <dgm:spPr/>
      <dgm:t>
        <a:bodyPr/>
        <a:lstStyle/>
        <a:p>
          <a:endParaRPr lang="zh-CN" altLang="en-US"/>
        </a:p>
      </dgm:t>
    </dgm:pt>
    <dgm:pt modelId="{F8A7480F-5135-4888-98C7-97799F684B03}" type="pres">
      <dgm:prSet presAssocID="{C7682ECD-11C4-4D4E-A5F6-EFA29DA2228B}" presName="vSp" presStyleCnt="0"/>
      <dgm:spPr/>
    </dgm:pt>
    <dgm:pt modelId="{8C468D37-DC03-4DC0-BCFC-83208F4C99EB}" type="pres">
      <dgm:prSet presAssocID="{033782F5-C2E7-48DD-919A-6E85FA81AA4F}" presName="horFlow" presStyleCnt="0"/>
      <dgm:spPr/>
    </dgm:pt>
    <dgm:pt modelId="{0F316B2E-D25F-483E-8AD0-47CB2B280FE0}" type="pres">
      <dgm:prSet presAssocID="{033782F5-C2E7-48DD-919A-6E85FA81AA4F}" presName="bigChev" presStyleLbl="node1" presStyleIdx="1" presStyleCnt="3" custScaleX="184503"/>
      <dgm:spPr/>
      <dgm:t>
        <a:bodyPr/>
        <a:lstStyle/>
        <a:p>
          <a:endParaRPr lang="zh-CN" altLang="en-US"/>
        </a:p>
      </dgm:t>
    </dgm:pt>
    <dgm:pt modelId="{D71CAE6F-311A-418F-AB74-AF751ABDD90A}" type="pres">
      <dgm:prSet presAssocID="{033782F5-C2E7-48DD-919A-6E85FA81AA4F}" presName="vSp" presStyleCnt="0"/>
      <dgm:spPr/>
    </dgm:pt>
    <dgm:pt modelId="{118CC35C-4518-425B-B0BC-7E848F10FD56}" type="pres">
      <dgm:prSet presAssocID="{3C1B7A9B-0815-43EE-ADA0-36503DDA202E}" presName="horFlow" presStyleCnt="0"/>
      <dgm:spPr/>
    </dgm:pt>
    <dgm:pt modelId="{9BA3EBCE-3FBF-4486-BD29-95EDE9DBF247}" type="pres">
      <dgm:prSet presAssocID="{3C1B7A9B-0815-43EE-ADA0-36503DDA202E}" presName="bigChev" presStyleLbl="node1" presStyleIdx="2" presStyleCnt="3" custScaleX="184503" custLinFactNeighborY="60939"/>
      <dgm:spPr/>
      <dgm:t>
        <a:bodyPr/>
        <a:lstStyle/>
        <a:p>
          <a:endParaRPr lang="zh-CN" altLang="en-US"/>
        </a:p>
      </dgm:t>
    </dgm:pt>
  </dgm:ptLst>
  <dgm:cxnLst>
    <dgm:cxn modelId="{D0C96E8D-47FC-4295-96A4-DDCC30E6AC34}" type="presOf" srcId="{C7682ECD-11C4-4D4E-A5F6-EFA29DA2228B}" destId="{BC30DFB8-D9E0-42B8-83A9-F12A59B6DF13}" srcOrd="0" destOrd="0" presId="urn:microsoft.com/office/officeart/2005/8/layout/lProcess3"/>
    <dgm:cxn modelId="{A6CFD982-A1BF-4D51-9404-A2E3C4B3881E}" type="presOf" srcId="{033782F5-C2E7-48DD-919A-6E85FA81AA4F}" destId="{0F316B2E-D25F-483E-8AD0-47CB2B280FE0}" srcOrd="0" destOrd="0" presId="urn:microsoft.com/office/officeart/2005/8/layout/lProcess3"/>
    <dgm:cxn modelId="{F8CEBBAC-C67B-4D94-BC0E-6AC35FCC6CC6}" srcId="{FA81C03F-ADFD-49EB-8F3B-77E927CB2141}" destId="{C7682ECD-11C4-4D4E-A5F6-EFA29DA2228B}" srcOrd="0" destOrd="0" parTransId="{25F3504A-EED8-4B9A-B439-43FA15E7A8F2}" sibTransId="{9839E4E7-96F3-4DB3-A3F1-C6288967D279}"/>
    <dgm:cxn modelId="{16B9A2A7-DE17-4351-BD65-F34A130996D2}" type="presOf" srcId="{3C1B7A9B-0815-43EE-ADA0-36503DDA202E}" destId="{9BA3EBCE-3FBF-4486-BD29-95EDE9DBF247}" srcOrd="0" destOrd="0" presId="urn:microsoft.com/office/officeart/2005/8/layout/lProcess3"/>
    <dgm:cxn modelId="{1A739ED7-4E91-43F9-A587-E9FB6DF1E447}" srcId="{FA81C03F-ADFD-49EB-8F3B-77E927CB2141}" destId="{3C1B7A9B-0815-43EE-ADA0-36503DDA202E}" srcOrd="2" destOrd="0" parTransId="{47EF353A-528D-4B14-B54E-E98BDC5055CF}" sibTransId="{2AC41B11-2E8C-441C-AAE4-47FE7D62CEE2}"/>
    <dgm:cxn modelId="{6920282B-6268-4B1D-B977-16B1BE5E4A5F}" srcId="{FA81C03F-ADFD-49EB-8F3B-77E927CB2141}" destId="{033782F5-C2E7-48DD-919A-6E85FA81AA4F}" srcOrd="1" destOrd="0" parTransId="{6211524C-EDCE-4F1E-B685-3C68EFF6069C}" sibTransId="{14E5CA71-AD9E-4005-9EB5-4EA7E099AB07}"/>
    <dgm:cxn modelId="{48A45725-7E7D-4B23-81A9-F4207D70739D}" type="presOf" srcId="{FA81C03F-ADFD-49EB-8F3B-77E927CB2141}" destId="{868670CA-95AE-493F-BD5C-3D2D195AAD5B}" srcOrd="0" destOrd="0" presId="urn:microsoft.com/office/officeart/2005/8/layout/lProcess3"/>
    <dgm:cxn modelId="{F3B3FCA3-BD46-4EE4-BE43-5C776937C895}" type="presParOf" srcId="{868670CA-95AE-493F-BD5C-3D2D195AAD5B}" destId="{4830B6E4-1A1D-4AA2-93FF-0CFE6880989B}" srcOrd="0" destOrd="0" presId="urn:microsoft.com/office/officeart/2005/8/layout/lProcess3"/>
    <dgm:cxn modelId="{E9E153E0-3070-4B27-84E0-7219C4D3EA8E}" type="presParOf" srcId="{4830B6E4-1A1D-4AA2-93FF-0CFE6880989B}" destId="{BC30DFB8-D9E0-42B8-83A9-F12A59B6DF13}" srcOrd="0" destOrd="0" presId="urn:microsoft.com/office/officeart/2005/8/layout/lProcess3"/>
    <dgm:cxn modelId="{1A61D205-2DB4-4BE0-946E-553157DD0C94}" type="presParOf" srcId="{868670CA-95AE-493F-BD5C-3D2D195AAD5B}" destId="{F8A7480F-5135-4888-98C7-97799F684B03}" srcOrd="1" destOrd="0" presId="urn:microsoft.com/office/officeart/2005/8/layout/lProcess3"/>
    <dgm:cxn modelId="{DB5BA391-ED94-4450-A52E-3F6F2D3FDA54}" type="presParOf" srcId="{868670CA-95AE-493F-BD5C-3D2D195AAD5B}" destId="{8C468D37-DC03-4DC0-BCFC-83208F4C99EB}" srcOrd="2" destOrd="0" presId="urn:microsoft.com/office/officeart/2005/8/layout/lProcess3"/>
    <dgm:cxn modelId="{D47598A6-47D1-4663-A1D2-AA156479947C}" type="presParOf" srcId="{8C468D37-DC03-4DC0-BCFC-83208F4C99EB}" destId="{0F316B2E-D25F-483E-8AD0-47CB2B280FE0}" srcOrd="0" destOrd="0" presId="urn:microsoft.com/office/officeart/2005/8/layout/lProcess3"/>
    <dgm:cxn modelId="{7EA716F4-55AC-4278-B955-0E6FD7CCD05C}" type="presParOf" srcId="{868670CA-95AE-493F-BD5C-3D2D195AAD5B}" destId="{D71CAE6F-311A-418F-AB74-AF751ABDD90A}" srcOrd="3" destOrd="0" presId="urn:microsoft.com/office/officeart/2005/8/layout/lProcess3"/>
    <dgm:cxn modelId="{8B34406C-C2B7-4B36-91EC-2C35E4767D38}" type="presParOf" srcId="{868670CA-95AE-493F-BD5C-3D2D195AAD5B}" destId="{118CC35C-4518-425B-B0BC-7E848F10FD56}" srcOrd="4" destOrd="0" presId="urn:microsoft.com/office/officeart/2005/8/layout/lProcess3"/>
    <dgm:cxn modelId="{BE9DFF0F-125E-4705-B54E-802B7508D5F3}" type="presParOf" srcId="{118CC35C-4518-425B-B0BC-7E848F10FD56}" destId="{9BA3EBCE-3FBF-4486-BD29-95EDE9DBF247}" srcOrd="0" destOrd="0" presId="urn:microsoft.com/office/officeart/2005/8/layout/lProcess3"/>
  </dgm:cxnLst>
  <dgm:bg>
    <a:effect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19E54BE-3538-48D0-82CB-A52F6FF25FF2}" type="doc">
      <dgm:prSet loTypeId="urn:microsoft.com/office/officeart/2005/8/layout/hProcess9" loCatId="process" qsTypeId="urn:microsoft.com/office/officeart/2005/8/quickstyle/simple1" qsCatId="simple" csTypeId="urn:microsoft.com/office/officeart/2005/8/colors/colorful2" csCatId="colorful"/>
      <dgm:spPr/>
      <dgm:t>
        <a:bodyPr/>
        <a:lstStyle/>
        <a:p>
          <a:endParaRPr lang="zh-CN" altLang="en-US"/>
        </a:p>
      </dgm:t>
    </dgm:pt>
    <dgm:pt modelId="{BD5A51B3-D15F-4124-96CE-8E8841B5A763}">
      <dgm:prSet custT="1"/>
      <dgm:spPr/>
      <dgm:t>
        <a:bodyPr/>
        <a:lstStyle/>
        <a:p>
          <a:pPr rtl="0"/>
          <a:r>
            <a:rPr lang="en-US" sz="2000" dirty="0" smtClean="0">
              <a:solidFill>
                <a:schemeClr val="tx1"/>
              </a:solidFill>
            </a:rPr>
            <a:t>(1)</a:t>
          </a:r>
          <a:r>
            <a:rPr lang="zh-CN" sz="2000" dirty="0" smtClean="0">
              <a:solidFill>
                <a:schemeClr val="tx1"/>
              </a:solidFill>
            </a:rPr>
            <a:t>相对引用</a:t>
          </a:r>
          <a:endParaRPr lang="zh-CN" sz="2000" dirty="0">
            <a:solidFill>
              <a:schemeClr val="tx1"/>
            </a:solidFill>
          </a:endParaRPr>
        </a:p>
      </dgm:t>
    </dgm:pt>
    <dgm:pt modelId="{E2EA9FCC-1F3E-439A-8EF1-0F3004954801}" cxnId="{5EED1366-611E-458F-A4A5-78092A7CD67A}" type="parTrans">
      <dgm:prSet/>
      <dgm:spPr/>
      <dgm:t>
        <a:bodyPr/>
        <a:lstStyle/>
        <a:p>
          <a:endParaRPr lang="zh-CN" altLang="en-US" sz="1600">
            <a:solidFill>
              <a:schemeClr val="tx1"/>
            </a:solidFill>
          </a:endParaRPr>
        </a:p>
      </dgm:t>
    </dgm:pt>
    <dgm:pt modelId="{10C23811-2FBF-4D07-8EAF-50D7E1C15719}" cxnId="{5EED1366-611E-458F-A4A5-78092A7CD67A}" type="sibTrans">
      <dgm:prSet/>
      <dgm:spPr/>
      <dgm:t>
        <a:bodyPr/>
        <a:lstStyle/>
        <a:p>
          <a:endParaRPr lang="zh-CN" altLang="en-US" sz="1600">
            <a:solidFill>
              <a:schemeClr val="tx1"/>
            </a:solidFill>
          </a:endParaRPr>
        </a:p>
      </dgm:t>
    </dgm:pt>
    <dgm:pt modelId="{D524B0A0-EEEE-4DD6-9D71-CC2532361F48}">
      <dgm:prSet custT="1"/>
      <dgm:spPr/>
      <dgm:t>
        <a:bodyPr/>
        <a:lstStyle/>
        <a:p>
          <a:pPr rtl="0"/>
          <a:r>
            <a:rPr lang="en-US" sz="2000" dirty="0" smtClean="0">
              <a:solidFill>
                <a:schemeClr val="tx1"/>
              </a:solidFill>
            </a:rPr>
            <a:t>(2)</a:t>
          </a:r>
          <a:r>
            <a:rPr lang="zh-CN" sz="2000" dirty="0" smtClean="0">
              <a:solidFill>
                <a:schemeClr val="tx1"/>
              </a:solidFill>
            </a:rPr>
            <a:t>绝对引用</a:t>
          </a:r>
          <a:endParaRPr lang="zh-CN" sz="2000" dirty="0">
            <a:solidFill>
              <a:schemeClr val="tx1"/>
            </a:solidFill>
          </a:endParaRPr>
        </a:p>
      </dgm:t>
    </dgm:pt>
    <dgm:pt modelId="{BA18022C-B5FF-4760-8E51-3D1A62495242}" cxnId="{93D5BF0A-9845-456A-B6DF-521BEC1D978E}" type="parTrans">
      <dgm:prSet/>
      <dgm:spPr/>
      <dgm:t>
        <a:bodyPr/>
        <a:lstStyle/>
        <a:p>
          <a:endParaRPr lang="zh-CN" altLang="en-US" sz="1600">
            <a:solidFill>
              <a:schemeClr val="tx1"/>
            </a:solidFill>
          </a:endParaRPr>
        </a:p>
      </dgm:t>
    </dgm:pt>
    <dgm:pt modelId="{76F620BE-67AA-4D26-A176-69A93FAC78D7}" cxnId="{93D5BF0A-9845-456A-B6DF-521BEC1D978E}" type="sibTrans">
      <dgm:prSet/>
      <dgm:spPr/>
      <dgm:t>
        <a:bodyPr/>
        <a:lstStyle/>
        <a:p>
          <a:endParaRPr lang="zh-CN" altLang="en-US" sz="1600">
            <a:solidFill>
              <a:schemeClr val="tx1"/>
            </a:solidFill>
          </a:endParaRPr>
        </a:p>
      </dgm:t>
    </dgm:pt>
    <dgm:pt modelId="{5042B7C7-D5A1-4C62-9623-14EFAFF16040}">
      <dgm:prSet custT="1"/>
      <dgm:spPr/>
      <dgm:t>
        <a:bodyPr/>
        <a:lstStyle/>
        <a:p>
          <a:pPr rtl="0"/>
          <a:r>
            <a:rPr lang="en-US" sz="2000" dirty="0" smtClean="0">
              <a:solidFill>
                <a:schemeClr val="tx1"/>
              </a:solidFill>
            </a:rPr>
            <a:t>(3)</a:t>
          </a:r>
          <a:r>
            <a:rPr lang="zh-CN" sz="2000" dirty="0" smtClean="0">
              <a:solidFill>
                <a:schemeClr val="tx1"/>
              </a:solidFill>
            </a:rPr>
            <a:t>混合引用</a:t>
          </a:r>
          <a:endParaRPr lang="zh-CN" sz="2000" dirty="0">
            <a:solidFill>
              <a:schemeClr val="tx1"/>
            </a:solidFill>
          </a:endParaRPr>
        </a:p>
      </dgm:t>
    </dgm:pt>
    <dgm:pt modelId="{B6A1FBAB-841D-4F6A-B526-A3F069B55999}" cxnId="{DECEDE4C-A5A7-4521-BF4B-0FFE4BB1D5CB}" type="parTrans">
      <dgm:prSet/>
      <dgm:spPr/>
      <dgm:t>
        <a:bodyPr/>
        <a:lstStyle/>
        <a:p>
          <a:endParaRPr lang="zh-CN" altLang="en-US" sz="1600">
            <a:solidFill>
              <a:schemeClr val="tx1"/>
            </a:solidFill>
          </a:endParaRPr>
        </a:p>
      </dgm:t>
    </dgm:pt>
    <dgm:pt modelId="{5DBE20FD-4E64-4C0B-B930-C15537E7D722}" cxnId="{DECEDE4C-A5A7-4521-BF4B-0FFE4BB1D5CB}" type="sibTrans">
      <dgm:prSet/>
      <dgm:spPr/>
      <dgm:t>
        <a:bodyPr/>
        <a:lstStyle/>
        <a:p>
          <a:endParaRPr lang="zh-CN" altLang="en-US" sz="1600">
            <a:solidFill>
              <a:schemeClr val="tx1"/>
            </a:solidFill>
          </a:endParaRPr>
        </a:p>
      </dgm:t>
    </dgm:pt>
    <dgm:pt modelId="{2150D020-5ECB-46CB-99BE-971A38230E32}">
      <dgm:prSet custT="1"/>
      <dgm:spPr/>
      <dgm:t>
        <a:bodyPr/>
        <a:lstStyle/>
        <a:p>
          <a:pPr rtl="0"/>
          <a:r>
            <a:rPr lang="en-US" sz="2000" dirty="0" smtClean="0">
              <a:solidFill>
                <a:schemeClr val="tx1"/>
              </a:solidFill>
            </a:rPr>
            <a:t>(4)</a:t>
          </a:r>
          <a:r>
            <a:rPr lang="zh-CN" sz="2000" dirty="0" smtClean="0">
              <a:solidFill>
                <a:schemeClr val="tx1"/>
              </a:solidFill>
            </a:rPr>
            <a:t>三维地址</a:t>
          </a:r>
          <a:endParaRPr lang="zh-CN" sz="2000" dirty="0">
            <a:solidFill>
              <a:schemeClr val="tx1"/>
            </a:solidFill>
          </a:endParaRPr>
        </a:p>
      </dgm:t>
    </dgm:pt>
    <dgm:pt modelId="{B99D5128-79C4-4342-9666-CADEDE9C413A}" cxnId="{CDE9CA84-99A3-4F54-8921-6FF0C51384B5}" type="parTrans">
      <dgm:prSet/>
      <dgm:spPr/>
      <dgm:t>
        <a:bodyPr/>
        <a:lstStyle/>
        <a:p>
          <a:endParaRPr lang="zh-CN" altLang="en-US" sz="1600">
            <a:solidFill>
              <a:schemeClr val="tx1"/>
            </a:solidFill>
          </a:endParaRPr>
        </a:p>
      </dgm:t>
    </dgm:pt>
    <dgm:pt modelId="{2B05B720-F11F-4E0A-A8D9-3276E93780A4}" cxnId="{CDE9CA84-99A3-4F54-8921-6FF0C51384B5}" type="sibTrans">
      <dgm:prSet/>
      <dgm:spPr/>
      <dgm:t>
        <a:bodyPr/>
        <a:lstStyle/>
        <a:p>
          <a:endParaRPr lang="zh-CN" altLang="en-US" sz="1600">
            <a:solidFill>
              <a:schemeClr val="tx1"/>
            </a:solidFill>
          </a:endParaRPr>
        </a:p>
      </dgm:t>
    </dgm:pt>
    <dgm:pt modelId="{10B59884-B462-4438-9F5B-BF10C8CC8521}">
      <dgm:prSet custT="1"/>
      <dgm:spPr/>
      <dgm:t>
        <a:bodyPr/>
        <a:lstStyle/>
        <a:p>
          <a:pPr rtl="0"/>
          <a:r>
            <a:rPr lang="en-US" sz="2000" dirty="0" smtClean="0">
              <a:solidFill>
                <a:schemeClr val="tx1"/>
              </a:solidFill>
            </a:rPr>
            <a:t>(5)</a:t>
          </a:r>
          <a:r>
            <a:rPr lang="zh-CN" sz="2000" dirty="0" smtClean="0">
              <a:solidFill>
                <a:schemeClr val="tx1"/>
              </a:solidFill>
            </a:rPr>
            <a:t>单元格区域</a:t>
          </a:r>
          <a:endParaRPr lang="zh-CN" sz="2000" dirty="0">
            <a:solidFill>
              <a:schemeClr val="tx1"/>
            </a:solidFill>
          </a:endParaRPr>
        </a:p>
      </dgm:t>
    </dgm:pt>
    <dgm:pt modelId="{CCCA2F2F-D53D-4CB7-B659-088BD7972A1F}" cxnId="{EA50E706-E27C-4C94-93FC-3AB57E2A9D64}" type="parTrans">
      <dgm:prSet/>
      <dgm:spPr/>
      <dgm:t>
        <a:bodyPr/>
        <a:lstStyle/>
        <a:p>
          <a:endParaRPr lang="zh-CN" altLang="en-US" sz="1600">
            <a:solidFill>
              <a:schemeClr val="tx1"/>
            </a:solidFill>
          </a:endParaRPr>
        </a:p>
      </dgm:t>
    </dgm:pt>
    <dgm:pt modelId="{F88A4F1B-A2E0-4F1A-A66E-35E090AC8B37}" cxnId="{EA50E706-E27C-4C94-93FC-3AB57E2A9D64}" type="sibTrans">
      <dgm:prSet/>
      <dgm:spPr/>
      <dgm:t>
        <a:bodyPr/>
        <a:lstStyle/>
        <a:p>
          <a:endParaRPr lang="zh-CN" altLang="en-US" sz="1600">
            <a:solidFill>
              <a:schemeClr val="tx1"/>
            </a:solidFill>
          </a:endParaRPr>
        </a:p>
      </dgm:t>
    </dgm:pt>
    <dgm:pt modelId="{978F6413-3C11-4A35-A1EA-E41B142AB681}" type="pres">
      <dgm:prSet presAssocID="{719E54BE-3538-48D0-82CB-A52F6FF25FF2}" presName="CompostProcess" presStyleCnt="0">
        <dgm:presLayoutVars>
          <dgm:dir/>
          <dgm:resizeHandles val="exact"/>
        </dgm:presLayoutVars>
      </dgm:prSet>
      <dgm:spPr/>
      <dgm:t>
        <a:bodyPr/>
        <a:lstStyle/>
        <a:p>
          <a:endParaRPr lang="zh-CN" altLang="en-US"/>
        </a:p>
      </dgm:t>
    </dgm:pt>
    <dgm:pt modelId="{A63E85B3-BCEA-45DB-9C6E-1A6D6870FA37}" type="pres">
      <dgm:prSet presAssocID="{719E54BE-3538-48D0-82CB-A52F6FF25FF2}" presName="arrow" presStyleLbl="bgShp" presStyleIdx="0" presStyleCnt="1">
        <dgm:style>
          <a:lnRef idx="1">
            <a:schemeClr val="accent2"/>
          </a:lnRef>
          <a:fillRef idx="2">
            <a:schemeClr val="accent2"/>
          </a:fillRef>
          <a:effectRef idx="1">
            <a:schemeClr val="accent2"/>
          </a:effectRef>
          <a:fontRef idx="minor">
            <a:schemeClr val="dk1"/>
          </a:fontRef>
        </dgm:style>
      </dgm:prSet>
      <dgm:spPr/>
    </dgm:pt>
    <dgm:pt modelId="{94EC3DDC-D846-439D-91DE-C7003CE8C04F}" type="pres">
      <dgm:prSet presAssocID="{719E54BE-3538-48D0-82CB-A52F6FF25FF2}" presName="linearProcess" presStyleCnt="0"/>
      <dgm:spPr/>
    </dgm:pt>
    <dgm:pt modelId="{FFC6AE34-C2FC-4EAA-9A82-FB49E2341E2F}" type="pres">
      <dgm:prSet presAssocID="{BD5A51B3-D15F-4124-96CE-8E8841B5A763}" presName="textNode" presStyleLbl="node1" presStyleIdx="0" presStyleCnt="5">
        <dgm:presLayoutVars>
          <dgm:bulletEnabled val="1"/>
        </dgm:presLayoutVars>
      </dgm:prSet>
      <dgm:spPr/>
      <dgm:t>
        <a:bodyPr/>
        <a:lstStyle/>
        <a:p>
          <a:endParaRPr lang="zh-CN" altLang="en-US"/>
        </a:p>
      </dgm:t>
    </dgm:pt>
    <dgm:pt modelId="{418FFA3A-B95A-455D-A53F-0CCA6CC23CF8}" type="pres">
      <dgm:prSet presAssocID="{10C23811-2FBF-4D07-8EAF-50D7E1C15719}" presName="sibTrans" presStyleCnt="0"/>
      <dgm:spPr/>
    </dgm:pt>
    <dgm:pt modelId="{318E918F-6304-49B3-A33F-C4735DEE2B76}" type="pres">
      <dgm:prSet presAssocID="{D524B0A0-EEEE-4DD6-9D71-CC2532361F48}" presName="textNode" presStyleLbl="node1" presStyleIdx="1" presStyleCnt="5">
        <dgm:presLayoutVars>
          <dgm:bulletEnabled val="1"/>
        </dgm:presLayoutVars>
      </dgm:prSet>
      <dgm:spPr/>
      <dgm:t>
        <a:bodyPr/>
        <a:lstStyle/>
        <a:p>
          <a:endParaRPr lang="zh-CN" altLang="en-US"/>
        </a:p>
      </dgm:t>
    </dgm:pt>
    <dgm:pt modelId="{D35C50E4-535F-465E-B0D6-7065EF37F22B}" type="pres">
      <dgm:prSet presAssocID="{76F620BE-67AA-4D26-A176-69A93FAC78D7}" presName="sibTrans" presStyleCnt="0"/>
      <dgm:spPr/>
    </dgm:pt>
    <dgm:pt modelId="{8CD117D6-F6F3-4446-966D-DE48753D5066}" type="pres">
      <dgm:prSet presAssocID="{5042B7C7-D5A1-4C62-9623-14EFAFF16040}" presName="textNode" presStyleLbl="node1" presStyleIdx="2" presStyleCnt="5">
        <dgm:presLayoutVars>
          <dgm:bulletEnabled val="1"/>
        </dgm:presLayoutVars>
      </dgm:prSet>
      <dgm:spPr/>
      <dgm:t>
        <a:bodyPr/>
        <a:lstStyle/>
        <a:p>
          <a:endParaRPr lang="zh-CN" altLang="en-US"/>
        </a:p>
      </dgm:t>
    </dgm:pt>
    <dgm:pt modelId="{79F525F0-03FB-4584-B539-DDBEAB9F419D}" type="pres">
      <dgm:prSet presAssocID="{5DBE20FD-4E64-4C0B-B930-C15537E7D722}" presName="sibTrans" presStyleCnt="0"/>
      <dgm:spPr/>
    </dgm:pt>
    <dgm:pt modelId="{97216690-6BCB-48E9-86D0-1042C015A3EE}" type="pres">
      <dgm:prSet presAssocID="{2150D020-5ECB-46CB-99BE-971A38230E32}" presName="textNode" presStyleLbl="node1" presStyleIdx="3" presStyleCnt="5">
        <dgm:presLayoutVars>
          <dgm:bulletEnabled val="1"/>
        </dgm:presLayoutVars>
      </dgm:prSet>
      <dgm:spPr/>
      <dgm:t>
        <a:bodyPr/>
        <a:lstStyle/>
        <a:p>
          <a:endParaRPr lang="zh-CN" altLang="en-US"/>
        </a:p>
      </dgm:t>
    </dgm:pt>
    <dgm:pt modelId="{3638675A-ADF8-4E35-AECF-215B564C0A4A}" type="pres">
      <dgm:prSet presAssocID="{2B05B720-F11F-4E0A-A8D9-3276E93780A4}" presName="sibTrans" presStyleCnt="0"/>
      <dgm:spPr/>
    </dgm:pt>
    <dgm:pt modelId="{0DB3B8E6-550D-4B95-970B-ECDCE2B3029D}" type="pres">
      <dgm:prSet presAssocID="{10B59884-B462-4438-9F5B-BF10C8CC8521}" presName="textNode" presStyleLbl="node1" presStyleIdx="4" presStyleCnt="5">
        <dgm:presLayoutVars>
          <dgm:bulletEnabled val="1"/>
        </dgm:presLayoutVars>
      </dgm:prSet>
      <dgm:spPr/>
      <dgm:t>
        <a:bodyPr/>
        <a:lstStyle/>
        <a:p>
          <a:endParaRPr lang="zh-CN" altLang="en-US"/>
        </a:p>
      </dgm:t>
    </dgm:pt>
  </dgm:ptLst>
  <dgm:cxnLst>
    <dgm:cxn modelId="{5EED1366-611E-458F-A4A5-78092A7CD67A}" srcId="{719E54BE-3538-48D0-82CB-A52F6FF25FF2}" destId="{BD5A51B3-D15F-4124-96CE-8E8841B5A763}" srcOrd="0" destOrd="0" parTransId="{E2EA9FCC-1F3E-439A-8EF1-0F3004954801}" sibTransId="{10C23811-2FBF-4D07-8EAF-50D7E1C15719}"/>
    <dgm:cxn modelId="{CDE9CA84-99A3-4F54-8921-6FF0C51384B5}" srcId="{719E54BE-3538-48D0-82CB-A52F6FF25FF2}" destId="{2150D020-5ECB-46CB-99BE-971A38230E32}" srcOrd="3" destOrd="0" parTransId="{B99D5128-79C4-4342-9666-CADEDE9C413A}" sibTransId="{2B05B720-F11F-4E0A-A8D9-3276E93780A4}"/>
    <dgm:cxn modelId="{DECEDE4C-A5A7-4521-BF4B-0FFE4BB1D5CB}" srcId="{719E54BE-3538-48D0-82CB-A52F6FF25FF2}" destId="{5042B7C7-D5A1-4C62-9623-14EFAFF16040}" srcOrd="2" destOrd="0" parTransId="{B6A1FBAB-841D-4F6A-B526-A3F069B55999}" sibTransId="{5DBE20FD-4E64-4C0B-B930-C15537E7D722}"/>
    <dgm:cxn modelId="{EA50E706-E27C-4C94-93FC-3AB57E2A9D64}" srcId="{719E54BE-3538-48D0-82CB-A52F6FF25FF2}" destId="{10B59884-B462-4438-9F5B-BF10C8CC8521}" srcOrd="4" destOrd="0" parTransId="{CCCA2F2F-D53D-4CB7-B659-088BD7972A1F}" sibTransId="{F88A4F1B-A2E0-4F1A-A66E-35E090AC8B37}"/>
    <dgm:cxn modelId="{2A35DEC6-1387-4831-8E79-9388C0E13045}" type="presOf" srcId="{2150D020-5ECB-46CB-99BE-971A38230E32}" destId="{97216690-6BCB-48E9-86D0-1042C015A3EE}" srcOrd="0" destOrd="0" presId="urn:microsoft.com/office/officeart/2005/8/layout/hProcess9"/>
    <dgm:cxn modelId="{55BC4F15-4866-4C8A-8AE5-E19488785821}" type="presOf" srcId="{719E54BE-3538-48D0-82CB-A52F6FF25FF2}" destId="{978F6413-3C11-4A35-A1EA-E41B142AB681}" srcOrd="0" destOrd="0" presId="urn:microsoft.com/office/officeart/2005/8/layout/hProcess9"/>
    <dgm:cxn modelId="{D41562F1-AEF4-4064-977F-8DDBDCA5A04E}" type="presOf" srcId="{10B59884-B462-4438-9F5B-BF10C8CC8521}" destId="{0DB3B8E6-550D-4B95-970B-ECDCE2B3029D}" srcOrd="0" destOrd="0" presId="urn:microsoft.com/office/officeart/2005/8/layout/hProcess9"/>
    <dgm:cxn modelId="{93D5BF0A-9845-456A-B6DF-521BEC1D978E}" srcId="{719E54BE-3538-48D0-82CB-A52F6FF25FF2}" destId="{D524B0A0-EEEE-4DD6-9D71-CC2532361F48}" srcOrd="1" destOrd="0" parTransId="{BA18022C-B5FF-4760-8E51-3D1A62495242}" sibTransId="{76F620BE-67AA-4D26-A176-69A93FAC78D7}"/>
    <dgm:cxn modelId="{84C79B31-56BE-446B-B2AB-2B8903ACBE61}" type="presOf" srcId="{D524B0A0-EEEE-4DD6-9D71-CC2532361F48}" destId="{318E918F-6304-49B3-A33F-C4735DEE2B76}" srcOrd="0" destOrd="0" presId="urn:microsoft.com/office/officeart/2005/8/layout/hProcess9"/>
    <dgm:cxn modelId="{DC79365B-ECF8-49AB-81B4-D7E2140D73B3}" type="presOf" srcId="{5042B7C7-D5A1-4C62-9623-14EFAFF16040}" destId="{8CD117D6-F6F3-4446-966D-DE48753D5066}" srcOrd="0" destOrd="0" presId="urn:microsoft.com/office/officeart/2005/8/layout/hProcess9"/>
    <dgm:cxn modelId="{D11CB950-53F0-4F33-9A11-80C2FA272436}" type="presOf" srcId="{BD5A51B3-D15F-4124-96CE-8E8841B5A763}" destId="{FFC6AE34-C2FC-4EAA-9A82-FB49E2341E2F}" srcOrd="0" destOrd="0" presId="urn:microsoft.com/office/officeart/2005/8/layout/hProcess9"/>
    <dgm:cxn modelId="{650B5CB4-81CB-4C56-91CF-5DC99BA965ED}" type="presParOf" srcId="{978F6413-3C11-4A35-A1EA-E41B142AB681}" destId="{A63E85B3-BCEA-45DB-9C6E-1A6D6870FA37}" srcOrd="0" destOrd="0" presId="urn:microsoft.com/office/officeart/2005/8/layout/hProcess9"/>
    <dgm:cxn modelId="{70ABB1C0-8D40-426F-B3DD-08FE693AE73A}" type="presParOf" srcId="{978F6413-3C11-4A35-A1EA-E41B142AB681}" destId="{94EC3DDC-D846-439D-91DE-C7003CE8C04F}" srcOrd="1" destOrd="0" presId="urn:microsoft.com/office/officeart/2005/8/layout/hProcess9"/>
    <dgm:cxn modelId="{3438234C-EF8B-441A-AC5C-1537393AEE67}" type="presParOf" srcId="{94EC3DDC-D846-439D-91DE-C7003CE8C04F}" destId="{FFC6AE34-C2FC-4EAA-9A82-FB49E2341E2F}" srcOrd="0" destOrd="0" presId="urn:microsoft.com/office/officeart/2005/8/layout/hProcess9"/>
    <dgm:cxn modelId="{351CD194-B36D-405B-9BDD-14DA019E1DB7}" type="presParOf" srcId="{94EC3DDC-D846-439D-91DE-C7003CE8C04F}" destId="{418FFA3A-B95A-455D-A53F-0CCA6CC23CF8}" srcOrd="1" destOrd="0" presId="urn:microsoft.com/office/officeart/2005/8/layout/hProcess9"/>
    <dgm:cxn modelId="{BDC3FA72-6ADE-49DC-85AA-E8FF2B4F6111}" type="presParOf" srcId="{94EC3DDC-D846-439D-91DE-C7003CE8C04F}" destId="{318E918F-6304-49B3-A33F-C4735DEE2B76}" srcOrd="2" destOrd="0" presId="urn:microsoft.com/office/officeart/2005/8/layout/hProcess9"/>
    <dgm:cxn modelId="{D026CF05-CB5E-48CC-96CA-2EBEC1BD5B42}" type="presParOf" srcId="{94EC3DDC-D846-439D-91DE-C7003CE8C04F}" destId="{D35C50E4-535F-465E-B0D6-7065EF37F22B}" srcOrd="3" destOrd="0" presId="urn:microsoft.com/office/officeart/2005/8/layout/hProcess9"/>
    <dgm:cxn modelId="{1080E18C-30DC-4341-A23C-8E219B130C54}" type="presParOf" srcId="{94EC3DDC-D846-439D-91DE-C7003CE8C04F}" destId="{8CD117D6-F6F3-4446-966D-DE48753D5066}" srcOrd="4" destOrd="0" presId="urn:microsoft.com/office/officeart/2005/8/layout/hProcess9"/>
    <dgm:cxn modelId="{2BDBDE19-788F-4357-A4E8-E634BAAB2292}" type="presParOf" srcId="{94EC3DDC-D846-439D-91DE-C7003CE8C04F}" destId="{79F525F0-03FB-4584-B539-DDBEAB9F419D}" srcOrd="5" destOrd="0" presId="urn:microsoft.com/office/officeart/2005/8/layout/hProcess9"/>
    <dgm:cxn modelId="{4C3B3292-A1E2-49F7-B5C0-18C6200C9B68}" type="presParOf" srcId="{94EC3DDC-D846-439D-91DE-C7003CE8C04F}" destId="{97216690-6BCB-48E9-86D0-1042C015A3EE}" srcOrd="6" destOrd="0" presId="urn:microsoft.com/office/officeart/2005/8/layout/hProcess9"/>
    <dgm:cxn modelId="{BBC532FE-A5F7-45EC-A24E-F4F983640AD3}" type="presParOf" srcId="{94EC3DDC-D846-439D-91DE-C7003CE8C04F}" destId="{3638675A-ADF8-4E35-AECF-215B564C0A4A}" srcOrd="7" destOrd="0" presId="urn:microsoft.com/office/officeart/2005/8/layout/hProcess9"/>
    <dgm:cxn modelId="{467321E8-C221-4162-B94E-693975C7E6C9}" type="presParOf" srcId="{94EC3DDC-D846-439D-91DE-C7003CE8C04F}" destId="{0DB3B8E6-550D-4B95-970B-ECDCE2B3029D}" srcOrd="8"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DB48C0-8B82-47BF-B5C9-248B58B8B2FB}" type="doc">
      <dgm:prSet loTypeId="urn:microsoft.com/office/officeart/2005/8/layout/vList6" loCatId="process" qsTypeId="urn:microsoft.com/office/officeart/2005/8/quickstyle/simple1" qsCatId="simple" csTypeId="urn:microsoft.com/office/officeart/2005/8/colors/colorful2" csCatId="colorful" phldr="1"/>
      <dgm:spPr/>
      <dgm:t>
        <a:bodyPr/>
        <a:lstStyle/>
        <a:p>
          <a:endParaRPr lang="zh-CN" altLang="en-US"/>
        </a:p>
      </dgm:t>
    </dgm:pt>
    <dgm:pt modelId="{9CAD118D-58BF-43F7-9CE8-B947CCA415AA}">
      <dgm:prSet custT="1"/>
      <dgm:spPr/>
      <dgm:t>
        <a:bodyPr/>
        <a:lstStyle/>
        <a:p>
          <a:pPr algn="l" rtl="0"/>
          <a:r>
            <a:rPr lang="en-US" sz="1800" b="0" dirty="0" smtClean="0">
              <a:solidFill>
                <a:schemeClr val="tx1"/>
              </a:solidFill>
            </a:rPr>
            <a:t>(1)</a:t>
          </a:r>
          <a:r>
            <a:rPr lang="zh-CN" sz="1800" b="0" dirty="0" smtClean="0">
              <a:solidFill>
                <a:schemeClr val="tx1"/>
              </a:solidFill>
            </a:rPr>
            <a:t>统计函</a:t>
          </a:r>
          <a:endParaRPr lang="zh-CN" sz="1800" b="0" dirty="0">
            <a:solidFill>
              <a:schemeClr val="tx1"/>
            </a:solidFill>
          </a:endParaRPr>
        </a:p>
      </dgm:t>
    </dgm:pt>
    <dgm:pt modelId="{EF2D10C1-BFCB-4A96-92D2-3D7155D053D0}" cxnId="{8D392273-12D3-4674-B0CB-C8D6AA4C4770}" type="parTrans">
      <dgm:prSet/>
      <dgm:spPr/>
      <dgm:t>
        <a:bodyPr/>
        <a:lstStyle/>
        <a:p>
          <a:pPr algn="l"/>
          <a:endParaRPr lang="zh-CN" altLang="en-US" b="0">
            <a:solidFill>
              <a:schemeClr val="tx1"/>
            </a:solidFill>
          </a:endParaRPr>
        </a:p>
      </dgm:t>
    </dgm:pt>
    <dgm:pt modelId="{492C8B2F-F49B-4E4B-A281-60CEC7BB9BAD}" cxnId="{8D392273-12D3-4674-B0CB-C8D6AA4C4770}" type="sibTrans">
      <dgm:prSet/>
      <dgm:spPr/>
      <dgm:t>
        <a:bodyPr/>
        <a:lstStyle/>
        <a:p>
          <a:pPr algn="l"/>
          <a:endParaRPr lang="zh-CN" altLang="en-US" b="0">
            <a:solidFill>
              <a:schemeClr val="tx1"/>
            </a:solidFill>
          </a:endParaRPr>
        </a:p>
      </dgm:t>
    </dgm:pt>
    <dgm:pt modelId="{D194E480-1A5A-4E9F-B610-4180EAA4740B}">
      <dgm:prSet custT="1"/>
      <dgm:spPr/>
      <dgm:t>
        <a:bodyPr/>
        <a:lstStyle/>
        <a:p>
          <a:pPr algn="l" rtl="0"/>
          <a:r>
            <a:rPr lang="en-US" sz="1800" b="0" dirty="0" smtClean="0">
              <a:solidFill>
                <a:schemeClr val="tx1"/>
              </a:solidFill>
            </a:rPr>
            <a:t>(2)</a:t>
          </a:r>
          <a:r>
            <a:rPr lang="zh-CN" sz="1800" b="0" dirty="0" smtClean="0">
              <a:solidFill>
                <a:schemeClr val="tx1"/>
              </a:solidFill>
            </a:rPr>
            <a:t>数学与三角函数</a:t>
          </a:r>
          <a:endParaRPr lang="zh-CN" sz="1800" b="0" dirty="0">
            <a:solidFill>
              <a:schemeClr val="tx1"/>
            </a:solidFill>
          </a:endParaRPr>
        </a:p>
      </dgm:t>
    </dgm:pt>
    <dgm:pt modelId="{633929FC-7AC7-4530-93B3-5EA6F621D6CA}" cxnId="{2A31F3F0-036E-44FF-9326-9DF0A12580A9}" type="parTrans">
      <dgm:prSet/>
      <dgm:spPr/>
      <dgm:t>
        <a:bodyPr/>
        <a:lstStyle/>
        <a:p>
          <a:pPr algn="l"/>
          <a:endParaRPr lang="zh-CN" altLang="en-US" b="0">
            <a:solidFill>
              <a:schemeClr val="tx1"/>
            </a:solidFill>
          </a:endParaRPr>
        </a:p>
      </dgm:t>
    </dgm:pt>
    <dgm:pt modelId="{1FF045D1-BFC5-41BA-8BFA-886ED9923109}" cxnId="{2A31F3F0-036E-44FF-9326-9DF0A12580A9}" type="sibTrans">
      <dgm:prSet/>
      <dgm:spPr/>
      <dgm:t>
        <a:bodyPr/>
        <a:lstStyle/>
        <a:p>
          <a:pPr algn="l"/>
          <a:endParaRPr lang="zh-CN" altLang="en-US" b="0">
            <a:solidFill>
              <a:schemeClr val="tx1"/>
            </a:solidFill>
          </a:endParaRPr>
        </a:p>
      </dgm:t>
    </dgm:pt>
    <dgm:pt modelId="{35FA9C69-F47E-4006-89D4-5177B9E187F9}">
      <dgm:prSet custT="1"/>
      <dgm:spPr/>
      <dgm:t>
        <a:bodyPr/>
        <a:lstStyle/>
        <a:p>
          <a:pPr algn="l" rtl="0"/>
          <a:r>
            <a:rPr lang="en-US" sz="1800" b="0" dirty="0" smtClean="0">
              <a:solidFill>
                <a:schemeClr val="tx1"/>
              </a:solidFill>
            </a:rPr>
            <a:t>(3)</a:t>
          </a:r>
          <a:r>
            <a:rPr lang="zh-CN" sz="1800" b="0" dirty="0" smtClean="0">
              <a:solidFill>
                <a:schemeClr val="tx1"/>
              </a:solidFill>
            </a:rPr>
            <a:t>逻辑函数</a:t>
          </a:r>
          <a:endParaRPr lang="zh-CN" sz="1800" b="0" dirty="0">
            <a:solidFill>
              <a:schemeClr val="tx1"/>
            </a:solidFill>
          </a:endParaRPr>
        </a:p>
      </dgm:t>
    </dgm:pt>
    <dgm:pt modelId="{CDA7B1B1-19C8-4EEE-B4BA-D17816BE9C26}" cxnId="{2C1F0F8F-02BC-48BE-83EC-F0FC294CB513}" type="parTrans">
      <dgm:prSet/>
      <dgm:spPr/>
      <dgm:t>
        <a:bodyPr/>
        <a:lstStyle/>
        <a:p>
          <a:pPr algn="l"/>
          <a:endParaRPr lang="zh-CN" altLang="en-US" b="0">
            <a:solidFill>
              <a:schemeClr val="tx1"/>
            </a:solidFill>
          </a:endParaRPr>
        </a:p>
      </dgm:t>
    </dgm:pt>
    <dgm:pt modelId="{60790571-8025-4F0C-B6D2-DB86106BA2E9}" cxnId="{2C1F0F8F-02BC-48BE-83EC-F0FC294CB513}" type="sibTrans">
      <dgm:prSet/>
      <dgm:spPr/>
      <dgm:t>
        <a:bodyPr/>
        <a:lstStyle/>
        <a:p>
          <a:pPr algn="l"/>
          <a:endParaRPr lang="zh-CN" altLang="en-US" b="0">
            <a:solidFill>
              <a:schemeClr val="tx1"/>
            </a:solidFill>
          </a:endParaRPr>
        </a:p>
      </dgm:t>
    </dgm:pt>
    <dgm:pt modelId="{E2CA32B8-66E7-4EB2-9774-D088AA7DDD2A}">
      <dgm:prSet custT="1"/>
      <dgm:spPr/>
      <dgm:t>
        <a:bodyPr/>
        <a:lstStyle/>
        <a:p>
          <a:pPr algn="l" rtl="0"/>
          <a:r>
            <a:rPr lang="en-US" sz="1800" b="0" dirty="0" smtClean="0">
              <a:solidFill>
                <a:schemeClr val="tx1"/>
              </a:solidFill>
            </a:rPr>
            <a:t>(4)</a:t>
          </a:r>
          <a:r>
            <a:rPr lang="zh-CN" sz="1800" b="0" dirty="0" smtClean="0">
              <a:solidFill>
                <a:schemeClr val="tx1"/>
              </a:solidFill>
            </a:rPr>
            <a:t>文本函数</a:t>
          </a:r>
          <a:endParaRPr lang="zh-CN" sz="1800" b="0" dirty="0">
            <a:solidFill>
              <a:schemeClr val="tx1"/>
            </a:solidFill>
          </a:endParaRPr>
        </a:p>
      </dgm:t>
    </dgm:pt>
    <dgm:pt modelId="{BEA06496-0596-4A98-81BE-76ED14A47476}" cxnId="{6191537D-B763-4D24-8DE9-A7509CBCEEAD}" type="parTrans">
      <dgm:prSet/>
      <dgm:spPr/>
      <dgm:t>
        <a:bodyPr/>
        <a:lstStyle/>
        <a:p>
          <a:pPr algn="l"/>
          <a:endParaRPr lang="zh-CN" altLang="en-US" b="0">
            <a:solidFill>
              <a:schemeClr val="tx1"/>
            </a:solidFill>
          </a:endParaRPr>
        </a:p>
      </dgm:t>
    </dgm:pt>
    <dgm:pt modelId="{D8D23D89-D649-48C4-A0A6-58990E82DB69}" cxnId="{6191537D-B763-4D24-8DE9-A7509CBCEEAD}" type="sibTrans">
      <dgm:prSet/>
      <dgm:spPr/>
      <dgm:t>
        <a:bodyPr/>
        <a:lstStyle/>
        <a:p>
          <a:pPr algn="l"/>
          <a:endParaRPr lang="zh-CN" altLang="en-US" b="0">
            <a:solidFill>
              <a:schemeClr val="tx1"/>
            </a:solidFill>
          </a:endParaRPr>
        </a:p>
      </dgm:t>
    </dgm:pt>
    <dgm:pt modelId="{B96B5938-5B1B-4518-88D8-7664C526E601}">
      <dgm:prSet custT="1"/>
      <dgm:spPr/>
      <dgm:t>
        <a:bodyPr/>
        <a:lstStyle/>
        <a:p>
          <a:pPr algn="l" rtl="0"/>
          <a:r>
            <a:rPr lang="en-US" sz="1800" b="0" dirty="0" smtClean="0">
              <a:solidFill>
                <a:schemeClr val="tx1"/>
              </a:solidFill>
            </a:rPr>
            <a:t>(5)</a:t>
          </a:r>
          <a:r>
            <a:rPr lang="zh-CN" sz="1800" b="0" dirty="0" smtClean="0">
              <a:solidFill>
                <a:schemeClr val="tx1"/>
              </a:solidFill>
            </a:rPr>
            <a:t>查找与引用函数</a:t>
          </a:r>
          <a:endParaRPr lang="zh-CN" sz="1800" b="0" dirty="0">
            <a:solidFill>
              <a:schemeClr val="tx1"/>
            </a:solidFill>
          </a:endParaRPr>
        </a:p>
      </dgm:t>
    </dgm:pt>
    <dgm:pt modelId="{82EB5067-B070-4CEE-853C-D66B0284C702}" cxnId="{7A680802-53CD-4160-918C-FE7841870451}" type="parTrans">
      <dgm:prSet/>
      <dgm:spPr/>
      <dgm:t>
        <a:bodyPr/>
        <a:lstStyle/>
        <a:p>
          <a:pPr algn="l"/>
          <a:endParaRPr lang="zh-CN" altLang="en-US" b="0">
            <a:solidFill>
              <a:schemeClr val="tx1"/>
            </a:solidFill>
          </a:endParaRPr>
        </a:p>
      </dgm:t>
    </dgm:pt>
    <dgm:pt modelId="{1171EC18-64D1-4670-9FFE-E41708C8C1BF}" cxnId="{7A680802-53CD-4160-918C-FE7841870451}" type="sibTrans">
      <dgm:prSet/>
      <dgm:spPr/>
      <dgm:t>
        <a:bodyPr/>
        <a:lstStyle/>
        <a:p>
          <a:pPr algn="l"/>
          <a:endParaRPr lang="zh-CN" altLang="en-US" b="0">
            <a:solidFill>
              <a:schemeClr val="tx1"/>
            </a:solidFill>
          </a:endParaRPr>
        </a:p>
      </dgm:t>
    </dgm:pt>
    <dgm:pt modelId="{812C9A57-93C2-4F59-983A-28D0EA91087B}">
      <dgm:prSet custT="1"/>
      <dgm:spPr/>
      <dgm:t>
        <a:bodyPr/>
        <a:lstStyle/>
        <a:p>
          <a:pPr algn="l" rtl="0"/>
          <a:r>
            <a:rPr lang="en-US" sz="1800" b="0" dirty="0" smtClean="0">
              <a:solidFill>
                <a:schemeClr val="tx1"/>
              </a:solidFill>
            </a:rPr>
            <a:t>(6)</a:t>
          </a:r>
          <a:r>
            <a:rPr lang="zh-CN" sz="1800" b="0" dirty="0" smtClean="0">
              <a:solidFill>
                <a:schemeClr val="tx1"/>
              </a:solidFill>
            </a:rPr>
            <a:t>日期与时间函数</a:t>
          </a:r>
          <a:endParaRPr lang="zh-CN" sz="1800" b="0" dirty="0">
            <a:solidFill>
              <a:schemeClr val="tx1"/>
            </a:solidFill>
          </a:endParaRPr>
        </a:p>
      </dgm:t>
    </dgm:pt>
    <dgm:pt modelId="{0B873B82-3298-4057-9892-6E9CCF3E04C1}" cxnId="{4788172D-C003-4444-B0A9-F4420A70A21B}" type="parTrans">
      <dgm:prSet/>
      <dgm:spPr/>
      <dgm:t>
        <a:bodyPr/>
        <a:lstStyle/>
        <a:p>
          <a:pPr algn="l"/>
          <a:endParaRPr lang="zh-CN" altLang="en-US" b="0">
            <a:solidFill>
              <a:schemeClr val="tx1"/>
            </a:solidFill>
          </a:endParaRPr>
        </a:p>
      </dgm:t>
    </dgm:pt>
    <dgm:pt modelId="{ACEE587D-EA96-4287-9A62-802B0F636865}" cxnId="{4788172D-C003-4444-B0A9-F4420A70A21B}" type="sibTrans">
      <dgm:prSet/>
      <dgm:spPr/>
      <dgm:t>
        <a:bodyPr/>
        <a:lstStyle/>
        <a:p>
          <a:pPr algn="l"/>
          <a:endParaRPr lang="zh-CN" altLang="en-US" b="0">
            <a:solidFill>
              <a:schemeClr val="tx1"/>
            </a:solidFill>
          </a:endParaRPr>
        </a:p>
      </dgm:t>
    </dgm:pt>
    <dgm:pt modelId="{EEF892AE-7DC1-4742-8357-DF90C376512C}">
      <dgm:prSet custT="1"/>
      <dgm:spPr/>
      <dgm:t>
        <a:bodyPr/>
        <a:lstStyle/>
        <a:p>
          <a:pPr algn="l"/>
          <a:r>
            <a:rPr lang="en-US" sz="1600" b="0" dirty="0" smtClean="0">
              <a:solidFill>
                <a:schemeClr val="tx1"/>
              </a:solidFill>
            </a:rPr>
            <a:t>AVERAGE,COUNT,COUNTA,COUNTIF,COUNTIFS,COUNTBLANK, MAX, MIN</a:t>
          </a:r>
          <a:endParaRPr lang="zh-CN" altLang="en-US" sz="1600" b="0" dirty="0">
            <a:solidFill>
              <a:schemeClr val="tx1"/>
            </a:solidFill>
          </a:endParaRPr>
        </a:p>
      </dgm:t>
    </dgm:pt>
    <dgm:pt modelId="{1FE12338-D2B8-4776-98B2-B4C39AD908A8}" cxnId="{0A0BCC4A-DE84-4034-B5D1-7FBF8123BAFC}" type="parTrans">
      <dgm:prSet/>
      <dgm:spPr/>
      <dgm:t>
        <a:bodyPr/>
        <a:lstStyle/>
        <a:p>
          <a:pPr algn="l"/>
          <a:endParaRPr lang="zh-CN" altLang="en-US" b="0">
            <a:solidFill>
              <a:schemeClr val="tx1"/>
            </a:solidFill>
          </a:endParaRPr>
        </a:p>
      </dgm:t>
    </dgm:pt>
    <dgm:pt modelId="{7D7E76F5-0967-4598-B5F0-CC47AC30EE08}" cxnId="{0A0BCC4A-DE84-4034-B5D1-7FBF8123BAFC}" type="sibTrans">
      <dgm:prSet/>
      <dgm:spPr/>
      <dgm:t>
        <a:bodyPr/>
        <a:lstStyle/>
        <a:p>
          <a:pPr algn="l"/>
          <a:endParaRPr lang="zh-CN" altLang="en-US" b="0">
            <a:solidFill>
              <a:schemeClr val="tx1"/>
            </a:solidFill>
          </a:endParaRPr>
        </a:p>
      </dgm:t>
    </dgm:pt>
    <dgm:pt modelId="{4B926AAF-B018-4FEA-8810-12B4C59074D4}">
      <dgm:prSet custT="1"/>
      <dgm:spPr/>
      <dgm:t>
        <a:bodyPr/>
        <a:lstStyle/>
        <a:p>
          <a:pPr algn="l"/>
          <a:r>
            <a:rPr lang="en-US" sz="1600" b="0" dirty="0" smtClean="0">
              <a:solidFill>
                <a:schemeClr val="tx1"/>
              </a:solidFill>
            </a:rPr>
            <a:t>:SUM,SUMIF, RAND,ROUND,TRUNC</a:t>
          </a:r>
          <a:endParaRPr lang="zh-CN" altLang="en-US" sz="1600" b="0" dirty="0">
            <a:solidFill>
              <a:schemeClr val="tx1"/>
            </a:solidFill>
          </a:endParaRPr>
        </a:p>
      </dgm:t>
    </dgm:pt>
    <dgm:pt modelId="{5858F532-7ED5-4A47-9D28-886B3C2B2C6F}" cxnId="{291295B9-13E4-485B-9F4E-6C75E52BEA5D}" type="parTrans">
      <dgm:prSet/>
      <dgm:spPr/>
      <dgm:t>
        <a:bodyPr/>
        <a:lstStyle/>
        <a:p>
          <a:pPr algn="l"/>
          <a:endParaRPr lang="zh-CN" altLang="en-US" b="0">
            <a:solidFill>
              <a:schemeClr val="tx1"/>
            </a:solidFill>
          </a:endParaRPr>
        </a:p>
      </dgm:t>
    </dgm:pt>
    <dgm:pt modelId="{B2D6EC93-46FD-4ED5-AC29-18A41A926CF9}" cxnId="{291295B9-13E4-485B-9F4E-6C75E52BEA5D}" type="sibTrans">
      <dgm:prSet/>
      <dgm:spPr/>
      <dgm:t>
        <a:bodyPr/>
        <a:lstStyle/>
        <a:p>
          <a:pPr algn="l"/>
          <a:endParaRPr lang="zh-CN" altLang="en-US" b="0">
            <a:solidFill>
              <a:schemeClr val="tx1"/>
            </a:solidFill>
          </a:endParaRPr>
        </a:p>
      </dgm:t>
    </dgm:pt>
    <dgm:pt modelId="{FC63DA42-B038-4083-B4F5-AF1EF793B947}">
      <dgm:prSet custT="1"/>
      <dgm:spPr/>
      <dgm:t>
        <a:bodyPr/>
        <a:lstStyle/>
        <a:p>
          <a:pPr algn="l" rtl="0"/>
          <a:r>
            <a:rPr lang="en-US" sz="1600" b="0" dirty="0" smtClean="0">
              <a:solidFill>
                <a:schemeClr val="tx1"/>
              </a:solidFill>
            </a:rPr>
            <a:t>:IF,AND,OR</a:t>
          </a:r>
          <a:endParaRPr lang="zh-CN" altLang="en-US" sz="1600" b="0" dirty="0">
            <a:solidFill>
              <a:schemeClr val="tx1"/>
            </a:solidFill>
          </a:endParaRPr>
        </a:p>
      </dgm:t>
    </dgm:pt>
    <dgm:pt modelId="{491B137D-0A22-4BAE-8304-4F133D46668B}" cxnId="{C499E92A-7ADC-48A0-8786-1AFE1314A80A}" type="parTrans">
      <dgm:prSet/>
      <dgm:spPr/>
      <dgm:t>
        <a:bodyPr/>
        <a:lstStyle/>
        <a:p>
          <a:pPr algn="l"/>
          <a:endParaRPr lang="zh-CN" altLang="en-US" b="0">
            <a:solidFill>
              <a:schemeClr val="tx1"/>
            </a:solidFill>
          </a:endParaRPr>
        </a:p>
      </dgm:t>
    </dgm:pt>
    <dgm:pt modelId="{0800720E-55A6-4E85-B843-F27474E8D770}" cxnId="{C499E92A-7ADC-48A0-8786-1AFE1314A80A}" type="sibTrans">
      <dgm:prSet/>
      <dgm:spPr/>
      <dgm:t>
        <a:bodyPr/>
        <a:lstStyle/>
        <a:p>
          <a:pPr algn="l"/>
          <a:endParaRPr lang="zh-CN" altLang="en-US" b="0">
            <a:solidFill>
              <a:schemeClr val="tx1"/>
            </a:solidFill>
          </a:endParaRPr>
        </a:p>
      </dgm:t>
    </dgm:pt>
    <dgm:pt modelId="{10574910-8480-40FD-A73A-F8AF3C10EAF7}">
      <dgm:prSet custT="1"/>
      <dgm:spPr/>
      <dgm:t>
        <a:bodyPr/>
        <a:lstStyle/>
        <a:p>
          <a:pPr algn="l"/>
          <a:r>
            <a:rPr lang="en-US" sz="1600" b="0" dirty="0" smtClean="0">
              <a:solidFill>
                <a:schemeClr val="tx1"/>
              </a:solidFill>
            </a:rPr>
            <a:t>:LEN,LEFT,RIGHT,MID</a:t>
          </a:r>
          <a:endParaRPr lang="zh-CN" altLang="en-US" sz="1600" b="0" dirty="0">
            <a:solidFill>
              <a:schemeClr val="tx1"/>
            </a:solidFill>
          </a:endParaRPr>
        </a:p>
      </dgm:t>
    </dgm:pt>
    <dgm:pt modelId="{407EF9BD-041D-4B45-9FDF-9AF2324C2064}" cxnId="{CD2F367F-A101-461B-BBAE-8CB75AC6E719}" type="parTrans">
      <dgm:prSet/>
      <dgm:spPr/>
      <dgm:t>
        <a:bodyPr/>
        <a:lstStyle/>
        <a:p>
          <a:pPr algn="l"/>
          <a:endParaRPr lang="zh-CN" altLang="en-US" b="0">
            <a:solidFill>
              <a:schemeClr val="tx1"/>
            </a:solidFill>
          </a:endParaRPr>
        </a:p>
      </dgm:t>
    </dgm:pt>
    <dgm:pt modelId="{762B9600-29D4-442E-A20A-6BE854CF8298}" cxnId="{CD2F367F-A101-461B-BBAE-8CB75AC6E719}" type="sibTrans">
      <dgm:prSet/>
      <dgm:spPr/>
      <dgm:t>
        <a:bodyPr/>
        <a:lstStyle/>
        <a:p>
          <a:pPr algn="l"/>
          <a:endParaRPr lang="zh-CN" altLang="en-US" b="0">
            <a:solidFill>
              <a:schemeClr val="tx1"/>
            </a:solidFill>
          </a:endParaRPr>
        </a:p>
      </dgm:t>
    </dgm:pt>
    <dgm:pt modelId="{8F572C2A-71E5-4CD7-B073-01DF967E83E2}">
      <dgm:prSet custT="1"/>
      <dgm:spPr/>
      <dgm:t>
        <a:bodyPr/>
        <a:lstStyle/>
        <a:p>
          <a:pPr algn="l"/>
          <a:r>
            <a:rPr lang="en-US" sz="1600" b="0" dirty="0" smtClean="0">
              <a:solidFill>
                <a:schemeClr val="tx1"/>
              </a:solidFill>
            </a:rPr>
            <a:t>:LOOKUP,VLOOKUP</a:t>
          </a:r>
          <a:endParaRPr lang="zh-CN" altLang="en-US" sz="1600" b="0" dirty="0">
            <a:solidFill>
              <a:schemeClr val="tx1"/>
            </a:solidFill>
          </a:endParaRPr>
        </a:p>
      </dgm:t>
    </dgm:pt>
    <dgm:pt modelId="{1FAF6C68-2027-410B-87EB-5F3D962E557C}" cxnId="{25A15FD6-9546-4A6D-9209-1D6B20D58977}" type="parTrans">
      <dgm:prSet/>
      <dgm:spPr/>
      <dgm:t>
        <a:bodyPr/>
        <a:lstStyle/>
        <a:p>
          <a:pPr algn="l"/>
          <a:endParaRPr lang="zh-CN" altLang="en-US" b="0">
            <a:solidFill>
              <a:schemeClr val="tx1"/>
            </a:solidFill>
          </a:endParaRPr>
        </a:p>
      </dgm:t>
    </dgm:pt>
    <dgm:pt modelId="{577A8CAE-1610-471B-8853-00E26397D18B}" cxnId="{25A15FD6-9546-4A6D-9209-1D6B20D58977}" type="sibTrans">
      <dgm:prSet/>
      <dgm:spPr/>
      <dgm:t>
        <a:bodyPr/>
        <a:lstStyle/>
        <a:p>
          <a:pPr algn="l"/>
          <a:endParaRPr lang="zh-CN" altLang="en-US" b="0">
            <a:solidFill>
              <a:schemeClr val="tx1"/>
            </a:solidFill>
          </a:endParaRPr>
        </a:p>
      </dgm:t>
    </dgm:pt>
    <dgm:pt modelId="{8E7060FB-0298-4DF8-8235-8ADE508FCA62}">
      <dgm:prSet custT="1"/>
      <dgm:spPr/>
      <dgm:t>
        <a:bodyPr/>
        <a:lstStyle/>
        <a:p>
          <a:pPr algn="l" rtl="0"/>
          <a:r>
            <a:rPr lang="en-US" sz="1600" b="0" dirty="0" smtClean="0">
              <a:solidFill>
                <a:schemeClr val="tx1"/>
              </a:solidFill>
            </a:rPr>
            <a:t>:TODAY,YEAR,MONTH,DAY,NOW</a:t>
          </a:r>
          <a:endParaRPr lang="zh-CN" altLang="en-US" sz="1600" b="0" dirty="0">
            <a:solidFill>
              <a:schemeClr val="tx1"/>
            </a:solidFill>
          </a:endParaRPr>
        </a:p>
      </dgm:t>
    </dgm:pt>
    <dgm:pt modelId="{FCA54863-E0E7-463B-90A3-69E79845AA77}" cxnId="{A038E1D0-7C6A-48A6-B31A-4C50961A5EAE}" type="parTrans">
      <dgm:prSet/>
      <dgm:spPr/>
      <dgm:t>
        <a:bodyPr/>
        <a:lstStyle/>
        <a:p>
          <a:pPr algn="l"/>
          <a:endParaRPr lang="zh-CN" altLang="en-US" b="0">
            <a:solidFill>
              <a:schemeClr val="tx1"/>
            </a:solidFill>
          </a:endParaRPr>
        </a:p>
      </dgm:t>
    </dgm:pt>
    <dgm:pt modelId="{FB0717D1-14B2-47FE-A0D8-29F23E3F2A3B}" cxnId="{A038E1D0-7C6A-48A6-B31A-4C50961A5EAE}" type="sibTrans">
      <dgm:prSet/>
      <dgm:spPr/>
      <dgm:t>
        <a:bodyPr/>
        <a:lstStyle/>
        <a:p>
          <a:pPr algn="l"/>
          <a:endParaRPr lang="zh-CN" altLang="en-US" b="0">
            <a:solidFill>
              <a:schemeClr val="tx1"/>
            </a:solidFill>
          </a:endParaRPr>
        </a:p>
      </dgm:t>
    </dgm:pt>
    <dgm:pt modelId="{2BC88C60-1810-4881-9A6B-9F9586D9AA9E}" type="pres">
      <dgm:prSet presAssocID="{9ADB48C0-8B82-47BF-B5C9-248B58B8B2FB}" presName="Name0" presStyleCnt="0">
        <dgm:presLayoutVars>
          <dgm:dir/>
          <dgm:animLvl val="lvl"/>
          <dgm:resizeHandles/>
        </dgm:presLayoutVars>
      </dgm:prSet>
      <dgm:spPr/>
      <dgm:t>
        <a:bodyPr/>
        <a:lstStyle/>
        <a:p>
          <a:endParaRPr lang="zh-CN" altLang="en-US"/>
        </a:p>
      </dgm:t>
    </dgm:pt>
    <dgm:pt modelId="{B78EE2DE-CFB1-493E-9AE4-698939135FA7}" type="pres">
      <dgm:prSet presAssocID="{9CAD118D-58BF-43F7-9CE8-B947CCA415AA}" presName="linNode" presStyleCnt="0"/>
      <dgm:spPr/>
    </dgm:pt>
    <dgm:pt modelId="{E9D4A7C4-29E9-47CD-890D-429642C30FE7}" type="pres">
      <dgm:prSet presAssocID="{9CAD118D-58BF-43F7-9CE8-B947CCA415AA}" presName="parentShp" presStyleLbl="node1" presStyleIdx="0" presStyleCnt="6">
        <dgm:presLayoutVars>
          <dgm:bulletEnabled val="1"/>
        </dgm:presLayoutVars>
      </dgm:prSet>
      <dgm:spPr/>
      <dgm:t>
        <a:bodyPr/>
        <a:lstStyle/>
        <a:p>
          <a:endParaRPr lang="zh-CN" altLang="en-US"/>
        </a:p>
      </dgm:t>
    </dgm:pt>
    <dgm:pt modelId="{369682CE-419B-430B-8499-4BB54462A8CB}" type="pres">
      <dgm:prSet presAssocID="{9CAD118D-58BF-43F7-9CE8-B947CCA415AA}" presName="childShp" presStyleLbl="bgAccFollowNode1" presStyleIdx="0" presStyleCnt="6">
        <dgm:presLayoutVars>
          <dgm:bulletEnabled val="1"/>
        </dgm:presLayoutVars>
      </dgm:prSet>
      <dgm:spPr/>
      <dgm:t>
        <a:bodyPr/>
        <a:lstStyle/>
        <a:p>
          <a:endParaRPr lang="zh-CN" altLang="en-US"/>
        </a:p>
      </dgm:t>
    </dgm:pt>
    <dgm:pt modelId="{7C6EBF03-89D7-4350-A518-66D9F7E58BBD}" type="pres">
      <dgm:prSet presAssocID="{492C8B2F-F49B-4E4B-A281-60CEC7BB9BAD}" presName="spacing" presStyleCnt="0"/>
      <dgm:spPr/>
    </dgm:pt>
    <dgm:pt modelId="{D988D20D-6035-4812-B6A9-CD8906103B1F}" type="pres">
      <dgm:prSet presAssocID="{D194E480-1A5A-4E9F-B610-4180EAA4740B}" presName="linNode" presStyleCnt="0"/>
      <dgm:spPr/>
    </dgm:pt>
    <dgm:pt modelId="{66A9B2A5-225D-4CFA-9793-0181D76563C8}" type="pres">
      <dgm:prSet presAssocID="{D194E480-1A5A-4E9F-B610-4180EAA4740B}" presName="parentShp" presStyleLbl="node1" presStyleIdx="1" presStyleCnt="6">
        <dgm:presLayoutVars>
          <dgm:bulletEnabled val="1"/>
        </dgm:presLayoutVars>
      </dgm:prSet>
      <dgm:spPr/>
      <dgm:t>
        <a:bodyPr/>
        <a:lstStyle/>
        <a:p>
          <a:endParaRPr lang="zh-CN" altLang="en-US"/>
        </a:p>
      </dgm:t>
    </dgm:pt>
    <dgm:pt modelId="{8EECE64E-229A-4352-AD3B-86A8C465CBA9}" type="pres">
      <dgm:prSet presAssocID="{D194E480-1A5A-4E9F-B610-4180EAA4740B}" presName="childShp" presStyleLbl="bgAccFollowNode1" presStyleIdx="1" presStyleCnt="6">
        <dgm:presLayoutVars>
          <dgm:bulletEnabled val="1"/>
        </dgm:presLayoutVars>
      </dgm:prSet>
      <dgm:spPr/>
      <dgm:t>
        <a:bodyPr/>
        <a:lstStyle/>
        <a:p>
          <a:endParaRPr lang="zh-CN" altLang="en-US"/>
        </a:p>
      </dgm:t>
    </dgm:pt>
    <dgm:pt modelId="{010327C8-C1D9-4F62-9A8B-582706E10503}" type="pres">
      <dgm:prSet presAssocID="{1FF045D1-BFC5-41BA-8BFA-886ED9923109}" presName="spacing" presStyleCnt="0"/>
      <dgm:spPr/>
    </dgm:pt>
    <dgm:pt modelId="{87EA146A-BA97-4E7B-8228-1583C63ECFBC}" type="pres">
      <dgm:prSet presAssocID="{35FA9C69-F47E-4006-89D4-5177B9E187F9}" presName="linNode" presStyleCnt="0"/>
      <dgm:spPr/>
    </dgm:pt>
    <dgm:pt modelId="{0637493F-605D-4C77-BA7D-4CF740A2DEAD}" type="pres">
      <dgm:prSet presAssocID="{35FA9C69-F47E-4006-89D4-5177B9E187F9}" presName="parentShp" presStyleLbl="node1" presStyleIdx="2" presStyleCnt="6">
        <dgm:presLayoutVars>
          <dgm:bulletEnabled val="1"/>
        </dgm:presLayoutVars>
      </dgm:prSet>
      <dgm:spPr/>
      <dgm:t>
        <a:bodyPr/>
        <a:lstStyle/>
        <a:p>
          <a:endParaRPr lang="zh-CN" altLang="en-US"/>
        </a:p>
      </dgm:t>
    </dgm:pt>
    <dgm:pt modelId="{12256BE8-A4C4-4584-BCF1-7C865C6C60D6}" type="pres">
      <dgm:prSet presAssocID="{35FA9C69-F47E-4006-89D4-5177B9E187F9}" presName="childShp" presStyleLbl="bgAccFollowNode1" presStyleIdx="2" presStyleCnt="6">
        <dgm:presLayoutVars>
          <dgm:bulletEnabled val="1"/>
        </dgm:presLayoutVars>
      </dgm:prSet>
      <dgm:spPr/>
      <dgm:t>
        <a:bodyPr/>
        <a:lstStyle/>
        <a:p>
          <a:endParaRPr lang="zh-CN" altLang="en-US"/>
        </a:p>
      </dgm:t>
    </dgm:pt>
    <dgm:pt modelId="{D77848A1-D651-41AF-87C6-651180E5AD76}" type="pres">
      <dgm:prSet presAssocID="{60790571-8025-4F0C-B6D2-DB86106BA2E9}" presName="spacing" presStyleCnt="0"/>
      <dgm:spPr/>
    </dgm:pt>
    <dgm:pt modelId="{2192C2CC-E4B7-45E4-943A-6A646C6B81C2}" type="pres">
      <dgm:prSet presAssocID="{E2CA32B8-66E7-4EB2-9774-D088AA7DDD2A}" presName="linNode" presStyleCnt="0"/>
      <dgm:spPr/>
    </dgm:pt>
    <dgm:pt modelId="{B4178FD3-DE3E-40D4-AFA3-AC9F7AC49A1F}" type="pres">
      <dgm:prSet presAssocID="{E2CA32B8-66E7-4EB2-9774-D088AA7DDD2A}" presName="parentShp" presStyleLbl="node1" presStyleIdx="3" presStyleCnt="6">
        <dgm:presLayoutVars>
          <dgm:bulletEnabled val="1"/>
        </dgm:presLayoutVars>
      </dgm:prSet>
      <dgm:spPr/>
      <dgm:t>
        <a:bodyPr/>
        <a:lstStyle/>
        <a:p>
          <a:endParaRPr lang="zh-CN" altLang="en-US"/>
        </a:p>
      </dgm:t>
    </dgm:pt>
    <dgm:pt modelId="{8307D79A-07CB-45F7-8E83-92D255B8E2F9}" type="pres">
      <dgm:prSet presAssocID="{E2CA32B8-66E7-4EB2-9774-D088AA7DDD2A}" presName="childShp" presStyleLbl="bgAccFollowNode1" presStyleIdx="3" presStyleCnt="6">
        <dgm:presLayoutVars>
          <dgm:bulletEnabled val="1"/>
        </dgm:presLayoutVars>
      </dgm:prSet>
      <dgm:spPr/>
      <dgm:t>
        <a:bodyPr/>
        <a:lstStyle/>
        <a:p>
          <a:endParaRPr lang="zh-CN" altLang="en-US"/>
        </a:p>
      </dgm:t>
    </dgm:pt>
    <dgm:pt modelId="{2F4818E5-F54A-4094-B56C-0C76A4DA09AD}" type="pres">
      <dgm:prSet presAssocID="{D8D23D89-D649-48C4-A0A6-58990E82DB69}" presName="spacing" presStyleCnt="0"/>
      <dgm:spPr/>
    </dgm:pt>
    <dgm:pt modelId="{2D901A59-8D71-4B12-BAE5-FAB73737BD6F}" type="pres">
      <dgm:prSet presAssocID="{B96B5938-5B1B-4518-88D8-7664C526E601}" presName="linNode" presStyleCnt="0"/>
      <dgm:spPr/>
    </dgm:pt>
    <dgm:pt modelId="{1C6DDB6B-BE32-4C52-AF86-E08A003F609A}" type="pres">
      <dgm:prSet presAssocID="{B96B5938-5B1B-4518-88D8-7664C526E601}" presName="parentShp" presStyleLbl="node1" presStyleIdx="4" presStyleCnt="6">
        <dgm:presLayoutVars>
          <dgm:bulletEnabled val="1"/>
        </dgm:presLayoutVars>
      </dgm:prSet>
      <dgm:spPr/>
      <dgm:t>
        <a:bodyPr/>
        <a:lstStyle/>
        <a:p>
          <a:endParaRPr lang="zh-CN" altLang="en-US"/>
        </a:p>
      </dgm:t>
    </dgm:pt>
    <dgm:pt modelId="{F529C340-DE1A-4691-A315-D842087D0A3B}" type="pres">
      <dgm:prSet presAssocID="{B96B5938-5B1B-4518-88D8-7664C526E601}" presName="childShp" presStyleLbl="bgAccFollowNode1" presStyleIdx="4" presStyleCnt="6">
        <dgm:presLayoutVars>
          <dgm:bulletEnabled val="1"/>
        </dgm:presLayoutVars>
      </dgm:prSet>
      <dgm:spPr/>
      <dgm:t>
        <a:bodyPr/>
        <a:lstStyle/>
        <a:p>
          <a:endParaRPr lang="zh-CN" altLang="en-US"/>
        </a:p>
      </dgm:t>
    </dgm:pt>
    <dgm:pt modelId="{24757DEA-BCD1-47A0-89A8-25825B580CF4}" type="pres">
      <dgm:prSet presAssocID="{1171EC18-64D1-4670-9FFE-E41708C8C1BF}" presName="spacing" presStyleCnt="0"/>
      <dgm:spPr/>
    </dgm:pt>
    <dgm:pt modelId="{34FB1019-C891-4F9E-962C-D4E8D633E91D}" type="pres">
      <dgm:prSet presAssocID="{812C9A57-93C2-4F59-983A-28D0EA91087B}" presName="linNode" presStyleCnt="0"/>
      <dgm:spPr/>
    </dgm:pt>
    <dgm:pt modelId="{D26681BE-B00A-4862-8232-4CD1C40AD3E6}" type="pres">
      <dgm:prSet presAssocID="{812C9A57-93C2-4F59-983A-28D0EA91087B}" presName="parentShp" presStyleLbl="node1" presStyleIdx="5" presStyleCnt="6">
        <dgm:presLayoutVars>
          <dgm:bulletEnabled val="1"/>
        </dgm:presLayoutVars>
      </dgm:prSet>
      <dgm:spPr/>
      <dgm:t>
        <a:bodyPr/>
        <a:lstStyle/>
        <a:p>
          <a:endParaRPr lang="zh-CN" altLang="en-US"/>
        </a:p>
      </dgm:t>
    </dgm:pt>
    <dgm:pt modelId="{AED301F8-5378-4408-9253-CAFB337F0B07}" type="pres">
      <dgm:prSet presAssocID="{812C9A57-93C2-4F59-983A-28D0EA91087B}" presName="childShp" presStyleLbl="bgAccFollowNode1" presStyleIdx="5" presStyleCnt="6">
        <dgm:presLayoutVars>
          <dgm:bulletEnabled val="1"/>
        </dgm:presLayoutVars>
      </dgm:prSet>
      <dgm:spPr/>
      <dgm:t>
        <a:bodyPr/>
        <a:lstStyle/>
        <a:p>
          <a:endParaRPr lang="zh-CN" altLang="en-US"/>
        </a:p>
      </dgm:t>
    </dgm:pt>
  </dgm:ptLst>
  <dgm:cxnLst>
    <dgm:cxn modelId="{747CEBBE-7851-494E-B6F0-7957F909770E}" type="presOf" srcId="{9ADB48C0-8B82-47BF-B5C9-248B58B8B2FB}" destId="{2BC88C60-1810-4881-9A6B-9F9586D9AA9E}" srcOrd="0" destOrd="0" presId="urn:microsoft.com/office/officeart/2005/8/layout/vList6"/>
    <dgm:cxn modelId="{64C1F773-1A4B-4307-B457-A86DECA14233}" type="presOf" srcId="{812C9A57-93C2-4F59-983A-28D0EA91087B}" destId="{D26681BE-B00A-4862-8232-4CD1C40AD3E6}" srcOrd="0" destOrd="0" presId="urn:microsoft.com/office/officeart/2005/8/layout/vList6"/>
    <dgm:cxn modelId="{291295B9-13E4-485B-9F4E-6C75E52BEA5D}" srcId="{D194E480-1A5A-4E9F-B610-4180EAA4740B}" destId="{4B926AAF-B018-4FEA-8810-12B4C59074D4}" srcOrd="0" destOrd="0" parTransId="{5858F532-7ED5-4A47-9D28-886B3C2B2C6F}" sibTransId="{B2D6EC93-46FD-4ED5-AC29-18A41A926CF9}"/>
    <dgm:cxn modelId="{0A0BCC4A-DE84-4034-B5D1-7FBF8123BAFC}" srcId="{9CAD118D-58BF-43F7-9CE8-B947CCA415AA}" destId="{EEF892AE-7DC1-4742-8357-DF90C376512C}" srcOrd="0" destOrd="0" parTransId="{1FE12338-D2B8-4776-98B2-B4C39AD908A8}" sibTransId="{7D7E76F5-0967-4598-B5F0-CC47AC30EE08}"/>
    <dgm:cxn modelId="{C0B605BE-2077-43C8-8CAF-65B4028BEF4E}" type="presOf" srcId="{8F572C2A-71E5-4CD7-B073-01DF967E83E2}" destId="{F529C340-DE1A-4691-A315-D842087D0A3B}" srcOrd="0" destOrd="0" presId="urn:microsoft.com/office/officeart/2005/8/layout/vList6"/>
    <dgm:cxn modelId="{BC2C9F24-726A-4415-80D6-EC3BD1411744}" type="presOf" srcId="{4B926AAF-B018-4FEA-8810-12B4C59074D4}" destId="{8EECE64E-229A-4352-AD3B-86A8C465CBA9}" srcOrd="0" destOrd="0" presId="urn:microsoft.com/office/officeart/2005/8/layout/vList6"/>
    <dgm:cxn modelId="{642B3720-F905-4FF4-91DA-388A54E045A2}" type="presOf" srcId="{EEF892AE-7DC1-4742-8357-DF90C376512C}" destId="{369682CE-419B-430B-8499-4BB54462A8CB}" srcOrd="0" destOrd="0" presId="urn:microsoft.com/office/officeart/2005/8/layout/vList6"/>
    <dgm:cxn modelId="{A038E1D0-7C6A-48A6-B31A-4C50961A5EAE}" srcId="{812C9A57-93C2-4F59-983A-28D0EA91087B}" destId="{8E7060FB-0298-4DF8-8235-8ADE508FCA62}" srcOrd="0" destOrd="0" parTransId="{FCA54863-E0E7-463B-90A3-69E79845AA77}" sibTransId="{FB0717D1-14B2-47FE-A0D8-29F23E3F2A3B}"/>
    <dgm:cxn modelId="{C499E92A-7ADC-48A0-8786-1AFE1314A80A}" srcId="{35FA9C69-F47E-4006-89D4-5177B9E187F9}" destId="{FC63DA42-B038-4083-B4F5-AF1EF793B947}" srcOrd="0" destOrd="0" parTransId="{491B137D-0A22-4BAE-8304-4F133D46668B}" sibTransId="{0800720E-55A6-4E85-B843-F27474E8D770}"/>
    <dgm:cxn modelId="{A9407BD8-D799-40CA-95AC-E34AECCE8DC2}" type="presOf" srcId="{E2CA32B8-66E7-4EB2-9774-D088AA7DDD2A}" destId="{B4178FD3-DE3E-40D4-AFA3-AC9F7AC49A1F}" srcOrd="0" destOrd="0" presId="urn:microsoft.com/office/officeart/2005/8/layout/vList6"/>
    <dgm:cxn modelId="{4788172D-C003-4444-B0A9-F4420A70A21B}" srcId="{9ADB48C0-8B82-47BF-B5C9-248B58B8B2FB}" destId="{812C9A57-93C2-4F59-983A-28D0EA91087B}" srcOrd="5" destOrd="0" parTransId="{0B873B82-3298-4057-9892-6E9CCF3E04C1}" sibTransId="{ACEE587D-EA96-4287-9A62-802B0F636865}"/>
    <dgm:cxn modelId="{2C1F0F8F-02BC-48BE-83EC-F0FC294CB513}" srcId="{9ADB48C0-8B82-47BF-B5C9-248B58B8B2FB}" destId="{35FA9C69-F47E-4006-89D4-5177B9E187F9}" srcOrd="2" destOrd="0" parTransId="{CDA7B1B1-19C8-4EEE-B4BA-D17816BE9C26}" sibTransId="{60790571-8025-4F0C-B6D2-DB86106BA2E9}"/>
    <dgm:cxn modelId="{6191537D-B763-4D24-8DE9-A7509CBCEEAD}" srcId="{9ADB48C0-8B82-47BF-B5C9-248B58B8B2FB}" destId="{E2CA32B8-66E7-4EB2-9774-D088AA7DDD2A}" srcOrd="3" destOrd="0" parTransId="{BEA06496-0596-4A98-81BE-76ED14A47476}" sibTransId="{D8D23D89-D649-48C4-A0A6-58990E82DB69}"/>
    <dgm:cxn modelId="{4E8C0B09-6591-4AA2-8A0C-787C6884413B}" type="presOf" srcId="{D194E480-1A5A-4E9F-B610-4180EAA4740B}" destId="{66A9B2A5-225D-4CFA-9793-0181D76563C8}" srcOrd="0" destOrd="0" presId="urn:microsoft.com/office/officeart/2005/8/layout/vList6"/>
    <dgm:cxn modelId="{25A15FD6-9546-4A6D-9209-1D6B20D58977}" srcId="{B96B5938-5B1B-4518-88D8-7664C526E601}" destId="{8F572C2A-71E5-4CD7-B073-01DF967E83E2}" srcOrd="0" destOrd="0" parTransId="{1FAF6C68-2027-410B-87EB-5F3D962E557C}" sibTransId="{577A8CAE-1610-471B-8853-00E26397D18B}"/>
    <dgm:cxn modelId="{12EC23C5-207E-4E00-8433-669B10D7E6E9}" type="presOf" srcId="{9CAD118D-58BF-43F7-9CE8-B947CCA415AA}" destId="{E9D4A7C4-29E9-47CD-890D-429642C30FE7}" srcOrd="0" destOrd="0" presId="urn:microsoft.com/office/officeart/2005/8/layout/vList6"/>
    <dgm:cxn modelId="{B3A1EBAD-0E12-428D-AF2F-C71712C00C42}" type="presOf" srcId="{B96B5938-5B1B-4518-88D8-7664C526E601}" destId="{1C6DDB6B-BE32-4C52-AF86-E08A003F609A}" srcOrd="0" destOrd="0" presId="urn:microsoft.com/office/officeart/2005/8/layout/vList6"/>
    <dgm:cxn modelId="{8D392273-12D3-4674-B0CB-C8D6AA4C4770}" srcId="{9ADB48C0-8B82-47BF-B5C9-248B58B8B2FB}" destId="{9CAD118D-58BF-43F7-9CE8-B947CCA415AA}" srcOrd="0" destOrd="0" parTransId="{EF2D10C1-BFCB-4A96-92D2-3D7155D053D0}" sibTransId="{492C8B2F-F49B-4E4B-A281-60CEC7BB9BAD}"/>
    <dgm:cxn modelId="{A750BD6F-4D6D-44F5-8470-DFE3EE45DC49}" type="presOf" srcId="{10574910-8480-40FD-A73A-F8AF3C10EAF7}" destId="{8307D79A-07CB-45F7-8E83-92D255B8E2F9}" srcOrd="0" destOrd="0" presId="urn:microsoft.com/office/officeart/2005/8/layout/vList6"/>
    <dgm:cxn modelId="{2A31F3F0-036E-44FF-9326-9DF0A12580A9}" srcId="{9ADB48C0-8B82-47BF-B5C9-248B58B8B2FB}" destId="{D194E480-1A5A-4E9F-B610-4180EAA4740B}" srcOrd="1" destOrd="0" parTransId="{633929FC-7AC7-4530-93B3-5EA6F621D6CA}" sibTransId="{1FF045D1-BFC5-41BA-8BFA-886ED9923109}"/>
    <dgm:cxn modelId="{7A680802-53CD-4160-918C-FE7841870451}" srcId="{9ADB48C0-8B82-47BF-B5C9-248B58B8B2FB}" destId="{B96B5938-5B1B-4518-88D8-7664C526E601}" srcOrd="4" destOrd="0" parTransId="{82EB5067-B070-4CEE-853C-D66B0284C702}" sibTransId="{1171EC18-64D1-4670-9FFE-E41708C8C1BF}"/>
    <dgm:cxn modelId="{CD2F367F-A101-461B-BBAE-8CB75AC6E719}" srcId="{E2CA32B8-66E7-4EB2-9774-D088AA7DDD2A}" destId="{10574910-8480-40FD-A73A-F8AF3C10EAF7}" srcOrd="0" destOrd="0" parTransId="{407EF9BD-041D-4B45-9FDF-9AF2324C2064}" sibTransId="{762B9600-29D4-442E-A20A-6BE854CF8298}"/>
    <dgm:cxn modelId="{81DE2EED-CFC0-4625-BCEF-3DFBC3F9C689}" type="presOf" srcId="{FC63DA42-B038-4083-B4F5-AF1EF793B947}" destId="{12256BE8-A4C4-4584-BCF1-7C865C6C60D6}" srcOrd="0" destOrd="0" presId="urn:microsoft.com/office/officeart/2005/8/layout/vList6"/>
    <dgm:cxn modelId="{388B3292-7757-49F7-A8FE-467C63F23E4D}" type="presOf" srcId="{8E7060FB-0298-4DF8-8235-8ADE508FCA62}" destId="{AED301F8-5378-4408-9253-CAFB337F0B07}" srcOrd="0" destOrd="0" presId="urn:microsoft.com/office/officeart/2005/8/layout/vList6"/>
    <dgm:cxn modelId="{3AF82197-465A-44DF-8A86-1DC0E799D389}" type="presOf" srcId="{35FA9C69-F47E-4006-89D4-5177B9E187F9}" destId="{0637493F-605D-4C77-BA7D-4CF740A2DEAD}" srcOrd="0" destOrd="0" presId="urn:microsoft.com/office/officeart/2005/8/layout/vList6"/>
    <dgm:cxn modelId="{10E54B34-6290-403D-87E7-633562C28016}" type="presParOf" srcId="{2BC88C60-1810-4881-9A6B-9F9586D9AA9E}" destId="{B78EE2DE-CFB1-493E-9AE4-698939135FA7}" srcOrd="0" destOrd="0" presId="urn:microsoft.com/office/officeart/2005/8/layout/vList6"/>
    <dgm:cxn modelId="{DF7ABF90-0C33-4FC9-8E44-28737450359B}" type="presParOf" srcId="{B78EE2DE-CFB1-493E-9AE4-698939135FA7}" destId="{E9D4A7C4-29E9-47CD-890D-429642C30FE7}" srcOrd="0" destOrd="0" presId="urn:microsoft.com/office/officeart/2005/8/layout/vList6"/>
    <dgm:cxn modelId="{E5C97DE8-8276-4A68-969A-48D36F2BB578}" type="presParOf" srcId="{B78EE2DE-CFB1-493E-9AE4-698939135FA7}" destId="{369682CE-419B-430B-8499-4BB54462A8CB}" srcOrd="1" destOrd="0" presId="urn:microsoft.com/office/officeart/2005/8/layout/vList6"/>
    <dgm:cxn modelId="{B7F3DE92-9019-4C0A-9722-D0BE2920263C}" type="presParOf" srcId="{2BC88C60-1810-4881-9A6B-9F9586D9AA9E}" destId="{7C6EBF03-89D7-4350-A518-66D9F7E58BBD}" srcOrd="1" destOrd="0" presId="urn:microsoft.com/office/officeart/2005/8/layout/vList6"/>
    <dgm:cxn modelId="{07249E21-B787-4F0C-9996-5A086C8A6497}" type="presParOf" srcId="{2BC88C60-1810-4881-9A6B-9F9586D9AA9E}" destId="{D988D20D-6035-4812-B6A9-CD8906103B1F}" srcOrd="2" destOrd="0" presId="urn:microsoft.com/office/officeart/2005/8/layout/vList6"/>
    <dgm:cxn modelId="{0BFD92AA-0379-48FC-9B80-91354F1C4936}" type="presParOf" srcId="{D988D20D-6035-4812-B6A9-CD8906103B1F}" destId="{66A9B2A5-225D-4CFA-9793-0181D76563C8}" srcOrd="0" destOrd="0" presId="urn:microsoft.com/office/officeart/2005/8/layout/vList6"/>
    <dgm:cxn modelId="{C09E117B-3B25-48A0-9845-616BBDF52701}" type="presParOf" srcId="{D988D20D-6035-4812-B6A9-CD8906103B1F}" destId="{8EECE64E-229A-4352-AD3B-86A8C465CBA9}" srcOrd="1" destOrd="0" presId="urn:microsoft.com/office/officeart/2005/8/layout/vList6"/>
    <dgm:cxn modelId="{62BF5FDB-7540-4FBB-A681-1A8321CD7B42}" type="presParOf" srcId="{2BC88C60-1810-4881-9A6B-9F9586D9AA9E}" destId="{010327C8-C1D9-4F62-9A8B-582706E10503}" srcOrd="3" destOrd="0" presId="urn:microsoft.com/office/officeart/2005/8/layout/vList6"/>
    <dgm:cxn modelId="{F13E1C74-CC9F-4819-A4D6-31CE408C4602}" type="presParOf" srcId="{2BC88C60-1810-4881-9A6B-9F9586D9AA9E}" destId="{87EA146A-BA97-4E7B-8228-1583C63ECFBC}" srcOrd="4" destOrd="0" presId="urn:microsoft.com/office/officeart/2005/8/layout/vList6"/>
    <dgm:cxn modelId="{8D1E8616-3E87-4BBB-AB35-F794F88F257E}" type="presParOf" srcId="{87EA146A-BA97-4E7B-8228-1583C63ECFBC}" destId="{0637493F-605D-4C77-BA7D-4CF740A2DEAD}" srcOrd="0" destOrd="0" presId="urn:microsoft.com/office/officeart/2005/8/layout/vList6"/>
    <dgm:cxn modelId="{949A58B0-C45B-4A67-83D0-31A693B196D5}" type="presParOf" srcId="{87EA146A-BA97-4E7B-8228-1583C63ECFBC}" destId="{12256BE8-A4C4-4584-BCF1-7C865C6C60D6}" srcOrd="1" destOrd="0" presId="urn:microsoft.com/office/officeart/2005/8/layout/vList6"/>
    <dgm:cxn modelId="{7FC361F0-AC67-4167-B294-D368308AD7DA}" type="presParOf" srcId="{2BC88C60-1810-4881-9A6B-9F9586D9AA9E}" destId="{D77848A1-D651-41AF-87C6-651180E5AD76}" srcOrd="5" destOrd="0" presId="urn:microsoft.com/office/officeart/2005/8/layout/vList6"/>
    <dgm:cxn modelId="{ED4968FD-AF59-4392-984D-BBD985F982D9}" type="presParOf" srcId="{2BC88C60-1810-4881-9A6B-9F9586D9AA9E}" destId="{2192C2CC-E4B7-45E4-943A-6A646C6B81C2}" srcOrd="6" destOrd="0" presId="urn:microsoft.com/office/officeart/2005/8/layout/vList6"/>
    <dgm:cxn modelId="{48A46763-64E7-44CF-92C3-99282AD17C78}" type="presParOf" srcId="{2192C2CC-E4B7-45E4-943A-6A646C6B81C2}" destId="{B4178FD3-DE3E-40D4-AFA3-AC9F7AC49A1F}" srcOrd="0" destOrd="0" presId="urn:microsoft.com/office/officeart/2005/8/layout/vList6"/>
    <dgm:cxn modelId="{59E7DD97-B532-4D79-8AF2-3D7C26589678}" type="presParOf" srcId="{2192C2CC-E4B7-45E4-943A-6A646C6B81C2}" destId="{8307D79A-07CB-45F7-8E83-92D255B8E2F9}" srcOrd="1" destOrd="0" presId="urn:microsoft.com/office/officeart/2005/8/layout/vList6"/>
    <dgm:cxn modelId="{95BDE9E7-9D29-45C6-9FCF-C4BFC77D9782}" type="presParOf" srcId="{2BC88C60-1810-4881-9A6B-9F9586D9AA9E}" destId="{2F4818E5-F54A-4094-B56C-0C76A4DA09AD}" srcOrd="7" destOrd="0" presId="urn:microsoft.com/office/officeart/2005/8/layout/vList6"/>
    <dgm:cxn modelId="{14F29F87-994E-4CF7-8ACF-929C1D5549ED}" type="presParOf" srcId="{2BC88C60-1810-4881-9A6B-9F9586D9AA9E}" destId="{2D901A59-8D71-4B12-BAE5-FAB73737BD6F}" srcOrd="8" destOrd="0" presId="urn:microsoft.com/office/officeart/2005/8/layout/vList6"/>
    <dgm:cxn modelId="{4E5DB05F-9317-4567-A0DD-753683562487}" type="presParOf" srcId="{2D901A59-8D71-4B12-BAE5-FAB73737BD6F}" destId="{1C6DDB6B-BE32-4C52-AF86-E08A003F609A}" srcOrd="0" destOrd="0" presId="urn:microsoft.com/office/officeart/2005/8/layout/vList6"/>
    <dgm:cxn modelId="{9E9C0179-AABC-4558-875C-E565449F8352}" type="presParOf" srcId="{2D901A59-8D71-4B12-BAE5-FAB73737BD6F}" destId="{F529C340-DE1A-4691-A315-D842087D0A3B}" srcOrd="1" destOrd="0" presId="urn:microsoft.com/office/officeart/2005/8/layout/vList6"/>
    <dgm:cxn modelId="{510AF740-9FE7-492B-B7C6-8CE15278628C}" type="presParOf" srcId="{2BC88C60-1810-4881-9A6B-9F9586D9AA9E}" destId="{24757DEA-BCD1-47A0-89A8-25825B580CF4}" srcOrd="9" destOrd="0" presId="urn:microsoft.com/office/officeart/2005/8/layout/vList6"/>
    <dgm:cxn modelId="{38754BBF-4399-4EC5-8B98-2EB8CE6D56CA}" type="presParOf" srcId="{2BC88C60-1810-4881-9A6B-9F9586D9AA9E}" destId="{34FB1019-C891-4F9E-962C-D4E8D633E91D}" srcOrd="10" destOrd="0" presId="urn:microsoft.com/office/officeart/2005/8/layout/vList6"/>
    <dgm:cxn modelId="{CE5259A1-C66A-4023-B65C-4534B312E726}" type="presParOf" srcId="{34FB1019-C891-4F9E-962C-D4E8D633E91D}" destId="{D26681BE-B00A-4862-8232-4CD1C40AD3E6}" srcOrd="0" destOrd="0" presId="urn:microsoft.com/office/officeart/2005/8/layout/vList6"/>
    <dgm:cxn modelId="{9E5755ED-0984-4D0C-A449-BC602D4A814D}" type="presParOf" srcId="{34FB1019-C891-4F9E-962C-D4E8D633E91D}" destId="{AED301F8-5378-4408-9253-CAFB337F0B0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72200" cy="1944216"/>
        <a:chOff x="0" y="0"/>
        <a:chExt cx="6172200" cy="1944216"/>
      </a:xfrm>
    </dsp:grpSpPr>
    <dsp:sp modelId="{97527EBF-0E0A-4225-BED5-15810BA395FC}">
      <dsp:nvSpPr>
        <dsp:cNvPr id="3" name="圆角矩形 2"/>
        <dsp:cNvSpPr/>
      </dsp:nvSpPr>
      <dsp:spPr bwMode="white">
        <a:xfrm>
          <a:off x="0" y="162800"/>
          <a:ext cx="6172200" cy="1618615"/>
        </a:xfrm>
        <a:prstGeom prst="roundRect">
          <a:avLst/>
        </a:prstGeom>
      </dsp:spPr>
      <dsp:style>
        <a:lnRef idx="0">
          <a:schemeClr val="lt1"/>
        </a:lnRef>
        <a:fillRef idx="3">
          <a:schemeClr val="accent1"/>
        </a:fillRef>
        <a:effectRef idx="3">
          <a:scrgbClr r="0" g="0" b="0"/>
        </a:effectRef>
        <a:fontRef idx="minor">
          <a:schemeClr val="lt1"/>
        </a:fontRef>
      </dsp:style>
      <dsp:txBody>
        <a:bodyPr lIns="232410" tIns="232410" rIns="232410" bIns="232410" anchor="ctr"/>
        <a:lstStyle>
          <a:lvl1pPr algn="l">
            <a:defRPr sz="6100"/>
          </a:lvl1pPr>
          <a:lvl2pPr marL="285750" indent="-285750" algn="l">
            <a:defRPr sz="4700"/>
          </a:lvl2pPr>
          <a:lvl3pPr marL="571500" indent="-285750" algn="l">
            <a:defRPr sz="4700"/>
          </a:lvl3pPr>
          <a:lvl4pPr marL="857250" indent="-285750" algn="l">
            <a:defRPr sz="4700"/>
          </a:lvl4pPr>
          <a:lvl5pPr marL="1143000" indent="-285750" algn="l">
            <a:defRPr sz="4700"/>
          </a:lvl5pPr>
          <a:lvl6pPr marL="1428750" indent="-285750" algn="l">
            <a:defRPr sz="4700"/>
          </a:lvl6pPr>
          <a:lvl7pPr marL="1714500" indent="-285750" algn="l">
            <a:defRPr sz="4700"/>
          </a:lvl7pPr>
          <a:lvl8pPr marL="2000250" indent="-285750" algn="l">
            <a:defRPr sz="4700"/>
          </a:lvl8pPr>
          <a:lvl9pPr marL="2286000" indent="-285750" algn="l">
            <a:defRPr sz="4700"/>
          </a:lvl9pPr>
        </a:lstStyle>
        <a:p>
          <a:pPr lvl="0" rtl="0">
            <a:lnSpc>
              <a:spcPct val="100000"/>
            </a:lnSpc>
            <a:spcBef>
              <a:spcPct val="0"/>
            </a:spcBef>
            <a:spcAft>
              <a:spcPct val="35000"/>
            </a:spcAft>
          </a:pPr>
          <a:r>
            <a:rPr lang="zh-CN" b="1" baseline="0" dirty="0" smtClean="0"/>
            <a:t>计算机应用基础</a:t>
          </a:r>
          <a:endParaRPr lang="zh-CN" b="1" baseline="0" dirty="0"/>
        </a:p>
      </dsp:txBody>
      <dsp:txXfrm>
        <a:off x="0" y="162800"/>
        <a:ext cx="6172200" cy="161861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567510" cy="4616588"/>
        <a:chOff x="0" y="0"/>
        <a:chExt cx="6567510" cy="4616588"/>
      </a:xfrm>
    </dsp:grpSpPr>
    <dsp:sp modelId="{239109EB-7698-4F85-B76B-D07FD78094A9}">
      <dsp:nvSpPr>
        <dsp:cNvPr id="3" name="圆角矩形 2"/>
        <dsp:cNvSpPr/>
      </dsp:nvSpPr>
      <dsp:spPr bwMode="white">
        <a:xfrm>
          <a:off x="0" y="634206"/>
          <a:ext cx="6567510" cy="3348176"/>
        </a:xfrm>
        <a:prstGeom prst="roundRect">
          <a:avLst/>
        </a:prstGeom>
      </dsp:spPr>
      <dsp:style>
        <a:lnRef idx="1">
          <a:schemeClr val="accent1"/>
        </a:lnRef>
        <a:fillRef idx="2">
          <a:schemeClr val="accent1"/>
        </a:fillRef>
        <a:effectRef idx="1">
          <a:schemeClr val="accent1"/>
        </a:effectRef>
        <a:fontRef idx="minor">
          <a:schemeClr val="dk1"/>
        </a:fontRef>
      </dsp:style>
      <dsp:txBody>
        <a:bodyPr lIns="76200" tIns="76200" rIns="76200" bIns="7620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50000"/>
            </a:lnSpc>
            <a:spcBef>
              <a:spcPct val="0"/>
            </a:spcBef>
            <a:spcAft>
              <a:spcPct val="35000"/>
            </a:spcAft>
          </a:pPr>
          <a:r>
            <a:rPr lang="en-US" altLang="zh-CN" sz="2000" dirty="0" smtClean="0"/>
            <a:t>    </a:t>
          </a:r>
          <a:r>
            <a:rPr lang="zh-CN" sz="2000" dirty="0" smtClean="0"/>
            <a:t>本章主要介绍</a:t>
          </a:r>
          <a:r>
            <a:rPr lang="en-US" sz="2000" dirty="0" smtClean="0"/>
            <a:t>Microsoft Office</a:t>
          </a:r>
          <a:r>
            <a:rPr lang="zh-CN" sz="2000" dirty="0" smtClean="0"/>
            <a:t>办公套件中的电子表格软件</a:t>
          </a:r>
          <a:r>
            <a:rPr lang="en-US" sz="2000" dirty="0" smtClean="0"/>
            <a:t>Excel 2010,</a:t>
          </a:r>
          <a:r>
            <a:rPr lang="zh-CN" sz="2000" dirty="0" smtClean="0"/>
            <a:t>在对</a:t>
          </a:r>
          <a:r>
            <a:rPr lang="en-US" sz="2000" dirty="0" smtClean="0"/>
            <a:t>Excel</a:t>
          </a:r>
          <a:r>
            <a:rPr lang="zh-CN" sz="2000" dirty="0" smtClean="0"/>
            <a:t>基本功能进行讲解的基础上</a:t>
          </a:r>
          <a:r>
            <a:rPr lang="en-US" sz="2000" dirty="0" smtClean="0"/>
            <a:t>,</a:t>
          </a:r>
          <a:r>
            <a:rPr lang="zh-CN" sz="2000" dirty="0" smtClean="0"/>
            <a:t>结合实例演示表格编辑及数据图表的制作技巧。</a:t>
          </a:r>
          <a:endParaRPr lang="zh-CN" sz="2000" dirty="0"/>
        </a:p>
      </dsp:txBody>
      <dsp:txXfrm>
        <a:off x="0" y="634206"/>
        <a:ext cx="6567510" cy="3348176"/>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143092" cy="2338960"/>
        <a:chOff x="0" y="0"/>
        <a:chExt cx="2143092" cy="2338960"/>
      </a:xfrm>
    </dsp:grpSpPr>
    <dsp:sp modelId="{BC30DFB8-D9E0-42B8-83A9-F12A59B6DF13}">
      <dsp:nvSpPr>
        <dsp:cNvPr id="3" name="燕尾形 2"/>
        <dsp:cNvSpPr/>
      </dsp:nvSpPr>
      <dsp:spPr bwMode="white">
        <a:xfrm>
          <a:off x="180174" y="0"/>
          <a:ext cx="1782744" cy="713098"/>
        </a:xfrm>
        <a:prstGeom prst="chevron">
          <a:avLst/>
        </a:prstGeom>
      </dsp:spPr>
      <dsp:style>
        <a:lnRef idx="2">
          <a:schemeClr val="lt1"/>
        </a:lnRef>
        <a:fillRef idx="1">
          <a:schemeClr val="accent1"/>
        </a:fillRef>
        <a:effectRef idx="0">
          <a:scrgbClr r="0" g="0" b="0"/>
        </a:effectRef>
        <a:fontRef idx="minor">
          <a:schemeClr val="lt1"/>
        </a:fontRef>
      </dsp:style>
      <dsp:txBody>
        <a:bodyPr lIns="25400" tIns="12700" rIns="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t>1.</a:t>
          </a:r>
          <a:r>
            <a:rPr lang="zh-CN" sz="2000" dirty="0" smtClean="0"/>
            <a:t>数字数据</a:t>
          </a:r>
          <a:endParaRPr lang="zh-CN" sz="2000" dirty="0"/>
        </a:p>
      </dsp:txBody>
      <dsp:txXfrm>
        <a:off x="180174" y="0"/>
        <a:ext cx="1782744" cy="713098"/>
      </dsp:txXfrm>
    </dsp:sp>
    <dsp:sp modelId="{0F316B2E-D25F-483E-8AD0-47CB2B280FE0}">
      <dsp:nvSpPr>
        <dsp:cNvPr id="4" name="燕尾形 3"/>
        <dsp:cNvSpPr/>
      </dsp:nvSpPr>
      <dsp:spPr bwMode="white">
        <a:xfrm>
          <a:off x="180174" y="812931"/>
          <a:ext cx="1782744" cy="713098"/>
        </a:xfrm>
        <a:prstGeom prst="chevron">
          <a:avLst/>
        </a:prstGeom>
      </dsp:spPr>
      <dsp:style>
        <a:lnRef idx="2">
          <a:schemeClr val="lt1"/>
        </a:lnRef>
        <a:fillRef idx="1">
          <a:schemeClr val="accent1"/>
        </a:fillRef>
        <a:effectRef idx="0">
          <a:scrgbClr r="0" g="0" b="0"/>
        </a:effectRef>
        <a:fontRef idx="minor">
          <a:schemeClr val="lt1"/>
        </a:fontRef>
      </dsp:style>
      <dsp:txBody>
        <a:bodyPr lIns="25400" tIns="12700" rIns="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t>2.</a:t>
          </a:r>
          <a:r>
            <a:rPr lang="zh-CN" sz="2000" dirty="0" smtClean="0"/>
            <a:t>文本数据</a:t>
          </a:r>
          <a:endParaRPr lang="zh-CN" sz="2000" dirty="0"/>
        </a:p>
      </dsp:txBody>
      <dsp:txXfrm>
        <a:off x="180174" y="812931"/>
        <a:ext cx="1782744" cy="713098"/>
      </dsp:txXfrm>
    </dsp:sp>
    <dsp:sp modelId="{9BA3EBCE-3FBF-4486-BD29-95EDE9DBF247}">
      <dsp:nvSpPr>
        <dsp:cNvPr id="5" name="燕尾形 4"/>
        <dsp:cNvSpPr/>
      </dsp:nvSpPr>
      <dsp:spPr bwMode="white">
        <a:xfrm>
          <a:off x="180174" y="1625862"/>
          <a:ext cx="1782744" cy="713098"/>
        </a:xfrm>
        <a:prstGeom prst="chevron">
          <a:avLst/>
        </a:prstGeom>
      </dsp:spPr>
      <dsp:style>
        <a:lnRef idx="2">
          <a:schemeClr val="lt1"/>
        </a:lnRef>
        <a:fillRef idx="1">
          <a:schemeClr val="accent1"/>
        </a:fillRef>
        <a:effectRef idx="0">
          <a:scrgbClr r="0" g="0" b="0"/>
        </a:effectRef>
        <a:fontRef idx="minor">
          <a:schemeClr val="lt1"/>
        </a:fontRef>
      </dsp:style>
      <dsp:txBody>
        <a:bodyPr lIns="25400" tIns="12700" rIns="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t>3.</a:t>
          </a:r>
          <a:r>
            <a:rPr lang="zh-CN" sz="2000" dirty="0" smtClean="0"/>
            <a:t>逻辑数据</a:t>
          </a:r>
          <a:endParaRPr lang="zh-CN" sz="2000" dirty="0"/>
        </a:p>
      </dsp:txBody>
      <dsp:txXfrm>
        <a:off x="180174" y="1625862"/>
        <a:ext cx="1782744" cy="713098"/>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500990" cy="2571768"/>
        <a:chOff x="0" y="0"/>
        <a:chExt cx="7500990" cy="2571768"/>
      </a:xfrm>
    </dsp:grpSpPr>
    <dsp:sp modelId="{A63E85B3-BCEA-45DB-9C6E-1A6D6870FA37}">
      <dsp:nvSpPr>
        <dsp:cNvPr id="3" name="右箭头 2"/>
        <dsp:cNvSpPr/>
      </dsp:nvSpPr>
      <dsp:spPr bwMode="white">
        <a:xfrm>
          <a:off x="562574" y="0"/>
          <a:ext cx="6375842" cy="2571768"/>
        </a:xfrm>
        <a:prstGeom prst="rightArrow">
          <a:avLst/>
        </a:prstGeom>
      </dsp:spPr>
      <dsp:style>
        <a:lnRef idx="1">
          <a:schemeClr val="accent2"/>
        </a:lnRef>
        <a:fillRef idx="2">
          <a:schemeClr val="accent2"/>
        </a:fillRef>
        <a:effectRef idx="1">
          <a:schemeClr val="accent2"/>
        </a:effectRef>
        <a:fontRef idx="minor">
          <a:schemeClr val="dk1"/>
        </a:fontRef>
      </dsp:style>
      <dsp:txXfrm>
        <a:off x="562574" y="0"/>
        <a:ext cx="6375842" cy="2571768"/>
      </dsp:txXfrm>
    </dsp:sp>
    <dsp:sp modelId="{FFC6AE34-C2FC-4EAA-9A82-FB49E2341E2F}">
      <dsp:nvSpPr>
        <dsp:cNvPr id="4" name="圆角矩形 3"/>
        <dsp:cNvSpPr/>
      </dsp:nvSpPr>
      <dsp:spPr bwMode="white">
        <a:xfrm>
          <a:off x="0" y="771530"/>
          <a:ext cx="1323704" cy="1028707"/>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solidFill>
                <a:schemeClr val="tx1"/>
              </a:solidFill>
            </a:rPr>
            <a:t>(1)</a:t>
          </a:r>
          <a:r>
            <a:rPr lang="zh-CN" sz="2000" dirty="0" smtClean="0">
              <a:solidFill>
                <a:schemeClr val="tx1"/>
              </a:solidFill>
            </a:rPr>
            <a:t>相对引用</a:t>
          </a:r>
          <a:endParaRPr lang="zh-CN" sz="2000" dirty="0">
            <a:solidFill>
              <a:schemeClr val="tx1"/>
            </a:solidFill>
          </a:endParaRPr>
        </a:p>
      </dsp:txBody>
      <dsp:txXfrm>
        <a:off x="0" y="771530"/>
        <a:ext cx="1323704" cy="1028707"/>
      </dsp:txXfrm>
    </dsp:sp>
    <dsp:sp modelId="{318E918F-6304-49B3-A33F-C4735DEE2B76}">
      <dsp:nvSpPr>
        <dsp:cNvPr id="5" name="圆角矩形 4"/>
        <dsp:cNvSpPr/>
      </dsp:nvSpPr>
      <dsp:spPr bwMode="white">
        <a:xfrm>
          <a:off x="1544321" y="771530"/>
          <a:ext cx="1323704" cy="1028707"/>
        </a:xfrm>
        <a:prstGeom prst="roundRect">
          <a:avLst/>
        </a:prstGeom>
      </dsp:spPr>
      <dsp:style>
        <a:lnRef idx="2">
          <a:schemeClr val="lt1"/>
        </a:lnRef>
        <a:fillRef idx="1">
          <a:schemeClr val="accent2">
            <a:hueOff val="300000"/>
            <a:satOff val="3333"/>
            <a:lumOff val="-2058"/>
            <a:alpha val="100000"/>
          </a:schemeClr>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solidFill>
                <a:schemeClr val="tx1"/>
              </a:solidFill>
            </a:rPr>
            <a:t>(2)</a:t>
          </a:r>
          <a:r>
            <a:rPr lang="zh-CN" sz="2000" dirty="0" smtClean="0">
              <a:solidFill>
                <a:schemeClr val="tx1"/>
              </a:solidFill>
            </a:rPr>
            <a:t>绝对引用</a:t>
          </a:r>
          <a:endParaRPr lang="zh-CN" sz="2000" dirty="0">
            <a:solidFill>
              <a:schemeClr val="tx1"/>
            </a:solidFill>
          </a:endParaRPr>
        </a:p>
      </dsp:txBody>
      <dsp:txXfrm>
        <a:off x="1544321" y="771530"/>
        <a:ext cx="1323704" cy="1028707"/>
      </dsp:txXfrm>
    </dsp:sp>
    <dsp:sp modelId="{8CD117D6-F6F3-4446-966D-DE48753D5066}">
      <dsp:nvSpPr>
        <dsp:cNvPr id="6" name="圆角矩形 5"/>
        <dsp:cNvSpPr/>
      </dsp:nvSpPr>
      <dsp:spPr bwMode="white">
        <a:xfrm>
          <a:off x="3088643" y="771530"/>
          <a:ext cx="1323704" cy="1028707"/>
        </a:xfrm>
        <a:prstGeom prst="roundRect">
          <a:avLst/>
        </a:prstGeom>
      </dsp:spPr>
      <dsp:style>
        <a:lnRef idx="2">
          <a:schemeClr val="lt1"/>
        </a:lnRef>
        <a:fillRef idx="1">
          <a:schemeClr val="accent2">
            <a:hueOff val="600000"/>
            <a:satOff val="6667"/>
            <a:lumOff val="-4117"/>
            <a:alpha val="100000"/>
          </a:schemeClr>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solidFill>
                <a:schemeClr val="tx1"/>
              </a:solidFill>
            </a:rPr>
            <a:t>(3)</a:t>
          </a:r>
          <a:r>
            <a:rPr lang="zh-CN" sz="2000" dirty="0" smtClean="0">
              <a:solidFill>
                <a:schemeClr val="tx1"/>
              </a:solidFill>
            </a:rPr>
            <a:t>混合引用</a:t>
          </a:r>
          <a:endParaRPr lang="zh-CN" sz="2000" dirty="0">
            <a:solidFill>
              <a:schemeClr val="tx1"/>
            </a:solidFill>
          </a:endParaRPr>
        </a:p>
      </dsp:txBody>
      <dsp:txXfrm>
        <a:off x="3088643" y="771530"/>
        <a:ext cx="1323704" cy="1028707"/>
      </dsp:txXfrm>
    </dsp:sp>
    <dsp:sp modelId="{97216690-6BCB-48E9-86D0-1042C015A3EE}">
      <dsp:nvSpPr>
        <dsp:cNvPr id="7" name="圆角矩形 6"/>
        <dsp:cNvSpPr/>
      </dsp:nvSpPr>
      <dsp:spPr bwMode="white">
        <a:xfrm>
          <a:off x="4632964" y="771530"/>
          <a:ext cx="1323704" cy="1028707"/>
        </a:xfrm>
        <a:prstGeom prst="roundRect">
          <a:avLst/>
        </a:prstGeom>
      </dsp:spPr>
      <dsp:style>
        <a:lnRef idx="2">
          <a:schemeClr val="lt1"/>
        </a:lnRef>
        <a:fillRef idx="1">
          <a:schemeClr val="accent2">
            <a:hueOff val="900000"/>
            <a:satOff val="10000"/>
            <a:lumOff val="-6175"/>
            <a:alpha val="100000"/>
          </a:schemeClr>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solidFill>
                <a:schemeClr val="tx1"/>
              </a:solidFill>
            </a:rPr>
            <a:t>(4)</a:t>
          </a:r>
          <a:r>
            <a:rPr lang="zh-CN" sz="2000" dirty="0" smtClean="0">
              <a:solidFill>
                <a:schemeClr val="tx1"/>
              </a:solidFill>
            </a:rPr>
            <a:t>三维地址</a:t>
          </a:r>
          <a:endParaRPr lang="zh-CN" sz="2000" dirty="0">
            <a:solidFill>
              <a:schemeClr val="tx1"/>
            </a:solidFill>
          </a:endParaRPr>
        </a:p>
      </dsp:txBody>
      <dsp:txXfrm>
        <a:off x="4632964" y="771530"/>
        <a:ext cx="1323704" cy="1028707"/>
      </dsp:txXfrm>
    </dsp:sp>
    <dsp:sp modelId="{0DB3B8E6-550D-4B95-970B-ECDCE2B3029D}">
      <dsp:nvSpPr>
        <dsp:cNvPr id="8" name="圆角矩形 7"/>
        <dsp:cNvSpPr/>
      </dsp:nvSpPr>
      <dsp:spPr bwMode="white">
        <a:xfrm>
          <a:off x="6177286" y="771530"/>
          <a:ext cx="1323704" cy="1028707"/>
        </a:xfrm>
        <a:prstGeom prst="roundRect">
          <a:avLst/>
        </a:prstGeom>
      </dsp:spPr>
      <dsp:style>
        <a:lnRef idx="2">
          <a:schemeClr val="lt1"/>
        </a:lnRef>
        <a:fillRef idx="1">
          <a:schemeClr val="accent2">
            <a:hueOff val="1200000"/>
            <a:satOff val="13333"/>
            <a:lumOff val="-8234"/>
            <a:alpha val="100000"/>
          </a:schemeClr>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000" dirty="0" smtClean="0">
              <a:solidFill>
                <a:schemeClr val="tx1"/>
              </a:solidFill>
            </a:rPr>
            <a:t>(5)</a:t>
          </a:r>
          <a:r>
            <a:rPr lang="zh-CN" sz="2000" dirty="0" smtClean="0">
              <a:solidFill>
                <a:schemeClr val="tx1"/>
              </a:solidFill>
            </a:rPr>
            <a:t>单元格区域</a:t>
          </a:r>
          <a:endParaRPr lang="zh-CN" sz="2000" dirty="0">
            <a:solidFill>
              <a:schemeClr val="tx1"/>
            </a:solidFill>
          </a:endParaRPr>
        </a:p>
      </dsp:txBody>
      <dsp:txXfrm>
        <a:off x="6177286" y="771530"/>
        <a:ext cx="1323704" cy="1028707"/>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929486" cy="3429024"/>
        <a:chOff x="0" y="0"/>
        <a:chExt cx="6929486" cy="3429024"/>
      </a:xfrm>
    </dsp:grpSpPr>
    <dsp:sp modelId="{369682CE-419B-430B-8499-4BB54462A8CB}">
      <dsp:nvSpPr>
        <dsp:cNvPr id="4" name="右箭头 3"/>
        <dsp:cNvSpPr/>
      </dsp:nvSpPr>
      <dsp:spPr bwMode="white">
        <a:xfrm>
          <a:off x="2771794" y="0"/>
          <a:ext cx="4157692" cy="527542"/>
        </a:xfrm>
        <a:prstGeom prst="rightArrow">
          <a:avLst>
            <a:gd name="adj1" fmla="val 75000"/>
            <a:gd name="adj2" fmla="val 50000"/>
          </a:avLst>
        </a:prstGeom>
      </dsp:spPr>
      <dsp:style>
        <a:lnRef idx="2">
          <a:schemeClr val="accent2">
            <a:tint val="40000"/>
            <a:alpha val="90000"/>
            <a:hueOff val="0"/>
            <a:satOff val="0"/>
            <a:lumOff val="0"/>
            <a:alpha val="90196"/>
          </a:schemeClr>
        </a:lnRef>
        <a:fillRef idx="1">
          <a:schemeClr val="accent2">
            <a:tint val="40000"/>
            <a:alpha val="90000"/>
            <a:hueOff val="0"/>
            <a:satOff val="0"/>
            <a:lumOff val="0"/>
            <a:alpha val="90196"/>
          </a:schemeClr>
        </a:fillRef>
        <a:effectRef idx="0">
          <a:scrgbClr r="0" g="0" b="0"/>
        </a:effectRef>
        <a:fontRef idx="minor"/>
      </dsp:style>
      <dsp:txBody>
        <a:bodyPr lIns="10160" tIns="10160" rIns="10160" bIns="1016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l">
            <a:lnSpc>
              <a:spcPct val="100000"/>
            </a:lnSpc>
            <a:spcBef>
              <a:spcPct val="0"/>
            </a:spcBef>
            <a:spcAft>
              <a:spcPct val="15000"/>
            </a:spcAft>
            <a:buChar char="•"/>
          </a:pPr>
          <a:r>
            <a:rPr lang="en-US" sz="1600" b="0" dirty="0" smtClean="0">
              <a:solidFill>
                <a:schemeClr val="tx1"/>
              </a:solidFill>
            </a:rPr>
            <a:t>AVERAGE,COUNT,COUNTA,COUNTIF,COUNTIFS,COUNTBLANK, MAX, MIN</a:t>
          </a:r>
          <a:endParaRPr lang="zh-CN" altLang="en-US" sz="1600" b="0" dirty="0">
            <a:solidFill>
              <a:schemeClr val="tx1"/>
            </a:solidFill>
          </a:endParaRPr>
        </a:p>
      </dsp:txBody>
      <dsp:txXfrm>
        <a:off x="2771794" y="0"/>
        <a:ext cx="4157692" cy="527542"/>
      </dsp:txXfrm>
    </dsp:sp>
    <dsp:sp modelId="{E9D4A7C4-29E9-47CD-890D-429642C30FE7}">
      <dsp:nvSpPr>
        <dsp:cNvPr id="3" name="圆角矩形 2"/>
        <dsp:cNvSpPr/>
      </dsp:nvSpPr>
      <dsp:spPr bwMode="white">
        <a:xfrm>
          <a:off x="0" y="0"/>
          <a:ext cx="2771794" cy="527542"/>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b="0" dirty="0" smtClean="0">
              <a:solidFill>
                <a:schemeClr val="tx1"/>
              </a:solidFill>
            </a:rPr>
            <a:t>(1)</a:t>
          </a:r>
          <a:r>
            <a:rPr lang="zh-CN" sz="1800" b="0" dirty="0" smtClean="0">
              <a:solidFill>
                <a:schemeClr val="tx1"/>
              </a:solidFill>
            </a:rPr>
            <a:t>统计函</a:t>
          </a:r>
          <a:endParaRPr lang="zh-CN" sz="1800" b="0" dirty="0">
            <a:solidFill>
              <a:schemeClr val="tx1"/>
            </a:solidFill>
          </a:endParaRPr>
        </a:p>
      </dsp:txBody>
      <dsp:txXfrm>
        <a:off x="0" y="0"/>
        <a:ext cx="2771794" cy="527542"/>
      </dsp:txXfrm>
    </dsp:sp>
    <dsp:sp modelId="{8EECE64E-229A-4352-AD3B-86A8C465CBA9}">
      <dsp:nvSpPr>
        <dsp:cNvPr id="6" name="右箭头 5"/>
        <dsp:cNvSpPr/>
      </dsp:nvSpPr>
      <dsp:spPr bwMode="white">
        <a:xfrm>
          <a:off x="2771794" y="580296"/>
          <a:ext cx="4157692" cy="527542"/>
        </a:xfrm>
        <a:prstGeom prst="rightArrow">
          <a:avLst>
            <a:gd name="adj1" fmla="val 75000"/>
            <a:gd name="adj2" fmla="val 50000"/>
          </a:avLst>
        </a:prstGeom>
      </dsp:spPr>
      <dsp:style>
        <a:lnRef idx="2">
          <a:schemeClr val="accent2">
            <a:tint val="40000"/>
            <a:alpha val="90000"/>
            <a:hueOff val="240000"/>
            <a:satOff val="1412"/>
            <a:lumOff val="0"/>
            <a:alpha val="90196"/>
          </a:schemeClr>
        </a:lnRef>
        <a:fillRef idx="1">
          <a:schemeClr val="accent2">
            <a:tint val="40000"/>
            <a:alpha val="90000"/>
            <a:hueOff val="240000"/>
            <a:satOff val="1412"/>
            <a:lumOff val="0"/>
            <a:alpha val="90196"/>
          </a:schemeClr>
        </a:fillRef>
        <a:effectRef idx="0">
          <a:scrgbClr r="0" g="0" b="0"/>
        </a:effectRef>
        <a:fontRef idx="minor"/>
      </dsp:style>
      <dsp:txBody>
        <a:bodyPr lIns="10160" tIns="10160" rIns="10160" bIns="1016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l">
            <a:lnSpc>
              <a:spcPct val="100000"/>
            </a:lnSpc>
            <a:spcBef>
              <a:spcPct val="0"/>
            </a:spcBef>
            <a:spcAft>
              <a:spcPct val="15000"/>
            </a:spcAft>
            <a:buChar char="•"/>
          </a:pPr>
          <a:r>
            <a:rPr lang="en-US" sz="1600" b="0" dirty="0" smtClean="0">
              <a:solidFill>
                <a:schemeClr val="tx1"/>
              </a:solidFill>
            </a:rPr>
            <a:t>:SUM,SUMIF, RAND,ROUND,TRUNC</a:t>
          </a:r>
          <a:endParaRPr lang="zh-CN" altLang="en-US" sz="1600" b="0" dirty="0">
            <a:solidFill>
              <a:schemeClr val="tx1"/>
            </a:solidFill>
          </a:endParaRPr>
        </a:p>
      </dsp:txBody>
      <dsp:txXfrm>
        <a:off x="2771794" y="580296"/>
        <a:ext cx="4157692" cy="527542"/>
      </dsp:txXfrm>
    </dsp:sp>
    <dsp:sp modelId="{66A9B2A5-225D-4CFA-9793-0181D76563C8}">
      <dsp:nvSpPr>
        <dsp:cNvPr id="5" name="圆角矩形 4"/>
        <dsp:cNvSpPr/>
      </dsp:nvSpPr>
      <dsp:spPr bwMode="white">
        <a:xfrm>
          <a:off x="0" y="580296"/>
          <a:ext cx="2771794" cy="527542"/>
        </a:xfrm>
        <a:prstGeom prst="roundRect">
          <a:avLst/>
        </a:prstGeom>
      </dsp:spPr>
      <dsp:style>
        <a:lnRef idx="2">
          <a:schemeClr val="lt1"/>
        </a:lnRef>
        <a:fillRef idx="1">
          <a:schemeClr val="accent2">
            <a:hueOff val="240000"/>
            <a:satOff val="2667"/>
            <a:lumOff val="-1646"/>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b="0" dirty="0" smtClean="0">
              <a:solidFill>
                <a:schemeClr val="tx1"/>
              </a:solidFill>
            </a:rPr>
            <a:t>(2)</a:t>
          </a:r>
          <a:r>
            <a:rPr lang="zh-CN" sz="1800" b="0" dirty="0" smtClean="0">
              <a:solidFill>
                <a:schemeClr val="tx1"/>
              </a:solidFill>
            </a:rPr>
            <a:t>数学与三角函数</a:t>
          </a:r>
          <a:endParaRPr lang="zh-CN" sz="1800" b="0" dirty="0">
            <a:solidFill>
              <a:schemeClr val="tx1"/>
            </a:solidFill>
          </a:endParaRPr>
        </a:p>
      </dsp:txBody>
      <dsp:txXfrm>
        <a:off x="0" y="580296"/>
        <a:ext cx="2771794" cy="527542"/>
      </dsp:txXfrm>
    </dsp:sp>
    <dsp:sp modelId="{12256BE8-A4C4-4584-BCF1-7C865C6C60D6}">
      <dsp:nvSpPr>
        <dsp:cNvPr id="8" name="右箭头 7"/>
        <dsp:cNvSpPr/>
      </dsp:nvSpPr>
      <dsp:spPr bwMode="white">
        <a:xfrm>
          <a:off x="2771794" y="1160593"/>
          <a:ext cx="4157692" cy="527542"/>
        </a:xfrm>
        <a:prstGeom prst="rightArrow">
          <a:avLst>
            <a:gd name="adj1" fmla="val 75000"/>
            <a:gd name="adj2" fmla="val 50000"/>
          </a:avLst>
        </a:prstGeom>
      </dsp:spPr>
      <dsp:style>
        <a:lnRef idx="2">
          <a:schemeClr val="accent2">
            <a:tint val="40000"/>
            <a:alpha val="90000"/>
            <a:hueOff val="480000"/>
            <a:satOff val="2824"/>
            <a:lumOff val="0"/>
            <a:alpha val="90196"/>
          </a:schemeClr>
        </a:lnRef>
        <a:fillRef idx="1">
          <a:schemeClr val="accent2">
            <a:tint val="40000"/>
            <a:alpha val="90000"/>
            <a:hueOff val="480000"/>
            <a:satOff val="2824"/>
            <a:lumOff val="0"/>
            <a:alpha val="90196"/>
          </a:schemeClr>
        </a:fillRef>
        <a:effectRef idx="0">
          <a:scrgbClr r="0" g="0" b="0"/>
        </a:effectRef>
        <a:fontRef idx="minor"/>
      </dsp:style>
      <dsp:txBody>
        <a:bodyPr lIns="10160" tIns="10160" rIns="10160" bIns="1016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l" rtl="0">
            <a:lnSpc>
              <a:spcPct val="100000"/>
            </a:lnSpc>
            <a:spcBef>
              <a:spcPct val="0"/>
            </a:spcBef>
            <a:spcAft>
              <a:spcPct val="15000"/>
            </a:spcAft>
            <a:buChar char="•"/>
          </a:pPr>
          <a:r>
            <a:rPr lang="en-US" sz="1600" b="0" dirty="0" smtClean="0">
              <a:solidFill>
                <a:schemeClr val="tx1"/>
              </a:solidFill>
            </a:rPr>
            <a:t>:IF,AND,OR</a:t>
          </a:r>
          <a:endParaRPr lang="zh-CN" altLang="en-US" sz="1600" b="0" dirty="0">
            <a:solidFill>
              <a:schemeClr val="tx1"/>
            </a:solidFill>
          </a:endParaRPr>
        </a:p>
      </dsp:txBody>
      <dsp:txXfrm>
        <a:off x="2771794" y="1160593"/>
        <a:ext cx="4157692" cy="527542"/>
      </dsp:txXfrm>
    </dsp:sp>
    <dsp:sp modelId="{0637493F-605D-4C77-BA7D-4CF740A2DEAD}">
      <dsp:nvSpPr>
        <dsp:cNvPr id="7" name="圆角矩形 6"/>
        <dsp:cNvSpPr/>
      </dsp:nvSpPr>
      <dsp:spPr bwMode="white">
        <a:xfrm>
          <a:off x="0" y="1160593"/>
          <a:ext cx="2771794" cy="527542"/>
        </a:xfrm>
        <a:prstGeom prst="roundRect">
          <a:avLst/>
        </a:prstGeom>
      </dsp:spPr>
      <dsp:style>
        <a:lnRef idx="2">
          <a:schemeClr val="lt1"/>
        </a:lnRef>
        <a:fillRef idx="1">
          <a:schemeClr val="accent2">
            <a:hueOff val="480000"/>
            <a:satOff val="5333"/>
            <a:lumOff val="-3293"/>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b="0" dirty="0" smtClean="0">
              <a:solidFill>
                <a:schemeClr val="tx1"/>
              </a:solidFill>
            </a:rPr>
            <a:t>(3)</a:t>
          </a:r>
          <a:r>
            <a:rPr lang="zh-CN" sz="1800" b="0" dirty="0" smtClean="0">
              <a:solidFill>
                <a:schemeClr val="tx1"/>
              </a:solidFill>
            </a:rPr>
            <a:t>逻辑函数</a:t>
          </a:r>
          <a:endParaRPr lang="zh-CN" sz="1800" b="0" dirty="0">
            <a:solidFill>
              <a:schemeClr val="tx1"/>
            </a:solidFill>
          </a:endParaRPr>
        </a:p>
      </dsp:txBody>
      <dsp:txXfrm>
        <a:off x="0" y="1160593"/>
        <a:ext cx="2771794" cy="527542"/>
      </dsp:txXfrm>
    </dsp:sp>
    <dsp:sp modelId="{8307D79A-07CB-45F7-8E83-92D255B8E2F9}">
      <dsp:nvSpPr>
        <dsp:cNvPr id="10" name="右箭头 9"/>
        <dsp:cNvSpPr/>
      </dsp:nvSpPr>
      <dsp:spPr bwMode="white">
        <a:xfrm>
          <a:off x="2771794" y="1740889"/>
          <a:ext cx="4157692" cy="527542"/>
        </a:xfrm>
        <a:prstGeom prst="rightArrow">
          <a:avLst>
            <a:gd name="adj1" fmla="val 75000"/>
            <a:gd name="adj2" fmla="val 50000"/>
          </a:avLst>
        </a:prstGeom>
      </dsp:spPr>
      <dsp:style>
        <a:lnRef idx="2">
          <a:schemeClr val="accent2">
            <a:tint val="40000"/>
            <a:alpha val="90000"/>
            <a:hueOff val="720000"/>
            <a:satOff val="4235"/>
            <a:lumOff val="0"/>
            <a:alpha val="90196"/>
          </a:schemeClr>
        </a:lnRef>
        <a:fillRef idx="1">
          <a:schemeClr val="accent2">
            <a:tint val="40000"/>
            <a:alpha val="90000"/>
            <a:hueOff val="720000"/>
            <a:satOff val="4235"/>
            <a:lumOff val="0"/>
            <a:alpha val="90196"/>
          </a:schemeClr>
        </a:fillRef>
        <a:effectRef idx="0">
          <a:scrgbClr r="0" g="0" b="0"/>
        </a:effectRef>
        <a:fontRef idx="minor"/>
      </dsp:style>
      <dsp:txBody>
        <a:bodyPr lIns="10160" tIns="10160" rIns="10160" bIns="1016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l">
            <a:lnSpc>
              <a:spcPct val="100000"/>
            </a:lnSpc>
            <a:spcBef>
              <a:spcPct val="0"/>
            </a:spcBef>
            <a:spcAft>
              <a:spcPct val="15000"/>
            </a:spcAft>
            <a:buChar char="•"/>
          </a:pPr>
          <a:r>
            <a:rPr lang="en-US" sz="1600" b="0" dirty="0" smtClean="0">
              <a:solidFill>
                <a:schemeClr val="tx1"/>
              </a:solidFill>
            </a:rPr>
            <a:t>:LEN,LEFT,RIGHT,MID</a:t>
          </a:r>
          <a:endParaRPr lang="zh-CN" altLang="en-US" sz="1600" b="0" dirty="0">
            <a:solidFill>
              <a:schemeClr val="tx1"/>
            </a:solidFill>
          </a:endParaRPr>
        </a:p>
      </dsp:txBody>
      <dsp:txXfrm>
        <a:off x="2771794" y="1740889"/>
        <a:ext cx="4157692" cy="527542"/>
      </dsp:txXfrm>
    </dsp:sp>
    <dsp:sp modelId="{B4178FD3-DE3E-40D4-AFA3-AC9F7AC49A1F}">
      <dsp:nvSpPr>
        <dsp:cNvPr id="9" name="圆角矩形 8"/>
        <dsp:cNvSpPr/>
      </dsp:nvSpPr>
      <dsp:spPr bwMode="white">
        <a:xfrm>
          <a:off x="0" y="1740889"/>
          <a:ext cx="2771794" cy="527542"/>
        </a:xfrm>
        <a:prstGeom prst="roundRect">
          <a:avLst/>
        </a:prstGeom>
      </dsp:spPr>
      <dsp:style>
        <a:lnRef idx="2">
          <a:schemeClr val="lt1"/>
        </a:lnRef>
        <a:fillRef idx="1">
          <a:schemeClr val="accent2">
            <a:hueOff val="720000"/>
            <a:satOff val="8000"/>
            <a:lumOff val="-4940"/>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b="0" dirty="0" smtClean="0">
              <a:solidFill>
                <a:schemeClr val="tx1"/>
              </a:solidFill>
            </a:rPr>
            <a:t>(4)</a:t>
          </a:r>
          <a:r>
            <a:rPr lang="zh-CN" sz="1800" b="0" dirty="0" smtClean="0">
              <a:solidFill>
                <a:schemeClr val="tx1"/>
              </a:solidFill>
            </a:rPr>
            <a:t>文本函数</a:t>
          </a:r>
          <a:endParaRPr lang="zh-CN" sz="1800" b="0" dirty="0">
            <a:solidFill>
              <a:schemeClr val="tx1"/>
            </a:solidFill>
          </a:endParaRPr>
        </a:p>
      </dsp:txBody>
      <dsp:txXfrm>
        <a:off x="0" y="1740889"/>
        <a:ext cx="2771794" cy="527542"/>
      </dsp:txXfrm>
    </dsp:sp>
    <dsp:sp modelId="{F529C340-DE1A-4691-A315-D842087D0A3B}">
      <dsp:nvSpPr>
        <dsp:cNvPr id="12" name="右箭头 11"/>
        <dsp:cNvSpPr/>
      </dsp:nvSpPr>
      <dsp:spPr bwMode="white">
        <a:xfrm>
          <a:off x="2771794" y="2321185"/>
          <a:ext cx="4157692" cy="527542"/>
        </a:xfrm>
        <a:prstGeom prst="rightArrow">
          <a:avLst>
            <a:gd name="adj1" fmla="val 75000"/>
            <a:gd name="adj2" fmla="val 50000"/>
          </a:avLst>
        </a:prstGeom>
      </dsp:spPr>
      <dsp:style>
        <a:lnRef idx="2">
          <a:schemeClr val="accent2">
            <a:tint val="40000"/>
            <a:alpha val="90000"/>
            <a:hueOff val="960000"/>
            <a:satOff val="5647"/>
            <a:lumOff val="0"/>
            <a:alpha val="90196"/>
          </a:schemeClr>
        </a:lnRef>
        <a:fillRef idx="1">
          <a:schemeClr val="accent2">
            <a:tint val="40000"/>
            <a:alpha val="90000"/>
            <a:hueOff val="960000"/>
            <a:satOff val="5647"/>
            <a:lumOff val="0"/>
            <a:alpha val="90196"/>
          </a:schemeClr>
        </a:fillRef>
        <a:effectRef idx="0">
          <a:scrgbClr r="0" g="0" b="0"/>
        </a:effectRef>
        <a:fontRef idx="minor"/>
      </dsp:style>
      <dsp:txBody>
        <a:bodyPr lIns="10160" tIns="10160" rIns="10160" bIns="1016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l">
            <a:lnSpc>
              <a:spcPct val="100000"/>
            </a:lnSpc>
            <a:spcBef>
              <a:spcPct val="0"/>
            </a:spcBef>
            <a:spcAft>
              <a:spcPct val="15000"/>
            </a:spcAft>
            <a:buChar char="•"/>
          </a:pPr>
          <a:r>
            <a:rPr lang="en-US" sz="1600" b="0" dirty="0" smtClean="0">
              <a:solidFill>
                <a:schemeClr val="tx1"/>
              </a:solidFill>
            </a:rPr>
            <a:t>:LOOKUP,VLOOKUP</a:t>
          </a:r>
          <a:endParaRPr lang="zh-CN" altLang="en-US" sz="1600" b="0" dirty="0">
            <a:solidFill>
              <a:schemeClr val="tx1"/>
            </a:solidFill>
          </a:endParaRPr>
        </a:p>
      </dsp:txBody>
      <dsp:txXfrm>
        <a:off x="2771794" y="2321185"/>
        <a:ext cx="4157692" cy="527542"/>
      </dsp:txXfrm>
    </dsp:sp>
    <dsp:sp modelId="{1C6DDB6B-BE32-4C52-AF86-E08A003F609A}">
      <dsp:nvSpPr>
        <dsp:cNvPr id="11" name="圆角矩形 10"/>
        <dsp:cNvSpPr/>
      </dsp:nvSpPr>
      <dsp:spPr bwMode="white">
        <a:xfrm>
          <a:off x="0" y="2321185"/>
          <a:ext cx="2771794" cy="527542"/>
        </a:xfrm>
        <a:prstGeom prst="roundRect">
          <a:avLst/>
        </a:prstGeom>
      </dsp:spPr>
      <dsp:style>
        <a:lnRef idx="2">
          <a:schemeClr val="lt1"/>
        </a:lnRef>
        <a:fillRef idx="1">
          <a:schemeClr val="accent2">
            <a:hueOff val="960000"/>
            <a:satOff val="10667"/>
            <a:lumOff val="-6587"/>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b="0" dirty="0" smtClean="0">
              <a:solidFill>
                <a:schemeClr val="tx1"/>
              </a:solidFill>
            </a:rPr>
            <a:t>(5)</a:t>
          </a:r>
          <a:r>
            <a:rPr lang="zh-CN" sz="1800" b="0" dirty="0" smtClean="0">
              <a:solidFill>
                <a:schemeClr val="tx1"/>
              </a:solidFill>
            </a:rPr>
            <a:t>查找与引用函数</a:t>
          </a:r>
          <a:endParaRPr lang="zh-CN" sz="1800" b="0" dirty="0">
            <a:solidFill>
              <a:schemeClr val="tx1"/>
            </a:solidFill>
          </a:endParaRPr>
        </a:p>
      </dsp:txBody>
      <dsp:txXfrm>
        <a:off x="0" y="2321185"/>
        <a:ext cx="2771794" cy="527542"/>
      </dsp:txXfrm>
    </dsp:sp>
    <dsp:sp modelId="{AED301F8-5378-4408-9253-CAFB337F0B07}">
      <dsp:nvSpPr>
        <dsp:cNvPr id="14" name="右箭头 13"/>
        <dsp:cNvSpPr/>
      </dsp:nvSpPr>
      <dsp:spPr bwMode="white">
        <a:xfrm>
          <a:off x="2771794" y="2901482"/>
          <a:ext cx="4157692" cy="527542"/>
        </a:xfrm>
        <a:prstGeom prst="rightArrow">
          <a:avLst>
            <a:gd name="adj1" fmla="val 75000"/>
            <a:gd name="adj2" fmla="val 50000"/>
          </a:avLst>
        </a:prstGeom>
      </dsp:spPr>
      <dsp:style>
        <a:lnRef idx="2">
          <a:schemeClr val="accent2">
            <a:tint val="40000"/>
            <a:alpha val="90000"/>
            <a:hueOff val="1200000"/>
            <a:satOff val="7059"/>
            <a:lumOff val="0"/>
            <a:alpha val="90196"/>
          </a:schemeClr>
        </a:lnRef>
        <a:fillRef idx="1">
          <a:schemeClr val="accent2">
            <a:tint val="40000"/>
            <a:alpha val="90000"/>
            <a:hueOff val="1200000"/>
            <a:satOff val="7059"/>
            <a:lumOff val="0"/>
            <a:alpha val="90196"/>
          </a:schemeClr>
        </a:fillRef>
        <a:effectRef idx="0">
          <a:scrgbClr r="0" g="0" b="0"/>
        </a:effectRef>
        <a:fontRef idx="minor"/>
      </dsp:style>
      <dsp:txBody>
        <a:bodyPr lIns="10160" tIns="10160" rIns="10160" bIns="10160"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gn="l" rtl="0">
            <a:lnSpc>
              <a:spcPct val="100000"/>
            </a:lnSpc>
            <a:spcBef>
              <a:spcPct val="0"/>
            </a:spcBef>
            <a:spcAft>
              <a:spcPct val="15000"/>
            </a:spcAft>
            <a:buChar char="•"/>
          </a:pPr>
          <a:r>
            <a:rPr lang="en-US" sz="1600" b="0" dirty="0" smtClean="0">
              <a:solidFill>
                <a:schemeClr val="tx1"/>
              </a:solidFill>
            </a:rPr>
            <a:t>:TODAY,YEAR,MONTH,DAY,NOW</a:t>
          </a:r>
          <a:endParaRPr lang="zh-CN" altLang="en-US" sz="1600" b="0" dirty="0">
            <a:solidFill>
              <a:schemeClr val="tx1"/>
            </a:solidFill>
          </a:endParaRPr>
        </a:p>
      </dsp:txBody>
      <dsp:txXfrm>
        <a:off x="2771794" y="2901482"/>
        <a:ext cx="4157692" cy="527542"/>
      </dsp:txXfrm>
    </dsp:sp>
    <dsp:sp modelId="{D26681BE-B00A-4862-8232-4CD1C40AD3E6}">
      <dsp:nvSpPr>
        <dsp:cNvPr id="13" name="圆角矩形 12"/>
        <dsp:cNvSpPr/>
      </dsp:nvSpPr>
      <dsp:spPr bwMode="white">
        <a:xfrm>
          <a:off x="0" y="2901482"/>
          <a:ext cx="2771794" cy="527542"/>
        </a:xfrm>
        <a:prstGeom prst="roundRect">
          <a:avLst/>
        </a:prstGeom>
      </dsp:spPr>
      <dsp:style>
        <a:lnRef idx="2">
          <a:schemeClr val="lt1"/>
        </a:lnRef>
        <a:fillRef idx="1">
          <a:schemeClr val="accent2">
            <a:hueOff val="1200000"/>
            <a:satOff val="13333"/>
            <a:lumOff val="-8234"/>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b="0" dirty="0" smtClean="0">
              <a:solidFill>
                <a:schemeClr val="tx1"/>
              </a:solidFill>
            </a:rPr>
            <a:t>(6)</a:t>
          </a:r>
          <a:r>
            <a:rPr lang="zh-CN" sz="1800" b="0" dirty="0" smtClean="0">
              <a:solidFill>
                <a:schemeClr val="tx1"/>
              </a:solidFill>
            </a:rPr>
            <a:t>日期与时间函数</a:t>
          </a:r>
          <a:endParaRPr lang="zh-CN" sz="1800" b="0" dirty="0">
            <a:solidFill>
              <a:schemeClr val="tx1"/>
            </a:solidFill>
          </a:endParaRPr>
        </a:p>
      </dsp:txBody>
      <dsp:txXfrm>
        <a:off x="0" y="2901482"/>
        <a:ext cx="2771794" cy="52754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nodeVertAlign" val="t"/>
          <dgm:param type="vertAlign" val="mid"/>
          <dgm:param type="nodeHorzAlign" val="l"/>
          <dgm:param type="fallback" val="2D"/>
        </dgm:alg>
      </dgm:if>
      <dgm:else name="Name3">
        <dgm:alg type="lin">
          <dgm:param type="linDir" val="fromT"/>
          <dgm:param type="nodeVertAlign" val="t"/>
          <dgm:param type="vertAlign" val="mid"/>
          <dgm:param type="nodeHorzAlign" val="r"/>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VertAlign" val="mid"/>
              <dgm:param type="nodeHorzAlign" val="l"/>
              <dgm:param type="fallback" val="2D"/>
            </dgm:alg>
          </dgm:if>
          <dgm:else name="Name7">
            <dgm:alg type="lin">
              <dgm:param type="linDir" val="fromR"/>
              <dgm:param type="nodeVertAlign" val="mid"/>
              <dgm:param type="nodeHorzAlign" val="r"/>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type="chevron" r:blip="" rot="180">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type="chevron" r:blip="" rot="180">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32BC719-7C55-4B95-8FD5-639CCFF7729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jpeg"/><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3.xml"/><Relationship Id="rId7" Type="http://schemas.openxmlformats.org/officeDocument/2006/relationships/diagramColors" Target="../diagrams/colors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3" Type="http://schemas.openxmlformats.org/officeDocument/2006/relationships/image" Target="../media/image10.jpeg"/><Relationship Id="rId2" Type="http://schemas.openxmlformats.org/officeDocument/2006/relationships/image" Target="../media/image2.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2.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2.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2.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image" Target="../media/image33.png"/><Relationship Id="rId5" Type="http://schemas.openxmlformats.org/officeDocument/2006/relationships/tags" Target="../tags/tag1.xml"/><Relationship Id="rId4" Type="http://schemas.openxmlformats.org/officeDocument/2006/relationships/image" Target="../media/image32.jpeg"/><Relationship Id="rId3" Type="http://schemas.openxmlformats.org/officeDocument/2006/relationships/image" Target="../media/image15.jpeg"/><Relationship Id="rId2" Type="http://schemas.openxmlformats.org/officeDocument/2006/relationships/image" Target="../media/image2.jpeg"/><Relationship Id="rId12" Type="http://schemas.openxmlformats.org/officeDocument/2006/relationships/slideLayout" Target="../slideLayouts/slideLayout2.xml"/><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4.xml"/><Relationship Id="rId7" Type="http://schemas.openxmlformats.org/officeDocument/2006/relationships/diagramColors" Target="../diagrams/colors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5.xml"/><Relationship Id="rId7" Type="http://schemas.openxmlformats.org/officeDocument/2006/relationships/diagramColors" Target="../diagrams/colors5.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7.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0.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1.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42.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5.jpeg"/><Relationship Id="rId4" Type="http://schemas.openxmlformats.org/officeDocument/2006/relationships/image" Target="../media/image44.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6.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5" name="图示 4"/>
          <p:cNvGraphicFramePr/>
          <p:nvPr/>
        </p:nvGraphicFramePr>
        <p:xfrm>
          <a:off x="3191034" y="2276872"/>
          <a:ext cx="6172200"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副标题 2"/>
          <p:cNvSpPr>
            <a:spLocks noGrp="1"/>
          </p:cNvSpPr>
          <p:nvPr>
            <p:ph type="subTitle" idx="1"/>
          </p:nvPr>
        </p:nvSpPr>
        <p:spPr/>
        <p:txBody>
          <a:bodyPr/>
          <a:lstStyle/>
          <a:p>
            <a:r>
              <a:rPr lang="zh-CN" altLang="en-US" dirty="0" smtClean="0">
                <a:solidFill>
                  <a:schemeClr val="accent1">
                    <a:lumMod val="75000"/>
                  </a:schemeClr>
                </a:solidFill>
                <a:effectLst>
                  <a:outerShdw blurRad="38100" dist="38100" dir="2700000" algn="tl">
                    <a:srgbClr val="000000">
                      <a:alpha val="43137"/>
                    </a:srgbClr>
                  </a:outerShdw>
                </a:effectLst>
              </a:rPr>
              <a:t> </a:t>
            </a:r>
            <a:endParaRPr lang="zh-CN" altLang="en-US" dirty="0">
              <a:solidFill>
                <a:schemeClr val="accent1">
                  <a:lumMod val="75000"/>
                </a:schemeClr>
              </a:solidFill>
              <a:effectLst>
                <a:outerShdw blurRad="38100" dist="38100" dir="2700000" algn="tl">
                  <a:srgbClr val="000000">
                    <a:alpha val="43137"/>
                  </a:srgbClr>
                </a:outerShdw>
              </a:effectLst>
            </a:endParaRPr>
          </a:p>
        </p:txBody>
      </p:sp>
      <p:sp>
        <p:nvSpPr>
          <p:cNvPr id="4" name="TextBox 3"/>
          <p:cNvSpPr txBox="1"/>
          <p:nvPr/>
        </p:nvSpPr>
        <p:spPr>
          <a:xfrm>
            <a:off x="5303912" y="188640"/>
            <a:ext cx="5184576" cy="368300"/>
          </a:xfrm>
          <a:prstGeom prst="rect">
            <a:avLst/>
          </a:prstGeom>
          <a:noFill/>
        </p:spPr>
        <p:txBody>
          <a:bodyPr wrap="square" rtlCol="0">
            <a:spAutoFit/>
          </a:bodyPr>
          <a:lstStyle/>
          <a:p>
            <a:pPr algn="r"/>
            <a:r>
              <a:rPr lang="en-US" altLang="zh-CN" dirty="0" smtClean="0">
                <a:solidFill>
                  <a:schemeClr val="accent1">
                    <a:lumMod val="75000"/>
                  </a:schemeClr>
                </a:solidFill>
              </a:rPr>
              <a:t> </a:t>
            </a:r>
            <a:endParaRPr lang="zh-CN" altLang="zh-CN"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sz="quarter" idx="1"/>
          </p:nvPr>
        </p:nvGraphicFramePr>
        <p:xfrm>
          <a:off x="2881290" y="1857364"/>
          <a:ext cx="6567510" cy="4616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标题 1"/>
          <p:cNvSpPr>
            <a:spLocks noGrp="1"/>
          </p:cNvSpPr>
          <p:nvPr>
            <p:ph type="title"/>
          </p:nvPr>
        </p:nvSpPr>
        <p:spPr>
          <a:xfrm>
            <a:off x="702310"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7" cstate="print"/>
          <a:stretch>
            <a:fillRect/>
          </a:stretch>
        </p:blipFill>
        <p:spPr>
          <a:xfrm>
            <a:off x="1703512" y="188640"/>
            <a:ext cx="1079640" cy="1250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7" name="4A0.EPS" descr="id:2147494342;FounderCES"/>
          <p:cNvPicPr/>
          <p:nvPr/>
        </p:nvPicPr>
        <p:blipFill>
          <a:blip r:embed="rId2"/>
          <a:stretch>
            <a:fillRect/>
          </a:stretch>
        </p:blipFill>
        <p:spPr>
          <a:xfrm>
            <a:off x="3167042" y="1500174"/>
            <a:ext cx="6357982" cy="4786346"/>
          </a:xfrm>
          <a:prstGeom prst="rect">
            <a:avLst/>
          </a:prstGeom>
        </p:spPr>
        <p:style>
          <a:lnRef idx="1">
            <a:schemeClr val="accent3"/>
          </a:lnRef>
          <a:fillRef idx="3">
            <a:schemeClr val="accent3"/>
          </a:fillRef>
          <a:effectRef idx="2">
            <a:schemeClr val="accent3"/>
          </a:effectRef>
          <a:fontRef idx="minor">
            <a:schemeClr val="lt1"/>
          </a:fontRef>
        </p:style>
      </p:pic>
      <p:sp>
        <p:nvSpPr>
          <p:cNvPr id="2" name="标题 1"/>
          <p:cNvSpPr>
            <a:spLocks noGrp="1"/>
          </p:cNvSpPr>
          <p:nvPr>
            <p:ph type="title"/>
          </p:nvPr>
        </p:nvSpPr>
        <p:spPr>
          <a:xfrm>
            <a:off x="250825"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3" cstate="print"/>
          <a:stretch>
            <a:fillRect/>
          </a:stretch>
        </p:blipFill>
        <p:spPr>
          <a:xfrm>
            <a:off x="1703512" y="188640"/>
            <a:ext cx="1079640" cy="1250640"/>
          </a:xfrm>
          <a:prstGeom prst="rect">
            <a:avLst/>
          </a:prstGeom>
        </p:spPr>
      </p:pic>
      <p:pic>
        <p:nvPicPr>
          <p:cNvPr id="6" name="知识导论.EPS" descr="id:2147494335;FounderCES"/>
          <p:cNvPicPr/>
          <p:nvPr/>
        </p:nvPicPr>
        <p:blipFill>
          <a:blip r:embed="rId4"/>
          <a:stretch>
            <a:fillRect/>
          </a:stretch>
        </p:blipFill>
        <p:spPr>
          <a:xfrm>
            <a:off x="2024034" y="1857364"/>
            <a:ext cx="2000264" cy="642942"/>
          </a:xfrm>
          <a:prstGeom prst="rect">
            <a:avLst/>
          </a:prstGeom>
        </p:spPr>
        <p:style>
          <a:lnRef idx="1">
            <a:schemeClr val="accent3"/>
          </a:lnRef>
          <a:fillRef idx="3">
            <a:schemeClr val="accent3"/>
          </a:fillRef>
          <a:effectRef idx="2">
            <a:schemeClr val="accent3"/>
          </a:effectRef>
          <a:fontRef idx="minor">
            <a:schemeClr val="lt1"/>
          </a:fontRef>
        </p:style>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p:txBody>
          <a:bodyPr>
            <a:noAutofit/>
          </a:bodyPr>
          <a:lstStyle/>
          <a:p>
            <a:pPr>
              <a:lnSpc>
                <a:spcPct val="150000"/>
              </a:lnSpc>
            </a:pPr>
            <a:r>
              <a:rPr lang="en-US" dirty="0" smtClean="0"/>
              <a:t>4.1</a:t>
            </a:r>
            <a:r>
              <a:rPr lang="zh-CN" altLang="en-US" dirty="0" smtClean="0"/>
              <a:t>　</a:t>
            </a:r>
            <a:r>
              <a:rPr lang="en-US" dirty="0" smtClean="0"/>
              <a:t>Excel</a:t>
            </a:r>
            <a:r>
              <a:rPr lang="zh-CN" altLang="en-US" dirty="0" smtClean="0"/>
              <a:t>基本知识</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sz="2000" dirty="0" smtClean="0"/>
              <a:t>※ </a:t>
            </a:r>
            <a:r>
              <a:rPr lang="zh-CN" altLang="en-US" sz="2000" dirty="0" smtClean="0"/>
              <a:t>学会启动和退出</a:t>
            </a:r>
            <a:r>
              <a:rPr lang="en-US" sz="2000" dirty="0" smtClean="0"/>
              <a:t>Excel;</a:t>
            </a:r>
            <a:endParaRPr lang="zh-CN" altLang="en-US" sz="2000" dirty="0" smtClean="0"/>
          </a:p>
          <a:p>
            <a:pPr>
              <a:lnSpc>
                <a:spcPct val="150000"/>
              </a:lnSpc>
              <a:buNone/>
            </a:pPr>
            <a:r>
              <a:rPr lang="en-US" sz="2000" dirty="0" smtClean="0"/>
              <a:t>※ </a:t>
            </a:r>
            <a:r>
              <a:rPr lang="zh-CN" altLang="en-US" sz="2000" dirty="0" smtClean="0"/>
              <a:t>了解</a:t>
            </a:r>
            <a:r>
              <a:rPr lang="en-US" sz="2000" dirty="0" smtClean="0"/>
              <a:t>Excel</a:t>
            </a:r>
            <a:r>
              <a:rPr lang="zh-CN" altLang="en-US" sz="2000" dirty="0" smtClean="0"/>
              <a:t>窗口和工作表的组成</a:t>
            </a:r>
            <a:r>
              <a:rPr lang="en-US" sz="2000" dirty="0" smtClean="0"/>
              <a:t>;</a:t>
            </a:r>
            <a:endParaRPr lang="zh-CN" altLang="en-US" sz="2000" dirty="0" smtClean="0"/>
          </a:p>
          <a:p>
            <a:pPr>
              <a:lnSpc>
                <a:spcPct val="150000"/>
              </a:lnSpc>
              <a:buNone/>
            </a:pPr>
            <a:r>
              <a:rPr lang="en-US" sz="2000" dirty="0" smtClean="0"/>
              <a:t>※ </a:t>
            </a:r>
            <a:r>
              <a:rPr lang="zh-CN" altLang="en-US" sz="2000" dirty="0" smtClean="0"/>
              <a:t>了解</a:t>
            </a:r>
            <a:r>
              <a:rPr lang="en-US" sz="2000" dirty="0" smtClean="0"/>
              <a:t>Excel</a:t>
            </a:r>
            <a:r>
              <a:rPr lang="zh-CN" altLang="en-US" sz="2000" dirty="0" smtClean="0"/>
              <a:t>的四种数据类型</a:t>
            </a:r>
            <a:r>
              <a:rPr lang="en-US" sz="2000" dirty="0" smtClean="0"/>
              <a:t>,</a:t>
            </a:r>
            <a:r>
              <a:rPr lang="zh-CN" altLang="en-US" sz="2000" dirty="0" smtClean="0"/>
              <a:t>并能够熟练进行数据类型的设置。</a:t>
            </a:r>
            <a:endParaRPr lang="zh-CN" altLang="en-US" sz="2000" dirty="0"/>
          </a:p>
        </p:txBody>
      </p:sp>
      <p:sp>
        <p:nvSpPr>
          <p:cNvPr id="2" name="标题 1"/>
          <p:cNvSpPr>
            <a:spLocks noGrp="1"/>
          </p:cNvSpPr>
          <p:nvPr>
            <p:ph type="title"/>
          </p:nvPr>
        </p:nvSpPr>
        <p:spPr>
          <a:xfrm>
            <a:off x="90170"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学习目标.EPS" descr="id:2147494357;FounderCES"/>
          <p:cNvPicPr/>
          <p:nvPr/>
        </p:nvPicPr>
        <p:blipFill>
          <a:blip r:embed="rId3"/>
          <a:stretch>
            <a:fillRect/>
          </a:stretch>
        </p:blipFill>
        <p:spPr>
          <a:xfrm>
            <a:off x="1630018" y="2857493"/>
            <a:ext cx="1857388" cy="5715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4.1.1</a:t>
            </a:r>
            <a:r>
              <a:rPr lang="zh-CN" altLang="en-US" sz="2000" dirty="0" smtClean="0"/>
              <a:t>　</a:t>
            </a:r>
            <a:r>
              <a:rPr lang="en-US" sz="2000" dirty="0" smtClean="0"/>
              <a:t>Excel</a:t>
            </a:r>
            <a:r>
              <a:rPr lang="zh-CN" altLang="en-US" sz="2000" dirty="0" smtClean="0"/>
              <a:t>的启动和退出</a:t>
            </a:r>
            <a:endParaRPr lang="zh-CN" altLang="en-US" sz="2000" dirty="0" smtClean="0"/>
          </a:p>
          <a:p>
            <a:pPr>
              <a:lnSpc>
                <a:spcPct val="150000"/>
              </a:lnSpc>
              <a:buNone/>
            </a:pPr>
            <a:r>
              <a:rPr lang="en-US" sz="2000" dirty="0" smtClean="0"/>
              <a:t>       Excel</a:t>
            </a:r>
            <a:r>
              <a:rPr lang="zh-CN" altLang="en-US" sz="2000" dirty="0" smtClean="0"/>
              <a:t>是微软办公套装软件的一个重要组成部分</a:t>
            </a:r>
            <a:r>
              <a:rPr lang="en-US" sz="2000" dirty="0" smtClean="0"/>
              <a:t>,</a:t>
            </a:r>
            <a:r>
              <a:rPr lang="zh-CN" altLang="en-US" sz="2000" dirty="0" smtClean="0"/>
              <a:t>它可以进行各种数据的处理、统计分析和辅助决策操作</a:t>
            </a:r>
            <a:r>
              <a:rPr lang="en-US" sz="2000" dirty="0" smtClean="0"/>
              <a:t>,</a:t>
            </a:r>
            <a:r>
              <a:rPr lang="zh-CN" altLang="en-US" sz="2000" dirty="0" smtClean="0"/>
              <a:t>广泛地应用于管理、统计财经、金融等众多领域。</a:t>
            </a:r>
            <a:endParaRPr lang="zh-CN" altLang="en-US" sz="2000" dirty="0" smtClean="0"/>
          </a:p>
          <a:p>
            <a:pPr marL="457200" indent="-457200">
              <a:lnSpc>
                <a:spcPct val="150000"/>
              </a:lnSpc>
              <a:buNone/>
            </a:pPr>
            <a:r>
              <a:rPr lang="en-US" sz="2000" dirty="0" smtClean="0"/>
              <a:t>1.</a:t>
            </a:r>
            <a:r>
              <a:rPr lang="zh-CN" altLang="en-US" sz="2000" dirty="0" smtClean="0"/>
              <a:t>启动</a:t>
            </a:r>
            <a:endParaRPr lang="zh-CN" altLang="en-US" sz="2000" dirty="0"/>
          </a:p>
        </p:txBody>
      </p:sp>
      <p:sp>
        <p:nvSpPr>
          <p:cNvPr id="2" name="标题 1"/>
          <p:cNvSpPr>
            <a:spLocks noGrp="1"/>
          </p:cNvSpPr>
          <p:nvPr>
            <p:ph type="title"/>
          </p:nvPr>
        </p:nvSpPr>
        <p:spPr>
          <a:xfrm>
            <a:off x="659130"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7" name="4a1.jpg" descr="id:2147494380;FounderCES"/>
          <p:cNvPicPr/>
          <p:nvPr/>
        </p:nvPicPr>
        <p:blipFill>
          <a:blip r:embed="rId3" cstate="print"/>
          <a:stretch>
            <a:fillRect/>
          </a:stretch>
        </p:blipFill>
        <p:spPr>
          <a:xfrm>
            <a:off x="4024298" y="3643314"/>
            <a:ext cx="2214578" cy="2928958"/>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8" name="矩形 7"/>
          <p:cNvSpPr/>
          <p:nvPr/>
        </p:nvSpPr>
        <p:spPr>
          <a:xfrm>
            <a:off x="6498931" y="6233718"/>
            <a:ext cx="2816860" cy="337185"/>
          </a:xfrm>
          <a:prstGeom prst="rect">
            <a:avLst/>
          </a:prstGeom>
        </p:spPr>
        <p:txBody>
          <a:bodyPr wrap="none">
            <a:spAutoFit/>
          </a:bodyPr>
          <a:lstStyle/>
          <a:p>
            <a:r>
              <a:rPr lang="zh-CN" altLang="en-US" sz="1600" dirty="0" smtClean="0"/>
              <a:t>图</a:t>
            </a:r>
            <a:r>
              <a:rPr lang="en-US" sz="1600" dirty="0" smtClean="0"/>
              <a:t>4—1</a:t>
            </a:r>
            <a:r>
              <a:rPr lang="zh-CN" altLang="en-US" sz="1600" dirty="0" smtClean="0"/>
              <a:t>　从开始菜单启动</a:t>
            </a:r>
            <a:r>
              <a:rPr lang="en-US" sz="1600" dirty="0" smtClean="0"/>
              <a:t>Excel</a:t>
            </a:r>
            <a:endParaRPr lang="zh-CN" alt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p:txBody>
          <a:bodyPr>
            <a:noAutofit/>
          </a:bodyPr>
          <a:lstStyle/>
          <a:p>
            <a:pPr>
              <a:lnSpc>
                <a:spcPct val="200000"/>
              </a:lnSpc>
              <a:buFont typeface="Wingdings" panose="05000000000000000000" pitchFamily="2" charset="2"/>
              <a:buChar char="Ø"/>
            </a:pPr>
            <a:r>
              <a:rPr lang="en-US" sz="2000" dirty="0" smtClean="0"/>
              <a:t>2.</a:t>
            </a:r>
            <a:r>
              <a:rPr lang="zh-CN" altLang="en-US" sz="2000" dirty="0" smtClean="0"/>
              <a:t>退出</a:t>
            </a:r>
            <a:endParaRPr lang="zh-CN" altLang="en-US" sz="2000" dirty="0" smtClean="0"/>
          </a:p>
          <a:p>
            <a:pPr>
              <a:lnSpc>
                <a:spcPct val="200000"/>
              </a:lnSpc>
              <a:buNone/>
            </a:pPr>
            <a:r>
              <a:rPr lang="en-US" sz="2000" dirty="0" smtClean="0"/>
              <a:t>(1)</a:t>
            </a:r>
            <a:r>
              <a:rPr lang="zh-CN" altLang="en-US" sz="2000" dirty="0" smtClean="0"/>
              <a:t>单击</a:t>
            </a:r>
            <a:r>
              <a:rPr lang="en-US" sz="2000" dirty="0" smtClean="0"/>
              <a:t>Excel</a:t>
            </a:r>
            <a:r>
              <a:rPr lang="zh-CN" altLang="en-US" sz="2000" dirty="0" smtClean="0"/>
              <a:t>窗口右上角的关闭按钮</a:t>
            </a:r>
            <a:r>
              <a:rPr lang="en-US" sz="2000" dirty="0" smtClean="0"/>
              <a:t>      ;</a:t>
            </a:r>
            <a:endParaRPr lang="zh-CN" altLang="en-US" sz="2000" dirty="0" smtClean="0"/>
          </a:p>
          <a:p>
            <a:pPr>
              <a:lnSpc>
                <a:spcPct val="200000"/>
              </a:lnSpc>
              <a:buNone/>
            </a:pPr>
            <a:r>
              <a:rPr lang="en-US" sz="2000" dirty="0" smtClean="0"/>
              <a:t>(2)</a:t>
            </a:r>
            <a:r>
              <a:rPr lang="zh-CN" altLang="en-US" sz="2000" dirty="0" smtClean="0"/>
              <a:t>单击</a:t>
            </a:r>
            <a:r>
              <a:rPr lang="en-US" sz="2000" dirty="0" smtClean="0"/>
              <a:t>Excel</a:t>
            </a:r>
            <a:r>
              <a:rPr lang="zh-CN" altLang="en-US" sz="2000" dirty="0" smtClean="0"/>
              <a:t>窗口左上角的</a:t>
            </a:r>
            <a:r>
              <a:rPr lang="en-US" sz="2000" dirty="0" smtClean="0"/>
              <a:t>     </a:t>
            </a:r>
            <a:r>
              <a:rPr lang="zh-CN" altLang="en-US" sz="2000" dirty="0" smtClean="0"/>
              <a:t>图标</a:t>
            </a:r>
            <a:r>
              <a:rPr lang="en-US" sz="2000" dirty="0" smtClean="0"/>
              <a:t>,</a:t>
            </a:r>
            <a:r>
              <a:rPr lang="zh-CN" altLang="en-US" sz="2000" dirty="0" smtClean="0"/>
              <a:t>选择</a:t>
            </a:r>
            <a:r>
              <a:rPr lang="en-US" sz="2000" dirty="0" smtClean="0"/>
              <a:t>“</a:t>
            </a:r>
            <a:r>
              <a:rPr lang="zh-CN" altLang="en-US" sz="2000" dirty="0" smtClean="0"/>
              <a:t>关闭</a:t>
            </a:r>
            <a:r>
              <a:rPr lang="en-US" sz="2000" dirty="0" smtClean="0"/>
              <a:t>”;</a:t>
            </a:r>
            <a:endParaRPr lang="zh-CN" altLang="en-US" sz="2000" dirty="0" smtClean="0"/>
          </a:p>
          <a:p>
            <a:pPr>
              <a:lnSpc>
                <a:spcPct val="200000"/>
              </a:lnSpc>
              <a:buNone/>
            </a:pPr>
            <a:r>
              <a:rPr lang="en-US" sz="2000" dirty="0" smtClean="0"/>
              <a:t>(3)</a:t>
            </a:r>
            <a:r>
              <a:rPr lang="zh-CN" altLang="en-US" sz="2000" dirty="0" smtClean="0"/>
              <a:t>单击</a:t>
            </a:r>
            <a:r>
              <a:rPr lang="en-US" sz="2000" dirty="0" smtClean="0"/>
              <a:t>“</a:t>
            </a:r>
            <a:r>
              <a:rPr lang="zh-CN" altLang="en-US" sz="2000" dirty="0" smtClean="0"/>
              <a:t>文件</a:t>
            </a:r>
            <a:r>
              <a:rPr lang="en-US" sz="2000" dirty="0" smtClean="0"/>
              <a:t>”</a:t>
            </a:r>
            <a:r>
              <a:rPr lang="zh-CN" altLang="en-US" sz="2000" dirty="0" smtClean="0"/>
              <a:t>选项卡</a:t>
            </a:r>
            <a:r>
              <a:rPr lang="en-US" sz="2000" dirty="0" smtClean="0"/>
              <a:t>,</a:t>
            </a:r>
            <a:r>
              <a:rPr lang="zh-CN" altLang="en-US" sz="2000" dirty="0" smtClean="0"/>
              <a:t>选择</a:t>
            </a:r>
            <a:r>
              <a:rPr lang="en-US" sz="2000" dirty="0" smtClean="0"/>
              <a:t>“</a:t>
            </a:r>
            <a:r>
              <a:rPr lang="zh-CN" altLang="en-US" sz="2000" dirty="0" smtClean="0"/>
              <a:t>退出</a:t>
            </a:r>
            <a:r>
              <a:rPr lang="en-US" sz="2000" dirty="0" smtClean="0"/>
              <a:t>”</a:t>
            </a:r>
            <a:r>
              <a:rPr lang="zh-CN" altLang="en-US" sz="2000" dirty="0" smtClean="0"/>
              <a:t>。</a:t>
            </a:r>
            <a:endParaRPr lang="zh-CN" altLang="en-US" sz="2000" dirty="0"/>
          </a:p>
        </p:txBody>
      </p:sp>
      <p:sp>
        <p:nvSpPr>
          <p:cNvPr id="2" name="标题 1"/>
          <p:cNvSpPr>
            <a:spLocks noGrp="1"/>
          </p:cNvSpPr>
          <p:nvPr>
            <p:ph type="title"/>
          </p:nvPr>
        </p:nvSpPr>
        <p:spPr>
          <a:xfrm>
            <a:off x="659765"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0" name="4a1a.jpg" descr="id:2147494395;FounderCES"/>
          <p:cNvPicPr/>
          <p:nvPr/>
        </p:nvPicPr>
        <p:blipFill>
          <a:blip r:embed="rId3" cstate="print"/>
          <a:stretch>
            <a:fillRect/>
          </a:stretch>
        </p:blipFill>
        <p:spPr>
          <a:xfrm>
            <a:off x="6382788" y="2516102"/>
            <a:ext cx="356154" cy="412832"/>
          </a:xfrm>
          <a:prstGeom prst="rect">
            <a:avLst/>
          </a:prstGeom>
        </p:spPr>
      </p:pic>
      <p:pic>
        <p:nvPicPr>
          <p:cNvPr id="11" name="4a1b.jpg" descr="id:2147494402;FounderCES"/>
          <p:cNvPicPr/>
          <p:nvPr/>
        </p:nvPicPr>
        <p:blipFill>
          <a:blip r:embed="rId4" cstate="print"/>
          <a:stretch>
            <a:fillRect/>
          </a:stretch>
        </p:blipFill>
        <p:spPr>
          <a:xfrm>
            <a:off x="5238744" y="3143248"/>
            <a:ext cx="500066" cy="4286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4.1.2</a:t>
            </a:r>
            <a:r>
              <a:rPr lang="zh-CN" altLang="en-US" sz="2000" dirty="0" smtClean="0"/>
              <a:t>　</a:t>
            </a:r>
            <a:r>
              <a:rPr lang="en-US" sz="2000" dirty="0" smtClean="0"/>
              <a:t>Excel</a:t>
            </a:r>
            <a:r>
              <a:rPr lang="zh-CN" altLang="en-US" sz="2000" dirty="0" smtClean="0"/>
              <a:t>窗口和工作表的结构</a:t>
            </a:r>
            <a:endParaRPr lang="zh-CN" altLang="en-US" sz="2000" dirty="0" smtClean="0"/>
          </a:p>
          <a:p>
            <a:pPr>
              <a:lnSpc>
                <a:spcPct val="150000"/>
              </a:lnSpc>
              <a:buNone/>
            </a:pPr>
            <a:r>
              <a:rPr lang="zh-CN" altLang="en-US" sz="2000" dirty="0" smtClean="0"/>
              <a:t>       启动</a:t>
            </a:r>
            <a:r>
              <a:rPr lang="en-US" sz="2000" dirty="0" smtClean="0"/>
              <a:t>Excel</a:t>
            </a:r>
            <a:r>
              <a:rPr lang="zh-CN" altLang="en-US" sz="2000" dirty="0" smtClean="0"/>
              <a:t>后就可以打开</a:t>
            </a:r>
            <a:r>
              <a:rPr lang="en-US" sz="2000" dirty="0" smtClean="0"/>
              <a:t>Excel</a:t>
            </a:r>
            <a:r>
              <a:rPr lang="zh-CN" altLang="en-US" sz="2000" dirty="0" smtClean="0"/>
              <a:t>窗口</a:t>
            </a:r>
            <a:r>
              <a:rPr lang="en-US" sz="2000" dirty="0" smtClean="0"/>
              <a:t>,</a:t>
            </a:r>
            <a:r>
              <a:rPr lang="zh-CN" altLang="en-US" sz="2000" dirty="0" smtClean="0"/>
              <a:t>图</a:t>
            </a:r>
            <a:r>
              <a:rPr lang="en-US" sz="2000" dirty="0" smtClean="0"/>
              <a:t>4—2</a:t>
            </a:r>
            <a:r>
              <a:rPr lang="zh-CN" altLang="en-US" sz="2000" dirty="0" smtClean="0"/>
              <a:t>所示的</a:t>
            </a:r>
            <a:r>
              <a:rPr lang="en-US" sz="2000" dirty="0" smtClean="0"/>
              <a:t>Excel</a:t>
            </a:r>
            <a:r>
              <a:rPr lang="zh-CN" altLang="en-US" sz="2000" dirty="0" smtClean="0"/>
              <a:t>窗口与</a:t>
            </a:r>
            <a:r>
              <a:rPr lang="en-US" sz="2000" dirty="0" smtClean="0"/>
              <a:t>Word</a:t>
            </a:r>
            <a:r>
              <a:rPr lang="zh-CN" altLang="en-US" sz="2000" dirty="0" smtClean="0"/>
              <a:t>窗口的组成大致相同</a:t>
            </a:r>
            <a:r>
              <a:rPr lang="en-US" sz="2000" dirty="0" smtClean="0"/>
              <a:t>,</a:t>
            </a:r>
            <a:r>
              <a:rPr lang="zh-CN" altLang="en-US" sz="2000" dirty="0" smtClean="0"/>
              <a:t>下面列出了不同之处</a:t>
            </a:r>
            <a:r>
              <a:rPr lang="en-US" sz="2000" dirty="0" smtClean="0"/>
              <a:t>:</a:t>
            </a:r>
            <a:endParaRPr lang="zh-CN" altLang="en-US" sz="2000" dirty="0"/>
          </a:p>
        </p:txBody>
      </p:sp>
      <p:sp>
        <p:nvSpPr>
          <p:cNvPr id="2" name="标题 1"/>
          <p:cNvSpPr>
            <a:spLocks noGrp="1"/>
          </p:cNvSpPr>
          <p:nvPr>
            <p:ph type="title"/>
          </p:nvPr>
        </p:nvSpPr>
        <p:spPr>
          <a:xfrm>
            <a:off x="728980"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8" name="矩形 7"/>
          <p:cNvSpPr/>
          <p:nvPr/>
        </p:nvSpPr>
        <p:spPr>
          <a:xfrm>
            <a:off x="4667240" y="6233718"/>
            <a:ext cx="2613660" cy="337185"/>
          </a:xfrm>
          <a:prstGeom prst="rect">
            <a:avLst/>
          </a:prstGeom>
        </p:spPr>
        <p:txBody>
          <a:bodyPr wrap="none">
            <a:spAutoFit/>
          </a:bodyPr>
          <a:lstStyle/>
          <a:p>
            <a:r>
              <a:rPr lang="zh-CN" altLang="en-US" sz="1600" dirty="0" smtClean="0"/>
              <a:t>图</a:t>
            </a:r>
            <a:r>
              <a:rPr lang="en-US" sz="1600" dirty="0" smtClean="0"/>
              <a:t>4—2</a:t>
            </a:r>
            <a:r>
              <a:rPr lang="zh-CN" altLang="en-US" sz="1600" dirty="0" smtClean="0"/>
              <a:t>　</a:t>
            </a:r>
            <a:r>
              <a:rPr lang="en-US" sz="1600" dirty="0" smtClean="0"/>
              <a:t>Excel</a:t>
            </a:r>
            <a:r>
              <a:rPr lang="zh-CN" altLang="en-US" sz="1600" dirty="0" smtClean="0"/>
              <a:t>窗口及其组成</a:t>
            </a:r>
            <a:endParaRPr lang="zh-CN" altLang="en-US" sz="1600" dirty="0"/>
          </a:p>
        </p:txBody>
      </p:sp>
      <p:pic>
        <p:nvPicPr>
          <p:cNvPr id="10" name="4a2.jpg" descr="id:2147494417;FounderCES"/>
          <p:cNvPicPr/>
          <p:nvPr/>
        </p:nvPicPr>
        <p:blipFill>
          <a:blip r:embed="rId3"/>
          <a:stretch>
            <a:fillRect/>
          </a:stretch>
        </p:blipFill>
        <p:spPr>
          <a:xfrm>
            <a:off x="4167174" y="3482050"/>
            <a:ext cx="3602160" cy="2447280"/>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4.1.3</a:t>
            </a:r>
            <a:r>
              <a:rPr lang="zh-CN" altLang="en-US" sz="2000" dirty="0" smtClean="0"/>
              <a:t>　</a:t>
            </a:r>
            <a:r>
              <a:rPr lang="en-US" sz="2000" dirty="0" smtClean="0"/>
              <a:t>Excel</a:t>
            </a:r>
            <a:r>
              <a:rPr lang="zh-CN" altLang="en-US" sz="2000" dirty="0" smtClean="0"/>
              <a:t>中的数据类型</a:t>
            </a:r>
            <a:endParaRPr lang="zh-CN" altLang="en-US" sz="2000" dirty="0" smtClean="0"/>
          </a:p>
          <a:p>
            <a:pPr>
              <a:lnSpc>
                <a:spcPct val="150000"/>
              </a:lnSpc>
              <a:buNone/>
            </a:pPr>
            <a:r>
              <a:rPr lang="en-US" sz="2000" dirty="0" smtClean="0"/>
              <a:t>       Excel</a:t>
            </a:r>
            <a:r>
              <a:rPr lang="zh-CN" altLang="en-US" sz="2000" dirty="0" smtClean="0"/>
              <a:t>中的数据类型分为文本、逻辑、数字</a:t>
            </a:r>
            <a:r>
              <a:rPr lang="en-US" sz="2000" dirty="0" smtClean="0"/>
              <a:t>(</a:t>
            </a:r>
            <a:r>
              <a:rPr lang="zh-CN" altLang="en-US" sz="2000" dirty="0" smtClean="0"/>
              <a:t>数值</a:t>
            </a:r>
            <a:r>
              <a:rPr lang="en-US" sz="2000" dirty="0" smtClean="0"/>
              <a:t>)</a:t>
            </a:r>
            <a:r>
              <a:rPr lang="zh-CN" altLang="en-US" sz="2000" dirty="0" smtClean="0"/>
              <a:t>、错误值四种。如图</a:t>
            </a:r>
            <a:r>
              <a:rPr lang="en-US" sz="2000" dirty="0" smtClean="0"/>
              <a:t>4—3</a:t>
            </a:r>
            <a:r>
              <a:rPr lang="zh-CN" altLang="en-US" sz="2000" dirty="0" smtClean="0"/>
              <a:t>所示。</a:t>
            </a:r>
            <a:endParaRPr lang="en-US" altLang="zh-CN" sz="2000" dirty="0" smtClean="0"/>
          </a:p>
          <a:p>
            <a:pPr>
              <a:lnSpc>
                <a:spcPct val="150000"/>
              </a:lnSpc>
              <a:buNone/>
            </a:pPr>
            <a:endParaRPr lang="zh-CN" altLang="en-US" sz="2000" dirty="0"/>
          </a:p>
        </p:txBody>
      </p:sp>
      <p:sp>
        <p:nvSpPr>
          <p:cNvPr id="2" name="标题 1"/>
          <p:cNvSpPr>
            <a:spLocks noGrp="1"/>
          </p:cNvSpPr>
          <p:nvPr>
            <p:ph type="title"/>
          </p:nvPr>
        </p:nvSpPr>
        <p:spPr>
          <a:xfrm>
            <a:off x="476885"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8" name="矩形 7"/>
          <p:cNvSpPr/>
          <p:nvPr/>
        </p:nvSpPr>
        <p:spPr>
          <a:xfrm>
            <a:off x="5343028" y="6233718"/>
            <a:ext cx="3181350" cy="337185"/>
          </a:xfrm>
          <a:prstGeom prst="rect">
            <a:avLst/>
          </a:prstGeom>
        </p:spPr>
        <p:txBody>
          <a:bodyPr wrap="none">
            <a:spAutoFit/>
          </a:bodyPr>
          <a:lstStyle/>
          <a:p>
            <a:r>
              <a:rPr lang="zh-CN" altLang="en-US" sz="1600" dirty="0" smtClean="0"/>
              <a:t>图</a:t>
            </a:r>
            <a:r>
              <a:rPr lang="en-US" sz="1600" dirty="0" smtClean="0"/>
              <a:t>4—3</a:t>
            </a:r>
            <a:r>
              <a:rPr lang="zh-CN" altLang="en-US" sz="1600" dirty="0" smtClean="0"/>
              <a:t>　</a:t>
            </a:r>
            <a:r>
              <a:rPr lang="en-US" sz="1600" dirty="0" smtClean="0"/>
              <a:t>“</a:t>
            </a:r>
            <a:r>
              <a:rPr lang="zh-CN" altLang="en-US" sz="1600" dirty="0" smtClean="0"/>
              <a:t>设置单元格格式</a:t>
            </a:r>
            <a:r>
              <a:rPr lang="en-US" sz="1600" dirty="0" smtClean="0"/>
              <a:t>”</a:t>
            </a:r>
            <a:r>
              <a:rPr lang="zh-CN" altLang="en-US" sz="1600" dirty="0" smtClean="0"/>
              <a:t>对话框</a:t>
            </a:r>
            <a:endParaRPr lang="zh-CN" altLang="en-US" sz="1600" dirty="0"/>
          </a:p>
        </p:txBody>
      </p:sp>
      <p:pic>
        <p:nvPicPr>
          <p:cNvPr id="7" name="4a3.jpg" descr="id:2147494493;FounderCES"/>
          <p:cNvPicPr/>
          <p:nvPr/>
        </p:nvPicPr>
        <p:blipFill>
          <a:blip r:embed="rId3" cstate="print"/>
          <a:stretch>
            <a:fillRect/>
          </a:stretch>
        </p:blipFill>
        <p:spPr>
          <a:xfrm>
            <a:off x="4595802" y="3214686"/>
            <a:ext cx="4429156" cy="2786082"/>
          </a:xfrm>
          <a:prstGeom prst="rect">
            <a:avLst/>
          </a:prstGeom>
          <a:ln w="88900" cap="sq" cmpd="thickThin">
            <a:solidFill>
              <a:srgbClr val="000000"/>
            </a:solidFill>
            <a:prstDash val="solid"/>
            <a:miter lim="800000"/>
            <a:headEnd/>
            <a:tailEnd/>
          </a:ln>
          <a:effectLst>
            <a:innerShdw blurRad="76200">
              <a:srgbClr val="000000"/>
            </a:innerShdw>
          </a:effectLst>
        </p:spPr>
      </p:pic>
      <p:graphicFrame>
        <p:nvGraphicFramePr>
          <p:cNvPr id="11" name="图示 10"/>
          <p:cNvGraphicFramePr/>
          <p:nvPr/>
        </p:nvGraphicFramePr>
        <p:xfrm>
          <a:off x="1809720" y="3500438"/>
          <a:ext cx="2143092" cy="23389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p:txBody>
          <a:bodyPr>
            <a:noAutofit/>
          </a:bodyPr>
          <a:lstStyle/>
          <a:p>
            <a:pPr>
              <a:buNone/>
            </a:pPr>
            <a:r>
              <a:rPr lang="zh-CN" altLang="en-US" sz="2000" dirty="0" smtClean="0"/>
              <a:t>如表</a:t>
            </a:r>
            <a:r>
              <a:rPr lang="en-US" sz="2000" dirty="0" smtClean="0"/>
              <a:t>4—1</a:t>
            </a:r>
            <a:r>
              <a:rPr lang="zh-CN" altLang="en-US" sz="2000" dirty="0" smtClean="0"/>
              <a:t>所示为</a:t>
            </a:r>
            <a:r>
              <a:rPr lang="en-US" sz="2000" dirty="0" smtClean="0"/>
              <a:t>Excel</a:t>
            </a:r>
            <a:r>
              <a:rPr lang="zh-CN" altLang="en-US" sz="2000" dirty="0" smtClean="0"/>
              <a:t>数据类型介绍。</a:t>
            </a:r>
            <a:endParaRPr lang="zh-CN" altLang="en-US" sz="2000" dirty="0"/>
          </a:p>
        </p:txBody>
      </p:sp>
      <p:sp>
        <p:nvSpPr>
          <p:cNvPr id="2" name="标题 1"/>
          <p:cNvSpPr>
            <a:spLocks noGrp="1"/>
          </p:cNvSpPr>
          <p:nvPr>
            <p:ph type="title"/>
          </p:nvPr>
        </p:nvSpPr>
        <p:spPr>
          <a:xfrm>
            <a:off x="589280"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graphicFrame>
        <p:nvGraphicFramePr>
          <p:cNvPr id="11" name="表格 10"/>
          <p:cNvGraphicFramePr>
            <a:graphicFrameLocks noGrp="1"/>
          </p:cNvGraphicFramePr>
          <p:nvPr/>
        </p:nvGraphicFramePr>
        <p:xfrm>
          <a:off x="2095472" y="2629270"/>
          <a:ext cx="7429500" cy="3942715"/>
        </p:xfrm>
        <a:graphic>
          <a:graphicData uri="http://schemas.openxmlformats.org/drawingml/2006/table">
            <a:tbl>
              <a:tblPr>
                <a:tableStyleId>{69CF1AB2-1976-4502-BF36-3FF5EA218861}</a:tableStyleId>
              </a:tblPr>
              <a:tblGrid>
                <a:gridCol w="1397635"/>
                <a:gridCol w="6031865"/>
              </a:tblGrid>
              <a:tr h="220493">
                <a:tc>
                  <a:txBody>
                    <a:bodyPr/>
                    <a:lstStyle/>
                    <a:p>
                      <a:pPr algn="ctr">
                        <a:lnSpc>
                          <a:spcPts val="1610"/>
                        </a:lnSpc>
                        <a:spcAft>
                          <a:spcPts val="0"/>
                        </a:spcAft>
                      </a:pPr>
                      <a:r>
                        <a:rPr lang="zh-CN" sz="1400" kern="100" dirty="0"/>
                        <a:t>类型</a:t>
                      </a:r>
                      <a:endParaRPr lang="zh-CN" sz="1800" kern="100" dirty="0">
                        <a:solidFill>
                          <a:srgbClr val="000000"/>
                        </a:solidFill>
                        <a:latin typeface="+mn-ea"/>
                        <a:ea typeface="+mn-ea"/>
                        <a:cs typeface="Times New Roman" panose="02020603050405020304"/>
                      </a:endParaRPr>
                    </a:p>
                  </a:txBody>
                  <a:tcPr marL="0" marR="0" marT="0" marB="0" anchor="ctr"/>
                </a:tc>
                <a:tc>
                  <a:txBody>
                    <a:bodyPr/>
                    <a:lstStyle/>
                    <a:p>
                      <a:pPr algn="ctr">
                        <a:lnSpc>
                          <a:spcPts val="1610"/>
                        </a:lnSpc>
                        <a:spcAft>
                          <a:spcPts val="0"/>
                        </a:spcAft>
                      </a:pPr>
                      <a:r>
                        <a:rPr lang="zh-CN" sz="1400" kern="100"/>
                        <a:t>说明</a:t>
                      </a:r>
                      <a:endParaRPr lang="zh-CN" sz="1800" kern="100">
                        <a:solidFill>
                          <a:srgbClr val="000000"/>
                        </a:solidFill>
                        <a:latin typeface="+mn-ea"/>
                        <a:ea typeface="+mn-ea"/>
                        <a:cs typeface="Times New Roman" panose="02020603050405020304"/>
                      </a:endParaRPr>
                    </a:p>
                  </a:txBody>
                  <a:tcPr marL="0" marR="0" marT="0" marB="0" anchor="ctr"/>
                </a:tc>
              </a:tr>
              <a:tr h="220493">
                <a:tc>
                  <a:txBody>
                    <a:bodyPr/>
                    <a:lstStyle/>
                    <a:p>
                      <a:pPr>
                        <a:lnSpc>
                          <a:spcPts val="1610"/>
                        </a:lnSpc>
                        <a:spcAft>
                          <a:spcPts val="0"/>
                        </a:spcAft>
                      </a:pPr>
                      <a:r>
                        <a:rPr lang="zh-CN" sz="1400" kern="100"/>
                        <a:t>常规</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根据单元格的内容自动识别和设置。</a:t>
                      </a:r>
                      <a:endParaRPr lang="zh-CN" sz="1800" kern="100">
                        <a:solidFill>
                          <a:srgbClr val="000000"/>
                        </a:solidFill>
                        <a:latin typeface="+mn-ea"/>
                        <a:ea typeface="+mn-ea"/>
                        <a:cs typeface="Times New Roman" panose="02020603050405020304"/>
                      </a:endParaRPr>
                    </a:p>
                  </a:txBody>
                  <a:tcPr marL="66675" marR="66675" marT="0" marB="0" anchor="ctr"/>
                </a:tc>
              </a:tr>
              <a:tr h="432362">
                <a:tc>
                  <a:txBody>
                    <a:bodyPr/>
                    <a:lstStyle/>
                    <a:p>
                      <a:pPr>
                        <a:lnSpc>
                          <a:spcPts val="1610"/>
                        </a:lnSpc>
                        <a:spcAft>
                          <a:spcPts val="0"/>
                        </a:spcAft>
                      </a:pPr>
                      <a:r>
                        <a:rPr lang="zh-CN" sz="1400" kern="100"/>
                        <a:t>文本</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按输入的字面进行显示和处理。文本格式的数字不作为数值进行计算和处理。</a:t>
                      </a:r>
                      <a:endParaRPr lang="zh-CN" sz="1800" kern="10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逻辑</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en-US" sz="1400" kern="100"/>
                        <a:t>TRUE(</a:t>
                      </a:r>
                      <a:r>
                        <a:rPr lang="zh-CN" sz="1400" kern="100"/>
                        <a:t>真</a:t>
                      </a:r>
                      <a:r>
                        <a:rPr lang="en-US" sz="1400" kern="100"/>
                        <a:t>)</a:t>
                      </a:r>
                      <a:r>
                        <a:rPr lang="zh-CN" sz="1400" kern="100"/>
                        <a:t>或</a:t>
                      </a:r>
                      <a:r>
                        <a:rPr lang="en-US" sz="1400" kern="100"/>
                        <a:t>FALSE(</a:t>
                      </a:r>
                      <a:r>
                        <a:rPr lang="zh-CN" sz="1400" kern="100"/>
                        <a:t>假</a:t>
                      </a:r>
                      <a:r>
                        <a:rPr lang="en-US" sz="1400" kern="100"/>
                        <a:t>)</a:t>
                      </a:r>
                      <a:r>
                        <a:rPr lang="zh-CN" sz="1400" kern="100"/>
                        <a:t>值之一。</a:t>
                      </a:r>
                      <a:endParaRPr lang="zh-CN" sz="1800" kern="100">
                        <a:solidFill>
                          <a:srgbClr val="000000"/>
                        </a:solidFill>
                        <a:latin typeface="+mn-ea"/>
                        <a:ea typeface="+mn-ea"/>
                        <a:cs typeface="Times New Roman" panose="02020603050405020304"/>
                      </a:endParaRPr>
                    </a:p>
                  </a:txBody>
                  <a:tcPr marL="66675" marR="66675" marT="0" marB="0" anchor="ctr"/>
                </a:tc>
              </a:tr>
              <a:tr h="440986">
                <a:tc>
                  <a:txBody>
                    <a:bodyPr/>
                    <a:lstStyle/>
                    <a:p>
                      <a:pPr>
                        <a:lnSpc>
                          <a:spcPts val="1610"/>
                        </a:lnSpc>
                        <a:spcAft>
                          <a:spcPts val="0"/>
                        </a:spcAft>
                      </a:pPr>
                      <a:r>
                        <a:rPr lang="zh-CN" sz="1400" kern="100"/>
                        <a:t>数值</a:t>
                      </a:r>
                      <a:r>
                        <a:rPr lang="en-US" sz="1400" kern="100"/>
                        <a:t>(</a:t>
                      </a:r>
                      <a:r>
                        <a:rPr lang="zh-CN" sz="1400" kern="100"/>
                        <a:t>数字</a:t>
                      </a:r>
                      <a:r>
                        <a:rPr lang="en-US" sz="1400" kern="100"/>
                        <a:t>)</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dirty="0"/>
                        <a:t>用于一般数字的表示。对于非计算性数字</a:t>
                      </a:r>
                      <a:r>
                        <a:rPr lang="en-US" sz="1400" kern="100" dirty="0"/>
                        <a:t>(</a:t>
                      </a:r>
                      <a:r>
                        <a:rPr lang="zh-CN" sz="1400" kern="100" dirty="0"/>
                        <a:t>如手机号、身份证号等</a:t>
                      </a:r>
                      <a:r>
                        <a:rPr lang="en-US" sz="1400" kern="100" dirty="0"/>
                        <a:t>),</a:t>
                      </a:r>
                      <a:r>
                        <a:rPr lang="zh-CN" sz="1400" kern="100" dirty="0"/>
                        <a:t>一般建议使用文本格式。</a:t>
                      </a:r>
                      <a:endParaRPr lang="zh-CN" sz="1800" kern="100" dirty="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货币</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dirty="0"/>
                        <a:t>用于表示一般货币数值。</a:t>
                      </a:r>
                      <a:endParaRPr lang="zh-CN" sz="1800" kern="100" dirty="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会计</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可按货币符号和小数点对齐数值。</a:t>
                      </a:r>
                      <a:endParaRPr lang="zh-CN" sz="1800" kern="100">
                        <a:solidFill>
                          <a:srgbClr val="000000"/>
                        </a:solidFill>
                        <a:latin typeface="+mn-ea"/>
                        <a:ea typeface="+mn-ea"/>
                        <a:cs typeface="Times New Roman" panose="02020603050405020304"/>
                      </a:endParaRPr>
                    </a:p>
                  </a:txBody>
                  <a:tcPr marL="66675" marR="66675" marT="0" marB="0" anchor="ctr"/>
                </a:tc>
              </a:tr>
              <a:tr h="432362">
                <a:tc>
                  <a:txBody>
                    <a:bodyPr/>
                    <a:lstStyle/>
                    <a:p>
                      <a:pPr>
                        <a:lnSpc>
                          <a:spcPts val="1610"/>
                        </a:lnSpc>
                        <a:spcAft>
                          <a:spcPts val="0"/>
                        </a:spcAft>
                      </a:pPr>
                      <a:r>
                        <a:rPr lang="zh-CN" sz="1400" kern="100"/>
                        <a:t>日期</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显示为日期值</a:t>
                      </a:r>
                      <a:r>
                        <a:rPr lang="en-US" sz="1400" kern="100"/>
                        <a:t>(</a:t>
                      </a:r>
                      <a:r>
                        <a:rPr lang="zh-CN" sz="1400" kern="100"/>
                        <a:t>本质上</a:t>
                      </a:r>
                      <a:r>
                        <a:rPr lang="en-US" sz="1400" kern="100"/>
                        <a:t>,</a:t>
                      </a:r>
                      <a:r>
                        <a:rPr lang="zh-CN" sz="1400" kern="100"/>
                        <a:t>日期也是数值</a:t>
                      </a:r>
                      <a:r>
                        <a:rPr lang="en-US" sz="1400" kern="100"/>
                        <a:t>,</a:t>
                      </a:r>
                      <a:r>
                        <a:rPr lang="zh-CN" sz="1400" kern="100"/>
                        <a:t>可以和数值格式转换显示</a:t>
                      </a:r>
                      <a:r>
                        <a:rPr lang="en-US" sz="1400" kern="100"/>
                        <a:t>)</a:t>
                      </a:r>
                      <a:r>
                        <a:rPr lang="zh-CN" sz="1400" kern="100"/>
                        <a:t>。</a:t>
                      </a:r>
                      <a:endParaRPr lang="zh-CN" sz="1800" kern="100">
                        <a:solidFill>
                          <a:srgbClr val="000000"/>
                        </a:solidFill>
                        <a:latin typeface="+mn-ea"/>
                        <a:ea typeface="+mn-ea"/>
                        <a:cs typeface="Times New Roman" panose="02020603050405020304"/>
                      </a:endParaRPr>
                    </a:p>
                  </a:txBody>
                  <a:tcPr marL="66675" marR="66675" marT="0" marB="0" anchor="ctr"/>
                </a:tc>
              </a:tr>
              <a:tr h="432362">
                <a:tc>
                  <a:txBody>
                    <a:bodyPr/>
                    <a:lstStyle/>
                    <a:p>
                      <a:pPr>
                        <a:lnSpc>
                          <a:spcPts val="1610"/>
                        </a:lnSpc>
                        <a:spcAft>
                          <a:spcPts val="0"/>
                        </a:spcAft>
                      </a:pPr>
                      <a:r>
                        <a:rPr lang="zh-CN" sz="1400" kern="100"/>
                        <a:t>时间</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显示为时间值</a:t>
                      </a:r>
                      <a:r>
                        <a:rPr lang="en-US" sz="1400" kern="100"/>
                        <a:t>(</a:t>
                      </a:r>
                      <a:r>
                        <a:rPr lang="zh-CN" sz="1400" kern="100"/>
                        <a:t>本质上</a:t>
                      </a:r>
                      <a:r>
                        <a:rPr lang="en-US" sz="1400" kern="100"/>
                        <a:t>,</a:t>
                      </a:r>
                      <a:r>
                        <a:rPr lang="zh-CN" sz="1400" kern="100"/>
                        <a:t>时间也是数值</a:t>
                      </a:r>
                      <a:r>
                        <a:rPr lang="en-US" sz="1400" kern="100"/>
                        <a:t>,</a:t>
                      </a:r>
                      <a:r>
                        <a:rPr lang="zh-CN" sz="1400" kern="100"/>
                        <a:t>可以和数值格式转换显示</a:t>
                      </a:r>
                      <a:r>
                        <a:rPr lang="en-US" sz="1400" kern="100"/>
                        <a:t>)</a:t>
                      </a:r>
                      <a:r>
                        <a:rPr lang="zh-CN" sz="1400" kern="100"/>
                        <a:t>。</a:t>
                      </a:r>
                      <a:endParaRPr lang="zh-CN" sz="1800" kern="10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百分比</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以百分数形式显示数值。</a:t>
                      </a:r>
                      <a:endParaRPr lang="zh-CN" sz="1800" kern="10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分数</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以分数形式显示数值。</a:t>
                      </a:r>
                      <a:endParaRPr lang="zh-CN" sz="1800" kern="10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科学计数</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以科学计数法形式显示数值。</a:t>
                      </a:r>
                      <a:endParaRPr lang="zh-CN" sz="1800" kern="10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特殊</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a:t>特殊类型的内容。</a:t>
                      </a:r>
                      <a:endParaRPr lang="zh-CN" sz="1800" kern="100">
                        <a:solidFill>
                          <a:srgbClr val="000000"/>
                        </a:solidFill>
                        <a:latin typeface="+mn-ea"/>
                        <a:ea typeface="+mn-ea"/>
                        <a:cs typeface="Times New Roman" panose="02020603050405020304"/>
                      </a:endParaRPr>
                    </a:p>
                  </a:txBody>
                  <a:tcPr marL="66675" marR="66675" marT="0" marB="0" anchor="ctr"/>
                </a:tc>
              </a:tr>
              <a:tr h="220493">
                <a:tc>
                  <a:txBody>
                    <a:bodyPr/>
                    <a:lstStyle/>
                    <a:p>
                      <a:pPr>
                        <a:lnSpc>
                          <a:spcPts val="1610"/>
                        </a:lnSpc>
                        <a:spcAft>
                          <a:spcPts val="0"/>
                        </a:spcAft>
                      </a:pPr>
                      <a:r>
                        <a:rPr lang="zh-CN" sz="1400" kern="100"/>
                        <a:t>自定义</a:t>
                      </a:r>
                      <a:endParaRPr lang="zh-CN" sz="1800" kern="100">
                        <a:solidFill>
                          <a:srgbClr val="000000"/>
                        </a:solidFill>
                        <a:latin typeface="+mn-ea"/>
                        <a:ea typeface="+mn-ea"/>
                        <a:cs typeface="Times New Roman" panose="02020603050405020304"/>
                      </a:endParaRPr>
                    </a:p>
                  </a:txBody>
                  <a:tcPr marL="66675" marR="66675" marT="0" marB="0" anchor="ctr"/>
                </a:tc>
                <a:tc>
                  <a:txBody>
                    <a:bodyPr/>
                    <a:lstStyle/>
                    <a:p>
                      <a:pPr>
                        <a:lnSpc>
                          <a:spcPts val="1610"/>
                        </a:lnSpc>
                        <a:spcAft>
                          <a:spcPts val="0"/>
                        </a:spcAft>
                      </a:pPr>
                      <a:r>
                        <a:rPr lang="zh-CN" sz="1400" kern="100" dirty="0"/>
                        <a:t>以指定格式显示数值。</a:t>
                      </a:r>
                      <a:endParaRPr lang="zh-CN" sz="1800" kern="100" dirty="0">
                        <a:solidFill>
                          <a:srgbClr val="000000"/>
                        </a:solidFill>
                        <a:latin typeface="+mn-ea"/>
                        <a:ea typeface="+mn-ea"/>
                        <a:cs typeface="Times New Roman" panose="02020603050405020304"/>
                      </a:endParaRPr>
                    </a:p>
                  </a:txBody>
                  <a:tcPr marL="66675" marR="66675" marT="0" marB="0" anchor="ctr"/>
                </a:tc>
              </a:tr>
            </a:tbl>
          </a:graphicData>
        </a:graphic>
      </p:graphicFrame>
      <p:sp>
        <p:nvSpPr>
          <p:cNvPr id="12" name="矩形 11"/>
          <p:cNvSpPr/>
          <p:nvPr/>
        </p:nvSpPr>
        <p:spPr>
          <a:xfrm>
            <a:off x="2075352" y="2285992"/>
            <a:ext cx="1776095" cy="306705"/>
          </a:xfrm>
          <a:prstGeom prst="rect">
            <a:avLst/>
          </a:prstGeom>
        </p:spPr>
        <p:txBody>
          <a:bodyPr wrap="none">
            <a:spAutoFit/>
          </a:bodyPr>
          <a:lstStyle/>
          <a:p>
            <a:r>
              <a:rPr lang="zh-CN" altLang="en-US" sz="1400" dirty="0" smtClean="0"/>
              <a:t>表</a:t>
            </a:r>
            <a:r>
              <a:rPr lang="en-US" sz="1400" dirty="0" smtClean="0"/>
              <a:t>4—1Excel</a:t>
            </a:r>
            <a:r>
              <a:rPr lang="zh-CN" altLang="en-US" sz="1400" dirty="0" smtClean="0"/>
              <a:t>数据类型</a:t>
            </a:r>
            <a:endParaRPr lang="zh-CN" alt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p:txBody>
          <a:bodyPr>
            <a:noAutofit/>
          </a:bodyPr>
          <a:lstStyle/>
          <a:p>
            <a:pPr>
              <a:lnSpc>
                <a:spcPct val="150000"/>
              </a:lnSpc>
              <a:buNone/>
            </a:pPr>
            <a:r>
              <a:rPr lang="en-US" sz="2000" dirty="0" smtClean="0"/>
              <a:t>4.</a:t>
            </a:r>
            <a:r>
              <a:rPr lang="zh-CN" altLang="en-US" sz="2000" dirty="0" smtClean="0"/>
              <a:t>错误值数据</a:t>
            </a:r>
            <a:endParaRPr lang="zh-CN" altLang="en-US" sz="2000" dirty="0" smtClean="0"/>
          </a:p>
          <a:p>
            <a:pPr>
              <a:lnSpc>
                <a:spcPct val="150000"/>
              </a:lnSpc>
              <a:buNone/>
            </a:pPr>
            <a:r>
              <a:rPr lang="zh-CN" altLang="en-US" sz="2000" dirty="0" smtClean="0"/>
              <a:t>       该数据是因为单元格输入或编辑数据错误</a:t>
            </a:r>
            <a:r>
              <a:rPr lang="en-US" sz="2000" dirty="0" smtClean="0"/>
              <a:t>,</a:t>
            </a:r>
            <a:r>
              <a:rPr lang="zh-CN" altLang="en-US" sz="2000" dirty="0" smtClean="0"/>
              <a:t>而由系统自动显示的结果</a:t>
            </a:r>
            <a:r>
              <a:rPr lang="en-US" sz="2000" dirty="0" smtClean="0"/>
              <a:t>,</a:t>
            </a:r>
            <a:r>
              <a:rPr lang="zh-CN" altLang="en-US" sz="2000" dirty="0" smtClean="0"/>
              <a:t>提示用户改正。表</a:t>
            </a:r>
            <a:r>
              <a:rPr lang="en-US" sz="2000" dirty="0" smtClean="0"/>
              <a:t>4—2</a:t>
            </a:r>
            <a:r>
              <a:rPr lang="zh-CN" altLang="en-US" sz="2000" dirty="0" smtClean="0"/>
              <a:t>列出了常见的错误提示。</a:t>
            </a:r>
            <a:endParaRPr lang="zh-CN" altLang="en-US" sz="2000" dirty="0"/>
          </a:p>
        </p:txBody>
      </p:sp>
      <p:sp>
        <p:nvSpPr>
          <p:cNvPr id="2" name="标题 1"/>
          <p:cNvSpPr>
            <a:spLocks noGrp="1"/>
          </p:cNvSpPr>
          <p:nvPr>
            <p:ph type="title"/>
          </p:nvPr>
        </p:nvSpPr>
        <p:spPr>
          <a:xfrm>
            <a:off x="755015"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graphicFrame>
        <p:nvGraphicFramePr>
          <p:cNvPr id="7" name="表格 6"/>
          <p:cNvGraphicFramePr>
            <a:graphicFrameLocks noGrp="1"/>
          </p:cNvGraphicFramePr>
          <p:nvPr/>
        </p:nvGraphicFramePr>
        <p:xfrm>
          <a:off x="2238348" y="3571880"/>
          <a:ext cx="7500620" cy="2785745"/>
        </p:xfrm>
        <a:graphic>
          <a:graphicData uri="http://schemas.openxmlformats.org/drawingml/2006/table">
            <a:tbl>
              <a:tblPr>
                <a:tableStyleId>{284E427A-3D55-4303-BF80-6455036E1DE7}</a:tableStyleId>
              </a:tblPr>
              <a:tblGrid>
                <a:gridCol w="1410970"/>
                <a:gridCol w="6089650"/>
              </a:tblGrid>
              <a:tr h="305435">
                <a:tc>
                  <a:txBody>
                    <a:bodyPr/>
                    <a:lstStyle/>
                    <a:p>
                      <a:pPr algn="ctr">
                        <a:lnSpc>
                          <a:spcPts val="1610"/>
                        </a:lnSpc>
                        <a:spcAft>
                          <a:spcPts val="0"/>
                        </a:spcAft>
                      </a:pPr>
                      <a:r>
                        <a:rPr lang="zh-CN" sz="1400" kern="100" dirty="0"/>
                        <a:t>错误提示</a:t>
                      </a:r>
                      <a:endParaRPr lang="zh-CN" sz="1800" kern="100" dirty="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说明</a:t>
                      </a:r>
                      <a:endParaRPr lang="zh-CN" sz="1800" kern="100">
                        <a:solidFill>
                          <a:srgbClr val="000000"/>
                        </a:solidFill>
                        <a:latin typeface="NEU-BZ"/>
                        <a:ea typeface="方正书宋_GBK"/>
                        <a:cs typeface="Times New Roman" panose="02020603050405020304"/>
                      </a:endParaRPr>
                    </a:p>
                  </a:txBody>
                  <a:tcPr marL="0" marR="0" marT="0" marB="0" anchor="ctr"/>
                </a:tc>
              </a:tr>
              <a:tr h="305435">
                <a:tc>
                  <a:txBody>
                    <a:bodyPr/>
                    <a:lstStyle/>
                    <a:p>
                      <a:pPr>
                        <a:lnSpc>
                          <a:spcPts val="1610"/>
                        </a:lnSpc>
                        <a:spcAft>
                          <a:spcPts val="0"/>
                        </a:spcAft>
                      </a:pPr>
                      <a:r>
                        <a:rPr lang="en-US" sz="1400" kern="100"/>
                        <a:t>#VALUE!</a:t>
                      </a:r>
                      <a:endParaRPr lang="zh-CN" sz="1800" kern="10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610"/>
                        </a:lnSpc>
                        <a:spcAft>
                          <a:spcPts val="0"/>
                        </a:spcAft>
                      </a:pPr>
                      <a:r>
                        <a:rPr lang="zh-CN" sz="1400" kern="100"/>
                        <a:t>公式中所含单元格数据类型不匹配。例如</a:t>
                      </a:r>
                      <a:r>
                        <a:rPr lang="en-US" sz="1400" kern="100"/>
                        <a:t>,</a:t>
                      </a:r>
                      <a:r>
                        <a:rPr lang="zh-CN" sz="1400" kern="100"/>
                        <a:t>数值与文本相加。</a:t>
                      </a:r>
                      <a:endParaRPr lang="zh-CN" sz="1800" kern="100">
                        <a:solidFill>
                          <a:srgbClr val="000000"/>
                        </a:solidFill>
                        <a:latin typeface="NEU-BZ"/>
                        <a:ea typeface="方正书宋_GBK"/>
                        <a:cs typeface="Times New Roman" panose="02020603050405020304"/>
                      </a:endParaRPr>
                    </a:p>
                  </a:txBody>
                  <a:tcPr marL="66675" marR="66675" marT="0" marB="0" anchor="ctr"/>
                </a:tc>
              </a:tr>
              <a:tr h="304800">
                <a:tc>
                  <a:txBody>
                    <a:bodyPr/>
                    <a:lstStyle/>
                    <a:p>
                      <a:pPr>
                        <a:lnSpc>
                          <a:spcPts val="1610"/>
                        </a:lnSpc>
                        <a:spcAft>
                          <a:spcPts val="0"/>
                        </a:spcAft>
                      </a:pPr>
                      <a:r>
                        <a:rPr lang="en-US" sz="1400" kern="100"/>
                        <a:t>#NAME?</a:t>
                      </a:r>
                      <a:endParaRPr lang="zh-CN" sz="1800" kern="10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610"/>
                        </a:lnSpc>
                        <a:spcAft>
                          <a:spcPts val="0"/>
                        </a:spcAft>
                      </a:pPr>
                      <a:r>
                        <a:rPr lang="zh-CN" sz="1400" kern="100"/>
                        <a:t>公式中出现没有命名的文本。</a:t>
                      </a:r>
                      <a:endParaRPr lang="zh-CN" sz="1800" kern="100">
                        <a:solidFill>
                          <a:srgbClr val="000000"/>
                        </a:solidFill>
                        <a:latin typeface="NEU-BZ"/>
                        <a:ea typeface="方正书宋_GBK"/>
                        <a:cs typeface="Times New Roman" panose="02020603050405020304"/>
                      </a:endParaRPr>
                    </a:p>
                  </a:txBody>
                  <a:tcPr marL="66675" marR="66675" marT="0" marB="0" anchor="ctr"/>
                </a:tc>
              </a:tr>
              <a:tr h="305435">
                <a:tc>
                  <a:txBody>
                    <a:bodyPr/>
                    <a:lstStyle/>
                    <a:p>
                      <a:pPr>
                        <a:lnSpc>
                          <a:spcPts val="1610"/>
                        </a:lnSpc>
                        <a:spcAft>
                          <a:spcPts val="0"/>
                        </a:spcAft>
                      </a:pPr>
                      <a:r>
                        <a:rPr lang="en-US" sz="1400" kern="100"/>
                        <a:t>#REF!</a:t>
                      </a:r>
                      <a:endParaRPr lang="zh-CN" sz="1800" kern="10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610"/>
                        </a:lnSpc>
                        <a:spcAft>
                          <a:spcPts val="0"/>
                        </a:spcAft>
                      </a:pPr>
                      <a:r>
                        <a:rPr lang="zh-CN" sz="1400" kern="100"/>
                        <a:t>单元格引用无效。</a:t>
                      </a:r>
                      <a:endParaRPr lang="zh-CN" sz="1800" kern="100">
                        <a:solidFill>
                          <a:srgbClr val="000000"/>
                        </a:solidFill>
                        <a:latin typeface="NEU-BZ"/>
                        <a:ea typeface="方正书宋_GBK"/>
                        <a:cs typeface="Times New Roman" panose="02020603050405020304"/>
                      </a:endParaRPr>
                    </a:p>
                  </a:txBody>
                  <a:tcPr marL="66675" marR="66675" marT="0" marB="0" anchor="ctr"/>
                </a:tc>
              </a:tr>
              <a:tr h="304800">
                <a:tc>
                  <a:txBody>
                    <a:bodyPr/>
                    <a:lstStyle/>
                    <a:p>
                      <a:pPr>
                        <a:lnSpc>
                          <a:spcPts val="1610"/>
                        </a:lnSpc>
                        <a:spcAft>
                          <a:spcPts val="0"/>
                        </a:spcAft>
                      </a:pPr>
                      <a:r>
                        <a:rPr lang="en-US" sz="1400" kern="100"/>
                        <a:t>#N/A</a:t>
                      </a:r>
                      <a:endParaRPr lang="zh-CN" sz="1800" kern="10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610"/>
                        </a:lnSpc>
                        <a:spcAft>
                          <a:spcPts val="0"/>
                        </a:spcAft>
                      </a:pPr>
                      <a:r>
                        <a:rPr lang="zh-CN" sz="1400" kern="100"/>
                        <a:t>数据不可用。</a:t>
                      </a:r>
                      <a:endParaRPr lang="zh-CN" sz="1800" kern="100">
                        <a:solidFill>
                          <a:srgbClr val="000000"/>
                        </a:solidFill>
                        <a:latin typeface="NEU-BZ"/>
                        <a:ea typeface="方正书宋_GBK"/>
                        <a:cs typeface="Times New Roman" panose="02020603050405020304"/>
                      </a:endParaRPr>
                    </a:p>
                  </a:txBody>
                  <a:tcPr marL="66675" marR="66675" marT="0" marB="0" anchor="ctr"/>
                </a:tc>
              </a:tr>
              <a:tr h="305435">
                <a:tc>
                  <a:txBody>
                    <a:bodyPr/>
                    <a:lstStyle/>
                    <a:p>
                      <a:pPr>
                        <a:lnSpc>
                          <a:spcPts val="1610"/>
                        </a:lnSpc>
                        <a:spcAft>
                          <a:spcPts val="0"/>
                        </a:spcAft>
                      </a:pPr>
                      <a:r>
                        <a:rPr lang="en-US" sz="1400" kern="100"/>
                        <a:t>#DIV/0!</a:t>
                      </a:r>
                      <a:endParaRPr lang="zh-CN" sz="1800" kern="10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610"/>
                        </a:lnSpc>
                        <a:spcAft>
                          <a:spcPts val="0"/>
                        </a:spcAft>
                      </a:pPr>
                      <a:r>
                        <a:rPr lang="zh-CN" sz="1400" kern="100" dirty="0"/>
                        <a:t>数值除以</a:t>
                      </a:r>
                      <a:r>
                        <a:rPr lang="en-US" sz="1400" kern="100" dirty="0"/>
                        <a:t>0</a:t>
                      </a:r>
                      <a:r>
                        <a:rPr lang="zh-CN" sz="1400" kern="100" dirty="0"/>
                        <a:t>或除以非数值单元。</a:t>
                      </a:r>
                      <a:endParaRPr lang="zh-CN" sz="1800" kern="100" dirty="0">
                        <a:solidFill>
                          <a:srgbClr val="000000"/>
                        </a:solidFill>
                        <a:latin typeface="NEU-BZ"/>
                        <a:ea typeface="方正书宋_GBK"/>
                        <a:cs typeface="Times New Roman" panose="02020603050405020304"/>
                      </a:endParaRPr>
                    </a:p>
                  </a:txBody>
                  <a:tcPr marL="66675" marR="66675" marT="0" marB="0" anchor="ctr"/>
                </a:tc>
              </a:tr>
              <a:tr h="305435">
                <a:tc>
                  <a:txBody>
                    <a:bodyPr/>
                    <a:lstStyle/>
                    <a:p>
                      <a:pPr>
                        <a:lnSpc>
                          <a:spcPts val="1610"/>
                        </a:lnSpc>
                        <a:spcAft>
                          <a:spcPts val="0"/>
                        </a:spcAft>
                      </a:pPr>
                      <a:r>
                        <a:rPr lang="en-US" sz="1400" kern="100"/>
                        <a:t>#NULL!</a:t>
                      </a:r>
                      <a:endParaRPr lang="zh-CN" sz="1800" kern="10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610"/>
                        </a:lnSpc>
                        <a:spcAft>
                          <a:spcPts val="0"/>
                        </a:spcAft>
                      </a:pPr>
                      <a:r>
                        <a:rPr lang="zh-CN" sz="1400" kern="100"/>
                        <a:t>指定了两个不相交区域的交集。</a:t>
                      </a:r>
                      <a:endParaRPr lang="zh-CN" sz="1800" kern="100">
                        <a:solidFill>
                          <a:srgbClr val="000000"/>
                        </a:solidFill>
                        <a:latin typeface="NEU-BZ"/>
                        <a:ea typeface="方正书宋_GBK"/>
                        <a:cs typeface="Times New Roman" panose="02020603050405020304"/>
                      </a:endParaRPr>
                    </a:p>
                  </a:txBody>
                  <a:tcPr marL="66675" marR="66675" marT="0" marB="0" anchor="ctr"/>
                </a:tc>
              </a:tr>
              <a:tr h="305435">
                <a:tc>
                  <a:txBody>
                    <a:bodyPr/>
                    <a:lstStyle/>
                    <a:p>
                      <a:pPr>
                        <a:lnSpc>
                          <a:spcPts val="1610"/>
                        </a:lnSpc>
                        <a:spcAft>
                          <a:spcPts val="0"/>
                        </a:spcAft>
                      </a:pPr>
                      <a:r>
                        <a:rPr lang="en-US" sz="1400" kern="100"/>
                        <a:t>#NUM!</a:t>
                      </a:r>
                      <a:endParaRPr lang="zh-CN" sz="1800" kern="10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610"/>
                        </a:lnSpc>
                        <a:spcAft>
                          <a:spcPts val="0"/>
                        </a:spcAft>
                      </a:pPr>
                      <a:r>
                        <a:rPr lang="zh-CN" sz="1400" kern="100"/>
                        <a:t>公式或函数中含有无效的数值。</a:t>
                      </a:r>
                      <a:endParaRPr lang="zh-CN" sz="1800" kern="100">
                        <a:solidFill>
                          <a:srgbClr val="000000"/>
                        </a:solidFill>
                        <a:latin typeface="NEU-BZ"/>
                        <a:ea typeface="方正书宋_GBK"/>
                        <a:cs typeface="Times New Roman" panose="02020603050405020304"/>
                      </a:endParaRPr>
                    </a:p>
                  </a:txBody>
                  <a:tcPr marL="66675" marR="66675" marT="0" marB="0" anchor="ctr"/>
                </a:tc>
              </a:tr>
              <a:tr h="343535">
                <a:tc>
                  <a:txBody>
                    <a:bodyPr/>
                    <a:lstStyle/>
                    <a:p>
                      <a:pPr>
                        <a:lnSpc>
                          <a:spcPts val="1610"/>
                        </a:lnSpc>
                        <a:spcAft>
                          <a:spcPts val="0"/>
                        </a:spcAft>
                      </a:pPr>
                      <a:r>
                        <a:rPr lang="en-US" sz="1400" kern="100" dirty="0"/>
                        <a:t>#####</a:t>
                      </a:r>
                      <a:endParaRPr lang="zh-CN" sz="1800" kern="100" dirty="0">
                        <a:solidFill>
                          <a:srgbClr val="000000"/>
                        </a:solidFill>
                        <a:latin typeface="NEU-BZ"/>
                        <a:ea typeface="方正书宋_GBK"/>
                        <a:cs typeface="Times New Roman" panose="02020603050405020304"/>
                      </a:endParaRPr>
                    </a:p>
                  </a:txBody>
                  <a:tcPr marL="66675" marR="66675" marT="0" marB="0" anchor="ctr"/>
                </a:tc>
                <a:tc>
                  <a:txBody>
                    <a:bodyPr/>
                    <a:lstStyle/>
                    <a:p>
                      <a:pPr>
                        <a:lnSpc>
                          <a:spcPts val="1800"/>
                        </a:lnSpc>
                        <a:spcAft>
                          <a:spcPts val="0"/>
                        </a:spcAft>
                      </a:pPr>
                      <a:r>
                        <a:rPr lang="zh-CN" sz="1400" kern="100" dirty="0"/>
                        <a:t>列宽不足以显示所有内容</a:t>
                      </a:r>
                      <a:r>
                        <a:rPr lang="en-US" sz="1400" kern="100" dirty="0"/>
                        <a:t>,</a:t>
                      </a:r>
                      <a:r>
                        <a:rPr lang="zh-CN" sz="1400" kern="100" dirty="0"/>
                        <a:t>或在单元格中使用了负日期或时间。</a:t>
                      </a:r>
                      <a:endParaRPr lang="zh-CN" sz="1800" kern="100" dirty="0">
                        <a:solidFill>
                          <a:srgbClr val="000000"/>
                        </a:solidFill>
                        <a:latin typeface="NEU-BZ"/>
                        <a:ea typeface="方正书宋_GBK"/>
                        <a:cs typeface="Times New Roman" panose="02020603050405020304"/>
                      </a:endParaRPr>
                    </a:p>
                  </a:txBody>
                  <a:tcPr marL="66675" marR="66675" marT="0" marB="0" anchor="ctr"/>
                </a:tc>
              </a:tr>
            </a:tbl>
          </a:graphicData>
        </a:graphic>
      </p:graphicFrame>
      <p:sp>
        <p:nvSpPr>
          <p:cNvPr id="8" name="矩形 7"/>
          <p:cNvSpPr/>
          <p:nvPr/>
        </p:nvSpPr>
        <p:spPr>
          <a:xfrm>
            <a:off x="2223805" y="3244334"/>
            <a:ext cx="1768475" cy="306705"/>
          </a:xfrm>
          <a:prstGeom prst="rect">
            <a:avLst/>
          </a:prstGeom>
        </p:spPr>
        <p:txBody>
          <a:bodyPr wrap="none">
            <a:spAutoFit/>
          </a:bodyPr>
          <a:lstStyle/>
          <a:p>
            <a:r>
              <a:rPr lang="zh-CN" altLang="en-US" sz="1400" dirty="0" smtClean="0"/>
              <a:t>表</a:t>
            </a:r>
            <a:r>
              <a:rPr lang="en-US" sz="1400" dirty="0" smtClean="0"/>
              <a:t>4—2</a:t>
            </a:r>
            <a:r>
              <a:rPr lang="zh-CN" altLang="en-US" sz="1400" dirty="0" smtClean="0"/>
              <a:t>常见错误提示</a:t>
            </a:r>
            <a:endParaRPr lang="zh-CN" alt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8115328" cy="4873752"/>
          </a:xfrm>
        </p:spPr>
        <p:txBody>
          <a:bodyPr>
            <a:noAutofit/>
          </a:bodyPr>
          <a:lstStyle/>
          <a:p>
            <a:pPr>
              <a:lnSpc>
                <a:spcPct val="150000"/>
              </a:lnSpc>
            </a:pPr>
            <a:r>
              <a:rPr lang="en-US" dirty="0" smtClean="0"/>
              <a:t>4.2</a:t>
            </a:r>
            <a:r>
              <a:rPr lang="zh-CN" altLang="en-US" dirty="0" smtClean="0"/>
              <a:t>　</a:t>
            </a:r>
            <a:r>
              <a:rPr lang="en-US" dirty="0" smtClean="0"/>
              <a:t>Excel</a:t>
            </a:r>
            <a:r>
              <a:rPr lang="zh-CN" altLang="en-US" dirty="0" smtClean="0"/>
              <a:t>工作表的建立与编辑</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sz="2000" dirty="0" smtClean="0"/>
              <a:t>※ </a:t>
            </a:r>
            <a:r>
              <a:rPr lang="zh-CN" altLang="en-US" sz="2000" dirty="0" smtClean="0"/>
              <a:t>了解工作表的结构</a:t>
            </a:r>
            <a:r>
              <a:rPr lang="en-US" sz="2000" dirty="0" smtClean="0"/>
              <a:t>,</a:t>
            </a:r>
            <a:r>
              <a:rPr lang="zh-CN" altLang="en-US" sz="2000" dirty="0" smtClean="0"/>
              <a:t>掌握如何创建一个</a:t>
            </a:r>
            <a:r>
              <a:rPr lang="en-US" sz="2000" dirty="0" smtClean="0"/>
              <a:t>Excel</a:t>
            </a:r>
            <a:r>
              <a:rPr lang="zh-CN" altLang="en-US" sz="2000" dirty="0" smtClean="0"/>
              <a:t>工作表</a:t>
            </a:r>
            <a:r>
              <a:rPr lang="en-US" sz="2000" dirty="0" smtClean="0"/>
              <a:t>;</a:t>
            </a:r>
            <a:endParaRPr lang="zh-CN" altLang="en-US" sz="2000" dirty="0" smtClean="0"/>
          </a:p>
          <a:p>
            <a:pPr>
              <a:lnSpc>
                <a:spcPct val="150000"/>
              </a:lnSpc>
              <a:buNone/>
            </a:pPr>
            <a:r>
              <a:rPr lang="en-US" sz="2000" dirty="0" smtClean="0"/>
              <a:t>※ </a:t>
            </a:r>
            <a:r>
              <a:rPr lang="zh-CN" altLang="en-US" sz="2000" dirty="0" smtClean="0"/>
              <a:t>掌握如何设置工作表格式</a:t>
            </a:r>
            <a:r>
              <a:rPr lang="en-US" sz="2000" dirty="0" smtClean="0"/>
              <a:t>;</a:t>
            </a:r>
            <a:endParaRPr lang="zh-CN" altLang="en-US" sz="2000" dirty="0" smtClean="0"/>
          </a:p>
          <a:p>
            <a:pPr>
              <a:lnSpc>
                <a:spcPct val="150000"/>
              </a:lnSpc>
              <a:buNone/>
            </a:pPr>
            <a:r>
              <a:rPr lang="en-US" sz="2000" dirty="0" smtClean="0"/>
              <a:t>※ </a:t>
            </a:r>
            <a:r>
              <a:rPr lang="zh-CN" altLang="en-US" sz="2000" dirty="0" smtClean="0"/>
              <a:t>学会对工作表的选择、删除、移动、复制、修改标签、重命名操作</a:t>
            </a:r>
            <a:r>
              <a:rPr lang="en-US" sz="2000" dirty="0" smtClean="0"/>
              <a:t>;</a:t>
            </a:r>
            <a:endParaRPr lang="zh-CN" altLang="en-US" sz="2000" dirty="0" smtClean="0"/>
          </a:p>
          <a:p>
            <a:pPr>
              <a:lnSpc>
                <a:spcPct val="150000"/>
              </a:lnSpc>
              <a:buNone/>
            </a:pPr>
            <a:r>
              <a:rPr lang="en-US" sz="2000" dirty="0" smtClean="0"/>
              <a:t>※ </a:t>
            </a:r>
            <a:r>
              <a:rPr lang="zh-CN" altLang="en-US" sz="2000" dirty="0" smtClean="0"/>
              <a:t>掌握插入迷你图的操作</a:t>
            </a:r>
            <a:r>
              <a:rPr lang="en-US" sz="2000" dirty="0" smtClean="0"/>
              <a:t>;</a:t>
            </a:r>
            <a:endParaRPr lang="zh-CN" altLang="en-US" sz="2000" dirty="0" smtClean="0"/>
          </a:p>
          <a:p>
            <a:pPr>
              <a:lnSpc>
                <a:spcPct val="150000"/>
              </a:lnSpc>
              <a:buNone/>
            </a:pPr>
            <a:r>
              <a:rPr lang="en-US" sz="2000" dirty="0" smtClean="0"/>
              <a:t>※ </a:t>
            </a:r>
            <a:r>
              <a:rPr lang="zh-CN" altLang="en-US" sz="2000" dirty="0" smtClean="0"/>
              <a:t>学会使用页面设置和打印功能。</a:t>
            </a:r>
            <a:endParaRPr lang="zh-CN" altLang="en-US" sz="2000" dirty="0"/>
          </a:p>
        </p:txBody>
      </p:sp>
      <p:sp>
        <p:nvSpPr>
          <p:cNvPr id="2" name="标题 1"/>
          <p:cNvSpPr>
            <a:spLocks noGrp="1"/>
          </p:cNvSpPr>
          <p:nvPr>
            <p:ph type="title"/>
          </p:nvPr>
        </p:nvSpPr>
        <p:spPr>
          <a:xfrm>
            <a:off x="59055"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0" name="学习目标.EPS" descr="id:2147494556;FounderCES"/>
          <p:cNvPicPr/>
          <p:nvPr/>
        </p:nvPicPr>
        <p:blipFill>
          <a:blip r:embed="rId3"/>
          <a:stretch>
            <a:fillRect/>
          </a:stretch>
        </p:blipFill>
        <p:spPr>
          <a:xfrm>
            <a:off x="2238348" y="2357430"/>
            <a:ext cx="1714512" cy="5715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4.2.1</a:t>
            </a:r>
            <a:r>
              <a:rPr lang="zh-CN" altLang="en-US" sz="2000" dirty="0" smtClean="0"/>
              <a:t>　建立工作表</a:t>
            </a:r>
            <a:endParaRPr lang="zh-CN" altLang="en-US" sz="2000" dirty="0" smtClean="0"/>
          </a:p>
          <a:p>
            <a:pPr>
              <a:lnSpc>
                <a:spcPct val="150000"/>
              </a:lnSpc>
              <a:buNone/>
            </a:pPr>
            <a:r>
              <a:rPr lang="en-US" sz="2000" dirty="0" smtClean="0"/>
              <a:t>1.</a:t>
            </a:r>
            <a:r>
              <a:rPr lang="zh-CN" altLang="en-US" sz="2000" dirty="0" smtClean="0"/>
              <a:t>建立工作表</a:t>
            </a:r>
            <a:endParaRPr lang="zh-CN" altLang="en-US" sz="2000" dirty="0" smtClean="0"/>
          </a:p>
          <a:p>
            <a:pPr>
              <a:lnSpc>
                <a:spcPct val="150000"/>
              </a:lnSpc>
              <a:buNone/>
            </a:pPr>
            <a:r>
              <a:rPr lang="zh-CN" altLang="en-US" sz="2000" dirty="0" smtClean="0"/>
              <a:t>      如建立如图</a:t>
            </a:r>
            <a:r>
              <a:rPr lang="en-US" sz="2000" dirty="0" smtClean="0"/>
              <a:t>4—4</a:t>
            </a:r>
            <a:r>
              <a:rPr lang="zh-CN" altLang="en-US" sz="2000" dirty="0" smtClean="0"/>
              <a:t>所示的学生成绩表</a:t>
            </a:r>
            <a:r>
              <a:rPr lang="en-US" sz="2000" dirty="0" smtClean="0"/>
              <a:t>,</a:t>
            </a:r>
            <a:r>
              <a:rPr lang="zh-CN" altLang="en-US" sz="2000" dirty="0" smtClean="0"/>
              <a:t>在第</a:t>
            </a:r>
            <a:r>
              <a:rPr lang="en-US" sz="2000" dirty="0" smtClean="0"/>
              <a:t>1</a:t>
            </a:r>
            <a:r>
              <a:rPr lang="zh-CN" altLang="en-US" sz="2000" dirty="0" smtClean="0"/>
              <a:t>行输入表头内容</a:t>
            </a:r>
            <a:r>
              <a:rPr lang="en-US" sz="2000" dirty="0" smtClean="0"/>
              <a:t>“</a:t>
            </a:r>
            <a:r>
              <a:rPr lang="zh-CN" altLang="en-US" sz="2000" dirty="0" smtClean="0"/>
              <a:t>学生成绩表</a:t>
            </a:r>
            <a:r>
              <a:rPr lang="en-US" sz="2000" dirty="0" smtClean="0"/>
              <a:t>”(</a:t>
            </a:r>
            <a:r>
              <a:rPr lang="zh-CN" altLang="en-US" sz="2000" dirty="0" smtClean="0"/>
              <a:t>此处使用了合并单元格命令</a:t>
            </a:r>
            <a:r>
              <a:rPr lang="en-US" sz="2000" dirty="0" smtClean="0"/>
              <a:t>),</a:t>
            </a:r>
            <a:r>
              <a:rPr lang="zh-CN" altLang="en-US" sz="2000" dirty="0" smtClean="0"/>
              <a:t>第</a:t>
            </a:r>
            <a:r>
              <a:rPr lang="en-US" sz="2000" dirty="0" smtClean="0"/>
              <a:t>2</a:t>
            </a:r>
            <a:r>
              <a:rPr lang="zh-CN" altLang="en-US" sz="2000" dirty="0" smtClean="0"/>
              <a:t>行为表格的标题行</a:t>
            </a:r>
            <a:r>
              <a:rPr lang="en-US" sz="2000" dirty="0" smtClean="0"/>
              <a:t>,</a:t>
            </a:r>
            <a:r>
              <a:rPr lang="zh-CN" altLang="en-US" sz="2000" dirty="0" smtClean="0"/>
              <a:t>在输入标题行后依次输入表格内容。</a:t>
            </a:r>
            <a:endParaRPr lang="zh-CN" altLang="en-US" sz="2000" dirty="0"/>
          </a:p>
        </p:txBody>
      </p:sp>
      <p:sp>
        <p:nvSpPr>
          <p:cNvPr id="2" name="标题 1"/>
          <p:cNvSpPr>
            <a:spLocks noGrp="1"/>
          </p:cNvSpPr>
          <p:nvPr>
            <p:ph type="title"/>
          </p:nvPr>
        </p:nvSpPr>
        <p:spPr>
          <a:xfrm>
            <a:off x="720090"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4a4.jpg" descr="id:2147494579;FounderCES"/>
          <p:cNvPicPr/>
          <p:nvPr/>
        </p:nvPicPr>
        <p:blipFill>
          <a:blip r:embed="rId3" cstate="print"/>
          <a:stretch>
            <a:fillRect/>
          </a:stretch>
        </p:blipFill>
        <p:spPr>
          <a:xfrm>
            <a:off x="3238480" y="4286256"/>
            <a:ext cx="5572164" cy="1785950"/>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7" name="矩形 6"/>
          <p:cNvSpPr/>
          <p:nvPr/>
        </p:nvSpPr>
        <p:spPr>
          <a:xfrm>
            <a:off x="4964921" y="6202940"/>
            <a:ext cx="1995170" cy="337185"/>
          </a:xfrm>
          <a:prstGeom prst="rect">
            <a:avLst/>
          </a:prstGeom>
        </p:spPr>
        <p:txBody>
          <a:bodyPr wrap="none">
            <a:spAutoFit/>
          </a:bodyPr>
          <a:lstStyle/>
          <a:p>
            <a:r>
              <a:rPr lang="zh-CN" altLang="en-US" sz="1600" dirty="0" smtClean="0"/>
              <a:t>图</a:t>
            </a:r>
            <a:r>
              <a:rPr lang="en-US" sz="1600" dirty="0" smtClean="0"/>
              <a:t>4—4</a:t>
            </a:r>
            <a:r>
              <a:rPr lang="zh-CN" altLang="en-US" sz="1600" dirty="0" smtClean="0"/>
              <a:t>　学生成绩表</a:t>
            </a:r>
            <a:endParaRPr lang="zh-CN" alt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数据输入</a:t>
            </a:r>
            <a:endParaRPr lang="zh-CN" altLang="en-US" sz="2000" dirty="0" smtClean="0"/>
          </a:p>
          <a:p>
            <a:pPr>
              <a:lnSpc>
                <a:spcPct val="150000"/>
              </a:lnSpc>
              <a:buNone/>
            </a:pPr>
            <a:r>
              <a:rPr lang="en-US" sz="2000" dirty="0" smtClean="0"/>
              <a:t>(1)</a:t>
            </a:r>
            <a:r>
              <a:rPr lang="zh-CN" altLang="en-US" sz="2000" dirty="0" smtClean="0"/>
              <a:t>键盘输入。</a:t>
            </a:r>
            <a:endParaRPr lang="zh-CN" altLang="en-US" sz="2000" dirty="0" smtClean="0"/>
          </a:p>
          <a:p>
            <a:pPr>
              <a:lnSpc>
                <a:spcPct val="150000"/>
              </a:lnSpc>
              <a:buNone/>
            </a:pPr>
            <a:r>
              <a:rPr lang="en-US" sz="2000" dirty="0" smtClean="0"/>
              <a:t>(2)</a:t>
            </a:r>
            <a:r>
              <a:rPr lang="zh-CN" altLang="en-US" sz="2000" dirty="0" smtClean="0"/>
              <a:t>下拉列表选择。</a:t>
            </a:r>
            <a:endParaRPr lang="zh-CN" altLang="en-US" sz="2000" dirty="0" smtClean="0"/>
          </a:p>
          <a:p>
            <a:pPr>
              <a:lnSpc>
                <a:spcPct val="150000"/>
              </a:lnSpc>
              <a:buNone/>
            </a:pPr>
            <a:r>
              <a:rPr lang="en-US" sz="2000" dirty="0" smtClean="0"/>
              <a:t>(3)</a:t>
            </a:r>
            <a:r>
              <a:rPr lang="zh-CN" altLang="en-US" sz="2000" dirty="0" smtClean="0"/>
              <a:t>根据系统记忆输入。</a:t>
            </a:r>
            <a:endParaRPr lang="zh-CN" altLang="en-US" sz="2000" dirty="0" smtClean="0"/>
          </a:p>
          <a:p>
            <a:pPr>
              <a:lnSpc>
                <a:spcPct val="150000"/>
              </a:lnSpc>
              <a:buNone/>
            </a:pPr>
            <a:r>
              <a:rPr lang="en-US" sz="2000" dirty="0" smtClean="0"/>
              <a:t>(4)</a:t>
            </a:r>
            <a:r>
              <a:rPr lang="zh-CN" altLang="en-US" sz="2000" dirty="0" smtClean="0"/>
              <a:t>使用填充功能输入。</a:t>
            </a:r>
            <a:endParaRPr lang="zh-CN" altLang="en-US" sz="2000" dirty="0"/>
          </a:p>
        </p:txBody>
      </p:sp>
      <p:sp>
        <p:nvSpPr>
          <p:cNvPr id="2" name="标题 1"/>
          <p:cNvSpPr>
            <a:spLocks noGrp="1"/>
          </p:cNvSpPr>
          <p:nvPr>
            <p:ph type="title"/>
          </p:nvPr>
        </p:nvSpPr>
        <p:spPr>
          <a:xfrm>
            <a:off x="815975"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8" name="4a5.jpg" descr="id:2147494601;FounderCES"/>
          <p:cNvPicPr/>
          <p:nvPr/>
        </p:nvPicPr>
        <p:blipFill>
          <a:blip r:embed="rId3"/>
          <a:stretch>
            <a:fillRect/>
          </a:stretch>
        </p:blipFill>
        <p:spPr>
          <a:xfrm>
            <a:off x="4881554" y="2214554"/>
            <a:ext cx="4964742" cy="3299988"/>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0" name="矩形 9"/>
          <p:cNvSpPr/>
          <p:nvPr/>
        </p:nvSpPr>
        <p:spPr>
          <a:xfrm>
            <a:off x="5641675" y="5845750"/>
            <a:ext cx="2604770" cy="337185"/>
          </a:xfrm>
          <a:prstGeom prst="rect">
            <a:avLst/>
          </a:prstGeom>
        </p:spPr>
        <p:txBody>
          <a:bodyPr wrap="none">
            <a:spAutoFit/>
          </a:bodyPr>
          <a:lstStyle/>
          <a:p>
            <a:r>
              <a:rPr lang="zh-CN" altLang="en-US" sz="1600" dirty="0" smtClean="0"/>
              <a:t>图</a:t>
            </a:r>
            <a:r>
              <a:rPr lang="en-US" sz="1600" dirty="0" smtClean="0"/>
              <a:t>4—5</a:t>
            </a:r>
            <a:r>
              <a:rPr lang="zh-CN" altLang="en-US" sz="1600" dirty="0" smtClean="0"/>
              <a:t>　从下拉列表中选择</a:t>
            </a:r>
            <a:endParaRPr lang="zh-CN" alt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59715" y="22574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10" name="矩形 9"/>
          <p:cNvSpPr/>
          <p:nvPr/>
        </p:nvSpPr>
        <p:spPr>
          <a:xfrm>
            <a:off x="2452662" y="5845750"/>
            <a:ext cx="1791970" cy="337185"/>
          </a:xfrm>
          <a:prstGeom prst="rect">
            <a:avLst/>
          </a:prstGeom>
        </p:spPr>
        <p:txBody>
          <a:bodyPr wrap="none">
            <a:spAutoFit/>
          </a:bodyPr>
          <a:lstStyle/>
          <a:p>
            <a:r>
              <a:rPr lang="zh-CN" altLang="en-US" sz="1600" dirty="0" smtClean="0"/>
              <a:t>图</a:t>
            </a:r>
            <a:r>
              <a:rPr lang="en-US" sz="1600" dirty="0" smtClean="0"/>
              <a:t>4—6</a:t>
            </a:r>
            <a:r>
              <a:rPr lang="zh-CN" altLang="en-US" sz="1600" dirty="0" smtClean="0"/>
              <a:t>　数据填充</a:t>
            </a:r>
            <a:endParaRPr lang="zh-CN" altLang="en-US" sz="1600" dirty="0"/>
          </a:p>
        </p:txBody>
      </p:sp>
      <p:pic>
        <p:nvPicPr>
          <p:cNvPr id="11" name="4a6.jpg" descr="id:2147494608;FounderCES"/>
          <p:cNvPicPr/>
          <p:nvPr/>
        </p:nvPicPr>
        <p:blipFill>
          <a:blip r:embed="rId3" cstate="print"/>
          <a:stretch>
            <a:fillRect/>
          </a:stretch>
        </p:blipFill>
        <p:spPr>
          <a:xfrm>
            <a:off x="2524100" y="2071678"/>
            <a:ext cx="1428760" cy="3071834"/>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12" name="4a7.jpg" descr="id:2147494615;FounderCES"/>
          <p:cNvPicPr/>
          <p:nvPr/>
        </p:nvPicPr>
        <p:blipFill>
          <a:blip r:embed="rId4" cstate="print"/>
          <a:stretch>
            <a:fillRect/>
          </a:stretch>
        </p:blipFill>
        <p:spPr>
          <a:xfrm>
            <a:off x="5167306" y="2000240"/>
            <a:ext cx="4286280" cy="3214710"/>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3" name="矩形 12"/>
          <p:cNvSpPr/>
          <p:nvPr/>
        </p:nvSpPr>
        <p:spPr>
          <a:xfrm>
            <a:off x="5940322" y="5857892"/>
            <a:ext cx="2165350" cy="337185"/>
          </a:xfrm>
          <a:prstGeom prst="rect">
            <a:avLst/>
          </a:prstGeom>
        </p:spPr>
        <p:txBody>
          <a:bodyPr wrap="none">
            <a:spAutoFit/>
          </a:bodyPr>
          <a:lstStyle/>
          <a:p>
            <a:r>
              <a:rPr lang="zh-CN" altLang="en-US" sz="1600" dirty="0" smtClean="0"/>
              <a:t>图</a:t>
            </a:r>
            <a:r>
              <a:rPr lang="en-US" sz="1600" dirty="0" smtClean="0"/>
              <a:t>4—7</a:t>
            </a:r>
            <a:r>
              <a:rPr lang="zh-CN" altLang="en-US" sz="1600" dirty="0" smtClean="0"/>
              <a:t>　</a:t>
            </a:r>
            <a:r>
              <a:rPr lang="en-US" sz="1600" dirty="0" smtClean="0"/>
              <a:t>“</a:t>
            </a:r>
            <a:r>
              <a:rPr lang="zh-CN" altLang="en-US" sz="1600" dirty="0" smtClean="0"/>
              <a:t>序列</a:t>
            </a:r>
            <a:r>
              <a:rPr lang="en-US" sz="1600" dirty="0" smtClean="0"/>
              <a:t>”</a:t>
            </a:r>
            <a:r>
              <a:rPr lang="zh-CN" altLang="en-US" sz="1600" dirty="0" smtClean="0"/>
              <a:t>对话框</a:t>
            </a:r>
            <a:endParaRPr lang="zh-CN" alt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3.</a:t>
            </a:r>
            <a:r>
              <a:rPr lang="zh-CN" altLang="en-US" sz="2000" dirty="0" smtClean="0"/>
              <a:t>工作区选择</a:t>
            </a:r>
            <a:endParaRPr lang="zh-CN" altLang="en-US" sz="2000" dirty="0" smtClean="0"/>
          </a:p>
          <a:p>
            <a:pPr>
              <a:lnSpc>
                <a:spcPct val="150000"/>
              </a:lnSpc>
              <a:buNone/>
            </a:pPr>
            <a:r>
              <a:rPr lang="zh-CN" altLang="en-US" sz="2000" dirty="0" smtClean="0"/>
              <a:t>       在对</a:t>
            </a:r>
            <a:r>
              <a:rPr lang="en-US" sz="2000" dirty="0" smtClean="0"/>
              <a:t>Excel</a:t>
            </a:r>
            <a:r>
              <a:rPr lang="zh-CN" altLang="en-US" sz="2000" dirty="0" smtClean="0"/>
              <a:t>单元格进行设置前</a:t>
            </a:r>
            <a:r>
              <a:rPr lang="en-US" sz="2000" dirty="0" smtClean="0"/>
              <a:t>,</a:t>
            </a:r>
            <a:r>
              <a:rPr lang="zh-CN" altLang="en-US" sz="2000" dirty="0" smtClean="0"/>
              <a:t>要先选择单元格、行、列或区域</a:t>
            </a:r>
            <a:r>
              <a:rPr lang="en-US" sz="2000" dirty="0" smtClean="0"/>
              <a:t>,</a:t>
            </a:r>
            <a:r>
              <a:rPr lang="zh-CN" altLang="en-US" sz="2000" dirty="0" smtClean="0"/>
              <a:t>如表</a:t>
            </a:r>
            <a:r>
              <a:rPr lang="en-US" sz="2000" dirty="0" smtClean="0"/>
              <a:t>4—3</a:t>
            </a:r>
            <a:r>
              <a:rPr lang="zh-CN" altLang="en-US" sz="2000" dirty="0" smtClean="0"/>
              <a:t>所示列出了</a:t>
            </a:r>
            <a:r>
              <a:rPr lang="en-US" sz="2000" dirty="0" smtClean="0"/>
              <a:t>Excel</a:t>
            </a:r>
            <a:r>
              <a:rPr lang="zh-CN" altLang="en-US" sz="2000" dirty="0" smtClean="0"/>
              <a:t>选择工作区的常用操作。</a:t>
            </a:r>
            <a:endParaRPr lang="zh-CN" altLang="en-US" sz="2000" dirty="0"/>
          </a:p>
        </p:txBody>
      </p:sp>
      <p:sp>
        <p:nvSpPr>
          <p:cNvPr id="2" name="标题 1"/>
          <p:cNvSpPr>
            <a:spLocks noGrp="1"/>
          </p:cNvSpPr>
          <p:nvPr>
            <p:ph type="title"/>
          </p:nvPr>
        </p:nvSpPr>
        <p:spPr>
          <a:xfrm>
            <a:off x="372110" y="2803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graphicFrame>
        <p:nvGraphicFramePr>
          <p:cNvPr id="8" name="表格 7"/>
          <p:cNvGraphicFramePr>
            <a:graphicFrameLocks noGrp="1"/>
          </p:cNvGraphicFramePr>
          <p:nvPr/>
        </p:nvGraphicFramePr>
        <p:xfrm>
          <a:off x="2595538" y="3714749"/>
          <a:ext cx="6643370" cy="2785745"/>
        </p:xfrm>
        <a:graphic>
          <a:graphicData uri="http://schemas.openxmlformats.org/drawingml/2006/table">
            <a:tbl>
              <a:tblPr>
                <a:tableStyleId>{37CE84F3-28C3-443E-9E96-99CF82512B78}</a:tableStyleId>
              </a:tblPr>
              <a:tblGrid>
                <a:gridCol w="1875155"/>
                <a:gridCol w="4768215"/>
              </a:tblGrid>
              <a:tr h="305435">
                <a:tc>
                  <a:txBody>
                    <a:bodyPr/>
                    <a:lstStyle/>
                    <a:p>
                      <a:pPr algn="ctr">
                        <a:lnSpc>
                          <a:spcPts val="1610"/>
                        </a:lnSpc>
                        <a:spcAft>
                          <a:spcPts val="0"/>
                        </a:spcAft>
                      </a:pPr>
                      <a:r>
                        <a:rPr lang="zh-CN" sz="1400" kern="100"/>
                        <a:t>选定区域</a:t>
                      </a:r>
                      <a:endParaRPr lang="zh-CN" sz="1800" kern="100">
                        <a:solidFill>
                          <a:srgbClr val="000000"/>
                        </a:solidFill>
                        <a:latin typeface="NEU-BZ"/>
                        <a:ea typeface="方正书宋_GBK"/>
                        <a:cs typeface="Times New Roman" panose="02020603050405020304"/>
                      </a:endParaRPr>
                    </a:p>
                  </a:txBody>
                  <a:tcPr marL="0" marR="0"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gn="ctr">
                        <a:lnSpc>
                          <a:spcPts val="1610"/>
                        </a:lnSpc>
                        <a:spcAft>
                          <a:spcPts val="0"/>
                        </a:spcAft>
                      </a:pPr>
                      <a:r>
                        <a:rPr lang="zh-CN" sz="1400" kern="100"/>
                        <a:t>操　作</a:t>
                      </a:r>
                      <a:endParaRPr lang="zh-CN" sz="1800" kern="100">
                        <a:solidFill>
                          <a:srgbClr val="000000"/>
                        </a:solidFill>
                        <a:latin typeface="NEU-BZ"/>
                        <a:ea typeface="方正书宋_GBK"/>
                        <a:cs typeface="Times New Roman" panose="02020603050405020304"/>
                      </a:endParaRPr>
                    </a:p>
                  </a:txBody>
                  <a:tcPr marL="0" marR="0"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05435">
                <a:tc>
                  <a:txBody>
                    <a:bodyPr/>
                    <a:lstStyle/>
                    <a:p>
                      <a:pPr>
                        <a:lnSpc>
                          <a:spcPts val="1610"/>
                        </a:lnSpc>
                        <a:spcAft>
                          <a:spcPts val="0"/>
                        </a:spcAft>
                      </a:pPr>
                      <a:r>
                        <a:rPr lang="zh-CN" sz="1400" kern="100"/>
                        <a:t>单元格</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610"/>
                        </a:lnSpc>
                        <a:spcAft>
                          <a:spcPts val="0"/>
                        </a:spcAft>
                      </a:pPr>
                      <a:r>
                        <a:rPr lang="zh-CN" sz="1400" kern="100"/>
                        <a:t>鼠标单击单元格</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04800">
                <a:tc>
                  <a:txBody>
                    <a:bodyPr/>
                    <a:lstStyle/>
                    <a:p>
                      <a:pPr>
                        <a:lnSpc>
                          <a:spcPts val="1610"/>
                        </a:lnSpc>
                        <a:spcAft>
                          <a:spcPts val="0"/>
                        </a:spcAft>
                      </a:pPr>
                      <a:r>
                        <a:rPr lang="zh-CN" sz="1400" kern="100"/>
                        <a:t>连续区域</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610"/>
                        </a:lnSpc>
                        <a:spcAft>
                          <a:spcPts val="0"/>
                        </a:spcAft>
                      </a:pPr>
                      <a:r>
                        <a:rPr lang="zh-CN" sz="1400" kern="100"/>
                        <a:t>选定第一个单元格</a:t>
                      </a:r>
                      <a:r>
                        <a:rPr lang="en-US" sz="1400" kern="100"/>
                        <a:t>,</a:t>
                      </a:r>
                      <a:r>
                        <a:rPr lang="zh-CN" sz="1400" kern="100"/>
                        <a:t>拖动鼠标到最后一个单元格</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05435">
                <a:tc>
                  <a:txBody>
                    <a:bodyPr/>
                    <a:lstStyle/>
                    <a:p>
                      <a:pPr>
                        <a:lnSpc>
                          <a:spcPts val="1610"/>
                        </a:lnSpc>
                        <a:spcAft>
                          <a:spcPts val="0"/>
                        </a:spcAft>
                      </a:pPr>
                      <a:r>
                        <a:rPr lang="zh-CN" sz="1400" kern="100"/>
                        <a:t>不连续区域</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610"/>
                        </a:lnSpc>
                        <a:spcAft>
                          <a:spcPts val="0"/>
                        </a:spcAft>
                      </a:pPr>
                      <a:r>
                        <a:rPr lang="zh-CN" sz="1400" kern="100"/>
                        <a:t>选定第一个单元格</a:t>
                      </a:r>
                      <a:r>
                        <a:rPr lang="en-US" sz="1400" kern="100"/>
                        <a:t>,</a:t>
                      </a:r>
                      <a:r>
                        <a:rPr lang="zh-CN" sz="1400" kern="100"/>
                        <a:t>按住</a:t>
                      </a:r>
                      <a:r>
                        <a:rPr lang="en-US" sz="1400" kern="100"/>
                        <a:t>Ctrl</a:t>
                      </a:r>
                      <a:r>
                        <a:rPr lang="zh-CN" sz="1400" kern="100"/>
                        <a:t>键再选择其他单元格</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04800">
                <a:tc>
                  <a:txBody>
                    <a:bodyPr/>
                    <a:lstStyle/>
                    <a:p>
                      <a:pPr>
                        <a:lnSpc>
                          <a:spcPts val="1610"/>
                        </a:lnSpc>
                        <a:spcAft>
                          <a:spcPts val="0"/>
                        </a:spcAft>
                      </a:pPr>
                      <a:r>
                        <a:rPr lang="zh-CN" sz="1400" kern="100"/>
                        <a:t>整个工作表</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610"/>
                        </a:lnSpc>
                        <a:spcAft>
                          <a:spcPts val="0"/>
                        </a:spcAft>
                      </a:pPr>
                      <a:r>
                        <a:rPr lang="zh-CN" sz="1400" kern="100"/>
                        <a:t>单击工作表第一行左侧全选按钮</a:t>
                      </a:r>
                      <a:r>
                        <a:rPr lang="en-US" sz="1400" kern="100"/>
                        <a:t> </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05435">
                <a:tc>
                  <a:txBody>
                    <a:bodyPr/>
                    <a:lstStyle/>
                    <a:p>
                      <a:pPr>
                        <a:lnSpc>
                          <a:spcPts val="1610"/>
                        </a:lnSpc>
                        <a:spcAft>
                          <a:spcPts val="0"/>
                        </a:spcAft>
                      </a:pPr>
                      <a:r>
                        <a:rPr lang="zh-CN" sz="1400" kern="100"/>
                        <a:t>一行</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610"/>
                        </a:lnSpc>
                        <a:spcAft>
                          <a:spcPts val="0"/>
                        </a:spcAft>
                      </a:pPr>
                      <a:r>
                        <a:rPr lang="zh-CN" sz="1400" kern="100"/>
                        <a:t>单击行号</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05435">
                <a:tc>
                  <a:txBody>
                    <a:bodyPr/>
                    <a:lstStyle/>
                    <a:p>
                      <a:pPr>
                        <a:lnSpc>
                          <a:spcPts val="1610"/>
                        </a:lnSpc>
                        <a:spcAft>
                          <a:spcPts val="0"/>
                        </a:spcAft>
                      </a:pPr>
                      <a:r>
                        <a:rPr lang="zh-CN" sz="1400" kern="100"/>
                        <a:t>一列</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610"/>
                        </a:lnSpc>
                        <a:spcAft>
                          <a:spcPts val="0"/>
                        </a:spcAft>
                      </a:pPr>
                      <a:r>
                        <a:rPr lang="zh-CN" sz="1400" kern="100"/>
                        <a:t>单击列标</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05435">
                <a:tc>
                  <a:txBody>
                    <a:bodyPr/>
                    <a:lstStyle/>
                    <a:p>
                      <a:pPr>
                        <a:lnSpc>
                          <a:spcPts val="1610"/>
                        </a:lnSpc>
                        <a:spcAft>
                          <a:spcPts val="0"/>
                        </a:spcAft>
                      </a:pPr>
                      <a:r>
                        <a:rPr lang="zh-CN" sz="1400" kern="100"/>
                        <a:t>连续的行或列</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610"/>
                        </a:lnSpc>
                        <a:spcAft>
                          <a:spcPts val="0"/>
                        </a:spcAft>
                      </a:pPr>
                      <a:r>
                        <a:rPr lang="zh-CN" sz="1400" kern="100"/>
                        <a:t>沿行号或列标拖动鼠标</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r h="343535">
                <a:tc>
                  <a:txBody>
                    <a:bodyPr/>
                    <a:lstStyle/>
                    <a:p>
                      <a:pPr>
                        <a:lnSpc>
                          <a:spcPts val="1610"/>
                        </a:lnSpc>
                        <a:spcAft>
                          <a:spcPts val="0"/>
                        </a:spcAft>
                      </a:pPr>
                      <a:r>
                        <a:rPr lang="zh-CN" sz="1400" kern="100"/>
                        <a:t>不连续的行或列</a:t>
                      </a:r>
                      <a:endParaRPr lang="zh-CN" sz="1800" kern="10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c>
                  <a:txBody>
                    <a:bodyPr/>
                    <a:lstStyle/>
                    <a:p>
                      <a:pPr>
                        <a:lnSpc>
                          <a:spcPts val="1800"/>
                        </a:lnSpc>
                        <a:spcAft>
                          <a:spcPts val="0"/>
                        </a:spcAft>
                      </a:pPr>
                      <a:r>
                        <a:rPr lang="zh-CN" sz="1400" kern="100" dirty="0"/>
                        <a:t>选定第一行或第一列</a:t>
                      </a:r>
                      <a:r>
                        <a:rPr lang="en-US" sz="1400" kern="100" dirty="0"/>
                        <a:t>,</a:t>
                      </a:r>
                      <a:r>
                        <a:rPr lang="zh-CN" sz="1400" kern="100" dirty="0"/>
                        <a:t>按住</a:t>
                      </a:r>
                      <a:r>
                        <a:rPr lang="en-US" sz="1400" kern="100" dirty="0"/>
                        <a:t>Ctrl</a:t>
                      </a:r>
                      <a:r>
                        <a:rPr lang="zh-CN" sz="1400" kern="100" dirty="0"/>
                        <a:t>键再用鼠标选择其他行或列</a:t>
                      </a:r>
                      <a:endParaRPr lang="zh-CN" sz="1800" kern="100" dirty="0">
                        <a:solidFill>
                          <a:srgbClr val="000000"/>
                        </a:solidFill>
                        <a:latin typeface="NEU-BZ"/>
                        <a:ea typeface="方正书宋_GBK"/>
                        <a:cs typeface="Times New Roman" panose="02020603050405020304"/>
                      </a:endParaRPr>
                    </a:p>
                  </a:txBody>
                  <a:tcPr marL="66675" marR="66675" marT="0" marB="0" anchor="ctr">
                    <a:lnL w="12700" cap="flat" cmpd="sng" algn="ctr">
                      <a:solidFill>
                        <a:schemeClr val="tx2">
                          <a:lumMod val="50000"/>
                        </a:schemeClr>
                      </a:solidFill>
                      <a:prstDash val="solid"/>
                      <a:round/>
                      <a:headEnd type="none" w="med" len="med"/>
                      <a:tailEnd type="none" w="med" len="med"/>
                    </a:lnL>
                    <a:lnR w="12700" cap="flat" cmpd="sng" algn="ctr">
                      <a:solidFill>
                        <a:schemeClr val="tx2">
                          <a:lumMod val="50000"/>
                        </a:schemeClr>
                      </a:solidFill>
                      <a:prstDash val="solid"/>
                      <a:round/>
                      <a:headEnd type="none" w="med" len="med"/>
                      <a:tailEnd type="none" w="med" len="med"/>
                    </a:lnR>
                    <a:lnT w="12700" cap="flat" cmpd="sng" algn="ctr">
                      <a:solidFill>
                        <a:schemeClr val="tx2">
                          <a:lumMod val="50000"/>
                        </a:schemeClr>
                      </a:solidFill>
                      <a:prstDash val="solid"/>
                      <a:round/>
                      <a:headEnd type="none" w="med" len="med"/>
                      <a:tailEnd type="none" w="med" len="med"/>
                    </a:lnT>
                    <a:lnB w="12700" cap="flat" cmpd="sng" algn="ctr">
                      <a:solidFill>
                        <a:schemeClr val="tx2">
                          <a:lumMod val="50000"/>
                        </a:schemeClr>
                      </a:solidFill>
                      <a:prstDash val="solid"/>
                      <a:round/>
                      <a:headEnd type="none" w="med" len="med"/>
                      <a:tailEnd type="none" w="med" len="med"/>
                    </a:lnB>
                  </a:tcPr>
                </a:tc>
              </a:tr>
            </a:tbl>
          </a:graphicData>
        </a:graphic>
      </p:graphicFrame>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zh-CN" altLang="en-US" sz="2000" dirty="0" smtClean="0"/>
              <a:t>       选中工作区后</a:t>
            </a:r>
            <a:r>
              <a:rPr lang="en-US" sz="2000" dirty="0" smtClean="0"/>
              <a:t>,</a:t>
            </a:r>
            <a:r>
              <a:rPr lang="zh-CN" altLang="en-US" sz="2000" dirty="0" smtClean="0"/>
              <a:t>单击鼠标右键</a:t>
            </a:r>
            <a:r>
              <a:rPr lang="en-US" sz="2000" dirty="0" smtClean="0"/>
              <a:t>,</a:t>
            </a:r>
            <a:r>
              <a:rPr lang="zh-CN" altLang="en-US" sz="2000" dirty="0" smtClean="0"/>
              <a:t>将弹出如图</a:t>
            </a:r>
            <a:r>
              <a:rPr lang="en-US" sz="2000" dirty="0" smtClean="0"/>
              <a:t>4—8</a:t>
            </a:r>
            <a:r>
              <a:rPr lang="zh-CN" altLang="en-US" sz="2000" dirty="0" smtClean="0"/>
              <a:t>所示的右键快捷菜单</a:t>
            </a:r>
            <a:r>
              <a:rPr lang="en-US" sz="2000" dirty="0" smtClean="0"/>
              <a:t>,</a:t>
            </a:r>
            <a:r>
              <a:rPr lang="zh-CN" altLang="en-US" sz="2000" dirty="0" smtClean="0"/>
              <a:t>选择相应的命令</a:t>
            </a:r>
            <a:r>
              <a:rPr lang="en-US" sz="2000" dirty="0" smtClean="0"/>
              <a:t>,</a:t>
            </a:r>
            <a:r>
              <a:rPr lang="zh-CN" altLang="en-US" sz="2000" dirty="0" smtClean="0"/>
              <a:t>可对所选的工作区进行删除、复制、剪切、粘贴、插入等操作。</a:t>
            </a:r>
            <a:endParaRPr lang="zh-CN" altLang="en-US" sz="2000" dirty="0"/>
          </a:p>
        </p:txBody>
      </p:sp>
      <p:sp>
        <p:nvSpPr>
          <p:cNvPr id="2" name="标题 1"/>
          <p:cNvSpPr>
            <a:spLocks noGrp="1"/>
          </p:cNvSpPr>
          <p:nvPr>
            <p:ph type="title"/>
          </p:nvPr>
        </p:nvSpPr>
        <p:spPr>
          <a:xfrm>
            <a:off x="615315"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7" name="4a8.jpg" descr="id:2147494638;FounderCES"/>
          <p:cNvPicPr/>
          <p:nvPr/>
        </p:nvPicPr>
        <p:blipFill>
          <a:blip r:embed="rId4" cstate="print"/>
          <a:stretch>
            <a:fillRect/>
          </a:stretch>
        </p:blipFill>
        <p:spPr>
          <a:xfrm>
            <a:off x="4810116" y="2857496"/>
            <a:ext cx="1857388" cy="3786214"/>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0" name="矩形 9"/>
          <p:cNvSpPr/>
          <p:nvPr/>
        </p:nvSpPr>
        <p:spPr>
          <a:xfrm>
            <a:off x="6887275" y="6305156"/>
            <a:ext cx="2807970" cy="337185"/>
          </a:xfrm>
          <a:prstGeom prst="rect">
            <a:avLst/>
          </a:prstGeom>
        </p:spPr>
        <p:txBody>
          <a:bodyPr wrap="none">
            <a:spAutoFit/>
          </a:bodyPr>
          <a:lstStyle/>
          <a:p>
            <a:r>
              <a:rPr lang="zh-CN" altLang="en-US" sz="1600" dirty="0" smtClean="0"/>
              <a:t>图</a:t>
            </a:r>
            <a:r>
              <a:rPr lang="en-US" sz="1600" dirty="0" smtClean="0"/>
              <a:t>4—8</a:t>
            </a:r>
            <a:r>
              <a:rPr lang="zh-CN" altLang="en-US" sz="1600" dirty="0" smtClean="0"/>
              <a:t>　单元格右键快捷菜单</a:t>
            </a:r>
            <a:endParaRPr lang="zh-CN" alt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4.2.2</a:t>
            </a:r>
            <a:r>
              <a:rPr lang="zh-CN" altLang="en-US" sz="2000" dirty="0" smtClean="0"/>
              <a:t>　单元格的格式设置</a:t>
            </a:r>
            <a:endParaRPr lang="zh-CN" altLang="en-US" sz="2000" dirty="0" smtClean="0"/>
          </a:p>
          <a:p>
            <a:pPr>
              <a:lnSpc>
                <a:spcPct val="150000"/>
              </a:lnSpc>
              <a:buNone/>
            </a:pPr>
            <a:r>
              <a:rPr lang="en-US" sz="2000" dirty="0" smtClean="0"/>
              <a:t>1.</a:t>
            </a:r>
            <a:r>
              <a:rPr lang="zh-CN" altLang="en-US" sz="2000" dirty="0" smtClean="0"/>
              <a:t>设置单元格格式</a:t>
            </a:r>
            <a:endParaRPr lang="zh-CN" altLang="en-US" sz="2000" dirty="0" smtClean="0"/>
          </a:p>
          <a:p>
            <a:pPr>
              <a:lnSpc>
                <a:spcPct val="150000"/>
              </a:lnSpc>
              <a:buNone/>
            </a:pPr>
            <a:r>
              <a:rPr lang="en-US" sz="2000" dirty="0" smtClean="0"/>
              <a:t>(1)“</a:t>
            </a:r>
            <a:r>
              <a:rPr lang="zh-CN" altLang="en-US" sz="2000" dirty="0" smtClean="0"/>
              <a:t>数字</a:t>
            </a:r>
            <a:r>
              <a:rPr lang="en-US" sz="2000" dirty="0" smtClean="0"/>
              <a:t>”</a:t>
            </a:r>
            <a:r>
              <a:rPr lang="zh-CN" altLang="en-US" sz="2000" dirty="0" smtClean="0"/>
              <a:t>选项卡。</a:t>
            </a:r>
            <a:endParaRPr lang="zh-CN" altLang="en-US" sz="2000" dirty="0"/>
          </a:p>
        </p:txBody>
      </p:sp>
      <p:sp>
        <p:nvSpPr>
          <p:cNvPr id="2" name="标题 1"/>
          <p:cNvSpPr>
            <a:spLocks noGrp="1"/>
          </p:cNvSpPr>
          <p:nvPr>
            <p:ph type="title"/>
          </p:nvPr>
        </p:nvSpPr>
        <p:spPr>
          <a:xfrm>
            <a:off x="511810"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5084665" y="6143644"/>
            <a:ext cx="3771900" cy="337185"/>
          </a:xfrm>
          <a:prstGeom prst="rect">
            <a:avLst/>
          </a:prstGeom>
        </p:spPr>
        <p:txBody>
          <a:bodyPr wrap="none">
            <a:spAutoFit/>
          </a:bodyPr>
          <a:lstStyle/>
          <a:p>
            <a:r>
              <a:rPr lang="zh-CN" altLang="en-US" sz="1600" dirty="0" smtClean="0"/>
              <a:t>图</a:t>
            </a:r>
            <a:r>
              <a:rPr lang="en-US" sz="1600" dirty="0" smtClean="0"/>
              <a:t>4—9</a:t>
            </a:r>
            <a:r>
              <a:rPr lang="zh-CN" altLang="en-US" sz="1600" dirty="0" smtClean="0"/>
              <a:t>　</a:t>
            </a:r>
            <a:r>
              <a:rPr lang="en-US" sz="1600" dirty="0" smtClean="0"/>
              <a:t>“</a:t>
            </a:r>
            <a:r>
              <a:rPr lang="zh-CN" altLang="en-US" sz="1600" dirty="0" smtClean="0"/>
              <a:t>设置单元格格式</a:t>
            </a:r>
            <a:r>
              <a:rPr lang="en-US" sz="1600" dirty="0" smtClean="0"/>
              <a:t>—</a:t>
            </a:r>
            <a:r>
              <a:rPr lang="zh-CN" altLang="en-US" sz="1600" dirty="0" smtClean="0"/>
              <a:t>数字</a:t>
            </a:r>
            <a:r>
              <a:rPr lang="en-US" sz="1600" dirty="0" smtClean="0"/>
              <a:t>”</a:t>
            </a:r>
            <a:r>
              <a:rPr lang="zh-CN" altLang="en-US" sz="1600" dirty="0" smtClean="0"/>
              <a:t>选项卡</a:t>
            </a:r>
            <a:endParaRPr lang="zh-CN" altLang="en-US" sz="1600" dirty="0"/>
          </a:p>
        </p:txBody>
      </p:sp>
      <p:pic>
        <p:nvPicPr>
          <p:cNvPr id="8" name="4a9.jpg" descr="id:2147494661;FounderCES"/>
          <p:cNvPicPr/>
          <p:nvPr/>
        </p:nvPicPr>
        <p:blipFill>
          <a:blip r:embed="rId4" cstate="print"/>
          <a:stretch>
            <a:fillRect/>
          </a:stretch>
        </p:blipFill>
        <p:spPr>
          <a:xfrm>
            <a:off x="4738678" y="2143116"/>
            <a:ext cx="4857784" cy="3643338"/>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对齐</a:t>
            </a:r>
            <a:r>
              <a:rPr lang="en-US" sz="2000" dirty="0" smtClean="0"/>
              <a:t>”</a:t>
            </a:r>
            <a:r>
              <a:rPr lang="zh-CN" altLang="en-US" sz="2000" dirty="0" smtClean="0"/>
              <a:t>选项卡。</a:t>
            </a:r>
            <a:endParaRPr lang="zh-CN" altLang="en-US" sz="2000" dirty="0"/>
          </a:p>
        </p:txBody>
      </p:sp>
      <p:sp>
        <p:nvSpPr>
          <p:cNvPr id="2" name="标题 1"/>
          <p:cNvSpPr>
            <a:spLocks noGrp="1"/>
          </p:cNvSpPr>
          <p:nvPr>
            <p:ph type="title"/>
          </p:nvPr>
        </p:nvSpPr>
        <p:spPr>
          <a:xfrm>
            <a:off x="598170" y="28098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3696189" y="6143644"/>
            <a:ext cx="3874770" cy="337185"/>
          </a:xfrm>
          <a:prstGeom prst="rect">
            <a:avLst/>
          </a:prstGeom>
        </p:spPr>
        <p:txBody>
          <a:bodyPr wrap="none">
            <a:spAutoFit/>
          </a:bodyPr>
          <a:lstStyle/>
          <a:p>
            <a:r>
              <a:rPr lang="zh-CN" altLang="en-US" sz="1600" dirty="0" smtClean="0"/>
              <a:t>图</a:t>
            </a:r>
            <a:r>
              <a:rPr lang="en-US" sz="1600" dirty="0" smtClean="0"/>
              <a:t>4—10</a:t>
            </a:r>
            <a:r>
              <a:rPr lang="zh-CN" altLang="en-US" sz="1600" dirty="0" smtClean="0"/>
              <a:t>　</a:t>
            </a:r>
            <a:r>
              <a:rPr lang="en-US" sz="1600" dirty="0" smtClean="0"/>
              <a:t>“</a:t>
            </a:r>
            <a:r>
              <a:rPr lang="zh-CN" altLang="en-US" sz="1600" dirty="0" smtClean="0"/>
              <a:t>设置单元格格式</a:t>
            </a:r>
            <a:r>
              <a:rPr lang="en-US" sz="1600" dirty="0" smtClean="0"/>
              <a:t>—</a:t>
            </a:r>
            <a:r>
              <a:rPr lang="zh-CN" altLang="en-US" sz="1600" dirty="0" smtClean="0"/>
              <a:t>对齐</a:t>
            </a:r>
            <a:r>
              <a:rPr lang="en-US" sz="1600" dirty="0" smtClean="0"/>
              <a:t>”</a:t>
            </a:r>
            <a:r>
              <a:rPr lang="zh-CN" altLang="en-US" sz="1600" dirty="0" smtClean="0"/>
              <a:t>选项卡</a:t>
            </a:r>
            <a:endParaRPr lang="zh-CN" altLang="en-US" sz="1600" dirty="0"/>
          </a:p>
        </p:txBody>
      </p:sp>
      <p:pic>
        <p:nvPicPr>
          <p:cNvPr id="11" name="4a10.jpg" descr="id:2147494668;FounderCES"/>
          <p:cNvPicPr/>
          <p:nvPr/>
        </p:nvPicPr>
        <p:blipFill>
          <a:blip r:embed="rId4" cstate="print"/>
          <a:stretch>
            <a:fillRect/>
          </a:stretch>
        </p:blipFill>
        <p:spPr>
          <a:xfrm>
            <a:off x="3381356" y="2500306"/>
            <a:ext cx="4643470" cy="3357586"/>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(3)“</a:t>
            </a:r>
            <a:r>
              <a:rPr lang="zh-CN" altLang="en-US" sz="2000" dirty="0" smtClean="0"/>
              <a:t>字体</a:t>
            </a:r>
            <a:r>
              <a:rPr lang="en-US" sz="2000" dirty="0" smtClean="0"/>
              <a:t>”</a:t>
            </a:r>
            <a:r>
              <a:rPr lang="zh-CN" altLang="en-US" sz="2000" dirty="0" smtClean="0"/>
              <a:t>选项卡。</a:t>
            </a:r>
            <a:endParaRPr lang="zh-CN" altLang="en-US" sz="2000" dirty="0"/>
          </a:p>
        </p:txBody>
      </p:sp>
      <p:sp>
        <p:nvSpPr>
          <p:cNvPr id="2" name="标题 1"/>
          <p:cNvSpPr>
            <a:spLocks noGrp="1"/>
          </p:cNvSpPr>
          <p:nvPr>
            <p:ph type="title"/>
          </p:nvPr>
        </p:nvSpPr>
        <p:spPr>
          <a:xfrm>
            <a:off x="537845"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3696189" y="6143644"/>
            <a:ext cx="3874770" cy="337185"/>
          </a:xfrm>
          <a:prstGeom prst="rect">
            <a:avLst/>
          </a:prstGeom>
        </p:spPr>
        <p:txBody>
          <a:bodyPr wrap="none">
            <a:spAutoFit/>
          </a:bodyPr>
          <a:lstStyle/>
          <a:p>
            <a:r>
              <a:rPr lang="zh-CN" altLang="en-US" sz="1600" dirty="0" smtClean="0"/>
              <a:t>图</a:t>
            </a:r>
            <a:r>
              <a:rPr lang="en-US" sz="1600" dirty="0" smtClean="0"/>
              <a:t>4—11</a:t>
            </a:r>
            <a:r>
              <a:rPr lang="zh-CN" altLang="en-US" sz="1600" dirty="0" smtClean="0"/>
              <a:t>　</a:t>
            </a:r>
            <a:r>
              <a:rPr lang="en-US" sz="1600" dirty="0" smtClean="0"/>
              <a:t>“</a:t>
            </a:r>
            <a:r>
              <a:rPr lang="zh-CN" altLang="en-US" sz="1600" dirty="0" smtClean="0"/>
              <a:t>设置单元格格式</a:t>
            </a:r>
            <a:r>
              <a:rPr lang="en-US" sz="1600" dirty="0" smtClean="0"/>
              <a:t>—</a:t>
            </a:r>
            <a:r>
              <a:rPr lang="zh-CN" altLang="en-US" sz="1600" dirty="0" smtClean="0"/>
              <a:t>字体</a:t>
            </a:r>
            <a:r>
              <a:rPr lang="en-US" sz="1600" dirty="0" smtClean="0"/>
              <a:t>”</a:t>
            </a:r>
            <a:r>
              <a:rPr lang="zh-CN" altLang="en-US" sz="1600" dirty="0" smtClean="0"/>
              <a:t>选项卡</a:t>
            </a:r>
            <a:endParaRPr lang="zh-CN" altLang="en-US" sz="1600" dirty="0"/>
          </a:p>
        </p:txBody>
      </p:sp>
      <p:pic>
        <p:nvPicPr>
          <p:cNvPr id="8" name="4a11.jpg" descr="id:2147494675;FounderCES"/>
          <p:cNvPicPr/>
          <p:nvPr/>
        </p:nvPicPr>
        <p:blipFill>
          <a:blip r:embed="rId4" cstate="print"/>
          <a:stretch>
            <a:fillRect/>
          </a:stretch>
        </p:blipFill>
        <p:spPr>
          <a:xfrm>
            <a:off x="3309918" y="2285992"/>
            <a:ext cx="5143536" cy="3500462"/>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(4)“</a:t>
            </a:r>
            <a:r>
              <a:rPr lang="zh-CN" altLang="en-US" sz="2000" dirty="0" smtClean="0"/>
              <a:t>边框</a:t>
            </a:r>
            <a:r>
              <a:rPr lang="en-US" sz="2000" dirty="0" smtClean="0"/>
              <a:t>”</a:t>
            </a:r>
            <a:r>
              <a:rPr lang="zh-CN" altLang="en-US" sz="2000" dirty="0" smtClean="0"/>
              <a:t>选项卡。</a:t>
            </a:r>
            <a:endParaRPr lang="zh-CN" altLang="en-US" sz="2000" dirty="0"/>
          </a:p>
        </p:txBody>
      </p:sp>
      <p:sp>
        <p:nvSpPr>
          <p:cNvPr id="2" name="标题 1"/>
          <p:cNvSpPr>
            <a:spLocks noGrp="1"/>
          </p:cNvSpPr>
          <p:nvPr>
            <p:ph type="title"/>
          </p:nvPr>
        </p:nvSpPr>
        <p:spPr>
          <a:xfrm>
            <a:off x="502920"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3696189" y="6143644"/>
            <a:ext cx="3874770" cy="337185"/>
          </a:xfrm>
          <a:prstGeom prst="rect">
            <a:avLst/>
          </a:prstGeom>
        </p:spPr>
        <p:txBody>
          <a:bodyPr wrap="none">
            <a:spAutoFit/>
          </a:bodyPr>
          <a:lstStyle/>
          <a:p>
            <a:r>
              <a:rPr lang="zh-CN" altLang="en-US" sz="1600" dirty="0" smtClean="0"/>
              <a:t>图</a:t>
            </a:r>
            <a:r>
              <a:rPr lang="en-US" sz="1600" dirty="0" smtClean="0"/>
              <a:t>4—12</a:t>
            </a:r>
            <a:r>
              <a:rPr lang="zh-CN" altLang="en-US" sz="1600" dirty="0" smtClean="0"/>
              <a:t>　</a:t>
            </a:r>
            <a:r>
              <a:rPr lang="en-US" sz="1600" dirty="0" smtClean="0"/>
              <a:t>“</a:t>
            </a:r>
            <a:r>
              <a:rPr lang="zh-CN" altLang="en-US" sz="1600" dirty="0" smtClean="0"/>
              <a:t>设置单元格格式</a:t>
            </a:r>
            <a:r>
              <a:rPr lang="en-US" sz="1600" dirty="0" smtClean="0"/>
              <a:t>—</a:t>
            </a:r>
            <a:r>
              <a:rPr lang="zh-CN" altLang="en-US" sz="1600" dirty="0" smtClean="0"/>
              <a:t>边框</a:t>
            </a:r>
            <a:r>
              <a:rPr lang="en-US" sz="1600" dirty="0" smtClean="0"/>
              <a:t>”</a:t>
            </a:r>
            <a:r>
              <a:rPr lang="zh-CN" altLang="en-US" sz="1600" dirty="0" smtClean="0"/>
              <a:t>选项卡</a:t>
            </a:r>
            <a:endParaRPr lang="zh-CN" altLang="en-US" sz="1600" dirty="0"/>
          </a:p>
        </p:txBody>
      </p:sp>
      <p:pic>
        <p:nvPicPr>
          <p:cNvPr id="11" name="4a12.jpg" descr="id:2147494682;FounderCES"/>
          <p:cNvPicPr/>
          <p:nvPr/>
        </p:nvPicPr>
        <p:blipFill>
          <a:blip r:embed="rId4" cstate="print"/>
          <a:stretch>
            <a:fillRect/>
          </a:stretch>
        </p:blipFill>
        <p:spPr>
          <a:xfrm>
            <a:off x="3024166" y="2285992"/>
            <a:ext cx="5715040" cy="3643338"/>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(5)“</a:t>
            </a:r>
            <a:r>
              <a:rPr lang="zh-CN" altLang="en-US" sz="2000" dirty="0" smtClean="0"/>
              <a:t>填充</a:t>
            </a:r>
            <a:r>
              <a:rPr lang="en-US" sz="2000" dirty="0" smtClean="0"/>
              <a:t>”</a:t>
            </a:r>
            <a:r>
              <a:rPr lang="zh-CN" altLang="en-US" sz="2000" dirty="0" smtClean="0"/>
              <a:t>选项卡。</a:t>
            </a:r>
            <a:endParaRPr lang="zh-CN" altLang="en-US" sz="2000" dirty="0"/>
          </a:p>
        </p:txBody>
      </p:sp>
      <p:sp>
        <p:nvSpPr>
          <p:cNvPr id="2" name="标题 1"/>
          <p:cNvSpPr>
            <a:spLocks noGrp="1"/>
          </p:cNvSpPr>
          <p:nvPr>
            <p:ph type="title"/>
          </p:nvPr>
        </p:nvSpPr>
        <p:spPr>
          <a:xfrm>
            <a:off x="337185"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3696189" y="6143644"/>
            <a:ext cx="3874770" cy="337185"/>
          </a:xfrm>
          <a:prstGeom prst="rect">
            <a:avLst/>
          </a:prstGeom>
        </p:spPr>
        <p:txBody>
          <a:bodyPr wrap="none">
            <a:spAutoFit/>
          </a:bodyPr>
          <a:lstStyle/>
          <a:p>
            <a:r>
              <a:rPr lang="zh-CN" altLang="en-US" sz="1600" dirty="0" smtClean="0"/>
              <a:t>图</a:t>
            </a:r>
            <a:r>
              <a:rPr lang="en-US" sz="1600" dirty="0" smtClean="0"/>
              <a:t>4—13</a:t>
            </a:r>
            <a:r>
              <a:rPr lang="zh-CN" altLang="en-US" sz="1600" dirty="0" smtClean="0"/>
              <a:t>　</a:t>
            </a:r>
            <a:r>
              <a:rPr lang="en-US" sz="1600" dirty="0" smtClean="0"/>
              <a:t>“</a:t>
            </a:r>
            <a:r>
              <a:rPr lang="zh-CN" altLang="en-US" sz="1600" dirty="0" smtClean="0"/>
              <a:t>设置单元格格式</a:t>
            </a:r>
            <a:r>
              <a:rPr lang="en-US" sz="1600" dirty="0" smtClean="0"/>
              <a:t>—</a:t>
            </a:r>
            <a:r>
              <a:rPr lang="zh-CN" altLang="en-US" sz="1600" dirty="0" smtClean="0"/>
              <a:t>填充</a:t>
            </a:r>
            <a:r>
              <a:rPr lang="en-US" sz="1600" dirty="0" smtClean="0"/>
              <a:t>”</a:t>
            </a:r>
            <a:r>
              <a:rPr lang="zh-CN" altLang="en-US" sz="1600" dirty="0" smtClean="0"/>
              <a:t>选项卡</a:t>
            </a:r>
            <a:endParaRPr lang="zh-CN" altLang="en-US" sz="1600" dirty="0"/>
          </a:p>
        </p:txBody>
      </p:sp>
      <p:pic>
        <p:nvPicPr>
          <p:cNvPr id="8" name="4a13.jpg" descr="id:2147494689;FounderCES"/>
          <p:cNvPicPr/>
          <p:nvPr/>
        </p:nvPicPr>
        <p:blipFill>
          <a:blip r:embed="rId4" cstate="print"/>
          <a:stretch>
            <a:fillRect/>
          </a:stretch>
        </p:blipFill>
        <p:spPr>
          <a:xfrm>
            <a:off x="3095604" y="2285992"/>
            <a:ext cx="5214974" cy="3500462"/>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zh-CN" altLang="en-US" sz="2000" dirty="0" smtClean="0"/>
              <a:t>      单击</a:t>
            </a:r>
            <a:r>
              <a:rPr lang="en-US" sz="2000" dirty="0" smtClean="0"/>
              <a:t>“</a:t>
            </a:r>
            <a:r>
              <a:rPr lang="zh-CN" altLang="en-US" sz="2000" dirty="0" smtClean="0"/>
              <a:t>开始</a:t>
            </a:r>
            <a:r>
              <a:rPr lang="en-US" sz="2000" dirty="0" smtClean="0"/>
              <a:t>—</a:t>
            </a:r>
            <a:r>
              <a:rPr lang="zh-CN" altLang="en-US" sz="2000" dirty="0" smtClean="0"/>
              <a:t>编辑</a:t>
            </a:r>
            <a:r>
              <a:rPr lang="en-US" sz="2000" dirty="0" smtClean="0"/>
              <a:t>—</a:t>
            </a:r>
            <a:r>
              <a:rPr lang="zh-CN" altLang="en-US" sz="2000" dirty="0" smtClean="0"/>
              <a:t>清除</a:t>
            </a:r>
            <a:r>
              <a:rPr lang="en-US" sz="2000" dirty="0" smtClean="0"/>
              <a:t>”,</a:t>
            </a:r>
            <a:r>
              <a:rPr lang="zh-CN" altLang="en-US" sz="2000" dirty="0" smtClean="0"/>
              <a:t>出现如图</a:t>
            </a:r>
            <a:r>
              <a:rPr lang="en-US" sz="2000" dirty="0" smtClean="0"/>
              <a:t>4—14</a:t>
            </a:r>
            <a:r>
              <a:rPr lang="zh-CN" altLang="en-US" sz="2000" dirty="0" smtClean="0"/>
              <a:t>所示的清除列表</a:t>
            </a:r>
            <a:r>
              <a:rPr lang="en-US" sz="2000" dirty="0" smtClean="0"/>
              <a:t>,</a:t>
            </a:r>
            <a:r>
              <a:rPr lang="zh-CN" altLang="en-US" sz="2000" dirty="0" smtClean="0"/>
              <a:t>可从中选择要清除的单元格内容或格式。</a:t>
            </a:r>
            <a:endParaRPr lang="zh-CN" altLang="en-US" sz="2000" dirty="0"/>
          </a:p>
        </p:txBody>
      </p:sp>
      <p:sp>
        <p:nvSpPr>
          <p:cNvPr id="2" name="标题 1"/>
          <p:cNvSpPr>
            <a:spLocks noGrp="1"/>
          </p:cNvSpPr>
          <p:nvPr>
            <p:ph type="title"/>
          </p:nvPr>
        </p:nvSpPr>
        <p:spPr>
          <a:xfrm>
            <a:off x="233680" y="28098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4667333" y="6143644"/>
            <a:ext cx="1894840" cy="337185"/>
          </a:xfrm>
          <a:prstGeom prst="rect">
            <a:avLst/>
          </a:prstGeom>
        </p:spPr>
        <p:txBody>
          <a:bodyPr wrap="none">
            <a:spAutoFit/>
          </a:bodyPr>
          <a:lstStyle/>
          <a:p>
            <a:r>
              <a:rPr lang="zh-CN" altLang="en-US" sz="1600" dirty="0" smtClean="0"/>
              <a:t>图</a:t>
            </a:r>
            <a:r>
              <a:rPr lang="en-US" sz="1600" dirty="0" smtClean="0"/>
              <a:t>4—14</a:t>
            </a:r>
            <a:r>
              <a:rPr lang="zh-CN" altLang="en-US" sz="1600" dirty="0" smtClean="0"/>
              <a:t>　清除列表</a:t>
            </a:r>
            <a:endParaRPr lang="zh-CN" altLang="en-US" sz="1600" dirty="0"/>
          </a:p>
        </p:txBody>
      </p:sp>
      <p:pic>
        <p:nvPicPr>
          <p:cNvPr id="11" name="4a14.jpg" descr="id:2147494696;FounderCES"/>
          <p:cNvPicPr/>
          <p:nvPr/>
        </p:nvPicPr>
        <p:blipFill>
          <a:blip r:embed="rId4"/>
          <a:stretch>
            <a:fillRect/>
          </a:stretch>
        </p:blipFill>
        <p:spPr>
          <a:xfrm>
            <a:off x="4452926" y="2643182"/>
            <a:ext cx="2571768" cy="3214710"/>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行列宽度调整</a:t>
            </a:r>
            <a:endParaRPr lang="zh-CN" altLang="en-US" sz="2000" dirty="0" smtClean="0"/>
          </a:p>
          <a:p>
            <a:pPr>
              <a:lnSpc>
                <a:spcPct val="150000"/>
              </a:lnSpc>
              <a:buNone/>
            </a:pPr>
            <a:r>
              <a:rPr lang="zh-CN" altLang="en-US" sz="2000" dirty="0" smtClean="0"/>
              <a:t>       将鼠标移到两列标之间的分界线上时</a:t>
            </a:r>
            <a:r>
              <a:rPr lang="en-US" sz="2000" dirty="0" smtClean="0"/>
              <a:t>,</a:t>
            </a:r>
            <a:r>
              <a:rPr lang="zh-CN" altLang="en-US" sz="2000" dirty="0" smtClean="0"/>
              <a:t>鼠标状态变为</a:t>
            </a:r>
            <a:r>
              <a:rPr lang="en-US" sz="2000" dirty="0" smtClean="0"/>
              <a:t>     ,</a:t>
            </a:r>
            <a:r>
              <a:rPr lang="zh-CN" altLang="en-US" sz="2000" dirty="0" smtClean="0"/>
              <a:t>拖动鼠标即可调整列宽。将鼠标移动到两行号之间的分界线上时</a:t>
            </a:r>
            <a:r>
              <a:rPr lang="en-US" sz="2000" dirty="0" smtClean="0"/>
              <a:t>,</a:t>
            </a:r>
            <a:r>
              <a:rPr lang="zh-CN" altLang="en-US" sz="2000" dirty="0" smtClean="0"/>
              <a:t>鼠标状态变为</a:t>
            </a:r>
            <a:r>
              <a:rPr lang="en-US" sz="2000" dirty="0" smtClean="0"/>
              <a:t>      ,</a:t>
            </a:r>
            <a:r>
              <a:rPr lang="zh-CN" altLang="en-US" sz="2000" dirty="0" smtClean="0"/>
              <a:t>拖动鼠标即可调整行的高度。</a:t>
            </a:r>
            <a:endParaRPr lang="zh-CN" altLang="en-US" sz="2000" dirty="0" smtClean="0"/>
          </a:p>
          <a:p>
            <a:pPr>
              <a:lnSpc>
                <a:spcPct val="150000"/>
              </a:lnSpc>
              <a:buNone/>
            </a:pPr>
            <a:r>
              <a:rPr lang="en-US" sz="2000" dirty="0" smtClean="0"/>
              <a:t>3.</a:t>
            </a:r>
            <a:r>
              <a:rPr lang="zh-CN" altLang="en-US" sz="2000" dirty="0" smtClean="0"/>
              <a:t>条件格式设置</a:t>
            </a:r>
            <a:endParaRPr lang="zh-CN" altLang="en-US" sz="2000" dirty="0" smtClean="0"/>
          </a:p>
          <a:p>
            <a:pPr>
              <a:lnSpc>
                <a:spcPct val="150000"/>
              </a:lnSpc>
              <a:buNone/>
            </a:pPr>
            <a:r>
              <a:rPr lang="zh-CN" altLang="en-US" sz="2000" dirty="0" smtClean="0"/>
              <a:t>      使用条件格式设置功能可以将工作表中符合某种条件的单元格数据设置为特殊格式。</a:t>
            </a:r>
            <a:endParaRPr lang="zh-CN" altLang="en-US" sz="2000" dirty="0"/>
          </a:p>
        </p:txBody>
      </p:sp>
      <p:sp>
        <p:nvSpPr>
          <p:cNvPr id="2" name="标题 1"/>
          <p:cNvSpPr>
            <a:spLocks noGrp="1"/>
          </p:cNvSpPr>
          <p:nvPr>
            <p:ph type="title"/>
          </p:nvPr>
        </p:nvSpPr>
        <p:spPr>
          <a:xfrm>
            <a:off x="459740" y="2803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14" name="4a14a.jpg" descr="id:2147494711;FounderCES"/>
          <p:cNvPicPr/>
          <p:nvPr/>
        </p:nvPicPr>
        <p:blipFill>
          <a:blip r:embed="rId4" cstate="print"/>
          <a:stretch>
            <a:fillRect/>
          </a:stretch>
        </p:blipFill>
        <p:spPr>
          <a:xfrm>
            <a:off x="8750954" y="1926490"/>
            <a:ext cx="350034" cy="322674"/>
          </a:xfrm>
          <a:prstGeom prst="rect">
            <a:avLst/>
          </a:prstGeom>
        </p:spPr>
      </p:pic>
      <p:pic>
        <p:nvPicPr>
          <p:cNvPr id="15" name="4a14b.jpg" descr="id:2147494718;FounderCES"/>
          <p:cNvPicPr/>
          <p:nvPr/>
        </p:nvPicPr>
        <p:blipFill>
          <a:blip r:embed="rId5" cstate="print"/>
          <a:stretch>
            <a:fillRect/>
          </a:stretch>
        </p:blipFill>
        <p:spPr>
          <a:xfrm>
            <a:off x="6631924" y="3362006"/>
            <a:ext cx="357190" cy="285752"/>
          </a:xfrm>
          <a:prstGeom prst="rect">
            <a:avLst/>
          </a:prstGeom>
        </p:spPr>
      </p:pic>
      <p:pic>
        <p:nvPicPr>
          <p:cNvPr id="16" name="4a15.jpg" descr="id:2147494733;FounderCES"/>
          <p:cNvPicPr/>
          <p:nvPr/>
        </p:nvPicPr>
        <p:blipFill>
          <a:blip r:embed="rId6" cstate="print"/>
          <a:stretch>
            <a:fillRect/>
          </a:stretch>
        </p:blipFill>
        <p:spPr>
          <a:xfrm>
            <a:off x="5167306" y="4714884"/>
            <a:ext cx="3286148" cy="1928826"/>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7" name="矩形 16"/>
          <p:cNvSpPr/>
          <p:nvPr/>
        </p:nvSpPr>
        <p:spPr>
          <a:xfrm>
            <a:off x="2203521" y="6131502"/>
            <a:ext cx="2707640" cy="337185"/>
          </a:xfrm>
          <a:prstGeom prst="rect">
            <a:avLst/>
          </a:prstGeom>
        </p:spPr>
        <p:txBody>
          <a:bodyPr wrap="none">
            <a:spAutoFit/>
          </a:bodyPr>
          <a:lstStyle/>
          <a:p>
            <a:r>
              <a:rPr lang="zh-CN" altLang="en-US" sz="1600" dirty="0" smtClean="0"/>
              <a:t>图</a:t>
            </a:r>
            <a:r>
              <a:rPr lang="en-US" sz="1600" dirty="0" smtClean="0"/>
              <a:t>4—15</a:t>
            </a:r>
            <a:r>
              <a:rPr lang="zh-CN" altLang="en-US" sz="1600" dirty="0" smtClean="0"/>
              <a:t>　条件格式设置样例</a:t>
            </a:r>
            <a:endParaRPr lang="zh-CN" alt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4.2.3</a:t>
            </a:r>
            <a:r>
              <a:rPr lang="zh-CN" altLang="en-US" sz="2000" dirty="0" smtClean="0"/>
              <a:t>　工作表的整体操作</a:t>
            </a:r>
            <a:endParaRPr lang="zh-CN" altLang="en-US" sz="2000" dirty="0" smtClean="0"/>
          </a:p>
          <a:p>
            <a:pPr>
              <a:lnSpc>
                <a:spcPct val="150000"/>
              </a:lnSpc>
              <a:buNone/>
            </a:pPr>
            <a:r>
              <a:rPr lang="en-US" sz="2000" dirty="0" smtClean="0"/>
              <a:t>1.</a:t>
            </a:r>
            <a:r>
              <a:rPr lang="zh-CN" altLang="en-US" sz="2000" dirty="0" smtClean="0"/>
              <a:t>插入工作表    </a:t>
            </a:r>
            <a:r>
              <a:rPr lang="en-US" sz="2000" dirty="0" smtClean="0"/>
              <a:t>2.</a:t>
            </a:r>
            <a:r>
              <a:rPr lang="zh-CN" altLang="en-US" sz="2000" dirty="0" smtClean="0"/>
              <a:t>重命名工作表</a:t>
            </a:r>
            <a:endParaRPr lang="zh-CN" altLang="en-US" sz="2000" dirty="0" smtClean="0"/>
          </a:p>
          <a:p>
            <a:pPr>
              <a:lnSpc>
                <a:spcPct val="150000"/>
              </a:lnSpc>
              <a:buNone/>
            </a:pPr>
            <a:r>
              <a:rPr lang="en-US" sz="2000" dirty="0" smtClean="0"/>
              <a:t>3.</a:t>
            </a:r>
            <a:r>
              <a:rPr lang="zh-CN" altLang="en-US" sz="2000" dirty="0" smtClean="0"/>
              <a:t>改变工作表标签颜色</a:t>
            </a:r>
            <a:endParaRPr lang="zh-CN" altLang="en-US" sz="2000" dirty="0" smtClean="0"/>
          </a:p>
          <a:p>
            <a:pPr>
              <a:lnSpc>
                <a:spcPct val="150000"/>
              </a:lnSpc>
              <a:buNone/>
            </a:pPr>
            <a:r>
              <a:rPr lang="zh-CN" altLang="en-US" sz="2000" dirty="0" smtClean="0"/>
              <a:t>      右键单击当前工作表标签</a:t>
            </a:r>
            <a:r>
              <a:rPr lang="en-US" sz="2000" dirty="0" smtClean="0"/>
              <a:t>,</a:t>
            </a:r>
            <a:r>
              <a:rPr lang="zh-CN" altLang="en-US" sz="2000" dirty="0" smtClean="0"/>
              <a:t>在弹出的如图</a:t>
            </a:r>
            <a:r>
              <a:rPr lang="en-US" sz="2000" dirty="0" smtClean="0"/>
              <a:t>4—16</a:t>
            </a:r>
            <a:r>
              <a:rPr lang="zh-CN" altLang="en-US" sz="2000" dirty="0" smtClean="0"/>
              <a:t>所示的快捷菜单中选择</a:t>
            </a:r>
            <a:r>
              <a:rPr lang="en-US" sz="2000" dirty="0" smtClean="0"/>
              <a:t>“</a:t>
            </a:r>
            <a:r>
              <a:rPr lang="zh-CN" altLang="en-US" sz="2000" dirty="0" smtClean="0"/>
              <a:t>工作表标签颜色</a:t>
            </a:r>
            <a:r>
              <a:rPr lang="en-US" sz="2000" dirty="0" smtClean="0"/>
              <a:t>”,</a:t>
            </a:r>
            <a:r>
              <a:rPr lang="zh-CN" altLang="en-US" sz="2000" dirty="0" smtClean="0"/>
              <a:t>在调色板中选择颜色即可</a:t>
            </a:r>
            <a:endParaRPr lang="zh-CN" altLang="en-US" sz="2000" dirty="0" smtClean="0"/>
          </a:p>
          <a:p>
            <a:pPr>
              <a:lnSpc>
                <a:spcPct val="150000"/>
              </a:lnSpc>
              <a:buNone/>
            </a:pPr>
            <a:r>
              <a:rPr lang="en-US" sz="2000" dirty="0" smtClean="0"/>
              <a:t>4.</a:t>
            </a:r>
            <a:r>
              <a:rPr lang="zh-CN" altLang="en-US" sz="2000" dirty="0" smtClean="0"/>
              <a:t>删除工作表</a:t>
            </a:r>
            <a:endParaRPr lang="zh-CN" altLang="en-US" sz="2000" dirty="0" smtClean="0"/>
          </a:p>
        </p:txBody>
      </p:sp>
      <p:sp>
        <p:nvSpPr>
          <p:cNvPr id="2" name="标题 1"/>
          <p:cNvSpPr>
            <a:spLocks noGrp="1"/>
          </p:cNvSpPr>
          <p:nvPr>
            <p:ph type="title"/>
          </p:nvPr>
        </p:nvSpPr>
        <p:spPr>
          <a:xfrm>
            <a:off x="615950" y="37052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6784683" y="5947966"/>
            <a:ext cx="2910840" cy="337185"/>
          </a:xfrm>
          <a:prstGeom prst="rect">
            <a:avLst/>
          </a:prstGeom>
        </p:spPr>
        <p:txBody>
          <a:bodyPr wrap="none">
            <a:spAutoFit/>
          </a:bodyPr>
          <a:lstStyle/>
          <a:p>
            <a:r>
              <a:rPr lang="zh-CN" altLang="en-US" sz="1600" dirty="0" smtClean="0"/>
              <a:t>图</a:t>
            </a:r>
            <a:r>
              <a:rPr lang="en-US" sz="1600" dirty="0" smtClean="0"/>
              <a:t>4—16</a:t>
            </a:r>
            <a:r>
              <a:rPr lang="zh-CN" altLang="en-US" sz="1600" dirty="0" smtClean="0"/>
              <a:t>　设置工作表标签颜色</a:t>
            </a:r>
            <a:endParaRPr lang="zh-CN" altLang="en-US" sz="1600" dirty="0"/>
          </a:p>
        </p:txBody>
      </p:sp>
      <p:pic>
        <p:nvPicPr>
          <p:cNvPr id="8" name="4a16.jpg" descr="id:2147494779;FounderCES"/>
          <p:cNvPicPr/>
          <p:nvPr/>
        </p:nvPicPr>
        <p:blipFill>
          <a:blip r:embed="rId4" cstate="print"/>
          <a:stretch>
            <a:fillRect/>
          </a:stretch>
        </p:blipFill>
        <p:spPr>
          <a:xfrm>
            <a:off x="4178287" y="4564386"/>
            <a:ext cx="2443680" cy="2120760"/>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5.</a:t>
            </a:r>
            <a:r>
              <a:rPr lang="zh-CN" altLang="en-US" sz="2000" dirty="0" smtClean="0"/>
              <a:t>移动和复制工作表</a:t>
            </a:r>
            <a:endParaRPr lang="en-US" altLang="zh-CN" sz="2000" dirty="0" smtClean="0"/>
          </a:p>
          <a:p>
            <a:pPr>
              <a:lnSpc>
                <a:spcPct val="150000"/>
              </a:lnSpc>
              <a:buNone/>
            </a:pPr>
            <a:r>
              <a:rPr lang="zh-CN" altLang="en-US" sz="2000" dirty="0" smtClean="0"/>
              <a:t>     鼠标右键单击要移动的工作表标签</a:t>
            </a:r>
            <a:r>
              <a:rPr lang="en-US" sz="2000" dirty="0" smtClean="0"/>
              <a:t>,</a:t>
            </a:r>
            <a:r>
              <a:rPr lang="zh-CN" altLang="en-US" sz="2000" dirty="0" smtClean="0"/>
              <a:t>弹出如图</a:t>
            </a:r>
            <a:r>
              <a:rPr lang="en-US" sz="2000" dirty="0" smtClean="0"/>
              <a:t>4—17</a:t>
            </a:r>
            <a:r>
              <a:rPr lang="zh-CN" altLang="en-US" sz="2000" dirty="0" smtClean="0"/>
              <a:t>所示的对话框</a:t>
            </a:r>
            <a:r>
              <a:rPr lang="en-US" sz="2000" dirty="0" smtClean="0"/>
              <a:t>,</a:t>
            </a:r>
            <a:r>
              <a:rPr lang="zh-CN" altLang="en-US" sz="2000" dirty="0" smtClean="0"/>
              <a:t>在</a:t>
            </a:r>
            <a:r>
              <a:rPr lang="en-US" sz="2000" dirty="0" smtClean="0"/>
              <a:t>“</a:t>
            </a:r>
            <a:r>
              <a:rPr lang="zh-CN" altLang="en-US" sz="2000" dirty="0" smtClean="0"/>
              <a:t>将选定工作表移至　工作簿</a:t>
            </a:r>
            <a:r>
              <a:rPr lang="en-US" sz="2000" dirty="0" smtClean="0"/>
              <a:t>”</a:t>
            </a:r>
            <a:r>
              <a:rPr lang="zh-CN" altLang="en-US" sz="2000" dirty="0" smtClean="0"/>
              <a:t>下拉列表中选择移至的工作簿名称</a:t>
            </a:r>
            <a:r>
              <a:rPr lang="en-US" sz="2000" dirty="0" smtClean="0"/>
              <a:t>,</a:t>
            </a:r>
            <a:r>
              <a:rPr lang="zh-CN" altLang="en-US" sz="2000" dirty="0" smtClean="0"/>
              <a:t>在</a:t>
            </a:r>
            <a:r>
              <a:rPr lang="en-US" sz="2000" dirty="0" smtClean="0"/>
              <a:t>“</a:t>
            </a:r>
            <a:r>
              <a:rPr lang="zh-CN" altLang="en-US" sz="2000" dirty="0" smtClean="0"/>
              <a:t>下列选定工作表之前</a:t>
            </a:r>
            <a:r>
              <a:rPr lang="en-US" sz="2000" dirty="0" smtClean="0"/>
              <a:t>”</a:t>
            </a:r>
            <a:r>
              <a:rPr lang="zh-CN" altLang="en-US" sz="2000" dirty="0" smtClean="0"/>
              <a:t>选择移动后的工作表位置</a:t>
            </a:r>
            <a:r>
              <a:rPr lang="en-US" sz="2000" dirty="0" smtClean="0"/>
              <a:t>,</a:t>
            </a:r>
            <a:r>
              <a:rPr lang="zh-CN" altLang="en-US" sz="2000" dirty="0" smtClean="0"/>
              <a:t>单击</a:t>
            </a:r>
            <a:r>
              <a:rPr lang="en-US" sz="2000" dirty="0" smtClean="0"/>
              <a:t>“</a:t>
            </a:r>
            <a:r>
              <a:rPr lang="zh-CN" altLang="en-US" sz="2000" dirty="0" smtClean="0"/>
              <a:t>确定</a:t>
            </a:r>
            <a:r>
              <a:rPr lang="en-US" sz="2000" dirty="0" smtClean="0"/>
              <a:t>”</a:t>
            </a:r>
            <a:r>
              <a:rPr lang="zh-CN" altLang="en-US" sz="2000" dirty="0" smtClean="0"/>
              <a:t>即可完成移动。</a:t>
            </a:r>
            <a:endParaRPr lang="zh-CN" altLang="en-US" sz="2000" dirty="0"/>
          </a:p>
        </p:txBody>
      </p:sp>
      <p:sp>
        <p:nvSpPr>
          <p:cNvPr id="2" name="标题 1"/>
          <p:cNvSpPr>
            <a:spLocks noGrp="1"/>
          </p:cNvSpPr>
          <p:nvPr>
            <p:ph type="title"/>
          </p:nvPr>
        </p:nvSpPr>
        <p:spPr>
          <a:xfrm>
            <a:off x="519430"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10" name="矩形 9"/>
          <p:cNvSpPr/>
          <p:nvPr/>
        </p:nvSpPr>
        <p:spPr>
          <a:xfrm>
            <a:off x="5667372" y="6305156"/>
            <a:ext cx="3487420" cy="337185"/>
          </a:xfrm>
          <a:prstGeom prst="rect">
            <a:avLst/>
          </a:prstGeom>
        </p:spPr>
        <p:txBody>
          <a:bodyPr wrap="none">
            <a:spAutoFit/>
          </a:bodyPr>
          <a:lstStyle/>
          <a:p>
            <a:r>
              <a:rPr lang="zh-CN" altLang="en-US" sz="1600" dirty="0" smtClean="0"/>
              <a:t>图</a:t>
            </a:r>
            <a:r>
              <a:rPr lang="en-US" sz="1600" dirty="0" smtClean="0"/>
              <a:t>4—17</a:t>
            </a:r>
            <a:r>
              <a:rPr lang="zh-CN" altLang="en-US" sz="1600" dirty="0" smtClean="0"/>
              <a:t>　</a:t>
            </a:r>
            <a:r>
              <a:rPr lang="en-US" sz="1600" dirty="0" smtClean="0"/>
              <a:t>“</a:t>
            </a:r>
            <a:r>
              <a:rPr lang="zh-CN" altLang="en-US" sz="1600" dirty="0" smtClean="0"/>
              <a:t>移动或复制工作表</a:t>
            </a:r>
            <a:r>
              <a:rPr lang="en-US" sz="1600" dirty="0" smtClean="0"/>
              <a:t>”</a:t>
            </a:r>
            <a:r>
              <a:rPr lang="zh-CN" altLang="en-US" sz="1600" dirty="0" smtClean="0"/>
              <a:t>对话框</a:t>
            </a:r>
            <a:endParaRPr lang="zh-CN" altLang="en-US" sz="1600" dirty="0"/>
          </a:p>
        </p:txBody>
      </p:sp>
      <p:pic>
        <p:nvPicPr>
          <p:cNvPr id="11" name="4a17.jpg" descr="id:2147494802;FounderCES"/>
          <p:cNvPicPr/>
          <p:nvPr/>
        </p:nvPicPr>
        <p:blipFill>
          <a:blip r:embed="rId4" cstate="print"/>
          <a:stretch>
            <a:fillRect/>
          </a:stretch>
        </p:blipFill>
        <p:spPr>
          <a:xfrm>
            <a:off x="6381752" y="3643314"/>
            <a:ext cx="2428892" cy="2357454"/>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4.2.4</a:t>
            </a:r>
            <a:r>
              <a:rPr lang="zh-CN" altLang="en-US" sz="2000" dirty="0" smtClean="0"/>
              <a:t>　迷你图的使用</a:t>
            </a:r>
            <a:endParaRPr lang="zh-CN" altLang="en-US" sz="2000" dirty="0" smtClean="0"/>
          </a:p>
          <a:p>
            <a:pPr>
              <a:lnSpc>
                <a:spcPct val="150000"/>
              </a:lnSpc>
              <a:buNone/>
            </a:pPr>
            <a:r>
              <a:rPr lang="zh-CN" altLang="en-US" sz="2000" dirty="0" smtClean="0"/>
              <a:t>       为了反映数据的变化趋势</a:t>
            </a:r>
            <a:r>
              <a:rPr lang="en-US" sz="2000" dirty="0" smtClean="0"/>
              <a:t>,</a:t>
            </a:r>
            <a:r>
              <a:rPr lang="zh-CN" altLang="en-US" sz="2000" dirty="0" smtClean="0"/>
              <a:t>可以使用迷你图功能</a:t>
            </a:r>
            <a:r>
              <a:rPr lang="en-US" sz="2000" dirty="0" smtClean="0"/>
              <a:t>,</a:t>
            </a:r>
            <a:r>
              <a:rPr lang="zh-CN" altLang="en-US" sz="2000" dirty="0" smtClean="0"/>
              <a:t>在单元格中插入微型曲线图或柱形图。在如图</a:t>
            </a:r>
            <a:r>
              <a:rPr lang="en-US" sz="2000" dirty="0" smtClean="0"/>
              <a:t>4—18</a:t>
            </a:r>
            <a:r>
              <a:rPr lang="zh-CN" altLang="en-US" sz="2000" dirty="0" smtClean="0"/>
              <a:t>所示的销售报表的</a:t>
            </a:r>
            <a:r>
              <a:rPr lang="en-US" sz="2000" dirty="0" smtClean="0"/>
              <a:t>H3~H6</a:t>
            </a:r>
            <a:r>
              <a:rPr lang="zh-CN" altLang="en-US" sz="2000" dirty="0" smtClean="0"/>
              <a:t>单元格中插入该地区销售量变化趋势的折线图、在</a:t>
            </a:r>
            <a:r>
              <a:rPr lang="en-US" sz="2000" dirty="0" smtClean="0"/>
              <a:t>I3~I6</a:t>
            </a:r>
            <a:r>
              <a:rPr lang="zh-CN" altLang="en-US" sz="2000" dirty="0" smtClean="0"/>
              <a:t>的单元格中插入对比柱形图。</a:t>
            </a:r>
            <a:endParaRPr lang="zh-CN" altLang="en-US" sz="2000" dirty="0" smtClean="0"/>
          </a:p>
          <a:p>
            <a:pPr>
              <a:lnSpc>
                <a:spcPct val="150000"/>
              </a:lnSpc>
              <a:buNone/>
            </a:pPr>
            <a:r>
              <a:rPr lang="en-US" sz="2000" dirty="0" smtClean="0"/>
              <a:t>(1)</a:t>
            </a:r>
            <a:r>
              <a:rPr lang="zh-CN" altLang="en-US" sz="2000" dirty="0" smtClean="0"/>
              <a:t>插入折线图</a:t>
            </a:r>
            <a:endParaRPr lang="zh-CN" altLang="en-US" sz="2000" dirty="0" smtClean="0"/>
          </a:p>
          <a:p>
            <a:pPr>
              <a:lnSpc>
                <a:spcPct val="150000"/>
              </a:lnSpc>
              <a:buNone/>
            </a:pPr>
            <a:r>
              <a:rPr lang="en-US" sz="2000" dirty="0" smtClean="0"/>
              <a:t>(2)</a:t>
            </a:r>
            <a:r>
              <a:rPr lang="zh-CN" altLang="en-US" sz="2000" dirty="0" smtClean="0"/>
              <a:t>插入柱形图</a:t>
            </a:r>
            <a:endParaRPr lang="zh-CN" altLang="en-US" sz="2000" dirty="0" smtClean="0"/>
          </a:p>
          <a:p>
            <a:pPr>
              <a:lnSpc>
                <a:spcPct val="150000"/>
              </a:lnSpc>
              <a:buNone/>
            </a:pPr>
            <a:r>
              <a:rPr lang="zh-CN" altLang="en-US" sz="2000" dirty="0" smtClean="0"/>
              <a:t>      如图</a:t>
            </a:r>
            <a:r>
              <a:rPr lang="en-US" sz="2000" dirty="0" smtClean="0"/>
              <a:t>4—19</a:t>
            </a:r>
            <a:r>
              <a:rPr lang="zh-CN" altLang="en-US" sz="2000" dirty="0" smtClean="0"/>
              <a:t>所示，所有操作完成后的效果如图</a:t>
            </a:r>
            <a:r>
              <a:rPr lang="en-US" sz="2000" dirty="0" smtClean="0"/>
              <a:t>4—20</a:t>
            </a:r>
            <a:r>
              <a:rPr lang="zh-CN" altLang="en-US" sz="2000" dirty="0" smtClean="0"/>
              <a:t>所示。</a:t>
            </a:r>
            <a:endParaRPr lang="zh-CN" altLang="en-US" sz="2000" dirty="0"/>
          </a:p>
        </p:txBody>
      </p:sp>
      <p:sp>
        <p:nvSpPr>
          <p:cNvPr id="2" name="标题 1"/>
          <p:cNvSpPr>
            <a:spLocks noGrp="1"/>
          </p:cNvSpPr>
          <p:nvPr>
            <p:ph type="title"/>
          </p:nvPr>
        </p:nvSpPr>
        <p:spPr>
          <a:xfrm>
            <a:off x="929005"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40055" y="2041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7" name="4a18.jpg" descr="id:2147494817;FounderCES"/>
          <p:cNvPicPr/>
          <p:nvPr/>
        </p:nvPicPr>
        <p:blipFill>
          <a:blip r:embed="rId4" cstate="print"/>
          <a:stretch>
            <a:fillRect/>
          </a:stretch>
        </p:blipFill>
        <p:spPr>
          <a:xfrm>
            <a:off x="1809720" y="1518810"/>
            <a:ext cx="3929090" cy="2357454"/>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8" name="矩形 7"/>
          <p:cNvSpPr/>
          <p:nvPr/>
        </p:nvSpPr>
        <p:spPr>
          <a:xfrm>
            <a:off x="2417835" y="3947702"/>
            <a:ext cx="2707640" cy="337185"/>
          </a:xfrm>
          <a:prstGeom prst="rect">
            <a:avLst/>
          </a:prstGeom>
        </p:spPr>
        <p:txBody>
          <a:bodyPr wrap="none">
            <a:spAutoFit/>
          </a:bodyPr>
          <a:lstStyle/>
          <a:p>
            <a:r>
              <a:rPr lang="zh-CN" altLang="en-US" sz="1600" dirty="0" smtClean="0"/>
              <a:t>图</a:t>
            </a:r>
            <a:r>
              <a:rPr lang="en-US" sz="1600" dirty="0" smtClean="0"/>
              <a:t>4—18</a:t>
            </a:r>
            <a:r>
              <a:rPr lang="zh-CN" altLang="en-US" sz="1600" dirty="0" smtClean="0"/>
              <a:t>　中央空调销售报表</a:t>
            </a:r>
            <a:endParaRPr lang="zh-CN" altLang="en-US" sz="1600" dirty="0"/>
          </a:p>
        </p:txBody>
      </p:sp>
      <p:pic>
        <p:nvPicPr>
          <p:cNvPr id="10" name="4a19.jpg" descr="id:2147494824;FounderCES"/>
          <p:cNvPicPr/>
          <p:nvPr/>
        </p:nvPicPr>
        <p:blipFill>
          <a:blip r:embed="rId5" cstate="print"/>
          <a:stretch>
            <a:fillRect/>
          </a:stretch>
        </p:blipFill>
        <p:spPr>
          <a:xfrm>
            <a:off x="6453190" y="1447372"/>
            <a:ext cx="3357586" cy="2571768"/>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1" name="矩形 10"/>
          <p:cNvSpPr/>
          <p:nvPr/>
        </p:nvSpPr>
        <p:spPr>
          <a:xfrm>
            <a:off x="6508061" y="4162016"/>
            <a:ext cx="2877820" cy="337185"/>
          </a:xfrm>
          <a:prstGeom prst="rect">
            <a:avLst/>
          </a:prstGeom>
        </p:spPr>
        <p:txBody>
          <a:bodyPr wrap="none">
            <a:spAutoFit/>
          </a:bodyPr>
          <a:lstStyle/>
          <a:p>
            <a:r>
              <a:rPr lang="zh-CN" altLang="en-US" sz="1600" dirty="0" smtClean="0"/>
              <a:t>图</a:t>
            </a:r>
            <a:r>
              <a:rPr lang="en-US" sz="1600" dirty="0" smtClean="0"/>
              <a:t>4—19</a:t>
            </a:r>
            <a:r>
              <a:rPr lang="zh-CN" altLang="en-US" sz="1600" dirty="0" smtClean="0"/>
              <a:t>　</a:t>
            </a:r>
            <a:r>
              <a:rPr lang="en-US" sz="1600" dirty="0" smtClean="0"/>
              <a:t>“</a:t>
            </a:r>
            <a:r>
              <a:rPr lang="zh-CN" altLang="en-US" sz="1600" dirty="0" smtClean="0"/>
              <a:t>创建迷你图</a:t>
            </a:r>
            <a:r>
              <a:rPr lang="en-US" sz="1600" dirty="0" smtClean="0"/>
              <a:t>”</a:t>
            </a:r>
            <a:r>
              <a:rPr lang="zh-CN" altLang="en-US" sz="1600" dirty="0" smtClean="0"/>
              <a:t>对话框</a:t>
            </a:r>
            <a:endParaRPr lang="zh-CN" altLang="en-US" sz="1600" dirty="0"/>
          </a:p>
        </p:txBody>
      </p:sp>
      <p:pic>
        <p:nvPicPr>
          <p:cNvPr id="12" name="4a20.jpg" descr="id:2147494831;FounderCES"/>
          <p:cNvPicPr/>
          <p:nvPr/>
        </p:nvPicPr>
        <p:blipFill>
          <a:blip r:embed="rId6" cstate="print"/>
          <a:stretch>
            <a:fillRect/>
          </a:stretch>
        </p:blipFill>
        <p:spPr>
          <a:xfrm>
            <a:off x="2309786" y="4643446"/>
            <a:ext cx="7286676" cy="1643074"/>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3" name="矩形 12"/>
          <p:cNvSpPr/>
          <p:nvPr/>
        </p:nvSpPr>
        <p:spPr>
          <a:xfrm>
            <a:off x="4330132" y="6448032"/>
            <a:ext cx="3114040" cy="337185"/>
          </a:xfrm>
          <a:prstGeom prst="rect">
            <a:avLst/>
          </a:prstGeom>
        </p:spPr>
        <p:txBody>
          <a:bodyPr wrap="none">
            <a:spAutoFit/>
          </a:bodyPr>
          <a:lstStyle/>
          <a:p>
            <a:r>
              <a:rPr lang="zh-CN" altLang="en-US" sz="1600" dirty="0" smtClean="0"/>
              <a:t>图</a:t>
            </a:r>
            <a:r>
              <a:rPr lang="en-US" sz="1600" dirty="0" smtClean="0"/>
              <a:t>4—20</a:t>
            </a:r>
            <a:r>
              <a:rPr lang="zh-CN" altLang="en-US" sz="1600" dirty="0" smtClean="0"/>
              <a:t>　插入迷你图后的工作表</a:t>
            </a:r>
            <a:endParaRPr lang="zh-CN" alt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4.2.5</a:t>
            </a:r>
            <a:r>
              <a:rPr lang="zh-CN" altLang="en-US" sz="2000" dirty="0" smtClean="0"/>
              <a:t>　工作表的打印输出</a:t>
            </a:r>
            <a:endParaRPr lang="zh-CN" altLang="en-US" sz="2000" dirty="0" smtClean="0"/>
          </a:p>
          <a:p>
            <a:pPr>
              <a:lnSpc>
                <a:spcPct val="150000"/>
              </a:lnSpc>
              <a:buNone/>
            </a:pPr>
            <a:r>
              <a:rPr lang="en-US" sz="2000" dirty="0" smtClean="0"/>
              <a:t>1.</a:t>
            </a:r>
            <a:r>
              <a:rPr lang="zh-CN" altLang="en-US" sz="2000" dirty="0" smtClean="0"/>
              <a:t>页面设置</a:t>
            </a:r>
            <a:endParaRPr lang="zh-CN" altLang="en-US" sz="2000" dirty="0" smtClean="0"/>
          </a:p>
          <a:p>
            <a:pPr>
              <a:lnSpc>
                <a:spcPct val="150000"/>
              </a:lnSpc>
              <a:buNone/>
            </a:pPr>
            <a:r>
              <a:rPr lang="zh-CN" altLang="en-US" sz="2000" dirty="0" smtClean="0"/>
              <a:t>     如图</a:t>
            </a:r>
            <a:r>
              <a:rPr lang="en-US" sz="2000" dirty="0" smtClean="0"/>
              <a:t>4—21</a:t>
            </a:r>
            <a:r>
              <a:rPr lang="zh-CN" altLang="en-US" sz="2000" dirty="0" smtClean="0"/>
              <a:t>所示</a:t>
            </a:r>
            <a:endParaRPr lang="zh-CN" altLang="en-US" sz="2000" dirty="0"/>
          </a:p>
        </p:txBody>
      </p:sp>
      <p:sp>
        <p:nvSpPr>
          <p:cNvPr id="2" name="标题 1"/>
          <p:cNvSpPr>
            <a:spLocks noGrp="1"/>
          </p:cNvSpPr>
          <p:nvPr>
            <p:ph type="title"/>
          </p:nvPr>
        </p:nvSpPr>
        <p:spPr>
          <a:xfrm>
            <a:off x="0"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4a21.jpg" descr="id:2147494854;FounderCES"/>
          <p:cNvPicPr/>
          <p:nvPr/>
        </p:nvPicPr>
        <p:blipFill>
          <a:blip r:embed="rId4" cstate="print"/>
          <a:stretch>
            <a:fillRect/>
          </a:stretch>
        </p:blipFill>
        <p:spPr>
          <a:xfrm>
            <a:off x="5024430" y="2143116"/>
            <a:ext cx="3714776" cy="3857652"/>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7" name="矩形 6"/>
          <p:cNvSpPr/>
          <p:nvPr/>
        </p:nvSpPr>
        <p:spPr>
          <a:xfrm>
            <a:off x="4963813" y="6202940"/>
            <a:ext cx="3468370" cy="337185"/>
          </a:xfrm>
          <a:prstGeom prst="rect">
            <a:avLst/>
          </a:prstGeom>
        </p:spPr>
        <p:txBody>
          <a:bodyPr wrap="none">
            <a:spAutoFit/>
          </a:bodyPr>
          <a:lstStyle/>
          <a:p>
            <a:r>
              <a:rPr lang="zh-CN" altLang="en-US" sz="1600" dirty="0" smtClean="0"/>
              <a:t>图</a:t>
            </a:r>
            <a:r>
              <a:rPr lang="en-US" sz="1600" dirty="0" smtClean="0"/>
              <a:t>4—21</a:t>
            </a:r>
            <a:r>
              <a:rPr lang="zh-CN" altLang="en-US" sz="1600" dirty="0" smtClean="0"/>
              <a:t>　</a:t>
            </a:r>
            <a:r>
              <a:rPr lang="en-US" sz="1600" dirty="0" smtClean="0"/>
              <a:t>“</a:t>
            </a:r>
            <a:r>
              <a:rPr lang="zh-CN" altLang="en-US" sz="1600" dirty="0" smtClean="0"/>
              <a:t>页面设置</a:t>
            </a:r>
            <a:r>
              <a:rPr lang="en-US" sz="1600" dirty="0" smtClean="0"/>
              <a:t>—</a:t>
            </a:r>
            <a:r>
              <a:rPr lang="zh-CN" altLang="en-US" sz="1600" dirty="0" smtClean="0"/>
              <a:t>工作表</a:t>
            </a:r>
            <a:r>
              <a:rPr lang="en-US" sz="1600" dirty="0" smtClean="0"/>
              <a:t>”</a:t>
            </a:r>
            <a:r>
              <a:rPr lang="zh-CN" altLang="en-US" sz="1600" dirty="0" smtClean="0"/>
              <a:t>对话框</a:t>
            </a: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打印</a:t>
            </a:r>
            <a:endParaRPr lang="zh-CN" altLang="en-US" sz="2000" dirty="0" smtClean="0"/>
          </a:p>
          <a:p>
            <a:pPr>
              <a:lnSpc>
                <a:spcPct val="150000"/>
              </a:lnSpc>
              <a:buNone/>
            </a:pPr>
            <a:r>
              <a:rPr lang="zh-CN" altLang="en-US" sz="2000" dirty="0" smtClean="0"/>
              <a:t>      选择</a:t>
            </a:r>
            <a:r>
              <a:rPr lang="en-US" sz="2000" dirty="0" smtClean="0"/>
              <a:t>“</a:t>
            </a:r>
            <a:r>
              <a:rPr lang="zh-CN" altLang="en-US" sz="2000" dirty="0" smtClean="0"/>
              <a:t>文件</a:t>
            </a:r>
            <a:r>
              <a:rPr lang="en-US" sz="2000" dirty="0" smtClean="0"/>
              <a:t>—</a:t>
            </a:r>
            <a:r>
              <a:rPr lang="zh-CN" altLang="en-US" sz="2000" dirty="0" smtClean="0"/>
              <a:t>打印</a:t>
            </a:r>
            <a:r>
              <a:rPr lang="en-US" sz="2000" dirty="0" smtClean="0"/>
              <a:t>”,</a:t>
            </a:r>
            <a:r>
              <a:rPr lang="zh-CN" altLang="en-US" sz="2000" dirty="0" smtClean="0"/>
              <a:t>出现如图</a:t>
            </a:r>
            <a:r>
              <a:rPr lang="en-US" sz="2000" dirty="0" smtClean="0"/>
              <a:t>4—22</a:t>
            </a:r>
            <a:r>
              <a:rPr lang="zh-CN" altLang="en-US" sz="2000" dirty="0" smtClean="0"/>
              <a:t>所示的界面</a:t>
            </a:r>
            <a:r>
              <a:rPr lang="en-US" sz="2000" dirty="0" smtClean="0"/>
              <a:t>,</a:t>
            </a:r>
            <a:r>
              <a:rPr lang="zh-CN" altLang="en-US" sz="2000" dirty="0" smtClean="0"/>
              <a:t>可打印预览并输出工作表。</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7" name="矩形 6"/>
          <p:cNvSpPr/>
          <p:nvPr/>
        </p:nvSpPr>
        <p:spPr>
          <a:xfrm>
            <a:off x="5176528" y="6202940"/>
            <a:ext cx="2098040" cy="337185"/>
          </a:xfrm>
          <a:prstGeom prst="rect">
            <a:avLst/>
          </a:prstGeom>
        </p:spPr>
        <p:txBody>
          <a:bodyPr wrap="none">
            <a:spAutoFit/>
          </a:bodyPr>
          <a:lstStyle/>
          <a:p>
            <a:r>
              <a:rPr lang="zh-CN" altLang="en-US" sz="1600" dirty="0" smtClean="0"/>
              <a:t>图</a:t>
            </a:r>
            <a:r>
              <a:rPr lang="en-US" sz="1600" dirty="0" smtClean="0"/>
              <a:t>4—22</a:t>
            </a:r>
            <a:r>
              <a:rPr lang="zh-CN" altLang="en-US" sz="1600" dirty="0" smtClean="0"/>
              <a:t>　打印工作表</a:t>
            </a:r>
            <a:endParaRPr lang="zh-CN" altLang="en-US" sz="1600" dirty="0"/>
          </a:p>
        </p:txBody>
      </p:sp>
      <p:pic>
        <p:nvPicPr>
          <p:cNvPr id="8" name="4a22.jpg" descr="id:2147494869;FounderCES"/>
          <p:cNvPicPr/>
          <p:nvPr/>
        </p:nvPicPr>
        <p:blipFill>
          <a:blip r:embed="rId4" cstate="print"/>
          <a:stretch>
            <a:fillRect/>
          </a:stretch>
        </p:blipFill>
        <p:spPr>
          <a:xfrm>
            <a:off x="4310050" y="2928934"/>
            <a:ext cx="3889440" cy="2836800"/>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54" name="图片 53" descr="图片1"/>
          <p:cNvPicPr>
            <a:picLocks noChangeAspect="1"/>
          </p:cNvPicPr>
          <p:nvPr>
            <p:custDataLst>
              <p:tags r:id="rId5"/>
            </p:custDataLst>
          </p:nvPr>
        </p:nvPicPr>
        <p:blipFill>
          <a:blip r:embed="rId6"/>
          <a:stretch>
            <a:fillRect/>
          </a:stretch>
        </p:blipFill>
        <p:spPr>
          <a:xfrm>
            <a:off x="1756410" y="2101533"/>
            <a:ext cx="1959610" cy="4144645"/>
          </a:xfrm>
          <a:prstGeom prst="rect">
            <a:avLst/>
          </a:prstGeom>
        </p:spPr>
      </p:pic>
      <p:sp>
        <p:nvSpPr>
          <p:cNvPr id="64" name="任意多边形 63"/>
          <p:cNvSpPr/>
          <p:nvPr>
            <p:custDataLst>
              <p:tags r:id="rId7"/>
            </p:custDataLst>
          </p:nvPr>
        </p:nvSpPr>
        <p:spPr>
          <a:xfrm>
            <a:off x="162560" y="3397568"/>
            <a:ext cx="2621915" cy="161988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129" h="2551">
                <a:moveTo>
                  <a:pt x="0" y="0"/>
                </a:moveTo>
                <a:lnTo>
                  <a:pt x="2854" y="0"/>
                </a:lnTo>
                <a:lnTo>
                  <a:pt x="2888" y="0"/>
                </a:lnTo>
                <a:lnTo>
                  <a:pt x="2888" y="0"/>
                </a:lnTo>
                <a:lnTo>
                  <a:pt x="2919" y="2"/>
                </a:lnTo>
                <a:cubicBezTo>
                  <a:pt x="3593" y="36"/>
                  <a:pt x="4129" y="593"/>
                  <a:pt x="4129" y="1276"/>
                </a:cubicBezTo>
                <a:cubicBezTo>
                  <a:pt x="4129" y="1958"/>
                  <a:pt x="3593" y="2515"/>
                  <a:pt x="2919" y="2549"/>
                </a:cubicBezTo>
                <a:lnTo>
                  <a:pt x="2888" y="2551"/>
                </a:lnTo>
                <a:lnTo>
                  <a:pt x="2888" y="2551"/>
                </a:lnTo>
                <a:lnTo>
                  <a:pt x="2854" y="2551"/>
                </a:lnTo>
                <a:lnTo>
                  <a:pt x="0" y="2551"/>
                </a:lnTo>
                <a:lnTo>
                  <a:pt x="0"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spcBef>
                <a:spcPct val="0"/>
              </a:spcBef>
              <a:spcAft>
                <a:spcPct val="0"/>
              </a:spcAft>
            </a:pPr>
            <a:r>
              <a:rPr lang="zh-CN" altLang="en-US" sz="2400" b="1">
                <a:solidFill>
                  <a:schemeClr val="lt1"/>
                </a:solidFill>
                <a:latin typeface="+mn-ea"/>
                <a:cs typeface="+mn-ea"/>
                <a:sym typeface="+mn-ea"/>
              </a:rPr>
              <a:t>第4章 Excel电子表格</a:t>
            </a:r>
            <a:endParaRPr lang="zh-CN" altLang="en-US" sz="2400" b="1">
              <a:solidFill>
                <a:schemeClr val="lt1"/>
              </a:solidFill>
              <a:latin typeface="+mn-ea"/>
              <a:cs typeface="+mn-ea"/>
              <a:sym typeface="+mn-ea"/>
            </a:endParaRPr>
          </a:p>
        </p:txBody>
      </p:sp>
      <p:sp>
        <p:nvSpPr>
          <p:cNvPr id="80" name="任意多边形 79"/>
          <p:cNvSpPr/>
          <p:nvPr>
            <p:custDataLst>
              <p:tags r:id="rId8"/>
            </p:custDataLst>
          </p:nvPr>
        </p:nvSpPr>
        <p:spPr>
          <a:xfrm>
            <a:off x="162560" y="3349943"/>
            <a:ext cx="2719070" cy="171577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129" h="2551">
                <a:moveTo>
                  <a:pt x="0" y="0"/>
                </a:moveTo>
                <a:lnTo>
                  <a:pt x="2854" y="0"/>
                </a:lnTo>
                <a:lnTo>
                  <a:pt x="2888" y="0"/>
                </a:lnTo>
                <a:lnTo>
                  <a:pt x="2888" y="0"/>
                </a:lnTo>
                <a:lnTo>
                  <a:pt x="2919" y="2"/>
                </a:lnTo>
                <a:cubicBezTo>
                  <a:pt x="3593" y="36"/>
                  <a:pt x="4129" y="593"/>
                  <a:pt x="4129" y="1276"/>
                </a:cubicBezTo>
                <a:cubicBezTo>
                  <a:pt x="4129" y="1958"/>
                  <a:pt x="3593" y="2515"/>
                  <a:pt x="2919" y="2549"/>
                </a:cubicBezTo>
                <a:lnTo>
                  <a:pt x="2888" y="2551"/>
                </a:lnTo>
                <a:lnTo>
                  <a:pt x="2888" y="2551"/>
                </a:lnTo>
                <a:lnTo>
                  <a:pt x="2854" y="2551"/>
                </a:lnTo>
                <a:lnTo>
                  <a:pt x="0" y="2551"/>
                </a:lnTo>
                <a:lnTo>
                  <a:pt x="0" y="0"/>
                </a:lnTo>
                <a:close/>
              </a:path>
            </a:pathLst>
          </a:custGeom>
          <a:noFill/>
          <a:ln w="25400">
            <a:solidFill>
              <a:schemeClr val="accent2"/>
            </a:solidFill>
            <a:prstDash val="lgDash"/>
          </a:ln>
          <a:effectLst>
            <a:outerShdw blurRad="63500" sx="102000" sy="102000" algn="ctr" rotWithShape="0">
              <a:schemeClr val="lt1">
                <a:lumMod val="65000"/>
                <a:alpha val="40000"/>
              </a:scheme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a:solidFill>
                <a:schemeClr val="lt1"/>
              </a:solidFill>
            </a:endParaRPr>
          </a:p>
        </p:txBody>
      </p:sp>
      <p:sp>
        <p:nvSpPr>
          <p:cNvPr id="56" name="圆角矩形 55"/>
          <p:cNvSpPr/>
          <p:nvPr>
            <p:custDataLst>
              <p:tags r:id="rId9"/>
            </p:custDataLst>
          </p:nvPr>
        </p:nvSpPr>
        <p:spPr>
          <a:xfrm>
            <a:off x="4497070" y="3929698"/>
            <a:ext cx="2035810" cy="523875"/>
          </a:xfrm>
          <a:prstGeom prst="roundRect">
            <a:avLst>
              <a:gd name="adj" fmla="val 50000"/>
            </a:avLst>
          </a:prstGeom>
          <a:solidFill>
            <a:schemeClr val="accent2"/>
          </a:solidFill>
          <a:ln>
            <a:noFill/>
          </a:ln>
          <a:effectLst>
            <a:outerShdw blurRad="50800" dist="38100" dir="18900000" algn="bl" rotWithShape="0">
              <a:schemeClr val="l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spcBef>
                <a:spcPct val="0"/>
              </a:spcBef>
              <a:spcAft>
                <a:spcPct val="0"/>
              </a:spcAft>
            </a:pPr>
            <a:r>
              <a:rPr lang="zh-CN" altLang="en-US" sz="2400" b="1">
                <a:solidFill>
                  <a:schemeClr val="lt1"/>
                </a:solidFill>
                <a:latin typeface="+mn-ea"/>
                <a:cs typeface="+mn-ea"/>
                <a:sym typeface="+mn-ea"/>
              </a:rPr>
              <a:t>项标题</a:t>
            </a:r>
            <a:endParaRPr lang="zh-CN" altLang="en-US" sz="2400" b="1">
              <a:solidFill>
                <a:schemeClr val="lt1"/>
              </a:solidFill>
              <a:latin typeface="+mn-ea"/>
              <a:cs typeface="+mn-ea"/>
              <a:sym typeface="+mn-ea"/>
            </a:endParaRPr>
          </a:p>
        </p:txBody>
      </p:sp>
      <p:sp>
        <p:nvSpPr>
          <p:cNvPr id="57" name="椭圆 56"/>
          <p:cNvSpPr/>
          <p:nvPr>
            <p:custDataLst>
              <p:tags r:id="rId10"/>
            </p:custDataLst>
          </p:nvPr>
        </p:nvSpPr>
        <p:spPr>
          <a:xfrm>
            <a:off x="3363595" y="3814128"/>
            <a:ext cx="720090" cy="720090"/>
          </a:xfrm>
          <a:prstGeom prst="ellipse">
            <a:avLst/>
          </a:prstGeom>
          <a:solidFill>
            <a:schemeClr val="accent1">
              <a:lumMod val="20000"/>
              <a:lumOff val="80000"/>
            </a:schemeClr>
          </a:solidFill>
          <a:ln>
            <a:noFill/>
          </a:ln>
          <a:effectLst>
            <a:outerShdw blurRad="63500" sx="102000" sy="102000" algn="ctr" rotWithShape="0">
              <a:schemeClr val="l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p>
            <a:pPr algn="ctr">
              <a:spcBef>
                <a:spcPct val="0"/>
              </a:spcBef>
              <a:spcAft>
                <a:spcPct val="0"/>
              </a:spcAft>
            </a:pPr>
            <a:r>
              <a:rPr lang="en-US" altLang="zh-CN" dirty="0">
                <a:solidFill>
                  <a:schemeClr val="dk1">
                    <a:lumMod val="100000"/>
                  </a:schemeClr>
                </a:solidFill>
                <a:latin typeface="+mn-ea"/>
                <a:cs typeface="+mn-ea"/>
                <a:sym typeface="+mn-ea"/>
              </a:rPr>
              <a:t>1</a:t>
            </a:r>
            <a:endParaRPr lang="en-US" altLang="zh-CN" dirty="0">
              <a:solidFill>
                <a:schemeClr val="dk1">
                  <a:lumMod val="100000"/>
                </a:schemeClr>
              </a:solidFill>
              <a:latin typeface="+mn-ea"/>
              <a:cs typeface="+mn-ea"/>
              <a:sym typeface="+mn-ea"/>
            </a:endParaRPr>
          </a:p>
        </p:txBody>
      </p:sp>
      <p:sp>
        <p:nvSpPr>
          <p:cNvPr id="3" name="矩形 2"/>
          <p:cNvSpPr/>
          <p:nvPr>
            <p:custDataLst>
              <p:tags r:id="rId11"/>
            </p:custDataLst>
          </p:nvPr>
        </p:nvSpPr>
        <p:spPr>
          <a:xfrm>
            <a:off x="6945630" y="3790633"/>
            <a:ext cx="5084444" cy="801370"/>
          </a:xfrm>
          <a:prstGeom prst="rect">
            <a:avLst/>
          </a:prstGeom>
          <a:noFill/>
        </p:spPr>
        <p:txBody>
          <a:bodyPr wrap="square" tIns="0" rIns="0" rtlCol="0" anchor="ctr">
            <a:noAutofit/>
            <a:scene3d>
              <a:camera prst="orthographicFront"/>
              <a:lightRig rig="threePt" dir="t"/>
            </a:scene3d>
          </a:bodyPr>
          <a:p>
            <a:pPr>
              <a:lnSpc>
                <a:spcPct val="130000"/>
              </a:lnSpc>
              <a:spcBef>
                <a:spcPct val="0"/>
              </a:spcBef>
              <a:spcAft>
                <a:spcPct val="0"/>
              </a:spcAft>
            </a:pPr>
            <a:r>
              <a:rPr lang="zh-CN" altLang="en-US" sz="1100" dirty="0">
                <a:solidFill>
                  <a:schemeClr val="tx1">
                    <a:lumMod val="85000"/>
                    <a:lumOff val="15000"/>
                  </a:schemeClr>
                </a:solidFill>
                <a:latin typeface="+mn-ea"/>
                <a:cs typeface="+mn-ea"/>
                <a:sym typeface="+mn-ea"/>
              </a:rPr>
              <a:t>本章节将介绍Excel电子表格的基本概念和操作方法，包括如何创建和编辑工作表，使用公式和函数进行数据计算，以及如何进行数据的排序和筛选等。</a:t>
            </a:r>
            <a:endParaRPr lang="zh-CN" altLang="en-US" sz="1100" dirty="0">
              <a:solidFill>
                <a:schemeClr val="tx1">
                  <a:lumMod val="85000"/>
                  <a:lumOff val="15000"/>
                </a:schemeClr>
              </a:solidFill>
              <a:latin typeface="+mn-ea"/>
              <a:cs typeface="+mn-ea"/>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4.3</a:t>
            </a:r>
            <a:r>
              <a:rPr lang="zh-CN" altLang="en-US" dirty="0" smtClean="0"/>
              <a:t>　</a:t>
            </a:r>
            <a:r>
              <a:rPr lang="en-US" dirty="0" smtClean="0"/>
              <a:t>Excel</a:t>
            </a:r>
            <a:r>
              <a:rPr lang="zh-CN" altLang="en-US" dirty="0" smtClean="0"/>
              <a:t>公式与函数</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dirty="0" smtClean="0"/>
              <a:t>※ </a:t>
            </a:r>
            <a:r>
              <a:rPr lang="zh-CN" altLang="en-US" dirty="0" smtClean="0"/>
              <a:t>了解单元格引用的概念</a:t>
            </a:r>
            <a:r>
              <a:rPr lang="en-US" dirty="0" smtClean="0"/>
              <a:t>,</a:t>
            </a:r>
            <a:r>
              <a:rPr lang="zh-CN" altLang="en-US" dirty="0" smtClean="0"/>
              <a:t>并能够识别几种不同的引用方法</a:t>
            </a:r>
            <a:r>
              <a:rPr lang="en-US" dirty="0" smtClean="0"/>
              <a:t>;</a:t>
            </a:r>
            <a:endParaRPr lang="zh-CN" altLang="en-US" dirty="0" smtClean="0"/>
          </a:p>
          <a:p>
            <a:pPr>
              <a:lnSpc>
                <a:spcPct val="150000"/>
              </a:lnSpc>
              <a:buNone/>
            </a:pPr>
            <a:r>
              <a:rPr lang="en-US" dirty="0" smtClean="0"/>
              <a:t>※ </a:t>
            </a:r>
            <a:r>
              <a:rPr lang="zh-CN" altLang="en-US" dirty="0" smtClean="0"/>
              <a:t>学会使用</a:t>
            </a:r>
            <a:r>
              <a:rPr lang="en-US" dirty="0" smtClean="0"/>
              <a:t>Excel</a:t>
            </a:r>
            <a:r>
              <a:rPr lang="zh-CN" altLang="en-US" dirty="0" smtClean="0"/>
              <a:t>公式运算符</a:t>
            </a:r>
            <a:r>
              <a:rPr lang="en-US" dirty="0" smtClean="0"/>
              <a:t>;</a:t>
            </a:r>
            <a:endParaRPr lang="zh-CN" altLang="en-US" dirty="0" smtClean="0"/>
          </a:p>
          <a:p>
            <a:pPr>
              <a:lnSpc>
                <a:spcPct val="150000"/>
              </a:lnSpc>
              <a:buNone/>
            </a:pPr>
            <a:r>
              <a:rPr lang="en-US" dirty="0" smtClean="0"/>
              <a:t>※ </a:t>
            </a:r>
            <a:r>
              <a:rPr lang="zh-CN" altLang="en-US" dirty="0" smtClean="0"/>
              <a:t>了解并学会使用常用的</a:t>
            </a:r>
            <a:r>
              <a:rPr lang="en-US" dirty="0" smtClean="0"/>
              <a:t>Excel</a:t>
            </a:r>
            <a:r>
              <a:rPr lang="zh-CN" altLang="en-US" dirty="0" smtClean="0"/>
              <a:t>函数。</a:t>
            </a:r>
            <a:endParaRPr lang="zh-CN" altLang="en-US" dirty="0"/>
          </a:p>
        </p:txBody>
      </p:sp>
      <p:sp>
        <p:nvSpPr>
          <p:cNvPr id="2" name="标题 1"/>
          <p:cNvSpPr>
            <a:spLocks noGrp="1"/>
          </p:cNvSpPr>
          <p:nvPr>
            <p:ph type="title"/>
          </p:nvPr>
        </p:nvSpPr>
        <p:spPr>
          <a:xfrm>
            <a:off x="736600"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10" name="学习目标.EPS" descr="id:2147494884;FounderCES"/>
          <p:cNvPicPr/>
          <p:nvPr/>
        </p:nvPicPr>
        <p:blipFill>
          <a:blip r:embed="rId4"/>
          <a:stretch>
            <a:fillRect/>
          </a:stretch>
        </p:blipFill>
        <p:spPr>
          <a:xfrm>
            <a:off x="2309786" y="2428868"/>
            <a:ext cx="1928826" cy="57150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4.3.1</a:t>
            </a:r>
            <a:r>
              <a:rPr lang="zh-CN" altLang="en-US" sz="2000" dirty="0" smtClean="0"/>
              <a:t>　单元格引用</a:t>
            </a:r>
            <a:endParaRPr lang="zh-CN" altLang="en-US" sz="2000" dirty="0" smtClean="0"/>
          </a:p>
          <a:p>
            <a:pPr>
              <a:lnSpc>
                <a:spcPct val="150000"/>
              </a:lnSpc>
              <a:buNone/>
            </a:pPr>
            <a:r>
              <a:rPr lang="zh-CN" altLang="en-US" sz="2000" dirty="0" smtClean="0"/>
              <a:t>       单元格引用就是单元格的地址表示</a:t>
            </a:r>
            <a:r>
              <a:rPr lang="en-US" sz="2000" dirty="0" smtClean="0"/>
              <a:t>,</a:t>
            </a:r>
            <a:r>
              <a:rPr lang="zh-CN" altLang="en-US" sz="2000" dirty="0" smtClean="0"/>
              <a:t>细分为相对引用</a:t>
            </a:r>
            <a:r>
              <a:rPr lang="en-US" sz="2000" dirty="0" smtClean="0"/>
              <a:t>(</a:t>
            </a:r>
            <a:r>
              <a:rPr lang="zh-CN" altLang="en-US" sz="2000" dirty="0" smtClean="0"/>
              <a:t>相对地址</a:t>
            </a:r>
            <a:r>
              <a:rPr lang="en-US" sz="2000" dirty="0" smtClean="0"/>
              <a:t>)</a:t>
            </a:r>
            <a:r>
              <a:rPr lang="zh-CN" altLang="en-US" sz="2000" dirty="0" smtClean="0"/>
              <a:t>、绝对引用</a:t>
            </a:r>
            <a:r>
              <a:rPr lang="en-US" sz="2000" dirty="0" smtClean="0"/>
              <a:t>(</a:t>
            </a:r>
            <a:r>
              <a:rPr lang="zh-CN" altLang="en-US" sz="2000" dirty="0" smtClean="0"/>
              <a:t>绝对地址</a:t>
            </a:r>
            <a:r>
              <a:rPr lang="en-US" sz="2000" dirty="0" smtClean="0"/>
              <a:t>)</a:t>
            </a:r>
            <a:r>
              <a:rPr lang="zh-CN" altLang="en-US" sz="2000" dirty="0" smtClean="0"/>
              <a:t>、混合引用</a:t>
            </a:r>
            <a:r>
              <a:rPr lang="en-US" sz="2000" dirty="0" smtClean="0"/>
              <a:t>(</a:t>
            </a:r>
            <a:r>
              <a:rPr lang="zh-CN" altLang="en-US" sz="2000" dirty="0" smtClean="0"/>
              <a:t>地址</a:t>
            </a:r>
            <a:r>
              <a:rPr lang="en-US" sz="2000" dirty="0" smtClean="0"/>
              <a:t>)</a:t>
            </a:r>
            <a:r>
              <a:rPr lang="zh-CN" altLang="en-US" sz="2000" dirty="0" smtClean="0"/>
              <a:t>三种。</a:t>
            </a:r>
            <a:endParaRPr lang="zh-CN" altLang="en-US" sz="2000" dirty="0" smtClean="0"/>
          </a:p>
        </p:txBody>
      </p:sp>
      <p:sp>
        <p:nvSpPr>
          <p:cNvPr id="2" name="标题 1"/>
          <p:cNvSpPr>
            <a:spLocks noGrp="1"/>
          </p:cNvSpPr>
          <p:nvPr>
            <p:ph type="title"/>
          </p:nvPr>
        </p:nvSpPr>
        <p:spPr>
          <a:xfrm>
            <a:off x="398145"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7" name="图示 6"/>
          <p:cNvGraphicFramePr/>
          <p:nvPr/>
        </p:nvGraphicFramePr>
        <p:xfrm>
          <a:off x="2024034" y="3500438"/>
          <a:ext cx="7500990" cy="25717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marL="457200" indent="-457200">
              <a:lnSpc>
                <a:spcPct val="150000"/>
              </a:lnSpc>
              <a:buFont typeface="Wingdings" panose="05000000000000000000" pitchFamily="2" charset="2"/>
              <a:buChar char="Ø"/>
            </a:pPr>
            <a:r>
              <a:rPr lang="en-US" sz="2000" dirty="0" smtClean="0"/>
              <a:t>4.3.2</a:t>
            </a:r>
            <a:r>
              <a:rPr lang="zh-CN" altLang="en-US" sz="2000" dirty="0" smtClean="0"/>
              <a:t>　公式的使用</a:t>
            </a:r>
            <a:endParaRPr lang="zh-CN" altLang="en-US" sz="2000" dirty="0" smtClean="0"/>
          </a:p>
          <a:p>
            <a:pPr marL="457200" indent="-457200">
              <a:lnSpc>
                <a:spcPct val="150000"/>
              </a:lnSpc>
              <a:buNone/>
            </a:pPr>
            <a:r>
              <a:rPr lang="en-US" sz="2000" dirty="0" smtClean="0"/>
              <a:t>1.</a:t>
            </a:r>
            <a:r>
              <a:rPr lang="zh-CN" altLang="en-US" sz="2000" dirty="0" smtClean="0"/>
              <a:t>常见公式    表</a:t>
            </a:r>
            <a:r>
              <a:rPr lang="en-US" sz="2000" dirty="0" smtClean="0"/>
              <a:t>4—4</a:t>
            </a:r>
            <a:r>
              <a:rPr lang="zh-CN" altLang="en-US" sz="2000" dirty="0" smtClean="0"/>
              <a:t>列出了四类运算符的功能及结果类型。</a:t>
            </a:r>
            <a:endParaRPr lang="zh-CN" altLang="en-US" sz="2000" dirty="0"/>
          </a:p>
        </p:txBody>
      </p:sp>
      <p:sp>
        <p:nvSpPr>
          <p:cNvPr id="2" name="标题 1"/>
          <p:cNvSpPr>
            <a:spLocks noGrp="1"/>
          </p:cNvSpPr>
          <p:nvPr>
            <p:ph type="title"/>
          </p:nvPr>
        </p:nvSpPr>
        <p:spPr>
          <a:xfrm>
            <a:off x="23749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6" name="表格 5"/>
          <p:cNvGraphicFramePr>
            <a:graphicFrameLocks noGrp="1"/>
          </p:cNvGraphicFramePr>
          <p:nvPr/>
        </p:nvGraphicFramePr>
        <p:xfrm>
          <a:off x="2452663" y="2714615"/>
          <a:ext cx="7143750" cy="3884930"/>
        </p:xfrm>
        <a:graphic>
          <a:graphicData uri="http://schemas.openxmlformats.org/drawingml/2006/table">
            <a:tbl>
              <a:tblPr>
                <a:tableStyleId>{284E427A-3D55-4303-BF80-6455036E1DE7}</a:tableStyleId>
              </a:tblPr>
              <a:tblGrid>
                <a:gridCol w="1089025"/>
                <a:gridCol w="1045845"/>
                <a:gridCol w="1045845"/>
                <a:gridCol w="1344930"/>
                <a:gridCol w="1344930"/>
                <a:gridCol w="1273175"/>
              </a:tblGrid>
              <a:tr h="204470">
                <a:tc>
                  <a:txBody>
                    <a:bodyPr/>
                    <a:lstStyle/>
                    <a:p>
                      <a:pPr algn="ctr">
                        <a:lnSpc>
                          <a:spcPts val="1610"/>
                        </a:lnSpc>
                        <a:spcAft>
                          <a:spcPts val="0"/>
                        </a:spcAft>
                      </a:pPr>
                      <a:r>
                        <a:rPr lang="zh-CN" sz="1400" kern="100"/>
                        <a:t>类型</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运算符</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功能</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结果类型</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示例</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结果</a:t>
                      </a:r>
                      <a:endParaRPr lang="zh-CN" sz="1400" kern="100">
                        <a:solidFill>
                          <a:srgbClr val="000000"/>
                        </a:solidFill>
                        <a:latin typeface="NEU-BZ"/>
                        <a:ea typeface="方正书宋_GBK"/>
                        <a:cs typeface="Times New Roman" panose="02020603050405020304"/>
                      </a:endParaRPr>
                    </a:p>
                  </a:txBody>
                  <a:tcPr marL="0" marR="0" marT="0" marB="0" anchor="ctr"/>
                </a:tc>
              </a:tr>
              <a:tr h="204470">
                <a:tc rowSpan="6">
                  <a:txBody>
                    <a:bodyPr/>
                    <a:lstStyle/>
                    <a:p>
                      <a:pPr algn="ctr">
                        <a:lnSpc>
                          <a:spcPts val="1610"/>
                        </a:lnSpc>
                        <a:spcAft>
                          <a:spcPts val="0"/>
                        </a:spcAft>
                      </a:pPr>
                      <a:r>
                        <a:rPr lang="zh-CN" sz="1400" kern="100" dirty="0"/>
                        <a:t>算术运算符</a:t>
                      </a:r>
                      <a:endParaRPr lang="zh-CN" sz="1400" kern="100" dirty="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加</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数值</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1+1</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dirty="0"/>
                        <a:t>2</a:t>
                      </a:r>
                      <a:endParaRPr lang="zh-CN" sz="1400" kern="100" dirty="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减</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数值</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4-3</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1</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乘</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数值</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5*2</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10</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除</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数值</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9/3</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3</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百分号</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数值</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30%</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0.3</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乘方</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数值</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7^2</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49</a:t>
                      </a:r>
                      <a:endParaRPr lang="zh-CN" sz="1400" kern="100">
                        <a:solidFill>
                          <a:srgbClr val="000000"/>
                        </a:solidFill>
                        <a:latin typeface="NEU-BZ"/>
                        <a:ea typeface="方正书宋_GBK"/>
                        <a:cs typeface="Times New Roman" panose="02020603050405020304"/>
                      </a:endParaRPr>
                    </a:p>
                  </a:txBody>
                  <a:tcPr marL="0" marR="0" marT="0" marB="0" anchor="ctr"/>
                </a:tc>
              </a:tr>
              <a:tr h="204470">
                <a:tc rowSpan="6">
                  <a:txBody>
                    <a:bodyPr/>
                    <a:lstStyle/>
                    <a:p>
                      <a:pPr algn="ctr">
                        <a:lnSpc>
                          <a:spcPts val="1610"/>
                        </a:lnSpc>
                        <a:spcAft>
                          <a:spcPts val="0"/>
                        </a:spcAft>
                      </a:pPr>
                      <a:r>
                        <a:rPr lang="zh-CN" sz="1400" kern="100"/>
                        <a:t>比较运算符</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等于</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逻辑</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8=8</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TRUE</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&gt;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大于</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逻辑</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5&gt;3</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TRUE</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&lt;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小于</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逻辑</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8&lt;6</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FLASE</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&gt;=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大于等于</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逻辑</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5&gt;=4</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TRUE</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&lt;=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小于等于</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逻辑</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5&lt;=4</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FLASE</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en-US" sz="1400" kern="100"/>
                        <a:t>&lt;&gt;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不等于</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逻辑</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4&lt;&gt;5</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TRUE</a:t>
                      </a:r>
                      <a:endParaRPr lang="zh-CN" sz="1400" kern="100">
                        <a:solidFill>
                          <a:srgbClr val="000000"/>
                        </a:solidFill>
                        <a:latin typeface="NEU-BZ"/>
                        <a:ea typeface="方正书宋_GBK"/>
                        <a:cs typeface="Times New Roman" panose="02020603050405020304"/>
                      </a:endParaRPr>
                    </a:p>
                  </a:txBody>
                  <a:tcPr marL="0" marR="0" marT="0" marB="0" anchor="ctr"/>
                </a:tc>
              </a:tr>
              <a:tr h="408940">
                <a:tc>
                  <a:txBody>
                    <a:bodyPr/>
                    <a:lstStyle/>
                    <a:p>
                      <a:pPr algn="ctr">
                        <a:lnSpc>
                          <a:spcPts val="1610"/>
                        </a:lnSpc>
                        <a:spcAft>
                          <a:spcPts val="0"/>
                        </a:spcAft>
                      </a:pPr>
                      <a:r>
                        <a:rPr lang="zh-CN" sz="1400" kern="100"/>
                        <a:t>文本连接运算符</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&amp;</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连接文本</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文本</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a:t>
                      </a:r>
                      <a:r>
                        <a:rPr lang="zh-CN" sz="1400" kern="100"/>
                        <a:t>春</a:t>
                      </a:r>
                      <a:r>
                        <a:rPr lang="en-US" sz="1400" kern="100"/>
                        <a:t>”&amp;“</a:t>
                      </a:r>
                      <a:r>
                        <a:rPr lang="zh-CN" sz="1400" kern="100"/>
                        <a:t>天</a:t>
                      </a: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春天</a:t>
                      </a:r>
                      <a:endParaRPr lang="zh-CN" sz="1400" kern="100">
                        <a:solidFill>
                          <a:srgbClr val="000000"/>
                        </a:solidFill>
                        <a:latin typeface="NEU-BZ"/>
                        <a:ea typeface="方正书宋_GBK"/>
                        <a:cs typeface="Times New Roman" panose="02020603050405020304"/>
                      </a:endParaRPr>
                    </a:p>
                  </a:txBody>
                  <a:tcPr marL="0" marR="0" marT="0" marB="0" anchor="ctr"/>
                </a:tc>
              </a:tr>
              <a:tr h="204470">
                <a:tc rowSpan="3">
                  <a:txBody>
                    <a:bodyPr/>
                    <a:lstStyle/>
                    <a:p>
                      <a:pPr algn="ctr">
                        <a:lnSpc>
                          <a:spcPts val="1610"/>
                        </a:lnSpc>
                        <a:spcAft>
                          <a:spcPts val="0"/>
                        </a:spcAft>
                      </a:pPr>
                      <a:r>
                        <a:rPr lang="zh-CN" sz="1400" kern="100"/>
                        <a:t>引用运算符</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区域运算符</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引用</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SUM(E3:E8)</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求和结果</a:t>
                      </a:r>
                      <a:endParaRPr lang="zh-CN" sz="1400" kern="100">
                        <a:solidFill>
                          <a:srgbClr val="000000"/>
                        </a:solidFill>
                        <a:latin typeface="NEU-BZ"/>
                        <a:ea typeface="方正书宋_GBK"/>
                        <a:cs typeface="Times New Roman" panose="02020603050405020304"/>
                      </a:endParaRPr>
                    </a:p>
                  </a:txBody>
                  <a:tcPr marL="0" marR="0" marT="0" marB="0" anchor="ctr"/>
                </a:tc>
              </a:tr>
              <a:tr h="408940">
                <a:tc vMerge="1">
                  <a:tcPr/>
                </a:tc>
                <a:tc>
                  <a:txBody>
                    <a:bodyPr/>
                    <a:lstStyle/>
                    <a:p>
                      <a:pPr algn="ctr">
                        <a:lnSpc>
                          <a:spcPts val="1610"/>
                        </a:lnSpc>
                        <a:spcAft>
                          <a:spcPts val="0"/>
                        </a:spcAft>
                      </a:pPr>
                      <a:r>
                        <a:rPr lang="en-US" sz="1400" kern="100"/>
                        <a:t>,</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联合运算符</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引用</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SUM</a:t>
                      </a:r>
                      <a:endParaRPr lang="zh-CN" sz="1400" kern="100"/>
                    </a:p>
                    <a:p>
                      <a:pPr algn="ctr">
                        <a:lnSpc>
                          <a:spcPts val="1610"/>
                        </a:lnSpc>
                        <a:spcAft>
                          <a:spcPts val="0"/>
                        </a:spcAft>
                      </a:pPr>
                      <a:r>
                        <a:rPr lang="en-US" sz="1400" kern="100"/>
                        <a:t>(E3:E9,I3:I9)</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求和结果</a:t>
                      </a:r>
                      <a:endParaRPr lang="zh-CN" sz="1400" kern="100">
                        <a:solidFill>
                          <a:srgbClr val="000000"/>
                        </a:solidFill>
                        <a:latin typeface="NEU-BZ"/>
                        <a:ea typeface="方正书宋_GBK"/>
                        <a:cs typeface="Times New Roman" panose="02020603050405020304"/>
                      </a:endParaRPr>
                    </a:p>
                  </a:txBody>
                  <a:tcPr marL="0" marR="0" marT="0" marB="0" anchor="ctr"/>
                </a:tc>
              </a:tr>
              <a:tr h="204470">
                <a:tc vMerge="1">
                  <a:tcPr/>
                </a:tc>
                <a:tc>
                  <a:txBody>
                    <a:bodyPr/>
                    <a:lstStyle/>
                    <a:p>
                      <a:pPr algn="ctr">
                        <a:lnSpc>
                          <a:spcPts val="1610"/>
                        </a:lnSpc>
                        <a:spcAft>
                          <a:spcPts val="0"/>
                        </a:spcAft>
                      </a:pPr>
                      <a:r>
                        <a:rPr lang="zh-CN" sz="1400" kern="100"/>
                        <a:t>空格</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交集运算符</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400" kern="100"/>
                        <a:t>引用</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a:t>A4:D4</a:t>
                      </a:r>
                      <a:r>
                        <a:rPr lang="zh-CN" sz="1400" kern="100"/>
                        <a:t>　</a:t>
                      </a:r>
                      <a:r>
                        <a:rPr lang="en-US" sz="1400" kern="100"/>
                        <a:t>B2:B5</a:t>
                      </a:r>
                      <a:endParaRPr lang="zh-CN" sz="14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400" kern="100" dirty="0"/>
                        <a:t>C4</a:t>
                      </a:r>
                      <a:r>
                        <a:rPr lang="zh-CN" sz="1400" kern="100" dirty="0"/>
                        <a:t>的值</a:t>
                      </a:r>
                      <a:endParaRPr lang="zh-CN" sz="1400" kern="100" dirty="0">
                        <a:solidFill>
                          <a:srgbClr val="000000"/>
                        </a:solidFill>
                        <a:latin typeface="NEU-BZ"/>
                        <a:ea typeface="方正书宋_GBK"/>
                        <a:cs typeface="Times New Roman" panose="02020603050405020304"/>
                      </a:endParaRPr>
                    </a:p>
                  </a:txBody>
                  <a:tcPr marL="0" marR="0" marT="0" marB="0" anchor="ct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公式的输入</a:t>
            </a:r>
            <a:endParaRPr lang="zh-CN" altLang="en-US" sz="2000" dirty="0" smtClean="0"/>
          </a:p>
          <a:p>
            <a:pPr>
              <a:lnSpc>
                <a:spcPct val="150000"/>
              </a:lnSpc>
              <a:buNone/>
            </a:pPr>
            <a:r>
              <a:rPr lang="zh-CN" altLang="en-US" sz="2000" dirty="0" smtClean="0"/>
              <a:t>       如图</a:t>
            </a:r>
            <a:r>
              <a:rPr lang="en-US" sz="2000" dirty="0" smtClean="0"/>
              <a:t>4—23</a:t>
            </a:r>
            <a:r>
              <a:rPr lang="zh-CN" altLang="en-US" sz="2000" dirty="0" smtClean="0"/>
              <a:t>所示</a:t>
            </a:r>
            <a:r>
              <a:rPr lang="en-US" sz="2000" dirty="0" smtClean="0"/>
              <a:t>,</a:t>
            </a:r>
            <a:r>
              <a:rPr lang="zh-CN" altLang="en-US" sz="2000" dirty="0" smtClean="0"/>
              <a:t>在单元格</a:t>
            </a:r>
            <a:r>
              <a:rPr lang="en-US" sz="2000" dirty="0" smtClean="0"/>
              <a:t>B7</a:t>
            </a:r>
            <a:r>
              <a:rPr lang="zh-CN" altLang="en-US" sz="2000" dirty="0" smtClean="0"/>
              <a:t>处显示的是计算结果</a:t>
            </a:r>
            <a:r>
              <a:rPr lang="en-US" sz="2000" dirty="0" smtClean="0"/>
              <a:t>,</a:t>
            </a:r>
            <a:r>
              <a:rPr lang="zh-CN" altLang="en-US" sz="2000" dirty="0" smtClean="0"/>
              <a:t>而在编辑栏内显示的是该公式内容。</a:t>
            </a:r>
            <a:endParaRPr lang="zh-CN" altLang="en-US" sz="2000" dirty="0"/>
          </a:p>
        </p:txBody>
      </p:sp>
      <p:sp>
        <p:nvSpPr>
          <p:cNvPr id="2" name="标题 1"/>
          <p:cNvSpPr>
            <a:spLocks noGrp="1"/>
          </p:cNvSpPr>
          <p:nvPr>
            <p:ph type="title"/>
          </p:nvPr>
        </p:nvSpPr>
        <p:spPr>
          <a:xfrm>
            <a:off x="236855"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4a23.jpg" descr="id:2147494931;FounderCES"/>
          <p:cNvPicPr/>
          <p:nvPr/>
        </p:nvPicPr>
        <p:blipFill>
          <a:blip r:embed="rId4"/>
          <a:stretch>
            <a:fillRect/>
          </a:stretch>
        </p:blipFill>
        <p:spPr>
          <a:xfrm>
            <a:off x="3595670" y="3214686"/>
            <a:ext cx="4643470" cy="2857520"/>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7" name="矩形 6"/>
          <p:cNvSpPr/>
          <p:nvPr/>
        </p:nvSpPr>
        <p:spPr>
          <a:xfrm>
            <a:off x="4364921" y="6376594"/>
            <a:ext cx="3114040" cy="337185"/>
          </a:xfrm>
          <a:prstGeom prst="rect">
            <a:avLst/>
          </a:prstGeom>
        </p:spPr>
        <p:txBody>
          <a:bodyPr wrap="none">
            <a:spAutoFit/>
          </a:bodyPr>
          <a:lstStyle/>
          <a:p>
            <a:r>
              <a:rPr lang="zh-CN" altLang="en-US" sz="1600" dirty="0" smtClean="0"/>
              <a:t>图</a:t>
            </a:r>
            <a:r>
              <a:rPr lang="en-US" sz="1600" dirty="0" smtClean="0"/>
              <a:t>4—23</a:t>
            </a:r>
            <a:r>
              <a:rPr lang="zh-CN" altLang="en-US" sz="1600" dirty="0" smtClean="0"/>
              <a:t>　公式输入后的显示结果</a:t>
            </a:r>
            <a:endParaRPr lang="zh-CN" alt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4.3.3</a:t>
            </a:r>
            <a:r>
              <a:rPr lang="zh-CN" altLang="en-US" sz="2000" dirty="0" smtClean="0"/>
              <a:t>　常用函数的使用</a:t>
            </a:r>
            <a:endParaRPr lang="zh-CN" altLang="en-US" sz="2000" dirty="0" smtClean="0"/>
          </a:p>
          <a:p>
            <a:pPr>
              <a:lnSpc>
                <a:spcPct val="150000"/>
              </a:lnSpc>
              <a:buNone/>
            </a:pPr>
            <a:r>
              <a:rPr lang="en-US" sz="2000" dirty="0" smtClean="0"/>
              <a:t>1.</a:t>
            </a:r>
            <a:r>
              <a:rPr lang="zh-CN" altLang="en-US" sz="2000" dirty="0" smtClean="0"/>
              <a:t>常用函数  函数是预定义的公式</a:t>
            </a:r>
            <a:r>
              <a:rPr lang="en-US" sz="2000" dirty="0" smtClean="0"/>
              <a:t>,</a:t>
            </a:r>
            <a:r>
              <a:rPr lang="zh-CN" altLang="en-US" sz="2000" dirty="0" smtClean="0"/>
              <a:t>通过使用一些称为参数的特定数值来按特定的顺序或结构执行计算。</a:t>
            </a:r>
            <a:endParaRPr lang="zh-CN" altLang="en-US" sz="2000" dirty="0" smtClean="0"/>
          </a:p>
        </p:txBody>
      </p:sp>
      <p:sp>
        <p:nvSpPr>
          <p:cNvPr id="2" name="标题 1"/>
          <p:cNvSpPr>
            <a:spLocks noGrp="1"/>
          </p:cNvSpPr>
          <p:nvPr>
            <p:ph type="title"/>
          </p:nvPr>
        </p:nvSpPr>
        <p:spPr>
          <a:xfrm>
            <a:off x="795655"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graphicFrame>
        <p:nvGraphicFramePr>
          <p:cNvPr id="7" name="图示 6"/>
          <p:cNvGraphicFramePr/>
          <p:nvPr/>
        </p:nvGraphicFramePr>
        <p:xfrm>
          <a:off x="2595538" y="3143248"/>
          <a:ext cx="6929486" cy="34290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函数的使用</a:t>
            </a:r>
            <a:endParaRPr lang="zh-CN" altLang="en-US" sz="2000" dirty="0" smtClean="0"/>
          </a:p>
          <a:p>
            <a:pPr>
              <a:lnSpc>
                <a:spcPct val="150000"/>
              </a:lnSpc>
              <a:buNone/>
            </a:pPr>
            <a:r>
              <a:rPr lang="zh-CN" altLang="en-US" sz="2000" dirty="0" smtClean="0"/>
              <a:t>      单击编辑栏上的   </a:t>
            </a:r>
            <a:r>
              <a:rPr lang="en-US" sz="2000" dirty="0" smtClean="0"/>
              <a:t>   </a:t>
            </a:r>
            <a:r>
              <a:rPr lang="zh-CN" altLang="en-US" sz="2000" dirty="0" smtClean="0"/>
              <a:t>按钮</a:t>
            </a:r>
            <a:r>
              <a:rPr lang="en-US" sz="2000" dirty="0" smtClean="0"/>
              <a:t>,</a:t>
            </a:r>
            <a:r>
              <a:rPr lang="zh-CN" altLang="en-US" sz="2000" dirty="0" smtClean="0"/>
              <a:t>就可以在弹出的</a:t>
            </a:r>
            <a:r>
              <a:rPr lang="en-US" sz="2000" dirty="0" smtClean="0"/>
              <a:t>“</a:t>
            </a:r>
            <a:r>
              <a:rPr lang="zh-CN" altLang="en-US" sz="2000" dirty="0" smtClean="0"/>
              <a:t>插入函数</a:t>
            </a:r>
            <a:r>
              <a:rPr lang="en-US" sz="2000" dirty="0" smtClean="0"/>
              <a:t>”</a:t>
            </a:r>
            <a:r>
              <a:rPr lang="zh-CN" altLang="en-US" sz="2000" dirty="0" smtClean="0"/>
              <a:t>对话框中选择要插入的函数。或使用</a:t>
            </a:r>
            <a:r>
              <a:rPr lang="en-US" sz="2000" dirty="0" smtClean="0"/>
              <a:t>“</a:t>
            </a:r>
            <a:r>
              <a:rPr lang="zh-CN" altLang="en-US" sz="2000" dirty="0" smtClean="0"/>
              <a:t>公式</a:t>
            </a:r>
            <a:r>
              <a:rPr lang="en-US" sz="2000" dirty="0" smtClean="0"/>
              <a:t>”</a:t>
            </a:r>
            <a:r>
              <a:rPr lang="zh-CN" altLang="en-US" sz="2000" dirty="0" smtClean="0"/>
              <a:t>选项卡</a:t>
            </a:r>
            <a:r>
              <a:rPr lang="en-US" sz="2000" dirty="0" smtClean="0"/>
              <a:t>,</a:t>
            </a:r>
            <a:r>
              <a:rPr lang="zh-CN" altLang="en-US" sz="2000" dirty="0" smtClean="0"/>
              <a:t>在如图</a:t>
            </a:r>
            <a:r>
              <a:rPr lang="en-US" sz="2000" dirty="0" smtClean="0"/>
              <a:t>4—24</a:t>
            </a:r>
            <a:r>
              <a:rPr lang="zh-CN" altLang="en-US" sz="2000" dirty="0" smtClean="0"/>
              <a:t>所示的功能区中选择插入函数或从常用函数库中选择</a:t>
            </a:r>
            <a:r>
              <a:rPr lang="en-US" sz="2000" dirty="0" smtClean="0"/>
              <a:t>,</a:t>
            </a:r>
            <a:r>
              <a:rPr lang="zh-CN" altLang="en-US" sz="2000" dirty="0" smtClean="0"/>
              <a:t>如图</a:t>
            </a:r>
            <a:r>
              <a:rPr lang="en-US" sz="2000" dirty="0" smtClean="0"/>
              <a:t>4—25</a:t>
            </a:r>
            <a:r>
              <a:rPr lang="zh-CN" altLang="en-US" sz="2000" dirty="0" smtClean="0"/>
              <a:t>所示。</a:t>
            </a:r>
            <a:endParaRPr lang="zh-CN" altLang="en-US" sz="2000" dirty="0"/>
          </a:p>
        </p:txBody>
      </p:sp>
      <p:sp>
        <p:nvSpPr>
          <p:cNvPr id="2" name="标题 1"/>
          <p:cNvSpPr>
            <a:spLocks noGrp="1"/>
          </p:cNvSpPr>
          <p:nvPr>
            <p:ph type="title"/>
          </p:nvPr>
        </p:nvSpPr>
        <p:spPr>
          <a:xfrm>
            <a:off x="461645" y="2422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4a23a.jpg" descr="id:2147494962;FounderCES"/>
          <p:cNvPicPr/>
          <p:nvPr/>
        </p:nvPicPr>
        <p:blipFill>
          <a:blip r:embed="rId4" cstate="print"/>
          <a:stretch>
            <a:fillRect/>
          </a:stretch>
        </p:blipFill>
        <p:spPr>
          <a:xfrm>
            <a:off x="4810116" y="2214554"/>
            <a:ext cx="357190" cy="357190"/>
          </a:xfrm>
          <a:prstGeom prst="rect">
            <a:avLst/>
          </a:prstGeom>
        </p:spPr>
      </p:pic>
      <p:pic>
        <p:nvPicPr>
          <p:cNvPr id="7" name="4a24.jpg" descr="id:2147494969;FounderCES"/>
          <p:cNvPicPr/>
          <p:nvPr/>
        </p:nvPicPr>
        <p:blipFill>
          <a:blip r:embed="rId5" cstate="print"/>
          <a:stretch>
            <a:fillRect/>
          </a:stretch>
        </p:blipFill>
        <p:spPr>
          <a:xfrm>
            <a:off x="4310050" y="3643314"/>
            <a:ext cx="3071834" cy="2714644"/>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8" name="矩形 7"/>
          <p:cNvSpPr/>
          <p:nvPr/>
        </p:nvSpPr>
        <p:spPr>
          <a:xfrm>
            <a:off x="4310050" y="6448032"/>
            <a:ext cx="2674620" cy="337185"/>
          </a:xfrm>
          <a:prstGeom prst="rect">
            <a:avLst/>
          </a:prstGeom>
        </p:spPr>
        <p:txBody>
          <a:bodyPr wrap="none">
            <a:spAutoFit/>
          </a:bodyPr>
          <a:lstStyle/>
          <a:p>
            <a:r>
              <a:rPr lang="zh-CN" altLang="en-US" sz="1600" dirty="0" smtClean="0"/>
              <a:t>图</a:t>
            </a:r>
            <a:r>
              <a:rPr lang="en-US" sz="1600" dirty="0" smtClean="0"/>
              <a:t>4—24</a:t>
            </a:r>
            <a:r>
              <a:rPr lang="zh-CN" altLang="en-US" sz="1600" dirty="0" smtClean="0"/>
              <a:t>　</a:t>
            </a:r>
            <a:r>
              <a:rPr lang="en-US" sz="1600" dirty="0" smtClean="0"/>
              <a:t>“</a:t>
            </a:r>
            <a:r>
              <a:rPr lang="zh-CN" altLang="en-US" sz="1600" dirty="0" smtClean="0"/>
              <a:t>插入函数</a:t>
            </a:r>
            <a:r>
              <a:rPr lang="en-US" sz="1600" dirty="0" smtClean="0"/>
              <a:t>”</a:t>
            </a:r>
            <a:r>
              <a:rPr lang="zh-CN" altLang="en-US" sz="1600" dirty="0" smtClean="0"/>
              <a:t>对话框</a:t>
            </a:r>
            <a:endParaRPr lang="zh-CN" alt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zh-CN" altLang="en-US" sz="2000" dirty="0" smtClean="0"/>
              <a:t>      在</a:t>
            </a:r>
            <a:r>
              <a:rPr lang="en-US" sz="2000" dirty="0" smtClean="0"/>
              <a:t>“</a:t>
            </a:r>
            <a:r>
              <a:rPr lang="zh-CN" altLang="en-US" sz="2000" dirty="0" smtClean="0"/>
              <a:t>插入函数</a:t>
            </a:r>
            <a:r>
              <a:rPr lang="en-US" sz="2000" dirty="0" smtClean="0"/>
              <a:t>”</a:t>
            </a:r>
            <a:r>
              <a:rPr lang="zh-CN" altLang="en-US" sz="2000" dirty="0" smtClean="0"/>
              <a:t>对话框中</a:t>
            </a:r>
            <a:r>
              <a:rPr lang="en-US" sz="2000" dirty="0" smtClean="0"/>
              <a:t>,</a:t>
            </a:r>
            <a:r>
              <a:rPr lang="zh-CN" altLang="en-US" sz="2000" dirty="0" smtClean="0"/>
              <a:t>用鼠标选择要插入的函数</a:t>
            </a:r>
            <a:r>
              <a:rPr lang="en-US" sz="2000" dirty="0" smtClean="0"/>
              <a:t>,</a:t>
            </a:r>
            <a:r>
              <a:rPr lang="zh-CN" altLang="en-US" sz="2000" dirty="0" smtClean="0"/>
              <a:t>在选中函数名称后</a:t>
            </a:r>
            <a:r>
              <a:rPr lang="en-US" sz="2000" dirty="0" smtClean="0"/>
              <a:t>,</a:t>
            </a:r>
            <a:r>
              <a:rPr lang="zh-CN" altLang="en-US" sz="2000" dirty="0" smtClean="0"/>
              <a:t>在下面的预览区内可查看到该函数的格式和函数的功能说明。如图</a:t>
            </a:r>
            <a:r>
              <a:rPr lang="en-US" sz="2000" dirty="0" smtClean="0"/>
              <a:t>4—24</a:t>
            </a:r>
            <a:r>
              <a:rPr lang="zh-CN" altLang="en-US" sz="2000" dirty="0" smtClean="0"/>
              <a:t>所示选中了</a:t>
            </a:r>
            <a:r>
              <a:rPr lang="en-US" sz="2000" dirty="0" smtClean="0"/>
              <a:t>SUM</a:t>
            </a:r>
            <a:r>
              <a:rPr lang="zh-CN" altLang="en-US" sz="2000" dirty="0" smtClean="0"/>
              <a:t>函数</a:t>
            </a:r>
            <a:r>
              <a:rPr lang="en-US" sz="2000" dirty="0" smtClean="0"/>
              <a:t>,</a:t>
            </a:r>
            <a:r>
              <a:rPr lang="zh-CN" altLang="en-US" sz="2000" dirty="0" smtClean="0"/>
              <a:t>其功能是计算单元格区域中所有数值的和。</a:t>
            </a:r>
            <a:endParaRPr lang="zh-CN" altLang="en-US" sz="2000" dirty="0"/>
          </a:p>
        </p:txBody>
      </p:sp>
      <p:sp>
        <p:nvSpPr>
          <p:cNvPr id="2" name="标题 1"/>
          <p:cNvSpPr>
            <a:spLocks noGrp="1"/>
          </p:cNvSpPr>
          <p:nvPr>
            <p:ph type="title"/>
          </p:nvPr>
        </p:nvSpPr>
        <p:spPr>
          <a:xfrm>
            <a:off x="575310" y="1882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8" name="矩形 7"/>
          <p:cNvSpPr/>
          <p:nvPr/>
        </p:nvSpPr>
        <p:spPr>
          <a:xfrm>
            <a:off x="4747900" y="6162280"/>
            <a:ext cx="2098040" cy="337185"/>
          </a:xfrm>
          <a:prstGeom prst="rect">
            <a:avLst/>
          </a:prstGeom>
        </p:spPr>
        <p:txBody>
          <a:bodyPr wrap="none">
            <a:spAutoFit/>
          </a:bodyPr>
          <a:lstStyle/>
          <a:p>
            <a:r>
              <a:rPr lang="zh-CN" altLang="en-US" sz="1600" dirty="0" smtClean="0"/>
              <a:t>图</a:t>
            </a:r>
            <a:r>
              <a:rPr lang="en-US" sz="1600" dirty="0" smtClean="0"/>
              <a:t>4—25</a:t>
            </a:r>
            <a:r>
              <a:rPr lang="zh-CN" altLang="en-US" sz="1600" dirty="0" smtClean="0"/>
              <a:t>　常用函数库</a:t>
            </a:r>
            <a:endParaRPr lang="zh-CN" altLang="en-US" sz="1600" dirty="0"/>
          </a:p>
        </p:txBody>
      </p:sp>
      <p:pic>
        <p:nvPicPr>
          <p:cNvPr id="10" name="4a25.jpg" descr="id:2147494976;FounderCES"/>
          <p:cNvPicPr/>
          <p:nvPr/>
        </p:nvPicPr>
        <p:blipFill>
          <a:blip r:embed="rId4"/>
          <a:stretch>
            <a:fillRect/>
          </a:stretch>
        </p:blipFill>
        <p:spPr>
          <a:xfrm>
            <a:off x="2952728" y="3714752"/>
            <a:ext cx="6500858" cy="2071702"/>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46710" y="18954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8" name="矩形 7"/>
          <p:cNvSpPr/>
          <p:nvPr/>
        </p:nvSpPr>
        <p:spPr>
          <a:xfrm>
            <a:off x="2212651" y="5733652"/>
            <a:ext cx="2674620" cy="337185"/>
          </a:xfrm>
          <a:prstGeom prst="rect">
            <a:avLst/>
          </a:prstGeom>
        </p:spPr>
        <p:txBody>
          <a:bodyPr wrap="none">
            <a:spAutoFit/>
          </a:bodyPr>
          <a:lstStyle/>
          <a:p>
            <a:r>
              <a:rPr lang="zh-CN" altLang="en-US" sz="1600" dirty="0" smtClean="0"/>
              <a:t>图</a:t>
            </a:r>
            <a:r>
              <a:rPr lang="en-US" sz="1600" dirty="0" smtClean="0"/>
              <a:t>4—26</a:t>
            </a:r>
            <a:r>
              <a:rPr lang="zh-CN" altLang="en-US" sz="1600" dirty="0" smtClean="0"/>
              <a:t>　</a:t>
            </a:r>
            <a:r>
              <a:rPr lang="en-US" sz="1600" dirty="0" smtClean="0"/>
              <a:t>“</a:t>
            </a:r>
            <a:r>
              <a:rPr lang="zh-CN" altLang="en-US" sz="1600" dirty="0" smtClean="0"/>
              <a:t>函数参数</a:t>
            </a:r>
            <a:r>
              <a:rPr lang="en-US" sz="1600" dirty="0" smtClean="0"/>
              <a:t>”</a:t>
            </a:r>
            <a:r>
              <a:rPr lang="zh-CN" altLang="en-US" sz="1600" dirty="0" smtClean="0"/>
              <a:t>对话框</a:t>
            </a:r>
            <a:endParaRPr lang="zh-CN" altLang="en-US" sz="1600" dirty="0"/>
          </a:p>
        </p:txBody>
      </p:sp>
      <p:pic>
        <p:nvPicPr>
          <p:cNvPr id="11" name="4a26.jpg" descr="id:2147494990;FounderCES"/>
          <p:cNvPicPr/>
          <p:nvPr/>
        </p:nvPicPr>
        <p:blipFill>
          <a:blip r:embed="rId4" cstate="print"/>
          <a:stretch>
            <a:fillRect/>
          </a:stretch>
        </p:blipFill>
        <p:spPr>
          <a:xfrm>
            <a:off x="1881158" y="2571744"/>
            <a:ext cx="3889440" cy="2013840"/>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12" name="4a27.jpg" descr="id:2147494997;FounderCES"/>
          <p:cNvPicPr/>
          <p:nvPr/>
        </p:nvPicPr>
        <p:blipFill>
          <a:blip r:embed="rId5"/>
          <a:stretch>
            <a:fillRect/>
          </a:stretch>
        </p:blipFill>
        <p:spPr>
          <a:xfrm>
            <a:off x="6381752" y="2500306"/>
            <a:ext cx="3602160" cy="2069280"/>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3" name="矩形 12"/>
          <p:cNvSpPr/>
          <p:nvPr/>
        </p:nvSpPr>
        <p:spPr>
          <a:xfrm>
            <a:off x="6564792" y="5774312"/>
            <a:ext cx="3114040" cy="337185"/>
          </a:xfrm>
          <a:prstGeom prst="rect">
            <a:avLst/>
          </a:prstGeom>
        </p:spPr>
        <p:txBody>
          <a:bodyPr wrap="none">
            <a:spAutoFit/>
          </a:bodyPr>
          <a:lstStyle/>
          <a:p>
            <a:r>
              <a:rPr lang="zh-CN" altLang="en-US" sz="1600" dirty="0" smtClean="0"/>
              <a:t>图</a:t>
            </a:r>
            <a:r>
              <a:rPr lang="en-US" sz="1600" dirty="0" smtClean="0"/>
              <a:t>4—27</a:t>
            </a:r>
            <a:r>
              <a:rPr lang="zh-CN" altLang="en-US" sz="1600" dirty="0" smtClean="0"/>
              <a:t>　插入函数后的显示结果</a:t>
            </a:r>
            <a:endParaRPr lang="zh-CN" alt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4.4</a:t>
            </a:r>
            <a:r>
              <a:rPr lang="zh-CN" altLang="en-US" dirty="0" smtClean="0"/>
              <a:t>　</a:t>
            </a:r>
            <a:r>
              <a:rPr lang="en-US" dirty="0" smtClean="0"/>
              <a:t>Excel</a:t>
            </a:r>
            <a:r>
              <a:rPr lang="zh-CN" altLang="en-US" dirty="0" smtClean="0"/>
              <a:t>数据处理</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sz="2000" dirty="0" smtClean="0"/>
              <a:t>※ </a:t>
            </a:r>
            <a:r>
              <a:rPr lang="zh-CN" altLang="en-US" sz="2000" dirty="0" smtClean="0"/>
              <a:t>学会</a:t>
            </a:r>
            <a:r>
              <a:rPr lang="en-US" sz="2000" dirty="0" smtClean="0"/>
              <a:t>Excel</a:t>
            </a:r>
            <a:r>
              <a:rPr lang="zh-CN" altLang="en-US" sz="2000" dirty="0" smtClean="0"/>
              <a:t>按主要关键词和次要关键词排序的方法</a:t>
            </a:r>
            <a:r>
              <a:rPr lang="en-US" sz="2000" dirty="0" smtClean="0"/>
              <a:t>;</a:t>
            </a:r>
            <a:endParaRPr lang="zh-CN" altLang="en-US" sz="2000" dirty="0" smtClean="0"/>
          </a:p>
          <a:p>
            <a:pPr>
              <a:lnSpc>
                <a:spcPct val="150000"/>
              </a:lnSpc>
              <a:buNone/>
            </a:pPr>
            <a:r>
              <a:rPr lang="en-US" sz="2000" dirty="0" smtClean="0"/>
              <a:t>※ </a:t>
            </a:r>
            <a:r>
              <a:rPr lang="zh-CN" altLang="en-US" sz="2000" dirty="0" smtClean="0"/>
              <a:t>学会对数据表进行自动筛选和按条件进行高级筛选两种操作</a:t>
            </a:r>
            <a:r>
              <a:rPr lang="en-US" sz="2000" dirty="0" smtClean="0"/>
              <a:t>;</a:t>
            </a:r>
            <a:endParaRPr lang="zh-CN" altLang="en-US" sz="2000" dirty="0" smtClean="0"/>
          </a:p>
          <a:p>
            <a:pPr>
              <a:lnSpc>
                <a:spcPct val="150000"/>
              </a:lnSpc>
              <a:buNone/>
            </a:pPr>
            <a:r>
              <a:rPr lang="en-US" sz="2000" dirty="0" smtClean="0"/>
              <a:t>※ </a:t>
            </a:r>
            <a:r>
              <a:rPr lang="zh-CN" altLang="en-US" sz="2000" dirty="0" smtClean="0"/>
              <a:t>学会对数据表进行分类汇总的方法。</a:t>
            </a:r>
            <a:endParaRPr lang="zh-CN" altLang="en-US" sz="2000" dirty="0"/>
          </a:p>
        </p:txBody>
      </p:sp>
      <p:sp>
        <p:nvSpPr>
          <p:cNvPr id="2" name="标题 1"/>
          <p:cNvSpPr>
            <a:spLocks noGrp="1"/>
          </p:cNvSpPr>
          <p:nvPr>
            <p:ph type="title"/>
          </p:nvPr>
        </p:nvSpPr>
        <p:spPr>
          <a:xfrm>
            <a:off x="406400" y="2803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学习目标.EPS" descr="id:2147495012;FounderCES"/>
          <p:cNvPicPr/>
          <p:nvPr/>
        </p:nvPicPr>
        <p:blipFill>
          <a:blip r:embed="rId4"/>
          <a:stretch>
            <a:fillRect/>
          </a:stretch>
        </p:blipFill>
        <p:spPr>
          <a:xfrm>
            <a:off x="2166910" y="2571744"/>
            <a:ext cx="1857388" cy="50006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4.4.1</a:t>
            </a:r>
            <a:r>
              <a:rPr lang="zh-CN" altLang="en-US" sz="2000" dirty="0" smtClean="0"/>
              <a:t>　数据排序</a:t>
            </a:r>
            <a:endParaRPr lang="zh-CN" altLang="en-US" sz="2000" dirty="0" smtClean="0"/>
          </a:p>
          <a:p>
            <a:pPr>
              <a:lnSpc>
                <a:spcPct val="150000"/>
              </a:lnSpc>
              <a:buNone/>
            </a:pPr>
            <a:r>
              <a:rPr lang="zh-CN" altLang="en-US" sz="2000" dirty="0" smtClean="0"/>
              <a:t>       打开如图</a:t>
            </a:r>
            <a:r>
              <a:rPr lang="en-US" sz="2000" dirty="0" smtClean="0"/>
              <a:t>4—28</a:t>
            </a:r>
            <a:r>
              <a:rPr lang="zh-CN" altLang="en-US" sz="2000" dirty="0" smtClean="0"/>
              <a:t>所示的对话框</a:t>
            </a:r>
            <a:r>
              <a:rPr lang="en-US" sz="2000" dirty="0" smtClean="0"/>
              <a:t>,</a:t>
            </a:r>
            <a:r>
              <a:rPr lang="zh-CN" altLang="en-US" sz="2000" dirty="0" smtClean="0"/>
              <a:t>在对话框中可选择</a:t>
            </a:r>
            <a:r>
              <a:rPr lang="en-US" sz="2000" dirty="0" smtClean="0"/>
              <a:t>“</a:t>
            </a:r>
            <a:r>
              <a:rPr lang="zh-CN" altLang="en-US" sz="2000" dirty="0" smtClean="0"/>
              <a:t>主要关键字</a:t>
            </a:r>
            <a:r>
              <a:rPr lang="en-US" sz="2000" dirty="0" smtClean="0"/>
              <a:t>”</a:t>
            </a:r>
            <a:r>
              <a:rPr lang="zh-CN" altLang="en-US" sz="2000" dirty="0" smtClean="0"/>
              <a:t>进行排序。</a:t>
            </a:r>
            <a:endParaRPr lang="zh-CN" altLang="en-US" sz="2000" dirty="0"/>
          </a:p>
        </p:txBody>
      </p:sp>
      <p:sp>
        <p:nvSpPr>
          <p:cNvPr id="2" name="标题 1"/>
          <p:cNvSpPr>
            <a:spLocks noGrp="1"/>
          </p:cNvSpPr>
          <p:nvPr>
            <p:ph type="title"/>
          </p:nvPr>
        </p:nvSpPr>
        <p:spPr>
          <a:xfrm>
            <a:off x="516890" y="28098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4a28.jpg" descr="id:2147495048;FounderCES"/>
          <p:cNvPicPr/>
          <p:nvPr/>
        </p:nvPicPr>
        <p:blipFill>
          <a:blip r:embed="rId4"/>
          <a:stretch>
            <a:fillRect/>
          </a:stretch>
        </p:blipFill>
        <p:spPr>
          <a:xfrm>
            <a:off x="3524232" y="3143248"/>
            <a:ext cx="5357850" cy="2571768"/>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7" name="矩形 6"/>
          <p:cNvSpPr/>
          <p:nvPr/>
        </p:nvSpPr>
        <p:spPr>
          <a:xfrm>
            <a:off x="4676380" y="5988626"/>
            <a:ext cx="2268220" cy="337185"/>
          </a:xfrm>
          <a:prstGeom prst="rect">
            <a:avLst/>
          </a:prstGeom>
        </p:spPr>
        <p:txBody>
          <a:bodyPr wrap="none">
            <a:spAutoFit/>
          </a:bodyPr>
          <a:lstStyle/>
          <a:p>
            <a:r>
              <a:rPr lang="zh-CN" altLang="en-US" sz="1600" dirty="0" smtClean="0"/>
              <a:t>图</a:t>
            </a:r>
            <a:r>
              <a:rPr lang="en-US" sz="1600" dirty="0" smtClean="0"/>
              <a:t>4—28</a:t>
            </a:r>
            <a:r>
              <a:rPr lang="zh-CN" altLang="en-US" sz="1600" dirty="0" smtClean="0"/>
              <a:t>　</a:t>
            </a:r>
            <a:r>
              <a:rPr lang="en-US" sz="1600" dirty="0" smtClean="0"/>
              <a:t>“</a:t>
            </a:r>
            <a:r>
              <a:rPr lang="zh-CN" altLang="en-US" sz="1600" dirty="0" smtClean="0"/>
              <a:t>排序</a:t>
            </a:r>
            <a:r>
              <a:rPr lang="en-US" sz="1600" dirty="0" smtClean="0"/>
              <a:t>”</a:t>
            </a:r>
            <a:r>
              <a:rPr lang="zh-CN" altLang="en-US" sz="1600" dirty="0" smtClean="0"/>
              <a:t>对话框</a:t>
            </a:r>
            <a:endParaRPr lang="zh-CN" alt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02945"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7" name="矩形 6"/>
          <p:cNvSpPr/>
          <p:nvPr/>
        </p:nvSpPr>
        <p:spPr>
          <a:xfrm>
            <a:off x="4381488" y="5286388"/>
            <a:ext cx="3114040" cy="337185"/>
          </a:xfrm>
          <a:prstGeom prst="rect">
            <a:avLst/>
          </a:prstGeom>
        </p:spPr>
        <p:txBody>
          <a:bodyPr wrap="none">
            <a:spAutoFit/>
          </a:bodyPr>
          <a:lstStyle/>
          <a:p>
            <a:r>
              <a:rPr lang="zh-CN" altLang="en-US" sz="1600" dirty="0" smtClean="0"/>
              <a:t>图</a:t>
            </a:r>
            <a:r>
              <a:rPr lang="en-US" sz="1600" dirty="0" smtClean="0"/>
              <a:t>4—29</a:t>
            </a:r>
            <a:r>
              <a:rPr lang="zh-CN" altLang="en-US" sz="1600" dirty="0" smtClean="0"/>
              <a:t>　职工表按入职时间排序</a:t>
            </a:r>
            <a:endParaRPr lang="zh-CN" altLang="en-US" sz="1600" dirty="0"/>
          </a:p>
        </p:txBody>
      </p:sp>
      <p:pic>
        <p:nvPicPr>
          <p:cNvPr id="8" name="4a29.jpg" descr="id:2147495055;FounderCES"/>
          <p:cNvPicPr/>
          <p:nvPr/>
        </p:nvPicPr>
        <p:blipFill>
          <a:blip r:embed="rId4"/>
          <a:stretch>
            <a:fillRect/>
          </a:stretch>
        </p:blipFill>
        <p:spPr>
          <a:xfrm>
            <a:off x="2452662" y="2285992"/>
            <a:ext cx="7143800" cy="2357454"/>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4.4.2</a:t>
            </a:r>
            <a:r>
              <a:rPr lang="zh-CN" altLang="en-US" sz="2000" dirty="0" smtClean="0"/>
              <a:t>　数据筛选</a:t>
            </a:r>
            <a:endParaRPr lang="zh-CN" altLang="en-US" sz="2000" dirty="0" smtClean="0"/>
          </a:p>
          <a:p>
            <a:pPr>
              <a:lnSpc>
                <a:spcPct val="150000"/>
              </a:lnSpc>
              <a:buNone/>
            </a:pPr>
            <a:r>
              <a:rPr lang="zh-CN" altLang="en-US" sz="2000" dirty="0" smtClean="0"/>
              <a:t>      数据筛选是从数据表中筛选出符合条件的记录</a:t>
            </a:r>
            <a:r>
              <a:rPr lang="en-US" sz="2000" dirty="0" smtClean="0"/>
              <a:t>,</a:t>
            </a:r>
            <a:r>
              <a:rPr lang="zh-CN" altLang="en-US" sz="2000" dirty="0" smtClean="0"/>
              <a:t>有两种筛选方法</a:t>
            </a:r>
            <a:r>
              <a:rPr lang="en-US" sz="2000" dirty="0" smtClean="0"/>
              <a:t>:</a:t>
            </a:r>
            <a:r>
              <a:rPr lang="zh-CN" altLang="en-US" sz="2000" dirty="0" smtClean="0"/>
              <a:t>自动筛选、高级筛选。</a:t>
            </a:r>
            <a:endParaRPr lang="zh-CN" altLang="en-US" sz="2000" dirty="0" smtClean="0"/>
          </a:p>
          <a:p>
            <a:pPr>
              <a:lnSpc>
                <a:spcPct val="150000"/>
              </a:lnSpc>
              <a:buNone/>
            </a:pPr>
            <a:r>
              <a:rPr lang="en-US" sz="2000" dirty="0" smtClean="0"/>
              <a:t>1.</a:t>
            </a:r>
            <a:r>
              <a:rPr lang="zh-CN" altLang="en-US" sz="2000" dirty="0" smtClean="0"/>
              <a:t>自动筛选     </a:t>
            </a:r>
            <a:endParaRPr lang="en-US" altLang="zh-CN" sz="2000" dirty="0" smtClean="0"/>
          </a:p>
          <a:p>
            <a:pPr>
              <a:lnSpc>
                <a:spcPct val="150000"/>
              </a:lnSpc>
              <a:buNone/>
            </a:pPr>
            <a:r>
              <a:rPr lang="en-US" altLang="zh-CN" sz="2000" dirty="0" smtClean="0"/>
              <a:t>       </a:t>
            </a:r>
            <a:r>
              <a:rPr lang="zh-CN" altLang="en-US" sz="2000" dirty="0" smtClean="0"/>
              <a:t>对如图</a:t>
            </a:r>
            <a:r>
              <a:rPr lang="en-US" sz="2000" dirty="0" smtClean="0"/>
              <a:t>4—29</a:t>
            </a:r>
            <a:r>
              <a:rPr lang="zh-CN" altLang="en-US" sz="2000" dirty="0" smtClean="0"/>
              <a:t>所示的职工表进行筛选</a:t>
            </a:r>
            <a:r>
              <a:rPr lang="en-US" sz="2000" dirty="0" smtClean="0"/>
              <a:t>,</a:t>
            </a:r>
            <a:r>
              <a:rPr lang="zh-CN" altLang="en-US" sz="2000" dirty="0" smtClean="0"/>
              <a:t>单击</a:t>
            </a:r>
            <a:r>
              <a:rPr lang="en-US" sz="2000" dirty="0" smtClean="0"/>
              <a:t>“</a:t>
            </a:r>
            <a:r>
              <a:rPr lang="zh-CN" altLang="en-US" sz="2000" dirty="0" smtClean="0"/>
              <a:t>数据</a:t>
            </a:r>
            <a:r>
              <a:rPr lang="en-US" sz="2000" dirty="0" smtClean="0"/>
              <a:t>—</a:t>
            </a:r>
            <a:r>
              <a:rPr lang="zh-CN" altLang="en-US" sz="2000" dirty="0" smtClean="0"/>
              <a:t>排序和筛选</a:t>
            </a:r>
            <a:r>
              <a:rPr lang="en-US" sz="2000" dirty="0" smtClean="0"/>
              <a:t>—</a:t>
            </a:r>
            <a:r>
              <a:rPr lang="zh-CN" altLang="en-US" sz="2000" dirty="0" smtClean="0"/>
              <a:t>筛选</a:t>
            </a:r>
            <a:r>
              <a:rPr lang="en-US" sz="2000" dirty="0" smtClean="0"/>
              <a:t>”,</a:t>
            </a:r>
            <a:r>
              <a:rPr lang="zh-CN" altLang="en-US" sz="2000" dirty="0" smtClean="0"/>
              <a:t>则该表呈现图</a:t>
            </a:r>
            <a:r>
              <a:rPr lang="en-US" sz="2000" dirty="0" smtClean="0"/>
              <a:t>4—30</a:t>
            </a:r>
            <a:r>
              <a:rPr lang="zh-CN" altLang="en-US" sz="2000" dirty="0" smtClean="0"/>
              <a:t>所示的样式</a:t>
            </a:r>
            <a:endParaRPr lang="en-US" altLang="zh-CN" sz="2000" dirty="0" smtClean="0"/>
          </a:p>
          <a:p>
            <a:pPr>
              <a:lnSpc>
                <a:spcPct val="150000"/>
              </a:lnSpc>
              <a:buNone/>
            </a:pPr>
            <a:r>
              <a:rPr lang="en-US" sz="2000" dirty="0" smtClean="0"/>
              <a:t>2.</a:t>
            </a:r>
            <a:r>
              <a:rPr lang="zh-CN" altLang="en-US" sz="2000" dirty="0" smtClean="0"/>
              <a:t>高级筛选</a:t>
            </a:r>
            <a:endParaRPr lang="zh-CN" altLang="en-US" sz="2000" dirty="0" smtClean="0"/>
          </a:p>
          <a:p>
            <a:pPr>
              <a:lnSpc>
                <a:spcPct val="150000"/>
              </a:lnSpc>
              <a:buNone/>
            </a:pPr>
            <a:r>
              <a:rPr lang="zh-CN" altLang="en-US" sz="2000" dirty="0" smtClean="0"/>
              <a:t>      自动筛选只能筛选出比较简单的记录</a:t>
            </a:r>
            <a:r>
              <a:rPr lang="en-US" sz="2000" dirty="0" smtClean="0"/>
              <a:t>,</a:t>
            </a:r>
            <a:r>
              <a:rPr lang="zh-CN" altLang="en-US" sz="2000" dirty="0" smtClean="0"/>
              <a:t>若条件比较复杂就要使用高级筛选。</a:t>
            </a:r>
            <a:endParaRPr lang="zh-CN" altLang="en-US" sz="2000" dirty="0"/>
          </a:p>
        </p:txBody>
      </p:sp>
      <p:sp>
        <p:nvSpPr>
          <p:cNvPr id="2" name="标题 1"/>
          <p:cNvSpPr>
            <a:spLocks noGrp="1"/>
          </p:cNvSpPr>
          <p:nvPr>
            <p:ph type="title"/>
          </p:nvPr>
        </p:nvSpPr>
        <p:spPr>
          <a:xfrm>
            <a:off x="448945" y="2803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48945"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7" name="矩形 6"/>
          <p:cNvSpPr/>
          <p:nvPr/>
        </p:nvSpPr>
        <p:spPr>
          <a:xfrm>
            <a:off x="2166910" y="5643578"/>
            <a:ext cx="2910840" cy="337185"/>
          </a:xfrm>
          <a:prstGeom prst="rect">
            <a:avLst/>
          </a:prstGeom>
        </p:spPr>
        <p:txBody>
          <a:bodyPr wrap="none">
            <a:spAutoFit/>
          </a:bodyPr>
          <a:lstStyle/>
          <a:p>
            <a:r>
              <a:rPr lang="zh-CN" altLang="en-US" sz="1600" dirty="0" smtClean="0"/>
              <a:t>图</a:t>
            </a:r>
            <a:r>
              <a:rPr lang="en-US" sz="1600" dirty="0" smtClean="0"/>
              <a:t>4—30</a:t>
            </a:r>
            <a:r>
              <a:rPr lang="zh-CN" altLang="en-US" sz="1600" dirty="0" smtClean="0"/>
              <a:t>　自动筛选后的职工表</a:t>
            </a:r>
            <a:endParaRPr lang="zh-CN" altLang="en-US" sz="1600" dirty="0"/>
          </a:p>
        </p:txBody>
      </p:sp>
      <p:pic>
        <p:nvPicPr>
          <p:cNvPr id="8" name="4a30.jpg" descr="id:2147495078;FounderCES"/>
          <p:cNvPicPr/>
          <p:nvPr/>
        </p:nvPicPr>
        <p:blipFill>
          <a:blip r:embed="rId4"/>
          <a:stretch>
            <a:fillRect/>
          </a:stretch>
        </p:blipFill>
        <p:spPr>
          <a:xfrm>
            <a:off x="1809720" y="1714488"/>
            <a:ext cx="3857652" cy="3429024"/>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11" name="4a31.jpg" descr="id:2147495093;FounderCES"/>
          <p:cNvPicPr/>
          <p:nvPr/>
        </p:nvPicPr>
        <p:blipFill>
          <a:blip r:embed="rId5"/>
          <a:stretch>
            <a:fillRect/>
          </a:stretch>
        </p:blipFill>
        <p:spPr>
          <a:xfrm>
            <a:off x="5953124" y="2500306"/>
            <a:ext cx="4321800" cy="1700640"/>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2" name="矩形 11"/>
          <p:cNvSpPr/>
          <p:nvPr/>
        </p:nvSpPr>
        <p:spPr>
          <a:xfrm>
            <a:off x="7076012" y="4559866"/>
            <a:ext cx="2098040" cy="337185"/>
          </a:xfrm>
          <a:prstGeom prst="rect">
            <a:avLst/>
          </a:prstGeom>
        </p:spPr>
        <p:txBody>
          <a:bodyPr wrap="none">
            <a:spAutoFit/>
          </a:bodyPr>
          <a:lstStyle/>
          <a:p>
            <a:r>
              <a:rPr lang="zh-CN" altLang="en-US" sz="1600" dirty="0" smtClean="0"/>
              <a:t>图</a:t>
            </a:r>
            <a:r>
              <a:rPr lang="en-US" sz="1600" dirty="0" smtClean="0"/>
              <a:t>4—31</a:t>
            </a:r>
            <a:r>
              <a:rPr lang="zh-CN" altLang="en-US" sz="1600" dirty="0" smtClean="0"/>
              <a:t>　筛选职工表</a:t>
            </a:r>
            <a:endParaRPr lang="zh-CN" alt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4.4.3</a:t>
            </a:r>
            <a:r>
              <a:rPr lang="zh-CN" altLang="en-US" sz="2000" dirty="0" smtClean="0"/>
              <a:t>　数据的分类汇总</a:t>
            </a:r>
            <a:endParaRPr lang="zh-CN" altLang="en-US" sz="2000" dirty="0" smtClean="0"/>
          </a:p>
          <a:p>
            <a:pPr>
              <a:lnSpc>
                <a:spcPct val="150000"/>
              </a:lnSpc>
              <a:buNone/>
            </a:pPr>
            <a:r>
              <a:rPr lang="en-US" sz="2000" dirty="0" smtClean="0"/>
              <a:t>      [</a:t>
            </a:r>
            <a:r>
              <a:rPr lang="zh-CN" altLang="en-US" sz="2000" dirty="0" smtClean="0"/>
              <a:t>操作</a:t>
            </a:r>
            <a:r>
              <a:rPr lang="en-US" sz="2000" dirty="0" smtClean="0"/>
              <a:t>—</a:t>
            </a:r>
            <a:r>
              <a:rPr lang="zh-CN" altLang="en-US" sz="2000" dirty="0" smtClean="0"/>
              <a:t>统计各班各科成绩的最高分</a:t>
            </a:r>
            <a:r>
              <a:rPr lang="en-US" sz="2000" dirty="0" smtClean="0"/>
              <a:t>]</a:t>
            </a:r>
            <a:endParaRPr lang="zh-CN" altLang="en-US" sz="2000" dirty="0"/>
          </a:p>
        </p:txBody>
      </p:sp>
      <p:sp>
        <p:nvSpPr>
          <p:cNvPr id="2" name="标题 1"/>
          <p:cNvSpPr>
            <a:spLocks noGrp="1"/>
          </p:cNvSpPr>
          <p:nvPr>
            <p:ph type="title"/>
          </p:nvPr>
        </p:nvSpPr>
        <p:spPr>
          <a:xfrm>
            <a:off x="406400" y="28098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4a32.jpg" descr="id:2147495108;FounderCES"/>
          <p:cNvPicPr/>
          <p:nvPr/>
        </p:nvPicPr>
        <p:blipFill>
          <a:blip r:embed="rId4" cstate="print"/>
          <a:stretch>
            <a:fillRect/>
          </a:stretch>
        </p:blipFill>
        <p:spPr>
          <a:xfrm>
            <a:off x="2780592" y="3357562"/>
            <a:ext cx="2214578" cy="214314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7" name="矩形 6"/>
          <p:cNvSpPr/>
          <p:nvPr/>
        </p:nvSpPr>
        <p:spPr>
          <a:xfrm>
            <a:off x="2612019" y="5733652"/>
            <a:ext cx="2362835" cy="306705"/>
          </a:xfrm>
          <a:prstGeom prst="rect">
            <a:avLst/>
          </a:prstGeom>
        </p:spPr>
        <p:txBody>
          <a:bodyPr wrap="none">
            <a:spAutoFit/>
          </a:bodyPr>
          <a:lstStyle/>
          <a:p>
            <a:r>
              <a:rPr lang="zh-CN" altLang="en-US" sz="1400" dirty="0" smtClean="0"/>
              <a:t>图</a:t>
            </a:r>
            <a:r>
              <a:rPr lang="en-US" sz="1400" dirty="0" smtClean="0"/>
              <a:t>4—32</a:t>
            </a:r>
            <a:r>
              <a:rPr lang="zh-CN" altLang="en-US" sz="1400" dirty="0" smtClean="0"/>
              <a:t>　</a:t>
            </a:r>
            <a:r>
              <a:rPr lang="en-US" sz="1400" dirty="0" smtClean="0"/>
              <a:t>“</a:t>
            </a:r>
            <a:r>
              <a:rPr lang="zh-CN" altLang="en-US" sz="1400" dirty="0" smtClean="0"/>
              <a:t>高级筛选</a:t>
            </a:r>
            <a:r>
              <a:rPr lang="en-US" sz="1400" dirty="0" smtClean="0"/>
              <a:t>”</a:t>
            </a:r>
            <a:r>
              <a:rPr lang="zh-CN" altLang="en-US" sz="1400" dirty="0" smtClean="0"/>
              <a:t>对话框</a:t>
            </a:r>
            <a:endParaRPr lang="zh-CN" altLang="en-US" sz="1400" dirty="0"/>
          </a:p>
        </p:txBody>
      </p:sp>
      <p:pic>
        <p:nvPicPr>
          <p:cNvPr id="8" name="4a33.jpg" descr="id:2147495115;FounderCES"/>
          <p:cNvPicPr/>
          <p:nvPr/>
        </p:nvPicPr>
        <p:blipFill>
          <a:blip r:embed="rId5" cstate="print"/>
          <a:stretch>
            <a:fillRect/>
          </a:stretch>
        </p:blipFill>
        <p:spPr>
          <a:xfrm>
            <a:off x="7239008" y="2285992"/>
            <a:ext cx="2369880" cy="3143272"/>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211970" name="Rectangle 2"/>
          <p:cNvSpPr>
            <a:spLocks noChangeArrowheads="1"/>
          </p:cNvSpPr>
          <p:nvPr/>
        </p:nvSpPr>
        <p:spPr bwMode="auto">
          <a:xfrm>
            <a:off x="1524000" y="-24765"/>
            <a:ext cx="2032635" cy="50673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28600" algn="l" defTabSz="914400" rtl="0" eaLnBrk="1" fontAlgn="base" latinLnBrk="0" hangingPunct="1">
              <a:lnSpc>
                <a:spcPct val="100000"/>
              </a:lnSpc>
              <a:spcBef>
                <a:spcPct val="0"/>
              </a:spcBef>
              <a:spcAft>
                <a:spcPct val="0"/>
              </a:spcAft>
              <a:buClrTx/>
              <a:buSzTx/>
              <a:buFontTx/>
              <a:buNone/>
            </a:pPr>
            <a:r>
              <a:rPr kumimoji="0" lang="zh-CN" sz="900" b="0" i="0" u="none" strike="noStrike" cap="none" normalizeH="0" baseline="0" smtClean="0">
                <a:ln>
                  <a:noFill/>
                </a:ln>
                <a:solidFill>
                  <a:srgbClr val="000000"/>
                </a:solidFill>
                <a:effectLst/>
                <a:latin typeface="NEU-BZ" charset="-122"/>
                <a:ea typeface="方正黑体_GBK" charset="-122"/>
                <a:cs typeface="Times New Roman" panose="02020603050405020304" pitchFamily="18" charset="0"/>
              </a:rPr>
              <a:t>图</a:t>
            </a:r>
            <a:r>
              <a:rPr kumimoji="0" lang="en-US" altLang="zh-CN" sz="900" b="0" i="0" u="none" strike="noStrike" cap="none" normalizeH="0" baseline="0" smtClean="0">
                <a:ln>
                  <a:noFill/>
                </a:ln>
                <a:solidFill>
                  <a:srgbClr val="000000"/>
                </a:solidFill>
                <a:effectLst/>
                <a:latin typeface="NEU-HZ-S92" charset="0"/>
                <a:ea typeface="NEU-HZ-S92" charset="0"/>
                <a:cs typeface="Times New Roman" panose="02020603050405020304" pitchFamily="18" charset="0"/>
              </a:rPr>
              <a:t>4</a:t>
            </a:r>
            <a:r>
              <a:rPr kumimoji="0" lang="en-US" altLang="zh-CN" sz="900" b="0" i="0" u="none" strike="noStrike" cap="none" normalizeH="0" baseline="0" smtClean="0">
                <a:ln>
                  <a:noFill/>
                </a:ln>
                <a:solidFill>
                  <a:srgbClr val="000000"/>
                </a:solidFill>
                <a:effectLst/>
                <a:latin typeface="Arial" panose="020B0604020202020204" pitchFamily="34" charset="0"/>
                <a:ea typeface="方正黑体_GBK" charset="-122"/>
                <a:cs typeface="Times New Roman" panose="02020603050405020304" pitchFamily="18" charset="0"/>
              </a:rPr>
              <a:t>—</a:t>
            </a:r>
            <a:r>
              <a:rPr kumimoji="0" lang="en-US" altLang="zh-CN" sz="900" b="0" i="0" u="none" strike="noStrike" cap="none" normalizeH="0" baseline="0" smtClean="0">
                <a:ln>
                  <a:noFill/>
                </a:ln>
                <a:solidFill>
                  <a:srgbClr val="000000"/>
                </a:solidFill>
                <a:effectLst/>
                <a:latin typeface="NEU-HZ-S92" charset="0"/>
                <a:ea typeface="NEU-HZ-S92" charset="0"/>
                <a:cs typeface="Times New Roman" panose="02020603050405020304" pitchFamily="18" charset="0"/>
              </a:rPr>
              <a:t>33</a:t>
            </a:r>
            <a:r>
              <a:rPr kumimoji="0" lang="zh-CN" altLang="en-US" sz="900" b="0" i="0" u="none" strike="noStrike" cap="none" normalizeH="0" baseline="0" smtClean="0">
                <a:ln>
                  <a:noFill/>
                </a:ln>
                <a:solidFill>
                  <a:srgbClr val="000000"/>
                </a:solidFill>
                <a:effectLst/>
                <a:latin typeface="NEU-HZ-S92" charset="0"/>
                <a:ea typeface="方正书宋_GBK" charset="-122"/>
                <a:cs typeface="Times New Roman" panose="02020603050405020304" pitchFamily="18" charset="0"/>
              </a:rPr>
              <a:t>　</a:t>
            </a:r>
            <a:r>
              <a:rPr kumimoji="0" lang="zh-CN" altLang="en-US" sz="900" b="0" i="0" u="none" strike="noStrike" cap="none" normalizeH="0" baseline="0" smtClean="0">
                <a:ln>
                  <a:noFill/>
                </a:ln>
                <a:solidFill>
                  <a:srgbClr val="000000"/>
                </a:solidFill>
                <a:effectLst/>
                <a:latin typeface="Arial" panose="020B0604020202020204" pitchFamily="34" charset="0"/>
                <a:ea typeface="方正黑体_GBK" charset="-122"/>
                <a:cs typeface="Times New Roman" panose="02020603050405020304" pitchFamily="18" charset="0"/>
              </a:rPr>
              <a:t>“</a:t>
            </a:r>
            <a:r>
              <a:rPr kumimoji="0" lang="zh-CN" altLang="en-US" sz="900" b="0" i="0" u="none" strike="noStrike" cap="none" normalizeH="0" baseline="0" smtClean="0">
                <a:ln>
                  <a:noFill/>
                </a:ln>
                <a:solidFill>
                  <a:srgbClr val="000000"/>
                </a:solidFill>
                <a:effectLst/>
                <a:latin typeface="NEU-BZ" charset="-122"/>
                <a:ea typeface="方正黑体_GBK" charset="-122"/>
                <a:cs typeface="Times New Roman" panose="02020603050405020304" pitchFamily="18" charset="0"/>
              </a:rPr>
              <a:t>分类汇总</a:t>
            </a:r>
            <a:r>
              <a:rPr kumimoji="0" lang="zh-CN" altLang="en-US" sz="900" b="0" i="0" u="none" strike="noStrike" cap="none" normalizeH="0" baseline="0" smtClean="0">
                <a:ln>
                  <a:noFill/>
                </a:ln>
                <a:solidFill>
                  <a:srgbClr val="000000"/>
                </a:solidFill>
                <a:effectLst/>
                <a:latin typeface="Arial" panose="020B0604020202020204" pitchFamily="34" charset="0"/>
                <a:ea typeface="方正黑体_GBK" charset="-122"/>
                <a:cs typeface="Times New Roman" panose="02020603050405020304" pitchFamily="18" charset="0"/>
              </a:rPr>
              <a:t>”</a:t>
            </a:r>
            <a:r>
              <a:rPr kumimoji="0" lang="zh-CN" altLang="en-US" sz="900" b="0" i="0" u="none" strike="noStrike" cap="none" normalizeH="0" baseline="0" smtClean="0">
                <a:ln>
                  <a:noFill/>
                </a:ln>
                <a:solidFill>
                  <a:srgbClr val="000000"/>
                </a:solidFill>
                <a:effectLst/>
                <a:latin typeface="NEU-BZ" charset="-122"/>
                <a:ea typeface="方正黑体_GBK" charset="-122"/>
                <a:cs typeface="Times New Roman" panose="02020603050405020304" pitchFamily="18" charset="0"/>
              </a:rPr>
              <a:t>对话框</a:t>
            </a:r>
            <a:endParaRPr kumimoji="0" lang="zh-CN" altLang="en-US" sz="11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lvl="0" indent="22860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1" name="矩形 10"/>
          <p:cNvSpPr/>
          <p:nvPr/>
        </p:nvSpPr>
        <p:spPr>
          <a:xfrm>
            <a:off x="7202370" y="5786454"/>
            <a:ext cx="2362835" cy="306705"/>
          </a:xfrm>
          <a:prstGeom prst="rect">
            <a:avLst/>
          </a:prstGeom>
        </p:spPr>
        <p:txBody>
          <a:bodyPr wrap="none">
            <a:spAutoFit/>
          </a:bodyPr>
          <a:lstStyle/>
          <a:p>
            <a:r>
              <a:rPr lang="zh-CN" altLang="en-US" sz="1400" dirty="0" smtClean="0"/>
              <a:t>图</a:t>
            </a:r>
            <a:r>
              <a:rPr lang="en-US" sz="1400" dirty="0" smtClean="0"/>
              <a:t>4—33</a:t>
            </a:r>
            <a:r>
              <a:rPr lang="zh-CN" altLang="en-US" sz="1400" dirty="0" smtClean="0"/>
              <a:t>　</a:t>
            </a:r>
            <a:r>
              <a:rPr lang="en-US" sz="1400" dirty="0" smtClean="0"/>
              <a:t>“</a:t>
            </a:r>
            <a:r>
              <a:rPr lang="zh-CN" altLang="en-US" sz="1400" dirty="0" smtClean="0"/>
              <a:t>分类汇总</a:t>
            </a:r>
            <a:r>
              <a:rPr lang="en-US" sz="1400" dirty="0" smtClean="0"/>
              <a:t>”</a:t>
            </a:r>
            <a:r>
              <a:rPr lang="zh-CN" altLang="en-US" sz="1400" dirty="0" smtClean="0"/>
              <a:t>对话框</a:t>
            </a:r>
            <a:endParaRPr lang="zh-CN" alt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76910" y="21367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7" name="矩形 6"/>
          <p:cNvSpPr/>
          <p:nvPr/>
        </p:nvSpPr>
        <p:spPr>
          <a:xfrm>
            <a:off x="4381488" y="6162280"/>
            <a:ext cx="3317240" cy="337185"/>
          </a:xfrm>
          <a:prstGeom prst="rect">
            <a:avLst/>
          </a:prstGeom>
        </p:spPr>
        <p:txBody>
          <a:bodyPr wrap="none">
            <a:spAutoFit/>
          </a:bodyPr>
          <a:lstStyle/>
          <a:p>
            <a:r>
              <a:rPr lang="zh-CN" altLang="en-US" sz="1600" dirty="0" smtClean="0"/>
              <a:t>图</a:t>
            </a:r>
            <a:r>
              <a:rPr lang="en-US" sz="1600" dirty="0" smtClean="0"/>
              <a:t>4—34</a:t>
            </a:r>
            <a:r>
              <a:rPr lang="zh-CN" altLang="en-US" sz="1600" dirty="0" smtClean="0"/>
              <a:t>　学生成绩表分类汇总结果</a:t>
            </a:r>
            <a:endParaRPr lang="zh-CN" altLang="en-US" sz="1600" dirty="0"/>
          </a:p>
        </p:txBody>
      </p:sp>
      <p:pic>
        <p:nvPicPr>
          <p:cNvPr id="9" name="4a34.jpg" descr="id:2147495122;FounderCES"/>
          <p:cNvPicPr/>
          <p:nvPr/>
        </p:nvPicPr>
        <p:blipFill>
          <a:blip r:embed="rId4"/>
          <a:stretch>
            <a:fillRect/>
          </a:stretch>
        </p:blipFill>
        <p:spPr>
          <a:xfrm>
            <a:off x="3024166" y="1357298"/>
            <a:ext cx="5679122" cy="4572032"/>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4.5</a:t>
            </a:r>
            <a:r>
              <a:rPr lang="zh-CN" altLang="en-US" dirty="0" smtClean="0"/>
              <a:t>　</a:t>
            </a:r>
            <a:r>
              <a:rPr lang="en-US" dirty="0" smtClean="0"/>
              <a:t>Excel</a:t>
            </a:r>
            <a:r>
              <a:rPr lang="zh-CN" altLang="en-US" dirty="0" smtClean="0"/>
              <a:t>图表</a:t>
            </a:r>
            <a:endParaRPr lang="en-US" altLang="zh-CN" dirty="0" smtClean="0"/>
          </a:p>
          <a:p>
            <a:pPr>
              <a:lnSpc>
                <a:spcPct val="150000"/>
              </a:lnSpc>
            </a:pPr>
            <a:endParaRPr lang="en-US" altLang="zh-CN" dirty="0" smtClean="0"/>
          </a:p>
          <a:p>
            <a:pPr>
              <a:lnSpc>
                <a:spcPct val="150000"/>
              </a:lnSpc>
            </a:pPr>
            <a:endParaRPr lang="zh-CN" altLang="en-US" dirty="0" smtClean="0"/>
          </a:p>
          <a:p>
            <a:pPr>
              <a:lnSpc>
                <a:spcPct val="150000"/>
              </a:lnSpc>
              <a:buNone/>
            </a:pPr>
            <a:r>
              <a:rPr lang="en-US" sz="2000" dirty="0" smtClean="0"/>
              <a:t>※ </a:t>
            </a:r>
            <a:r>
              <a:rPr lang="zh-CN" altLang="en-US" sz="2000" dirty="0" smtClean="0"/>
              <a:t>了解几种常用图表的用途</a:t>
            </a:r>
            <a:r>
              <a:rPr lang="en-US" sz="2000" dirty="0" smtClean="0"/>
              <a:t>;</a:t>
            </a:r>
            <a:endParaRPr lang="zh-CN" altLang="en-US" sz="2000" dirty="0" smtClean="0"/>
          </a:p>
          <a:p>
            <a:pPr>
              <a:lnSpc>
                <a:spcPct val="150000"/>
              </a:lnSpc>
              <a:buNone/>
            </a:pPr>
            <a:r>
              <a:rPr lang="en-US" sz="2000" dirty="0" smtClean="0"/>
              <a:t>※ </a:t>
            </a:r>
            <a:r>
              <a:rPr lang="zh-CN" altLang="en-US" sz="2000" dirty="0" smtClean="0"/>
              <a:t>学会根据需求选择图表</a:t>
            </a:r>
            <a:r>
              <a:rPr lang="en-US" sz="2000" dirty="0" smtClean="0"/>
              <a:t>,</a:t>
            </a:r>
            <a:r>
              <a:rPr lang="zh-CN" altLang="en-US" sz="2000" dirty="0" smtClean="0"/>
              <a:t>并掌握创建和编辑图表的基本操作。</a:t>
            </a:r>
            <a:endParaRPr lang="zh-CN" altLang="en-US" sz="2000" dirty="0"/>
          </a:p>
        </p:txBody>
      </p:sp>
      <p:sp>
        <p:nvSpPr>
          <p:cNvPr id="2" name="标题 1"/>
          <p:cNvSpPr>
            <a:spLocks noGrp="1"/>
          </p:cNvSpPr>
          <p:nvPr>
            <p:ph type="title"/>
          </p:nvPr>
        </p:nvSpPr>
        <p:spPr>
          <a:xfrm>
            <a:off x="617855" y="2803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学习目标.EPS" descr="id:2147495137;FounderCES"/>
          <p:cNvPicPr/>
          <p:nvPr/>
        </p:nvPicPr>
        <p:blipFill>
          <a:blip r:embed="rId4"/>
          <a:stretch>
            <a:fillRect/>
          </a:stretch>
        </p:blipFill>
        <p:spPr>
          <a:xfrm>
            <a:off x="2095472" y="2428868"/>
            <a:ext cx="2214578" cy="57150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4.5.1</a:t>
            </a:r>
            <a:r>
              <a:rPr lang="zh-CN" altLang="en-US" sz="2000" dirty="0" smtClean="0"/>
              <a:t>　图表类型</a:t>
            </a:r>
            <a:endParaRPr lang="zh-CN" altLang="en-US" sz="2000" dirty="0" smtClean="0"/>
          </a:p>
          <a:p>
            <a:pPr>
              <a:lnSpc>
                <a:spcPct val="150000"/>
              </a:lnSpc>
              <a:buNone/>
            </a:pPr>
            <a:r>
              <a:rPr lang="zh-CN" altLang="en-US" sz="2000" dirty="0" smtClean="0"/>
              <a:t>   条形图、柱状图、折线图和饼图是四种最常用的图表类型。</a:t>
            </a:r>
            <a:endParaRPr lang="zh-CN" altLang="en-US" sz="2000" dirty="0" smtClean="0"/>
          </a:p>
          <a:p>
            <a:pPr>
              <a:lnSpc>
                <a:spcPct val="150000"/>
              </a:lnSpc>
              <a:buNone/>
            </a:pPr>
            <a:r>
              <a:rPr lang="en-US" sz="2000" dirty="0" smtClean="0"/>
              <a:t>1.</a:t>
            </a:r>
            <a:r>
              <a:rPr lang="zh-CN" altLang="en-US" sz="2000" dirty="0" smtClean="0"/>
              <a:t>柱状图</a:t>
            </a:r>
            <a:endParaRPr lang="zh-CN" altLang="en-US" sz="2000" dirty="0" smtClean="0"/>
          </a:p>
          <a:p>
            <a:pPr>
              <a:lnSpc>
                <a:spcPct val="150000"/>
              </a:lnSpc>
              <a:buNone/>
            </a:pPr>
            <a:r>
              <a:rPr lang="zh-CN" altLang="en-US" sz="2000" dirty="0" smtClean="0"/>
              <a:t>    排列在工作表的列或行中的数据可以绘制到柱形图中。</a:t>
            </a:r>
            <a:endParaRPr lang="zh-CN" altLang="en-US" sz="2000" dirty="0" smtClean="0"/>
          </a:p>
          <a:p>
            <a:pPr>
              <a:lnSpc>
                <a:spcPct val="150000"/>
              </a:lnSpc>
              <a:buNone/>
            </a:pPr>
            <a:r>
              <a:rPr lang="en-US" sz="2000" dirty="0" smtClean="0"/>
              <a:t>2.</a:t>
            </a:r>
            <a:r>
              <a:rPr lang="zh-CN" altLang="en-US" sz="2000" dirty="0" smtClean="0"/>
              <a:t>折线图</a:t>
            </a:r>
            <a:endParaRPr lang="zh-CN" altLang="en-US" sz="2000" dirty="0" smtClean="0"/>
          </a:p>
          <a:p>
            <a:pPr>
              <a:lnSpc>
                <a:spcPct val="150000"/>
              </a:lnSpc>
              <a:buNone/>
            </a:pPr>
            <a:r>
              <a:rPr lang="zh-CN" altLang="en-US" sz="2000" dirty="0" smtClean="0"/>
              <a:t>    排列在工作表的列或行中的数据可以绘制到折线图中。</a:t>
            </a:r>
            <a:endParaRPr lang="zh-CN" altLang="en-US" sz="2000" dirty="0" smtClean="0"/>
          </a:p>
          <a:p>
            <a:pPr>
              <a:lnSpc>
                <a:spcPct val="150000"/>
              </a:lnSpc>
              <a:buNone/>
            </a:pPr>
            <a:r>
              <a:rPr lang="en-US" sz="2000" dirty="0" smtClean="0"/>
              <a:t>3.</a:t>
            </a:r>
            <a:r>
              <a:rPr lang="zh-CN" altLang="en-US" sz="2000" dirty="0" smtClean="0"/>
              <a:t>饼图</a:t>
            </a:r>
            <a:endParaRPr lang="zh-CN" altLang="en-US" sz="2000" dirty="0" smtClean="0"/>
          </a:p>
          <a:p>
            <a:pPr>
              <a:lnSpc>
                <a:spcPct val="150000"/>
              </a:lnSpc>
              <a:buNone/>
            </a:pPr>
            <a:r>
              <a:rPr lang="zh-CN" altLang="en-US" sz="2000" dirty="0" smtClean="0"/>
              <a:t>    仅排列在工作表的一列或一行中的数据可以绘制到饼图中。</a:t>
            </a:r>
            <a:endParaRPr lang="zh-CN" altLang="en-US" sz="2000" dirty="0" smtClean="0"/>
          </a:p>
        </p:txBody>
      </p:sp>
      <p:sp>
        <p:nvSpPr>
          <p:cNvPr id="2" name="标题 1"/>
          <p:cNvSpPr>
            <a:spLocks noGrp="1"/>
          </p:cNvSpPr>
          <p:nvPr>
            <p:ph type="title"/>
          </p:nvPr>
        </p:nvSpPr>
        <p:spPr>
          <a:xfrm>
            <a:off x="474345" y="3508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4.</a:t>
            </a:r>
            <a:r>
              <a:rPr lang="zh-CN" altLang="en-US" sz="2000" dirty="0" smtClean="0"/>
              <a:t>条形图</a:t>
            </a:r>
            <a:endParaRPr lang="zh-CN" altLang="en-US" sz="2000" dirty="0" smtClean="0"/>
          </a:p>
          <a:p>
            <a:pPr>
              <a:lnSpc>
                <a:spcPct val="150000"/>
              </a:lnSpc>
              <a:buNone/>
            </a:pPr>
            <a:r>
              <a:rPr lang="zh-CN" altLang="en-US" sz="2000" dirty="0" smtClean="0"/>
              <a:t>    排列在工作表的列或行中的数据可以绘制到条形图中。</a:t>
            </a:r>
            <a:endParaRPr lang="zh-CN" altLang="en-US" sz="2000" dirty="0" smtClean="0"/>
          </a:p>
          <a:p>
            <a:pPr>
              <a:lnSpc>
                <a:spcPct val="150000"/>
              </a:lnSpc>
              <a:buNone/>
            </a:pPr>
            <a:r>
              <a:rPr lang="en-US" sz="2000" dirty="0" smtClean="0"/>
              <a:t>5.</a:t>
            </a:r>
            <a:r>
              <a:rPr lang="zh-CN" altLang="en-US" sz="2000" dirty="0" smtClean="0"/>
              <a:t>面积图</a:t>
            </a:r>
            <a:endParaRPr lang="zh-CN" altLang="en-US" sz="2000" dirty="0" smtClean="0"/>
          </a:p>
          <a:p>
            <a:pPr>
              <a:lnSpc>
                <a:spcPct val="150000"/>
              </a:lnSpc>
              <a:buNone/>
            </a:pPr>
            <a:r>
              <a:rPr lang="zh-CN" altLang="en-US" sz="2000" dirty="0" smtClean="0"/>
              <a:t>    排列在工作表的列或行中的数据可以绘制到面积图中。</a:t>
            </a:r>
            <a:endParaRPr lang="zh-CN" altLang="en-US" sz="2000" dirty="0" smtClean="0"/>
          </a:p>
          <a:p>
            <a:pPr>
              <a:lnSpc>
                <a:spcPct val="150000"/>
              </a:lnSpc>
              <a:buNone/>
            </a:pPr>
            <a:r>
              <a:rPr lang="en-US" sz="2000" dirty="0" smtClean="0"/>
              <a:t>6.</a:t>
            </a:r>
            <a:r>
              <a:rPr lang="zh-CN" altLang="en-US" sz="2000" dirty="0" smtClean="0"/>
              <a:t>散点图</a:t>
            </a:r>
            <a:endParaRPr lang="zh-CN" altLang="en-US" sz="2000" dirty="0" smtClean="0"/>
          </a:p>
          <a:p>
            <a:pPr>
              <a:lnSpc>
                <a:spcPct val="150000"/>
              </a:lnSpc>
              <a:buNone/>
            </a:pPr>
            <a:r>
              <a:rPr lang="zh-CN" altLang="en-US" sz="2000" dirty="0" smtClean="0"/>
              <a:t>    排列在工作表的列或行中的数据可以绘制到 </a:t>
            </a:r>
            <a:r>
              <a:rPr lang="en-US" sz="2000" dirty="0" smtClean="0"/>
              <a:t>XY </a:t>
            </a:r>
            <a:r>
              <a:rPr lang="zh-CN" altLang="en-US" sz="2000" dirty="0" smtClean="0"/>
              <a:t>散点图中。</a:t>
            </a:r>
            <a:endParaRPr lang="zh-CN" altLang="en-US" sz="2000" dirty="0" smtClean="0"/>
          </a:p>
          <a:p>
            <a:pPr>
              <a:lnSpc>
                <a:spcPct val="150000"/>
              </a:lnSpc>
              <a:buNone/>
            </a:pPr>
            <a:r>
              <a:rPr lang="en-US" sz="2000" dirty="0" smtClean="0"/>
              <a:t>7.</a:t>
            </a:r>
            <a:r>
              <a:rPr lang="zh-CN" altLang="en-US" sz="2000" dirty="0" smtClean="0"/>
              <a:t>股价图</a:t>
            </a:r>
            <a:endParaRPr lang="zh-CN" altLang="en-US" sz="2000" dirty="0" smtClean="0"/>
          </a:p>
          <a:p>
            <a:pPr>
              <a:lnSpc>
                <a:spcPct val="150000"/>
              </a:lnSpc>
              <a:buNone/>
            </a:pPr>
            <a:r>
              <a:rPr lang="zh-CN" altLang="en-US" sz="2000" dirty="0" smtClean="0"/>
              <a:t>    以特定顺序排列在工作表的列或行中的数据可以绘制到股价图中。</a:t>
            </a:r>
            <a:endParaRPr lang="zh-CN" altLang="en-US" sz="2000" dirty="0" smtClean="0"/>
          </a:p>
        </p:txBody>
      </p:sp>
      <p:sp>
        <p:nvSpPr>
          <p:cNvPr id="2" name="标题 1"/>
          <p:cNvSpPr>
            <a:spLocks noGrp="1"/>
          </p:cNvSpPr>
          <p:nvPr>
            <p:ph type="title"/>
          </p:nvPr>
        </p:nvSpPr>
        <p:spPr>
          <a:xfrm>
            <a:off x="575945" y="29622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8.</a:t>
            </a:r>
            <a:r>
              <a:rPr lang="zh-CN" altLang="en-US" sz="2000" dirty="0" smtClean="0"/>
              <a:t>曲面图</a:t>
            </a:r>
            <a:endParaRPr lang="zh-CN" altLang="en-US" sz="2000" dirty="0" smtClean="0"/>
          </a:p>
          <a:p>
            <a:pPr>
              <a:lnSpc>
                <a:spcPct val="150000"/>
              </a:lnSpc>
              <a:buNone/>
            </a:pPr>
            <a:r>
              <a:rPr lang="zh-CN" altLang="en-US" sz="2000" dirty="0" smtClean="0"/>
              <a:t>      排列在工作表的列或行中的数据可以绘制到曲面图中。</a:t>
            </a:r>
            <a:endParaRPr lang="zh-CN" altLang="en-US" sz="2000" dirty="0" smtClean="0"/>
          </a:p>
          <a:p>
            <a:pPr>
              <a:lnSpc>
                <a:spcPct val="150000"/>
              </a:lnSpc>
              <a:buNone/>
            </a:pPr>
            <a:r>
              <a:rPr lang="en-US" sz="2000" dirty="0" smtClean="0"/>
              <a:t>9.</a:t>
            </a:r>
            <a:r>
              <a:rPr lang="zh-CN" altLang="en-US" sz="2000" dirty="0" smtClean="0"/>
              <a:t>圆环图</a:t>
            </a:r>
            <a:endParaRPr lang="zh-CN" altLang="en-US" sz="2000" dirty="0" smtClean="0"/>
          </a:p>
          <a:p>
            <a:pPr>
              <a:lnSpc>
                <a:spcPct val="150000"/>
              </a:lnSpc>
              <a:buNone/>
            </a:pPr>
            <a:r>
              <a:rPr lang="zh-CN" altLang="en-US" sz="2000" dirty="0" smtClean="0"/>
              <a:t>      仅排列在工作表的列或行中的数据可以绘制到圆环图中。</a:t>
            </a:r>
            <a:endParaRPr lang="zh-CN" altLang="en-US" sz="2000" dirty="0" smtClean="0"/>
          </a:p>
          <a:p>
            <a:pPr>
              <a:lnSpc>
                <a:spcPct val="150000"/>
              </a:lnSpc>
              <a:buNone/>
            </a:pPr>
            <a:r>
              <a:rPr lang="en-US" sz="2000" dirty="0" smtClean="0"/>
              <a:t>10.</a:t>
            </a:r>
            <a:r>
              <a:rPr lang="zh-CN" altLang="en-US" sz="2000" dirty="0" smtClean="0"/>
              <a:t>气泡图</a:t>
            </a:r>
            <a:endParaRPr lang="zh-CN" altLang="en-US" sz="2000" dirty="0" smtClean="0"/>
          </a:p>
          <a:p>
            <a:pPr>
              <a:lnSpc>
                <a:spcPct val="150000"/>
              </a:lnSpc>
              <a:buNone/>
            </a:pPr>
            <a:r>
              <a:rPr lang="zh-CN" altLang="en-US" sz="2000" dirty="0" smtClean="0"/>
              <a:t>      排列在工作表的列中的数据</a:t>
            </a:r>
            <a:r>
              <a:rPr lang="en-US" sz="2000" dirty="0" smtClean="0"/>
              <a:t>(</a:t>
            </a:r>
            <a:r>
              <a:rPr lang="zh-CN" altLang="en-US" sz="2000" dirty="0" smtClean="0"/>
              <a:t>第一列中列出</a:t>
            </a:r>
            <a:r>
              <a:rPr lang="en-US" sz="2000" dirty="0" smtClean="0"/>
              <a:t>x</a:t>
            </a:r>
            <a:r>
              <a:rPr lang="zh-CN" altLang="en-US" sz="2000" dirty="0" smtClean="0"/>
              <a:t>值</a:t>
            </a:r>
            <a:r>
              <a:rPr lang="en-US" sz="2000" dirty="0" smtClean="0"/>
              <a:t>,</a:t>
            </a:r>
            <a:r>
              <a:rPr lang="zh-CN" altLang="en-US" sz="2000" dirty="0" smtClean="0"/>
              <a:t>在相邻列中列出相应的 </a:t>
            </a:r>
            <a:r>
              <a:rPr lang="en-US" sz="2000" dirty="0" smtClean="0"/>
              <a:t>y </a:t>
            </a:r>
            <a:r>
              <a:rPr lang="zh-CN" altLang="en-US" sz="2000" dirty="0" smtClean="0"/>
              <a:t>值和气泡大小的值</a:t>
            </a:r>
            <a:r>
              <a:rPr lang="en-US" sz="2000" dirty="0" smtClean="0"/>
              <a:t>)</a:t>
            </a:r>
            <a:r>
              <a:rPr lang="zh-CN" altLang="en-US" sz="2000" dirty="0" smtClean="0"/>
              <a:t>可以绘制在气泡图中。</a:t>
            </a:r>
            <a:endParaRPr lang="zh-CN" altLang="en-US" sz="2000" dirty="0" smtClean="0"/>
          </a:p>
          <a:p>
            <a:pPr>
              <a:lnSpc>
                <a:spcPct val="150000"/>
              </a:lnSpc>
              <a:buNone/>
            </a:pPr>
            <a:r>
              <a:rPr lang="en-US" sz="2000" dirty="0" smtClean="0"/>
              <a:t>11.</a:t>
            </a:r>
            <a:r>
              <a:rPr lang="zh-CN" altLang="en-US" sz="2000" dirty="0" smtClean="0"/>
              <a:t>雷达图</a:t>
            </a:r>
            <a:endParaRPr lang="zh-CN" altLang="en-US" sz="2000" dirty="0" smtClean="0"/>
          </a:p>
          <a:p>
            <a:pPr>
              <a:lnSpc>
                <a:spcPct val="150000"/>
              </a:lnSpc>
              <a:buNone/>
            </a:pPr>
            <a:r>
              <a:rPr lang="zh-CN" altLang="en-US" sz="2000" dirty="0" smtClean="0"/>
              <a:t>      排列在工作表的列或行中的数据可以绘制到雷达图中。</a:t>
            </a:r>
            <a:endParaRPr lang="zh-CN" altLang="en-US" sz="2000" dirty="0"/>
          </a:p>
        </p:txBody>
      </p:sp>
      <p:sp>
        <p:nvSpPr>
          <p:cNvPr id="2" name="标题 1"/>
          <p:cNvSpPr>
            <a:spLocks noGrp="1"/>
          </p:cNvSpPr>
          <p:nvPr>
            <p:ph type="title"/>
          </p:nvPr>
        </p:nvSpPr>
        <p:spPr>
          <a:xfrm>
            <a:off x="457200" y="3000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4.5.2</a:t>
            </a:r>
            <a:r>
              <a:rPr lang="zh-CN" altLang="en-US" sz="2000" dirty="0" smtClean="0"/>
              <a:t>　图表的创建与编辑</a:t>
            </a:r>
            <a:endParaRPr lang="zh-CN" altLang="en-US" sz="2000" dirty="0" smtClean="0"/>
          </a:p>
          <a:p>
            <a:pPr>
              <a:lnSpc>
                <a:spcPct val="150000"/>
              </a:lnSpc>
              <a:buNone/>
            </a:pPr>
            <a:r>
              <a:rPr lang="en-US" sz="2000" dirty="0" smtClean="0"/>
              <a:t>                   [</a:t>
            </a:r>
            <a:r>
              <a:rPr lang="zh-CN" altLang="en-US" sz="2000" dirty="0" smtClean="0"/>
              <a:t>操作</a:t>
            </a:r>
            <a:r>
              <a:rPr lang="en-US" sz="2000" dirty="0" smtClean="0"/>
              <a:t>—</a:t>
            </a:r>
            <a:r>
              <a:rPr lang="zh-CN" altLang="en-US" sz="2000" dirty="0" smtClean="0"/>
              <a:t>创建柱形图</a:t>
            </a:r>
            <a:r>
              <a:rPr lang="en-US" sz="2000" dirty="0" smtClean="0"/>
              <a:t>]</a:t>
            </a:r>
            <a:endParaRPr lang="zh-CN" altLang="en-US" sz="2000" dirty="0"/>
          </a:p>
        </p:txBody>
      </p:sp>
      <p:sp>
        <p:nvSpPr>
          <p:cNvPr id="2" name="标题 1"/>
          <p:cNvSpPr>
            <a:spLocks noGrp="1"/>
          </p:cNvSpPr>
          <p:nvPr>
            <p:ph type="title"/>
          </p:nvPr>
        </p:nvSpPr>
        <p:spPr>
          <a:xfrm>
            <a:off x="440690" y="28098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4a35.jpg" descr="id:2147495248;FounderCES"/>
          <p:cNvPicPr/>
          <p:nvPr/>
        </p:nvPicPr>
        <p:blipFill>
          <a:blip r:embed="rId4"/>
          <a:stretch>
            <a:fillRect/>
          </a:stretch>
        </p:blipFill>
        <p:spPr>
          <a:xfrm>
            <a:off x="2095472" y="3214686"/>
            <a:ext cx="3786214" cy="1500198"/>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7" name="矩形 6"/>
          <p:cNvSpPr/>
          <p:nvPr/>
        </p:nvSpPr>
        <p:spPr>
          <a:xfrm>
            <a:off x="2828204" y="5162148"/>
            <a:ext cx="2301240" cy="337185"/>
          </a:xfrm>
          <a:prstGeom prst="rect">
            <a:avLst/>
          </a:prstGeom>
        </p:spPr>
        <p:txBody>
          <a:bodyPr wrap="none">
            <a:spAutoFit/>
          </a:bodyPr>
          <a:lstStyle/>
          <a:p>
            <a:r>
              <a:rPr lang="zh-CN" altLang="en-US" sz="1600" dirty="0" smtClean="0"/>
              <a:t>图</a:t>
            </a:r>
            <a:r>
              <a:rPr lang="en-US" sz="1600" dirty="0" smtClean="0"/>
              <a:t>4—35</a:t>
            </a:r>
            <a:r>
              <a:rPr lang="zh-CN" altLang="en-US" sz="1600" dirty="0" smtClean="0"/>
              <a:t>　销售数量报表</a:t>
            </a:r>
            <a:endParaRPr lang="zh-CN" altLang="en-US" sz="1600" dirty="0"/>
          </a:p>
        </p:txBody>
      </p:sp>
      <p:pic>
        <p:nvPicPr>
          <p:cNvPr id="8" name="4a36.jpg" descr="id:2147495255;FounderCES"/>
          <p:cNvPicPr/>
          <p:nvPr/>
        </p:nvPicPr>
        <p:blipFill>
          <a:blip r:embed="rId5" cstate="print"/>
          <a:stretch>
            <a:fillRect/>
          </a:stretch>
        </p:blipFill>
        <p:spPr>
          <a:xfrm>
            <a:off x="7739074" y="2143116"/>
            <a:ext cx="1662480" cy="3634200"/>
          </a:xfrm>
          <a:prstGeom prst="rect">
            <a:avLst/>
          </a:prstGeom>
        </p:spPr>
      </p:pic>
      <p:sp>
        <p:nvSpPr>
          <p:cNvPr id="10" name="矩形 9"/>
          <p:cNvSpPr/>
          <p:nvPr/>
        </p:nvSpPr>
        <p:spPr>
          <a:xfrm>
            <a:off x="7667636" y="6000768"/>
            <a:ext cx="2098040" cy="337185"/>
          </a:xfrm>
          <a:prstGeom prst="rect">
            <a:avLst/>
          </a:prstGeom>
        </p:spPr>
        <p:txBody>
          <a:bodyPr wrap="none">
            <a:spAutoFit/>
          </a:bodyPr>
          <a:lstStyle/>
          <a:p>
            <a:r>
              <a:rPr lang="zh-CN" altLang="en-US" sz="1600" dirty="0" smtClean="0"/>
              <a:t>图</a:t>
            </a:r>
            <a:r>
              <a:rPr lang="en-US" sz="1600" dirty="0" smtClean="0"/>
              <a:t>4—36</a:t>
            </a:r>
            <a:r>
              <a:rPr lang="zh-CN" altLang="en-US" sz="1600" dirty="0" smtClean="0"/>
              <a:t>　插入柱形图</a:t>
            </a:r>
            <a:endParaRPr lang="zh-CN" alt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0231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7" name="矩形 6"/>
          <p:cNvSpPr/>
          <p:nvPr/>
        </p:nvSpPr>
        <p:spPr>
          <a:xfrm>
            <a:off x="2150343" y="5162148"/>
            <a:ext cx="2877820" cy="337185"/>
          </a:xfrm>
          <a:prstGeom prst="rect">
            <a:avLst/>
          </a:prstGeom>
        </p:spPr>
        <p:txBody>
          <a:bodyPr wrap="none">
            <a:spAutoFit/>
          </a:bodyPr>
          <a:lstStyle/>
          <a:p>
            <a:r>
              <a:rPr lang="zh-CN" altLang="en-US" sz="1600" dirty="0" smtClean="0"/>
              <a:t>图</a:t>
            </a:r>
            <a:r>
              <a:rPr lang="en-US" sz="1600" dirty="0" smtClean="0"/>
              <a:t>4—37</a:t>
            </a:r>
            <a:r>
              <a:rPr lang="zh-CN" altLang="en-US" sz="1600" dirty="0" smtClean="0"/>
              <a:t>　</a:t>
            </a:r>
            <a:r>
              <a:rPr lang="en-US" sz="1600" dirty="0" smtClean="0"/>
              <a:t>“</a:t>
            </a:r>
            <a:r>
              <a:rPr lang="zh-CN" altLang="en-US" sz="1600" dirty="0" smtClean="0"/>
              <a:t>选择数据源</a:t>
            </a:r>
            <a:r>
              <a:rPr lang="en-US" sz="1600" dirty="0" smtClean="0"/>
              <a:t>”</a:t>
            </a:r>
            <a:r>
              <a:rPr lang="zh-CN" altLang="en-US" sz="1600" dirty="0" smtClean="0"/>
              <a:t>对话框</a:t>
            </a:r>
            <a:endParaRPr lang="zh-CN" altLang="en-US" sz="1600" dirty="0"/>
          </a:p>
        </p:txBody>
      </p:sp>
      <p:pic>
        <p:nvPicPr>
          <p:cNvPr id="12" name="4a37.jpg" descr="id:2147495262;FounderCES"/>
          <p:cNvPicPr/>
          <p:nvPr/>
        </p:nvPicPr>
        <p:blipFill>
          <a:blip r:embed="rId4"/>
          <a:stretch>
            <a:fillRect/>
          </a:stretch>
        </p:blipFill>
        <p:spPr>
          <a:xfrm>
            <a:off x="1809720" y="2214554"/>
            <a:ext cx="4000528" cy="2348464"/>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13" name="4a38.jpg" descr="id:2147495269;FounderCES"/>
          <p:cNvPicPr/>
          <p:nvPr/>
        </p:nvPicPr>
        <p:blipFill>
          <a:blip r:embed="rId5" cstate="print"/>
          <a:stretch>
            <a:fillRect/>
          </a:stretch>
        </p:blipFill>
        <p:spPr>
          <a:xfrm>
            <a:off x="6096000" y="2143116"/>
            <a:ext cx="4143404" cy="2500330"/>
          </a:xfrm>
          <a:prstGeom prst="rect">
            <a:avLst/>
          </a:prstGeom>
        </p:spPr>
      </p:pic>
      <p:sp>
        <p:nvSpPr>
          <p:cNvPr id="14" name="矩形 13"/>
          <p:cNvSpPr/>
          <p:nvPr/>
        </p:nvSpPr>
        <p:spPr>
          <a:xfrm>
            <a:off x="7114484" y="5131370"/>
            <a:ext cx="2301240" cy="337185"/>
          </a:xfrm>
          <a:prstGeom prst="rect">
            <a:avLst/>
          </a:prstGeom>
        </p:spPr>
        <p:txBody>
          <a:bodyPr wrap="none">
            <a:spAutoFit/>
          </a:bodyPr>
          <a:lstStyle/>
          <a:p>
            <a:r>
              <a:rPr lang="zh-CN" altLang="en-US" sz="1600" dirty="0" smtClean="0"/>
              <a:t>图</a:t>
            </a:r>
            <a:r>
              <a:rPr lang="en-US" sz="1600" dirty="0" smtClean="0"/>
              <a:t>4—38</a:t>
            </a:r>
            <a:r>
              <a:rPr lang="zh-CN" altLang="en-US" sz="1600" dirty="0" smtClean="0"/>
              <a:t>　插入后的图表</a:t>
            </a:r>
            <a:endParaRPr lang="zh-CN" alt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080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7" name="矩形 6"/>
          <p:cNvSpPr/>
          <p:nvPr/>
        </p:nvSpPr>
        <p:spPr>
          <a:xfrm>
            <a:off x="2542452" y="5805090"/>
            <a:ext cx="2301240" cy="337185"/>
          </a:xfrm>
          <a:prstGeom prst="rect">
            <a:avLst/>
          </a:prstGeom>
        </p:spPr>
        <p:txBody>
          <a:bodyPr wrap="none">
            <a:spAutoFit/>
          </a:bodyPr>
          <a:lstStyle/>
          <a:p>
            <a:r>
              <a:rPr lang="zh-CN" altLang="en-US" sz="1600" dirty="0" smtClean="0"/>
              <a:t>图</a:t>
            </a:r>
            <a:r>
              <a:rPr lang="en-US" sz="1600" dirty="0" smtClean="0"/>
              <a:t>4—39</a:t>
            </a:r>
            <a:r>
              <a:rPr lang="zh-CN" altLang="en-US" sz="1600" dirty="0" smtClean="0"/>
              <a:t>　插入图表标题</a:t>
            </a:r>
            <a:endParaRPr lang="zh-CN" altLang="en-US" sz="1600" dirty="0"/>
          </a:p>
        </p:txBody>
      </p:sp>
      <p:sp>
        <p:nvSpPr>
          <p:cNvPr id="14" name="矩形 13"/>
          <p:cNvSpPr/>
          <p:nvPr/>
        </p:nvSpPr>
        <p:spPr>
          <a:xfrm>
            <a:off x="7114484" y="5131370"/>
            <a:ext cx="2301240" cy="337185"/>
          </a:xfrm>
          <a:prstGeom prst="rect">
            <a:avLst/>
          </a:prstGeom>
        </p:spPr>
        <p:txBody>
          <a:bodyPr wrap="none">
            <a:spAutoFit/>
          </a:bodyPr>
          <a:lstStyle/>
          <a:p>
            <a:r>
              <a:rPr lang="zh-CN" altLang="en-US" sz="1600" dirty="0" smtClean="0"/>
              <a:t>图</a:t>
            </a:r>
            <a:r>
              <a:rPr lang="en-US" sz="1600" dirty="0" smtClean="0"/>
              <a:t>4—40</a:t>
            </a:r>
            <a:r>
              <a:rPr lang="zh-CN" altLang="en-US" sz="1600" dirty="0" smtClean="0"/>
              <a:t>　编辑后的图表</a:t>
            </a:r>
            <a:endParaRPr lang="zh-CN" altLang="en-US" sz="1600" dirty="0"/>
          </a:p>
        </p:txBody>
      </p:sp>
      <p:pic>
        <p:nvPicPr>
          <p:cNvPr id="9" name="4a39.jpg" descr="id:2147495276;FounderCES"/>
          <p:cNvPicPr/>
          <p:nvPr/>
        </p:nvPicPr>
        <p:blipFill>
          <a:blip r:embed="rId4" cstate="print"/>
          <a:stretch>
            <a:fillRect/>
          </a:stretch>
        </p:blipFill>
        <p:spPr>
          <a:xfrm>
            <a:off x="2166910" y="1714488"/>
            <a:ext cx="3071834" cy="3143272"/>
          </a:xfrm>
          <a:prstGeom prst="rect">
            <a:avLst/>
          </a:prstGeom>
          <a:ln w="88900" cap="sq" cmpd="thickThin">
            <a:solidFill>
              <a:srgbClr val="000000"/>
            </a:solidFill>
            <a:prstDash val="solid"/>
            <a:miter lim="800000"/>
            <a:headEnd/>
            <a:tailEnd/>
          </a:ln>
          <a:effectLst>
            <a:innerShdw blurRad="76200">
              <a:srgbClr val="000000"/>
            </a:innerShdw>
          </a:effectLst>
        </p:spPr>
      </p:pic>
      <p:pic>
        <p:nvPicPr>
          <p:cNvPr id="10" name="4a40.jpg" descr="id:2147495283;FounderCES"/>
          <p:cNvPicPr/>
          <p:nvPr/>
        </p:nvPicPr>
        <p:blipFill>
          <a:blip r:embed="rId5"/>
          <a:stretch>
            <a:fillRect/>
          </a:stretch>
        </p:blipFill>
        <p:spPr>
          <a:xfrm>
            <a:off x="5994302" y="2143116"/>
            <a:ext cx="4102226" cy="2566870"/>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zh-CN" altLang="en-US" dirty="0" smtClean="0"/>
              <a:t>习　题</a:t>
            </a:r>
            <a:endParaRPr lang="zh-CN" altLang="en-US" dirty="0" smtClean="0"/>
          </a:p>
          <a:p>
            <a:pPr>
              <a:lnSpc>
                <a:spcPct val="150000"/>
              </a:lnSpc>
              <a:buFont typeface="Wingdings" panose="05000000000000000000" pitchFamily="2" charset="2"/>
              <a:buChar char="Ø"/>
            </a:pPr>
            <a:r>
              <a:rPr lang="zh-CN" altLang="en-US" sz="2000" dirty="0" smtClean="0"/>
              <a:t>一、简答题</a:t>
            </a:r>
            <a:endParaRPr lang="zh-CN" altLang="en-US" sz="2000" dirty="0" smtClean="0"/>
          </a:p>
          <a:p>
            <a:pPr>
              <a:lnSpc>
                <a:spcPct val="150000"/>
              </a:lnSpc>
              <a:buNone/>
            </a:pPr>
            <a:r>
              <a:rPr lang="en-US" sz="2000" dirty="0" smtClean="0"/>
              <a:t>1.</a:t>
            </a:r>
            <a:r>
              <a:rPr lang="zh-CN" altLang="en-US" sz="2000" dirty="0" smtClean="0"/>
              <a:t>简述工作簿、工作表、单元格的关系。</a:t>
            </a:r>
            <a:endParaRPr lang="zh-CN" altLang="en-US" sz="2000" dirty="0" smtClean="0"/>
          </a:p>
          <a:p>
            <a:pPr>
              <a:lnSpc>
                <a:spcPct val="150000"/>
              </a:lnSpc>
              <a:buNone/>
            </a:pPr>
            <a:r>
              <a:rPr lang="en-US" sz="2000" dirty="0" smtClean="0"/>
              <a:t>2.</a:t>
            </a:r>
            <a:r>
              <a:rPr lang="zh-CN" altLang="en-US" sz="2000" dirty="0" smtClean="0"/>
              <a:t>简述相对引用、绝对引用、混合引用的关系和区别。将第</a:t>
            </a:r>
            <a:r>
              <a:rPr lang="en-US" sz="2000" dirty="0" smtClean="0"/>
              <a:t>C</a:t>
            </a:r>
            <a:r>
              <a:rPr lang="zh-CN" altLang="en-US" sz="2000" dirty="0" smtClean="0"/>
              <a:t>列和第</a:t>
            </a:r>
            <a:r>
              <a:rPr lang="en-US" sz="2000" dirty="0" smtClean="0"/>
              <a:t>8</a:t>
            </a:r>
            <a:r>
              <a:rPr lang="zh-CN" altLang="en-US" sz="2000" dirty="0" smtClean="0"/>
              <a:t>行交叉的单元格分别用这三种引用表示。</a:t>
            </a:r>
            <a:endParaRPr lang="zh-CN" altLang="en-US" sz="2000" dirty="0" smtClean="0"/>
          </a:p>
          <a:p>
            <a:pPr>
              <a:lnSpc>
                <a:spcPct val="150000"/>
              </a:lnSpc>
              <a:buNone/>
            </a:pPr>
            <a:r>
              <a:rPr lang="en-US" sz="2000" dirty="0" smtClean="0"/>
              <a:t>3.</a:t>
            </a:r>
            <a:r>
              <a:rPr lang="zh-CN" altLang="en-US" sz="2000" dirty="0" smtClean="0"/>
              <a:t>什么情况下适合选择饼图</a:t>
            </a:r>
            <a:r>
              <a:rPr lang="en-US" sz="2000" dirty="0" smtClean="0"/>
              <a:t>?</a:t>
            </a:r>
            <a:endParaRPr lang="zh-CN" altLang="en-US" sz="2000" dirty="0" smtClean="0"/>
          </a:p>
          <a:p>
            <a:pPr>
              <a:lnSpc>
                <a:spcPct val="150000"/>
              </a:lnSpc>
              <a:buNone/>
            </a:pPr>
            <a:r>
              <a:rPr lang="en-US" sz="2000" dirty="0" smtClean="0"/>
              <a:t>4.</a:t>
            </a:r>
            <a:r>
              <a:rPr lang="zh-CN" altLang="en-US" sz="2000" dirty="0" smtClean="0"/>
              <a:t>分类汇总形成的汇总表一共有几层</a:t>
            </a:r>
            <a:r>
              <a:rPr lang="en-US" sz="2000" dirty="0" smtClean="0"/>
              <a:t>?</a:t>
            </a:r>
            <a:r>
              <a:rPr lang="zh-CN" altLang="en-US" sz="2000" dirty="0" smtClean="0"/>
              <a:t>每层之间有什么关系</a:t>
            </a:r>
            <a:r>
              <a:rPr lang="en-US" sz="2000" dirty="0" smtClean="0"/>
              <a:t>?</a:t>
            </a:r>
            <a:endParaRPr lang="zh-CN" altLang="en-US" sz="2000" dirty="0"/>
          </a:p>
        </p:txBody>
      </p:sp>
      <p:sp>
        <p:nvSpPr>
          <p:cNvPr id="2" name="标题 1"/>
          <p:cNvSpPr>
            <a:spLocks noGrp="1"/>
          </p:cNvSpPr>
          <p:nvPr>
            <p:ph type="title"/>
          </p:nvPr>
        </p:nvSpPr>
        <p:spPr>
          <a:xfrm>
            <a:off x="313055"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zh-CN" altLang="en-US" sz="2000" dirty="0" smtClean="0"/>
              <a:t>二、操作题</a:t>
            </a:r>
            <a:endParaRPr lang="zh-CN" altLang="en-US" sz="2000" dirty="0" smtClean="0"/>
          </a:p>
          <a:p>
            <a:pPr>
              <a:lnSpc>
                <a:spcPct val="150000"/>
              </a:lnSpc>
              <a:buNone/>
            </a:pPr>
            <a:r>
              <a:rPr lang="en-US" sz="2000" dirty="0" smtClean="0"/>
              <a:t>1.</a:t>
            </a:r>
            <a:r>
              <a:rPr lang="zh-CN" altLang="en-US" sz="2000" dirty="0" smtClean="0"/>
              <a:t>创建一个如图</a:t>
            </a:r>
            <a:r>
              <a:rPr lang="en-US" sz="2000" dirty="0" smtClean="0"/>
              <a:t>4—41</a:t>
            </a:r>
            <a:r>
              <a:rPr lang="zh-CN" altLang="en-US" sz="2000" dirty="0" smtClean="0"/>
              <a:t>所示的职工工资表</a:t>
            </a:r>
            <a:r>
              <a:rPr lang="en-US" sz="2000" dirty="0" smtClean="0"/>
              <a:t>,</a:t>
            </a:r>
            <a:r>
              <a:rPr lang="zh-CN" altLang="en-US" sz="2000" dirty="0" smtClean="0"/>
              <a:t>然后用求和函数计算出</a:t>
            </a:r>
            <a:r>
              <a:rPr lang="en-US" sz="2000" dirty="0" smtClean="0"/>
              <a:t>“</a:t>
            </a:r>
            <a:r>
              <a:rPr lang="zh-CN" altLang="en-US" sz="2000" dirty="0" smtClean="0"/>
              <a:t>基本工资</a:t>
            </a:r>
            <a:r>
              <a:rPr lang="en-US" sz="2000" dirty="0" smtClean="0"/>
              <a:t>”</a:t>
            </a:r>
            <a:r>
              <a:rPr lang="zh-CN" altLang="en-US" sz="2000" dirty="0" smtClean="0"/>
              <a:t>、</a:t>
            </a:r>
            <a:r>
              <a:rPr lang="en-US" sz="2000" dirty="0" smtClean="0"/>
              <a:t>“</a:t>
            </a:r>
            <a:r>
              <a:rPr lang="zh-CN" altLang="en-US" sz="2000" dirty="0" smtClean="0"/>
              <a:t>岗位津贴</a:t>
            </a:r>
            <a:r>
              <a:rPr lang="en-US" sz="2000" dirty="0" smtClean="0"/>
              <a:t>”</a:t>
            </a:r>
            <a:r>
              <a:rPr lang="zh-CN" altLang="en-US" sz="2000" dirty="0" smtClean="0"/>
              <a:t>、</a:t>
            </a:r>
            <a:r>
              <a:rPr lang="en-US" sz="2000" dirty="0" smtClean="0"/>
              <a:t>“</a:t>
            </a:r>
            <a:r>
              <a:rPr lang="zh-CN" altLang="en-US" sz="2000" dirty="0" smtClean="0"/>
              <a:t>业绩奖金</a:t>
            </a:r>
            <a:r>
              <a:rPr lang="en-US" sz="2000" dirty="0" smtClean="0"/>
              <a:t>”</a:t>
            </a:r>
            <a:r>
              <a:rPr lang="zh-CN" altLang="en-US" sz="2000" dirty="0" smtClean="0"/>
              <a:t>的合计结果</a:t>
            </a:r>
            <a:r>
              <a:rPr lang="en-US" sz="2000" dirty="0" smtClean="0"/>
              <a:t>,</a:t>
            </a:r>
            <a:r>
              <a:rPr lang="zh-CN" altLang="en-US" sz="2000" dirty="0" smtClean="0"/>
              <a:t>显示在</a:t>
            </a:r>
            <a:r>
              <a:rPr lang="en-US" sz="2000" dirty="0" smtClean="0"/>
              <a:t>F</a:t>
            </a:r>
            <a:r>
              <a:rPr lang="zh-CN" altLang="en-US" sz="2000" dirty="0" smtClean="0"/>
              <a:t>列中。</a:t>
            </a:r>
            <a:endParaRPr lang="zh-CN" altLang="en-US" sz="2000" dirty="0" smtClean="0"/>
          </a:p>
          <a:p>
            <a:pPr>
              <a:lnSpc>
                <a:spcPct val="150000"/>
              </a:lnSpc>
              <a:buNone/>
            </a:pPr>
            <a:r>
              <a:rPr lang="en-US" sz="2000" dirty="0" smtClean="0"/>
              <a:t>2.</a:t>
            </a:r>
            <a:r>
              <a:rPr lang="zh-CN" altLang="en-US" sz="2000" dirty="0" smtClean="0"/>
              <a:t>创建一个如图</a:t>
            </a:r>
            <a:r>
              <a:rPr lang="en-US" sz="2000" dirty="0" smtClean="0"/>
              <a:t>4—42</a:t>
            </a:r>
            <a:r>
              <a:rPr lang="zh-CN" altLang="en-US" sz="2000" dirty="0" smtClean="0"/>
              <a:t>所示的数据表</a:t>
            </a:r>
            <a:r>
              <a:rPr lang="en-US" sz="2000" dirty="0" smtClean="0"/>
              <a:t>,</a:t>
            </a:r>
            <a:r>
              <a:rPr lang="zh-CN" altLang="en-US" sz="2000" dirty="0" smtClean="0"/>
              <a:t>并用饼图表示各地区销量在全国销量中的比重。</a:t>
            </a:r>
            <a:endParaRPr lang="zh-CN" altLang="en-US" sz="2000" dirty="0"/>
          </a:p>
        </p:txBody>
      </p:sp>
      <p:sp>
        <p:nvSpPr>
          <p:cNvPr id="2" name="标题 1"/>
          <p:cNvSpPr>
            <a:spLocks noGrp="1"/>
          </p:cNvSpPr>
          <p:nvPr>
            <p:ph type="title"/>
          </p:nvPr>
        </p:nvSpPr>
        <p:spPr>
          <a:xfrm>
            <a:off x="381000" y="280353"/>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6" name="4a41.jpg" descr="id:2147495314;FounderCES"/>
          <p:cNvPicPr/>
          <p:nvPr/>
        </p:nvPicPr>
        <p:blipFill>
          <a:blip r:embed="rId4" cstate="print"/>
          <a:stretch>
            <a:fillRect/>
          </a:stretch>
        </p:blipFill>
        <p:spPr>
          <a:xfrm>
            <a:off x="1881158" y="4214818"/>
            <a:ext cx="4071966" cy="1928826"/>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7" name="矩形 6"/>
          <p:cNvSpPr/>
          <p:nvPr/>
        </p:nvSpPr>
        <p:spPr>
          <a:xfrm>
            <a:off x="2738414" y="6345816"/>
            <a:ext cx="2098040" cy="337185"/>
          </a:xfrm>
          <a:prstGeom prst="rect">
            <a:avLst/>
          </a:prstGeom>
        </p:spPr>
        <p:txBody>
          <a:bodyPr wrap="none">
            <a:spAutoFit/>
          </a:bodyPr>
          <a:lstStyle/>
          <a:p>
            <a:r>
              <a:rPr lang="zh-CN" altLang="en-US" sz="1600" dirty="0" smtClean="0"/>
              <a:t>图</a:t>
            </a:r>
            <a:r>
              <a:rPr lang="en-US" sz="1600" dirty="0" smtClean="0"/>
              <a:t>4—41</a:t>
            </a:r>
            <a:r>
              <a:rPr lang="zh-CN" altLang="en-US" sz="1600" dirty="0" smtClean="0"/>
              <a:t>　职工工资表</a:t>
            </a:r>
            <a:endParaRPr lang="zh-CN" altLang="en-US" sz="1600" dirty="0"/>
          </a:p>
        </p:txBody>
      </p:sp>
      <p:pic>
        <p:nvPicPr>
          <p:cNvPr id="8" name="4a42.jpg" descr="id:2147495321;FounderCES"/>
          <p:cNvPicPr/>
          <p:nvPr/>
        </p:nvPicPr>
        <p:blipFill>
          <a:blip r:embed="rId5" cstate="print"/>
          <a:stretch>
            <a:fillRect/>
          </a:stretch>
        </p:blipFill>
        <p:spPr>
          <a:xfrm>
            <a:off x="6881818" y="3786190"/>
            <a:ext cx="2428892" cy="2357454"/>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10" name="矩形 9"/>
          <p:cNvSpPr/>
          <p:nvPr/>
        </p:nvSpPr>
        <p:spPr>
          <a:xfrm>
            <a:off x="7096132" y="6429396"/>
            <a:ext cx="2098040" cy="337185"/>
          </a:xfrm>
          <a:prstGeom prst="rect">
            <a:avLst/>
          </a:prstGeom>
        </p:spPr>
        <p:txBody>
          <a:bodyPr wrap="none">
            <a:spAutoFit/>
          </a:bodyPr>
          <a:lstStyle/>
          <a:p>
            <a:r>
              <a:rPr lang="zh-CN" altLang="en-US" sz="1600" dirty="0" smtClean="0"/>
              <a:t>图</a:t>
            </a:r>
            <a:r>
              <a:rPr lang="en-US" sz="1600" dirty="0" smtClean="0"/>
              <a:t>4—42</a:t>
            </a:r>
            <a:r>
              <a:rPr lang="zh-CN" altLang="en-US" sz="1600" dirty="0" smtClean="0"/>
              <a:t>　销量数据表</a:t>
            </a:r>
            <a:endParaRPr lang="zh-CN" alt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zh-CN" altLang="en-US" sz="2000" dirty="0" smtClean="0"/>
              <a:t>三、单选题</a:t>
            </a:r>
            <a:endParaRPr lang="zh-CN" altLang="en-US" sz="2000" dirty="0" smtClean="0"/>
          </a:p>
          <a:p>
            <a:pPr>
              <a:lnSpc>
                <a:spcPct val="150000"/>
              </a:lnSpc>
              <a:buNone/>
            </a:pPr>
            <a:r>
              <a:rPr lang="en-US" sz="2000" dirty="0" smtClean="0"/>
              <a:t>1.Excel 2010</a:t>
            </a:r>
            <a:r>
              <a:rPr lang="zh-CN" altLang="en-US" sz="2000" dirty="0" smtClean="0"/>
              <a:t>文件的默认扩展名为</a:t>
            </a:r>
            <a:r>
              <a:rPr lang="zh-CN" altLang="en-US" sz="2000" u="sng" dirty="0" smtClean="0"/>
              <a:t>　　</a:t>
            </a:r>
            <a:r>
              <a:rPr lang="zh-CN" altLang="en-US" sz="2000" dirty="0" smtClean="0"/>
              <a:t>。</a:t>
            </a:r>
            <a:r>
              <a:rPr lang="en-US" sz="2000" dirty="0" smtClean="0"/>
              <a:t> </a:t>
            </a:r>
            <a:endParaRPr lang="zh-CN" altLang="en-US" sz="2000" dirty="0" smtClean="0"/>
          </a:p>
          <a:p>
            <a:pPr>
              <a:lnSpc>
                <a:spcPct val="150000"/>
              </a:lnSpc>
              <a:buNone/>
            </a:pPr>
            <a:r>
              <a:rPr lang="en-US" sz="2000" dirty="0" smtClean="0"/>
              <a:t>A. docx	B. xlsx	C. ppt	D. jpg</a:t>
            </a:r>
            <a:endParaRPr lang="zh-CN" altLang="en-US" sz="2000" dirty="0" smtClean="0"/>
          </a:p>
          <a:p>
            <a:pPr>
              <a:lnSpc>
                <a:spcPct val="150000"/>
              </a:lnSpc>
              <a:buNone/>
            </a:pPr>
            <a:r>
              <a:rPr lang="en-US" sz="2000" dirty="0" smtClean="0"/>
              <a:t>2.Excel 2010</a:t>
            </a:r>
            <a:r>
              <a:rPr lang="zh-CN" altLang="en-US" sz="2000" dirty="0" smtClean="0"/>
              <a:t>工作窗口中编辑栏上的</a:t>
            </a:r>
            <a:r>
              <a:rPr lang="en-US" sz="2000" dirty="0" smtClean="0"/>
              <a:t> </a:t>
            </a:r>
            <a:r>
              <a:rPr lang="zh-CN" altLang="en-US" sz="2000" dirty="0" smtClean="0"/>
              <a:t>按钮用来向单元格内插入</a:t>
            </a:r>
            <a:r>
              <a:rPr lang="zh-CN" altLang="en-US" sz="2000" u="sng" dirty="0" smtClean="0"/>
              <a:t>　</a:t>
            </a:r>
            <a:r>
              <a:rPr lang="zh-CN" altLang="en-US" sz="2000" dirty="0" smtClean="0"/>
              <a:t>。</a:t>
            </a:r>
            <a:r>
              <a:rPr lang="en-US" sz="2000" dirty="0" smtClean="0"/>
              <a:t> </a:t>
            </a:r>
            <a:endParaRPr lang="zh-CN" altLang="en-US" sz="2000" dirty="0" smtClean="0"/>
          </a:p>
          <a:p>
            <a:pPr>
              <a:lnSpc>
                <a:spcPct val="150000"/>
              </a:lnSpc>
              <a:buNone/>
            </a:pPr>
            <a:r>
              <a:rPr lang="en-US" sz="2000" dirty="0" smtClean="0"/>
              <a:t>A.</a:t>
            </a:r>
            <a:r>
              <a:rPr lang="zh-CN" altLang="en-US" sz="2000" dirty="0" smtClean="0"/>
              <a:t>函数</a:t>
            </a:r>
            <a:r>
              <a:rPr lang="en-US" sz="2000" dirty="0" smtClean="0"/>
              <a:t>	B.</a:t>
            </a:r>
            <a:r>
              <a:rPr lang="zh-CN" altLang="en-US" sz="2000" dirty="0" smtClean="0"/>
              <a:t>公式</a:t>
            </a:r>
            <a:r>
              <a:rPr lang="en-US" sz="2000" dirty="0" smtClean="0"/>
              <a:t>	C.</a:t>
            </a:r>
            <a:r>
              <a:rPr lang="zh-CN" altLang="en-US" sz="2000" dirty="0" smtClean="0"/>
              <a:t>数字</a:t>
            </a:r>
            <a:r>
              <a:rPr lang="en-US" sz="2000" dirty="0" smtClean="0"/>
              <a:t>	D.</a:t>
            </a:r>
            <a:r>
              <a:rPr lang="zh-CN" altLang="en-US" sz="2000" dirty="0" smtClean="0"/>
              <a:t>文本</a:t>
            </a:r>
            <a:endParaRPr lang="zh-CN" altLang="en-US" sz="2000" dirty="0" smtClean="0"/>
          </a:p>
          <a:p>
            <a:pPr>
              <a:lnSpc>
                <a:spcPct val="150000"/>
              </a:lnSpc>
              <a:buNone/>
            </a:pPr>
            <a:r>
              <a:rPr lang="en-US" sz="2000" dirty="0" smtClean="0"/>
              <a:t>3.</a:t>
            </a:r>
            <a:r>
              <a:rPr lang="zh-CN" altLang="en-US" sz="2000" dirty="0" smtClean="0"/>
              <a:t>在</a:t>
            </a:r>
            <a:r>
              <a:rPr lang="en-US" sz="2000" dirty="0" smtClean="0"/>
              <a:t>Excel 2010</a:t>
            </a:r>
            <a:r>
              <a:rPr lang="zh-CN" altLang="en-US" sz="2000" dirty="0" smtClean="0"/>
              <a:t>中</a:t>
            </a:r>
            <a:r>
              <a:rPr lang="en-US" sz="2000" dirty="0" smtClean="0"/>
              <a:t>,</a:t>
            </a:r>
            <a:r>
              <a:rPr lang="zh-CN" altLang="en-US" sz="2000" dirty="0" smtClean="0"/>
              <a:t>如果要将输入的数字作为文本使用时</a:t>
            </a:r>
            <a:r>
              <a:rPr lang="en-US" sz="2000" dirty="0" smtClean="0"/>
              <a:t>,</a:t>
            </a:r>
            <a:r>
              <a:rPr lang="zh-CN" altLang="en-US" sz="2000" dirty="0" smtClean="0"/>
              <a:t>需要输入的前缀是</a:t>
            </a:r>
            <a:r>
              <a:rPr lang="zh-CN" altLang="en-US" sz="2000" u="sng" dirty="0" smtClean="0"/>
              <a:t>　　</a:t>
            </a:r>
            <a:r>
              <a:rPr lang="zh-CN" altLang="en-US" sz="2000" dirty="0" smtClean="0"/>
              <a:t>。</a:t>
            </a:r>
            <a:r>
              <a:rPr lang="en-US" sz="2000" dirty="0" smtClean="0"/>
              <a:t> </a:t>
            </a:r>
            <a:endParaRPr lang="zh-CN" altLang="en-US" sz="2000" dirty="0" smtClean="0"/>
          </a:p>
          <a:p>
            <a:pPr>
              <a:lnSpc>
                <a:spcPct val="150000"/>
              </a:lnSpc>
              <a:buNone/>
            </a:pPr>
            <a:r>
              <a:rPr lang="en-US" sz="2000" dirty="0" smtClean="0"/>
              <a:t>A.</a:t>
            </a:r>
            <a:r>
              <a:rPr lang="zh-CN" altLang="en-US" sz="2000" dirty="0" smtClean="0"/>
              <a:t>逗号</a:t>
            </a:r>
            <a:r>
              <a:rPr lang="en-US" sz="2000" dirty="0" smtClean="0"/>
              <a:t>	  B.</a:t>
            </a:r>
            <a:r>
              <a:rPr lang="zh-CN" altLang="en-US" sz="2000" dirty="0" smtClean="0"/>
              <a:t>分号  </a:t>
            </a:r>
            <a:r>
              <a:rPr lang="en-US" sz="2000" dirty="0" smtClean="0"/>
              <a:t>	C.</a:t>
            </a:r>
            <a:r>
              <a:rPr lang="zh-CN" altLang="en-US" sz="2000" dirty="0" smtClean="0"/>
              <a:t>单引号</a:t>
            </a:r>
            <a:r>
              <a:rPr lang="en-US" sz="2000" dirty="0" smtClean="0"/>
              <a:t>	D.</a:t>
            </a:r>
            <a:r>
              <a:rPr lang="zh-CN" altLang="en-US" sz="2000" dirty="0" smtClean="0"/>
              <a:t>双引号</a:t>
            </a:r>
            <a:endParaRPr lang="en-US" altLang="zh-CN" sz="2000" dirty="0" smtClean="0"/>
          </a:p>
          <a:p>
            <a:pPr>
              <a:lnSpc>
                <a:spcPct val="150000"/>
              </a:lnSpc>
              <a:buNone/>
            </a:pPr>
            <a:r>
              <a:rPr lang="en-US" altLang="zh-CN" sz="2800" dirty="0" smtClean="0"/>
              <a:t>……</a:t>
            </a:r>
            <a:endParaRPr lang="en-US" altLang="zh-CN" sz="2800" dirty="0" smtClean="0"/>
          </a:p>
        </p:txBody>
      </p:sp>
      <p:sp>
        <p:nvSpPr>
          <p:cNvPr id="2" name="标题 1"/>
          <p:cNvSpPr>
            <a:spLocks noGrp="1"/>
          </p:cNvSpPr>
          <p:nvPr>
            <p:ph type="title"/>
          </p:nvPr>
        </p:nvSpPr>
        <p:spPr>
          <a:xfrm>
            <a:off x="3556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4</a:t>
            </a:r>
            <a:r>
              <a:rPr lang="zh-CN" altLang="en-US" sz="2800" dirty="0" smtClean="0">
                <a:solidFill>
                  <a:schemeClr val="accent1">
                    <a:lumMod val="75000"/>
                  </a:schemeClr>
                </a:solidFill>
                <a:latin typeface="方正姚体" pitchFamily="2" charset="-122"/>
                <a:ea typeface="方正姚体" pitchFamily="2" charset="-122"/>
              </a:rPr>
              <a:t>章    </a:t>
            </a:r>
            <a:r>
              <a:rPr lang="en-US" sz="2800" dirty="0" smtClean="0">
                <a:solidFill>
                  <a:schemeClr val="accent1">
                    <a:lumMod val="75000"/>
                  </a:schemeClr>
                </a:solidFill>
                <a:latin typeface="方正姚体" pitchFamily="2" charset="-122"/>
                <a:ea typeface="方正姚体" pitchFamily="2" charset="-122"/>
              </a:rPr>
              <a:t>Excel</a:t>
            </a:r>
            <a:r>
              <a:rPr lang="zh-CN" altLang="en-US" sz="2800" dirty="0" smtClean="0">
                <a:solidFill>
                  <a:schemeClr val="accent1">
                    <a:lumMod val="75000"/>
                  </a:schemeClr>
                </a:solidFill>
                <a:latin typeface="方正姚体" pitchFamily="2" charset="-122"/>
                <a:ea typeface="方正姚体" pitchFamily="2" charset="-122"/>
              </a:rPr>
              <a:t>电子表格</a:t>
            </a:r>
            <a:br>
              <a:rPr lang="zh-CN" altLang="en-US"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2"/>
  <p:tag name="KSO_WM_UNIT_ID" val="diagram20231486_1*n_h_i*1_2_2"/>
  <p:tag name="KSO_WM_TEMPLATE_CATEGORY" val="diagram"/>
  <p:tag name="KSO_WM_TEMPLATE_INDEX" val="2023148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409.04998779296875,&quot;left&quot;:11.379180908203125,&quot;top&quot;:124.12500610351563,&quot;width&quot;:937.2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2.xml><?xml version="1.0" encoding="utf-8"?>
<p:tagLst xmlns:p="http://schemas.openxmlformats.org/presentationml/2006/main">
  <p:tag name="KSO_WM_UNIT_TEXT_FILL_FORE_SCHEMECOLOR_INDEX_BRIGHTNESS" val="0"/>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1486_1*n_h_a*1_1_1"/>
  <p:tag name="KSO_WM_TEMPLATE_CATEGORY" val="diagram"/>
  <p:tag name="KSO_WM_TEMPLATE_INDEX" val="20231486"/>
  <p:tag name="KSO_WM_UNIT_LAYERLEVEL" val="1_1_1"/>
  <p:tag name="KSO_WM_TAG_VERSION" val="3.0"/>
  <p:tag name="KSO_WM_UNIT_ISCONTENTSTITLE" val="0"/>
  <p:tag name="KSO_WM_UNIT_ISNUMDGMTITLE" val="0"/>
  <p:tag name="KSO_WM_UNIT_NOCLEAR" val="0"/>
  <p:tag name="KSO_WM_UNIT_VALUE" val="36"/>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409.04998779296875,&quot;left&quot;:11.379180908203125,&quot;top&quot;:124.12500610351563,&quot;width&quot;:937.241638183593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PRESET_TEXT" val="添加标题"/>
  <p:tag name="KSO_WM_UNIT_TEXT_TYPE" val="1"/>
</p:tagLst>
</file>

<file path=ppt/tags/tag3.xml><?xml version="1.0" encoding="utf-8"?>
<p:tagLst xmlns:p="http://schemas.openxmlformats.org/presentationml/2006/main">
  <p:tag name="KSO_WM_UNIT_LINE_FORE_SCHEMECOLOR_INDEX_BRIGHTNESS" val="0"/>
  <p:tag name="KSO_WM_UNIT_LINE_FILL_TYPE" val="2"/>
  <p:tag name="KSO_WM_UNIT_SHADOW_SCHEMECOLOR_INDEX_BRIGHTNESS" val="-0.35"/>
  <p:tag name="KSO_WM_UNIT_SHADOW_SCHEMECOLOR_INDEX" val="14"/>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1486_1*n_h_i*1_1_2"/>
  <p:tag name="KSO_WM_TEMPLATE_CATEGORY" val="diagram"/>
  <p:tag name="KSO_WM_TEMPLATE_INDEX" val="20231486"/>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409.04998779296875,&quot;left&quot;:11.379180908203125,&quot;top&quot;:124.12500610351563,&quot;width&quot;:937.2416381835938}"/>
  <p:tag name="KSO_WM_DIAGRAM_COLOR_MATCH_VALUE" val="{&quot;shape&quot;:{&quot;fill&quot;:{&quot;type&quot;:0},&quot;glow&quot;:{&quot;colorType&quot;:0},&quot;line&quot;:{&quot;solidLine&quot;:{&quot;brightness&quot;:0,&quot;colorType&quot;:1,&quot;foreColorIndex&quot;:6,&quot;transparency&quot;:0},&quot;type&quot;:1},&quot;shadow&quot;:{&quot;brightness&quot;:-0.3499999940395355,&quot;colorType&quot;:1,&quot;foreColorIndex&quot;:2,&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6"/>
</p:tagLst>
</file>

<file path=ppt/tags/tag4.xml><?xml version="1.0" encoding="utf-8"?>
<p:tagLst xmlns:p="http://schemas.openxmlformats.org/presentationml/2006/main">
  <p:tag name="KSO_WM_UNIT_SHADOW_SCHEMECOLOR_INDEX_BRIGHTNESS" val="-0.25"/>
  <p:tag name="KSO_WM_UNIT_SHADOW_SCHEMECOLOR_INDEX" val="14"/>
  <p:tag name="KSO_WM_UNIT_TEXT_FILL_FORE_SCHEMECOLOR_INDEX_BRIGHTNESS" val="0"/>
  <p:tag name="KSO_WM_UNIT_HIGHLIGHT" val="0"/>
  <p:tag name="KSO_WM_UNIT_COMPATIBLE" val="0"/>
  <p:tag name="KSO_WM_UNIT_DIAGRAM_ISNUMVISUAL" val="0"/>
  <p:tag name="KSO_WM_UNIT_DIAGRAM_ISREFERUNIT" val="0"/>
  <p:tag name="KSO_WM_DIAGRAM_GROUP_CODE" val="n1-1"/>
  <p:tag name="KSO_WM_UNIT_TYPE" val="n_h_h_a"/>
  <p:tag name="KSO_WM_UNIT_INDEX" val="1_2_1_1"/>
  <p:tag name="KSO_WM_UNIT_ID" val="diagram20231486_1*n_h_h_a*1_2_1_1"/>
  <p:tag name="KSO_WM_TEMPLATE_CATEGORY" val="diagram"/>
  <p:tag name="KSO_WM_TEMPLATE_INDEX" val="20231486"/>
  <p:tag name="KSO_WM_UNIT_LAYERLEVEL" val="1_1_1_1"/>
  <p:tag name="KSO_WM_TAG_VERSION" val="3.0"/>
  <p:tag name="KSO_WM_UNIT_ISCONTENTSTITLE" val="0"/>
  <p:tag name="KSO_WM_UNIT_ISNUMDGMTITLE" val="0"/>
  <p:tag name="KSO_WM_UNIT_NOCLEAR" val="0"/>
  <p:tag name="KSO_WM_UNIT_VALUE" val="8"/>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409.04998779296875,&quot;left&quot;:11.379180908203125,&quot;top&quot;:124.12500610351563,&quot;width&quot;:937.2416381835938}"/>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2,&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TEXT_FILL_FORE_SCHEMECOLOR_INDEX" val="1"/>
  <p:tag name="KSO_WM_UNIT_TEXT_FILL_TYPE" val="1"/>
  <p:tag name="KSO_WM_UNIT_PRESET_TEXT" val="项标题"/>
  <p:tag name="KSO_WM_UNIT_TEXT_TYPE" val="1"/>
</p:tagLst>
</file>

<file path=ppt/tags/tag5.xml><?xml version="1.0" encoding="utf-8"?>
<p:tagLst xmlns:p="http://schemas.openxmlformats.org/presentationml/2006/main">
  <p:tag name="KSO_WM_UNIT_SHADOW_SCHEMECOLOR_INDEX_BRIGHTNESS" val="-0.25"/>
  <p:tag name="KSO_WM_UNIT_SHADOW_SCHEMECOLOR_INDEX" val="14"/>
  <p:tag name="KSO_WM_UNIT_TEXT_FILL_FORE_SCHEMECOLOR_INDEX_BRIGHTNESS" val="0"/>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486_1*n_h_h_i*1_2_1_1"/>
  <p:tag name="KSO_WM_TEMPLATE_CATEGORY" val="diagram"/>
  <p:tag name="KSO_WM_TEMPLATE_INDEX" val="20231486"/>
  <p:tag name="KSO_WM_UNIT_LAYERLEVEL" val="1_1_1_1"/>
  <p:tag name="KSO_WM_TAG_VERSION" val="3.0"/>
  <p:tag name="KSO_WM_UNIT_SUBTYPE" val="d"/>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409.04998779296875,&quot;left&quot;:11.379180908203125,&quot;top&quot;:124.12500610351563,&quot;width&quot;:937.2416381835938}"/>
  <p:tag name="KSO_WM_DIAGRAM_COLOR_MATCH_VALUE" val="{&quot;shape&quot;:{&quot;fill&quot;:{&quot;solid&quot;:{&quot;brightness&quot;:0.800000011920929,&quot;colorType&quot;:1,&quot;foreColorIndex&quot;:5,&quot;transparency&quot;:0},&quot;type&quot;:1},&quot;glow&quot;:{&quot;colorType&quot;:0},&quot;line&quot;:{&quot;type&quot;:0},&quot;shadow&quot;:{&quot;brightness&quot;:-0.25,&quot;colorType&quot;:1,&quot;foreColorIndex&quot;:2,&quot;transparency&quot;:0.6000000238418579},&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8"/>
  <p:tag name="KSO_WM_UNIT_TEXT_FILL_FORE_SCHEMECOLOR_INDEX" val="1"/>
  <p:tag name="KSO_WM_UNIT_TEXT_FILL_TYPE" val="1"/>
</p:tagLst>
</file>

<file path=ppt/tags/tag6.xml><?xml version="1.0" encoding="utf-8"?>
<p:tagLst xmlns:p="http://schemas.openxmlformats.org/presentationml/2006/main">
  <p:tag name="KSO_WM_UNIT_TEXT_FILL_FORE_SCHEMECOLOR_INDEX_BRIGHTNESS" val="-0.5"/>
  <p:tag name="KSO_WM_UNIT_SUBTYPE" val="a"/>
  <p:tag name="KSO_WM_UNIT_NOCLEAR" val="0"/>
  <p:tag name="KSO_WM_UNIT_VALUE" val="23"/>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1486_1*n_h_h_f*1_2_1_1"/>
  <p:tag name="KSO_WM_TEMPLATE_CATEGORY" val="diagram"/>
  <p:tag name="KSO_WM_TEMPLATE_INDEX" val="20231486"/>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1"/>
  <p:tag name="KSO_WM_DIAGRAM_VIRTUALLY_FRAME" val="{&quot;height&quot;:409.04998779296875,&quot;left&quot;:11.379180908203125,&quot;top&quot;:124.12500610351563,&quot;width&quot;:937.2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你的正文，文字是您思想的提炼"/>
  <p:tag name="KSO_WM_UNIT_TEXT_TYPE"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6060</Words>
  <Application>WPS 演示</Application>
  <PresentationFormat>宽屏</PresentationFormat>
  <Paragraphs>733</Paragraphs>
  <Slides>54</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54</vt:i4>
      </vt:variant>
    </vt:vector>
  </HeadingPairs>
  <TitlesOfParts>
    <vt:vector size="71" baseType="lpstr">
      <vt:lpstr>Arial</vt:lpstr>
      <vt:lpstr>宋体</vt:lpstr>
      <vt:lpstr>Wingdings</vt:lpstr>
      <vt:lpstr>Arial Unicode MS</vt:lpstr>
      <vt:lpstr>Calibri</vt:lpstr>
      <vt:lpstr>微软雅黑</vt:lpstr>
      <vt:lpstr>方正姚体</vt:lpstr>
      <vt:lpstr>Times New Roman</vt:lpstr>
      <vt:lpstr>NEU-BZ</vt:lpstr>
      <vt:lpstr>方正书宋_GBK</vt:lpstr>
      <vt:lpstr>NEU-BZ</vt:lpstr>
      <vt:lpstr>方正黑体_GBK</vt:lpstr>
      <vt:lpstr>Times New Roman</vt:lpstr>
      <vt:lpstr>NEU-HZ-S92</vt:lpstr>
      <vt:lpstr>方正书宋_GBK</vt:lpstr>
      <vt:lpstr>Segoe Print</vt:lpstr>
      <vt:lpstr>WPS</vt:lpstr>
      <vt:lpstr>PowerPoint 演示文稿</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lpstr>第4章    Excel电子表格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18900819605</cp:lastModifiedBy>
  <cp:revision>10</cp:revision>
  <dcterms:created xsi:type="dcterms:W3CDTF">2023-08-09T12:44:00Z</dcterms:created>
  <dcterms:modified xsi:type="dcterms:W3CDTF">2025-02-12T15:30:46Z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