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diagrams/colors1.xml" ContentType="application/vnd.openxmlformats-officedocument.drawingml.diagramColors+xml"/>
  <Override PartName="/ppt/diagrams/colors2.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1B57866A-81D8-435D-A157-3367722211F8}"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zh-CN" altLang="en-US"/>
        </a:p>
      </dgm:t>
    </dgm:pt>
    <dgm:pt modelId="{F0192AC8-43E3-4FF5-BF2A-87982BAF281B}">
      <dgm:prSet/>
      <dgm:spPr/>
      <dgm:t>
        <a:bodyPr/>
        <a:lstStyle/>
        <a:p>
          <a:pPr rtl="0"/>
          <a:r>
            <a:rPr lang="zh-CN" b="1" baseline="0" dirty="0" smtClean="0"/>
            <a:t>计算机应用基础</a:t>
          </a:r>
          <a:endParaRPr lang="zh-CN" b="1" baseline="0" dirty="0"/>
        </a:p>
      </dgm:t>
    </dgm:pt>
    <dgm:pt modelId="{C4E4E130-DCB0-428A-9FE5-22BBBE910632}" cxnId="{5429AF45-1512-4598-A42E-4AC4E8485839}" type="parTrans">
      <dgm:prSet/>
      <dgm:spPr/>
      <dgm:t>
        <a:bodyPr/>
        <a:lstStyle/>
        <a:p>
          <a:endParaRPr lang="zh-CN" altLang="en-US"/>
        </a:p>
      </dgm:t>
    </dgm:pt>
    <dgm:pt modelId="{1BC3EF03-A09B-4381-B408-FE7B1882FC32}" cxnId="{5429AF45-1512-4598-A42E-4AC4E8485839}" type="sibTrans">
      <dgm:prSet/>
      <dgm:spPr/>
      <dgm:t>
        <a:bodyPr/>
        <a:lstStyle/>
        <a:p>
          <a:endParaRPr lang="zh-CN" altLang="en-US"/>
        </a:p>
      </dgm:t>
    </dgm:pt>
    <dgm:pt modelId="{6F362D5F-0BCD-44B4-A7B1-B3D64175853D}" type="pres">
      <dgm:prSet presAssocID="{1B57866A-81D8-435D-A157-3367722211F8}" presName="linear" presStyleCnt="0">
        <dgm:presLayoutVars>
          <dgm:animLvl val="lvl"/>
          <dgm:resizeHandles val="exact"/>
        </dgm:presLayoutVars>
      </dgm:prSet>
      <dgm:spPr/>
      <dgm:t>
        <a:bodyPr/>
        <a:lstStyle/>
        <a:p>
          <a:endParaRPr lang="zh-CN" altLang="en-US"/>
        </a:p>
      </dgm:t>
    </dgm:pt>
    <dgm:pt modelId="{97527EBF-0E0A-4225-BED5-15810BA395FC}" type="pres">
      <dgm:prSet presAssocID="{F0192AC8-43E3-4FF5-BF2A-87982BAF281B}" presName="parentText" presStyleLbl="node1" presStyleIdx="0" presStyleCnt="1">
        <dgm:presLayoutVars>
          <dgm:chMax val="0"/>
          <dgm:bulletEnabled val="1"/>
        </dgm:presLayoutVars>
      </dgm:prSet>
      <dgm:spPr/>
      <dgm:t>
        <a:bodyPr/>
        <a:lstStyle/>
        <a:p>
          <a:endParaRPr lang="zh-CN" altLang="en-US"/>
        </a:p>
      </dgm:t>
    </dgm:pt>
  </dgm:ptLst>
  <dgm:cxnLst>
    <dgm:cxn modelId="{DF225CA3-4BE6-4838-BD2C-E27B259528E6}" type="presOf" srcId="{1B57866A-81D8-435D-A157-3367722211F8}" destId="{6F362D5F-0BCD-44B4-A7B1-B3D64175853D}" srcOrd="0" destOrd="0" presId="urn:microsoft.com/office/officeart/2005/8/layout/vList2"/>
    <dgm:cxn modelId="{5429AF45-1512-4598-A42E-4AC4E8485839}" srcId="{1B57866A-81D8-435D-A157-3367722211F8}" destId="{F0192AC8-43E3-4FF5-BF2A-87982BAF281B}" srcOrd="0" destOrd="0" parTransId="{C4E4E130-DCB0-428A-9FE5-22BBBE910632}" sibTransId="{1BC3EF03-A09B-4381-B408-FE7B1882FC32}"/>
    <dgm:cxn modelId="{F164CD36-7D63-4D81-8FA8-91497452450D}" type="presOf" srcId="{F0192AC8-43E3-4FF5-BF2A-87982BAF281B}" destId="{97527EBF-0E0A-4225-BED5-15810BA395FC}" srcOrd="0" destOrd="0" presId="urn:microsoft.com/office/officeart/2005/8/layout/vList2"/>
    <dgm:cxn modelId="{500DE62B-56FB-4020-BAC1-0C1105E5CE35}" type="presParOf" srcId="{6F362D5F-0BCD-44B4-A7B1-B3D64175853D}" destId="{97527EBF-0E0A-4225-BED5-15810BA395F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DD552E-5AB7-4E3D-9825-C08591A18110}" type="doc">
      <dgm:prSet loTypeId="urn:microsoft.com/office/officeart/2005/8/layout/process1" loCatId="process" qsTypeId="urn:microsoft.com/office/officeart/2005/8/quickstyle/simple1" qsCatId="simple" csTypeId="urn:microsoft.com/office/officeart/2005/8/colors/colorful2" csCatId="colorful" phldr="1"/>
      <dgm:spPr/>
      <dgm:t>
        <a:bodyPr/>
        <a:lstStyle/>
        <a:p>
          <a:endParaRPr lang="zh-CN" altLang="en-US"/>
        </a:p>
      </dgm:t>
    </dgm:pt>
    <dgm:pt modelId="{9761E37E-3734-4F59-9575-318E640551B7}">
      <dgm:prSet custT="1">
        <dgm:style>
          <a:lnRef idx="1">
            <a:schemeClr val="accent2"/>
          </a:lnRef>
          <a:fillRef idx="3">
            <a:schemeClr val="accent2"/>
          </a:fillRef>
          <a:effectRef idx="2">
            <a:schemeClr val="accent2"/>
          </a:effectRef>
          <a:fontRef idx="minor">
            <a:schemeClr val="lt1"/>
          </a:fontRef>
        </dgm:style>
      </dgm:prSet>
      <dgm:spPr/>
      <dgm:t>
        <a:bodyPr/>
        <a:lstStyle/>
        <a:p>
          <a:pPr rtl="0"/>
          <a:r>
            <a:rPr lang="en-US" sz="1800" b="1" dirty="0" smtClean="0">
              <a:solidFill>
                <a:schemeClr val="tx1"/>
              </a:solidFill>
            </a:rPr>
            <a:t>(1)</a:t>
          </a:r>
          <a:r>
            <a:rPr lang="zh-CN" sz="1800" b="1" dirty="0" smtClean="0">
              <a:solidFill>
                <a:schemeClr val="tx1"/>
              </a:solidFill>
            </a:rPr>
            <a:t>机器语言。</a:t>
          </a:r>
          <a:endParaRPr lang="zh-CN" sz="1800" b="1" dirty="0">
            <a:solidFill>
              <a:schemeClr val="tx1"/>
            </a:solidFill>
          </a:endParaRPr>
        </a:p>
      </dgm:t>
    </dgm:pt>
    <dgm:pt modelId="{2D02564A-031D-4DF6-8CB1-1233761643A0}" cxnId="{600D403D-6343-402A-B801-79C827AE7E7F}" type="parTrans">
      <dgm:prSet/>
      <dgm:spPr/>
      <dgm:t>
        <a:bodyPr/>
        <a:lstStyle/>
        <a:p>
          <a:endParaRPr lang="zh-CN" altLang="en-US" sz="1200" b="1">
            <a:solidFill>
              <a:schemeClr val="tx1"/>
            </a:solidFill>
          </a:endParaRPr>
        </a:p>
      </dgm:t>
    </dgm:pt>
    <dgm:pt modelId="{D233FC51-662C-44B7-920F-A34A21F969EE}" cxnId="{600D403D-6343-402A-B801-79C827AE7E7F}" type="sibTrans">
      <dgm:prSet custT="1"/>
      <dgm:spPr/>
      <dgm:t>
        <a:bodyPr/>
        <a:lstStyle/>
        <a:p>
          <a:endParaRPr lang="zh-CN" altLang="en-US" sz="1600" b="1">
            <a:solidFill>
              <a:schemeClr val="tx1"/>
            </a:solidFill>
          </a:endParaRPr>
        </a:p>
      </dgm:t>
    </dgm:pt>
    <dgm:pt modelId="{0752B605-6BEA-48E7-845C-4815DDC0F019}">
      <dgm:prSet custT="1">
        <dgm:style>
          <a:lnRef idx="1">
            <a:schemeClr val="accent3"/>
          </a:lnRef>
          <a:fillRef idx="3">
            <a:schemeClr val="accent3"/>
          </a:fillRef>
          <a:effectRef idx="2">
            <a:schemeClr val="accent3"/>
          </a:effectRef>
          <a:fontRef idx="minor">
            <a:schemeClr val="lt1"/>
          </a:fontRef>
        </dgm:style>
      </dgm:prSet>
      <dgm:spPr/>
      <dgm:t>
        <a:bodyPr/>
        <a:lstStyle/>
        <a:p>
          <a:pPr rtl="0"/>
          <a:r>
            <a:rPr lang="en-US" sz="1800" b="1" dirty="0" smtClean="0">
              <a:solidFill>
                <a:schemeClr val="tx1"/>
              </a:solidFill>
            </a:rPr>
            <a:t>(2)</a:t>
          </a:r>
          <a:r>
            <a:rPr lang="zh-CN" sz="1800" b="1" dirty="0" smtClean="0">
              <a:solidFill>
                <a:schemeClr val="tx1"/>
              </a:solidFill>
            </a:rPr>
            <a:t>汇编语言。</a:t>
          </a:r>
          <a:endParaRPr lang="zh-CN" sz="1800" b="1" dirty="0">
            <a:solidFill>
              <a:schemeClr val="tx1"/>
            </a:solidFill>
          </a:endParaRPr>
        </a:p>
      </dgm:t>
    </dgm:pt>
    <dgm:pt modelId="{0CFB88E4-43E1-4AA9-98E9-8FEB4C92CC4C}" cxnId="{54A1C2AA-8240-420C-B23E-C4CC036DADFD}" type="parTrans">
      <dgm:prSet/>
      <dgm:spPr/>
      <dgm:t>
        <a:bodyPr/>
        <a:lstStyle/>
        <a:p>
          <a:endParaRPr lang="zh-CN" altLang="en-US" sz="1200" b="1">
            <a:solidFill>
              <a:schemeClr val="tx1"/>
            </a:solidFill>
          </a:endParaRPr>
        </a:p>
      </dgm:t>
    </dgm:pt>
    <dgm:pt modelId="{BC93A186-DEB9-42F9-8B50-C0A13FF5B0DD}" cxnId="{54A1C2AA-8240-420C-B23E-C4CC036DADFD}" type="sibTrans">
      <dgm:prSet custT="1"/>
      <dgm:spPr/>
      <dgm:t>
        <a:bodyPr/>
        <a:lstStyle/>
        <a:p>
          <a:endParaRPr lang="zh-CN" altLang="en-US" sz="1600" b="1">
            <a:solidFill>
              <a:schemeClr val="tx1"/>
            </a:solidFill>
          </a:endParaRPr>
        </a:p>
      </dgm:t>
    </dgm:pt>
    <dgm:pt modelId="{99735BB4-2B76-4C43-98B9-847962578458}">
      <dgm:prSet custT="1">
        <dgm:style>
          <a:lnRef idx="1">
            <a:schemeClr val="accent2"/>
          </a:lnRef>
          <a:fillRef idx="2">
            <a:schemeClr val="accent2"/>
          </a:fillRef>
          <a:effectRef idx="1">
            <a:schemeClr val="accent2"/>
          </a:effectRef>
          <a:fontRef idx="minor">
            <a:schemeClr val="dk1"/>
          </a:fontRef>
        </dgm:style>
      </dgm:prSet>
      <dgm:spPr/>
      <dgm:t>
        <a:bodyPr/>
        <a:lstStyle/>
        <a:p>
          <a:pPr rtl="0"/>
          <a:r>
            <a:rPr lang="en-US" sz="1800" b="1" dirty="0" smtClean="0">
              <a:solidFill>
                <a:schemeClr val="tx1"/>
              </a:solidFill>
            </a:rPr>
            <a:t>(3)</a:t>
          </a:r>
          <a:r>
            <a:rPr lang="zh-CN" sz="1800" b="1" dirty="0" smtClean="0">
              <a:solidFill>
                <a:schemeClr val="tx1"/>
              </a:solidFill>
            </a:rPr>
            <a:t>高级语言。</a:t>
          </a:r>
          <a:endParaRPr lang="zh-CN" sz="1800" b="1" dirty="0">
            <a:solidFill>
              <a:schemeClr val="tx1"/>
            </a:solidFill>
          </a:endParaRPr>
        </a:p>
      </dgm:t>
    </dgm:pt>
    <dgm:pt modelId="{833E9432-185D-4D4D-A722-744F7C6B916D}" cxnId="{3CA6E2F1-1067-4463-9FEA-0B9390E8896E}" type="parTrans">
      <dgm:prSet/>
      <dgm:spPr/>
      <dgm:t>
        <a:bodyPr/>
        <a:lstStyle/>
        <a:p>
          <a:endParaRPr lang="zh-CN" altLang="en-US" sz="1200" b="1">
            <a:solidFill>
              <a:schemeClr val="tx1"/>
            </a:solidFill>
          </a:endParaRPr>
        </a:p>
      </dgm:t>
    </dgm:pt>
    <dgm:pt modelId="{3B8ED090-CF80-400D-B167-F2EB940CB24F}" cxnId="{3CA6E2F1-1067-4463-9FEA-0B9390E8896E}" type="sibTrans">
      <dgm:prSet/>
      <dgm:spPr/>
      <dgm:t>
        <a:bodyPr/>
        <a:lstStyle/>
        <a:p>
          <a:endParaRPr lang="zh-CN" altLang="en-US" sz="1200" b="1">
            <a:solidFill>
              <a:schemeClr val="tx1"/>
            </a:solidFill>
          </a:endParaRPr>
        </a:p>
      </dgm:t>
    </dgm:pt>
    <dgm:pt modelId="{DA1B03EA-3B3A-4000-BD99-3B6C6D80CCB9}" type="pres">
      <dgm:prSet presAssocID="{13DD552E-5AB7-4E3D-9825-C08591A18110}" presName="Name0" presStyleCnt="0">
        <dgm:presLayoutVars>
          <dgm:dir/>
          <dgm:resizeHandles val="exact"/>
        </dgm:presLayoutVars>
      </dgm:prSet>
      <dgm:spPr/>
      <dgm:t>
        <a:bodyPr/>
        <a:lstStyle/>
        <a:p>
          <a:endParaRPr lang="zh-CN" altLang="en-US"/>
        </a:p>
      </dgm:t>
    </dgm:pt>
    <dgm:pt modelId="{5874E017-114B-4274-A468-E68360809E63}" type="pres">
      <dgm:prSet presAssocID="{9761E37E-3734-4F59-9575-318E640551B7}" presName="node" presStyleLbl="node1" presStyleIdx="0" presStyleCnt="3">
        <dgm:presLayoutVars>
          <dgm:bulletEnabled val="1"/>
        </dgm:presLayoutVars>
      </dgm:prSet>
      <dgm:spPr/>
      <dgm:t>
        <a:bodyPr/>
        <a:lstStyle/>
        <a:p>
          <a:endParaRPr lang="zh-CN" altLang="en-US"/>
        </a:p>
      </dgm:t>
    </dgm:pt>
    <dgm:pt modelId="{4BD9CE40-FED2-43FB-AA12-3A7B07C92293}" type="pres">
      <dgm:prSet presAssocID="{D233FC51-662C-44B7-920F-A34A21F969EE}" presName="sibTrans" presStyleLbl="sibTrans2D1" presStyleIdx="0" presStyleCnt="2"/>
      <dgm:spPr/>
      <dgm:t>
        <a:bodyPr/>
        <a:lstStyle/>
        <a:p>
          <a:endParaRPr lang="zh-CN" altLang="en-US"/>
        </a:p>
      </dgm:t>
    </dgm:pt>
    <dgm:pt modelId="{CF4B7B35-688C-4923-B889-E1771C2FF9AA}" type="pres">
      <dgm:prSet presAssocID="{D233FC51-662C-44B7-920F-A34A21F969EE}" presName="connectorText" presStyleLbl="sibTrans2D1" presStyleIdx="0" presStyleCnt="2"/>
      <dgm:spPr/>
      <dgm:t>
        <a:bodyPr/>
        <a:lstStyle/>
        <a:p>
          <a:endParaRPr lang="zh-CN" altLang="en-US"/>
        </a:p>
      </dgm:t>
    </dgm:pt>
    <dgm:pt modelId="{E4E16338-1184-41A5-84B8-ACADA54E1926}" type="pres">
      <dgm:prSet presAssocID="{0752B605-6BEA-48E7-845C-4815DDC0F019}" presName="node" presStyleLbl="node1" presStyleIdx="1" presStyleCnt="3">
        <dgm:presLayoutVars>
          <dgm:bulletEnabled val="1"/>
        </dgm:presLayoutVars>
      </dgm:prSet>
      <dgm:spPr/>
      <dgm:t>
        <a:bodyPr/>
        <a:lstStyle/>
        <a:p>
          <a:endParaRPr lang="zh-CN" altLang="en-US"/>
        </a:p>
      </dgm:t>
    </dgm:pt>
    <dgm:pt modelId="{F688A27B-734C-4C6C-A807-A37D0542D68C}" type="pres">
      <dgm:prSet presAssocID="{BC93A186-DEB9-42F9-8B50-C0A13FF5B0DD}" presName="sibTrans" presStyleLbl="sibTrans2D1" presStyleIdx="1" presStyleCnt="2"/>
      <dgm:spPr/>
      <dgm:t>
        <a:bodyPr/>
        <a:lstStyle/>
        <a:p>
          <a:endParaRPr lang="zh-CN" altLang="en-US"/>
        </a:p>
      </dgm:t>
    </dgm:pt>
    <dgm:pt modelId="{CAEE539A-6160-4F34-9EF5-F30312E5FA2F}" type="pres">
      <dgm:prSet presAssocID="{BC93A186-DEB9-42F9-8B50-C0A13FF5B0DD}" presName="connectorText" presStyleLbl="sibTrans2D1" presStyleIdx="1" presStyleCnt="2"/>
      <dgm:spPr/>
      <dgm:t>
        <a:bodyPr/>
        <a:lstStyle/>
        <a:p>
          <a:endParaRPr lang="zh-CN" altLang="en-US"/>
        </a:p>
      </dgm:t>
    </dgm:pt>
    <dgm:pt modelId="{8561FB36-C2F3-43D3-991F-1F3F7A203480}" type="pres">
      <dgm:prSet presAssocID="{99735BB4-2B76-4C43-98B9-847962578458}" presName="node" presStyleLbl="node1" presStyleIdx="2" presStyleCnt="3">
        <dgm:presLayoutVars>
          <dgm:bulletEnabled val="1"/>
        </dgm:presLayoutVars>
      </dgm:prSet>
      <dgm:spPr/>
      <dgm:t>
        <a:bodyPr/>
        <a:lstStyle/>
        <a:p>
          <a:endParaRPr lang="zh-CN" altLang="en-US"/>
        </a:p>
      </dgm:t>
    </dgm:pt>
  </dgm:ptLst>
  <dgm:cxnLst>
    <dgm:cxn modelId="{3386B0A6-E6C5-476F-818F-8FEB8A014EF0}" type="presOf" srcId="{BC93A186-DEB9-42F9-8B50-C0A13FF5B0DD}" destId="{CAEE539A-6160-4F34-9EF5-F30312E5FA2F}" srcOrd="1" destOrd="0" presId="urn:microsoft.com/office/officeart/2005/8/layout/process1"/>
    <dgm:cxn modelId="{3A1E6A66-7820-48C1-A9BE-E377B16072B4}" type="presOf" srcId="{D233FC51-662C-44B7-920F-A34A21F969EE}" destId="{4BD9CE40-FED2-43FB-AA12-3A7B07C92293}" srcOrd="0" destOrd="0" presId="urn:microsoft.com/office/officeart/2005/8/layout/process1"/>
    <dgm:cxn modelId="{54A1C2AA-8240-420C-B23E-C4CC036DADFD}" srcId="{13DD552E-5AB7-4E3D-9825-C08591A18110}" destId="{0752B605-6BEA-48E7-845C-4815DDC0F019}" srcOrd="1" destOrd="0" parTransId="{0CFB88E4-43E1-4AA9-98E9-8FEB4C92CC4C}" sibTransId="{BC93A186-DEB9-42F9-8B50-C0A13FF5B0DD}"/>
    <dgm:cxn modelId="{4273308A-C705-4458-A4B3-DAC9CCB1D48A}" type="presOf" srcId="{9761E37E-3734-4F59-9575-318E640551B7}" destId="{5874E017-114B-4274-A468-E68360809E63}" srcOrd="0" destOrd="0" presId="urn:microsoft.com/office/officeart/2005/8/layout/process1"/>
    <dgm:cxn modelId="{A5E5F2E1-61C2-4B17-95EF-5B78442473E6}" type="presOf" srcId="{0752B605-6BEA-48E7-845C-4815DDC0F019}" destId="{E4E16338-1184-41A5-84B8-ACADA54E1926}" srcOrd="0" destOrd="0" presId="urn:microsoft.com/office/officeart/2005/8/layout/process1"/>
    <dgm:cxn modelId="{478D727F-1731-449F-85DE-8ADBBD977585}" type="presOf" srcId="{13DD552E-5AB7-4E3D-9825-C08591A18110}" destId="{DA1B03EA-3B3A-4000-BD99-3B6C6D80CCB9}" srcOrd="0" destOrd="0" presId="urn:microsoft.com/office/officeart/2005/8/layout/process1"/>
    <dgm:cxn modelId="{314A6B05-D1DB-4165-BB3B-512DBF565581}" type="presOf" srcId="{99735BB4-2B76-4C43-98B9-847962578458}" destId="{8561FB36-C2F3-43D3-991F-1F3F7A203480}" srcOrd="0" destOrd="0" presId="urn:microsoft.com/office/officeart/2005/8/layout/process1"/>
    <dgm:cxn modelId="{600D403D-6343-402A-B801-79C827AE7E7F}" srcId="{13DD552E-5AB7-4E3D-9825-C08591A18110}" destId="{9761E37E-3734-4F59-9575-318E640551B7}" srcOrd="0" destOrd="0" parTransId="{2D02564A-031D-4DF6-8CB1-1233761643A0}" sibTransId="{D233FC51-662C-44B7-920F-A34A21F969EE}"/>
    <dgm:cxn modelId="{DDFF864D-4578-4B48-9F3E-06E229EA1496}" type="presOf" srcId="{BC93A186-DEB9-42F9-8B50-C0A13FF5B0DD}" destId="{F688A27B-734C-4C6C-A807-A37D0542D68C}" srcOrd="0" destOrd="0" presId="urn:microsoft.com/office/officeart/2005/8/layout/process1"/>
    <dgm:cxn modelId="{F9BECD6A-9BF8-489D-A362-D3810074E470}" type="presOf" srcId="{D233FC51-662C-44B7-920F-A34A21F969EE}" destId="{CF4B7B35-688C-4923-B889-E1771C2FF9AA}" srcOrd="1" destOrd="0" presId="urn:microsoft.com/office/officeart/2005/8/layout/process1"/>
    <dgm:cxn modelId="{3CA6E2F1-1067-4463-9FEA-0B9390E8896E}" srcId="{13DD552E-5AB7-4E3D-9825-C08591A18110}" destId="{99735BB4-2B76-4C43-98B9-847962578458}" srcOrd="2" destOrd="0" parTransId="{833E9432-185D-4D4D-A722-744F7C6B916D}" sibTransId="{3B8ED090-CF80-400D-B167-F2EB940CB24F}"/>
    <dgm:cxn modelId="{FC833234-8A8C-4ADB-95E0-3EEAC9BE42DE}" type="presParOf" srcId="{DA1B03EA-3B3A-4000-BD99-3B6C6D80CCB9}" destId="{5874E017-114B-4274-A468-E68360809E63}" srcOrd="0" destOrd="0" presId="urn:microsoft.com/office/officeart/2005/8/layout/process1"/>
    <dgm:cxn modelId="{18CD4144-CC61-4AFC-9D6B-CF53CF817402}" type="presParOf" srcId="{DA1B03EA-3B3A-4000-BD99-3B6C6D80CCB9}" destId="{4BD9CE40-FED2-43FB-AA12-3A7B07C92293}" srcOrd="1" destOrd="0" presId="urn:microsoft.com/office/officeart/2005/8/layout/process1"/>
    <dgm:cxn modelId="{A2872ADD-1E94-4A62-989B-CBE537FC8BE1}" type="presParOf" srcId="{4BD9CE40-FED2-43FB-AA12-3A7B07C92293}" destId="{CF4B7B35-688C-4923-B889-E1771C2FF9AA}" srcOrd="0" destOrd="0" presId="urn:microsoft.com/office/officeart/2005/8/layout/process1"/>
    <dgm:cxn modelId="{1320E45D-9E7D-4D24-A2FC-D024B47D1561}" type="presParOf" srcId="{DA1B03EA-3B3A-4000-BD99-3B6C6D80CCB9}" destId="{E4E16338-1184-41A5-84B8-ACADA54E1926}" srcOrd="2" destOrd="0" presId="urn:microsoft.com/office/officeart/2005/8/layout/process1"/>
    <dgm:cxn modelId="{5E3C76AF-5ED2-4F28-8BE9-C84316EF5A90}" type="presParOf" srcId="{DA1B03EA-3B3A-4000-BD99-3B6C6D80CCB9}" destId="{F688A27B-734C-4C6C-A807-A37D0542D68C}" srcOrd="3" destOrd="0" presId="urn:microsoft.com/office/officeart/2005/8/layout/process1"/>
    <dgm:cxn modelId="{E699DEDE-C6EC-4B47-A314-40C36D097A0E}" type="presParOf" srcId="{F688A27B-734C-4C6C-A807-A37D0542D68C}" destId="{CAEE539A-6160-4F34-9EF5-F30312E5FA2F}" srcOrd="0" destOrd="0" presId="urn:microsoft.com/office/officeart/2005/8/layout/process1"/>
    <dgm:cxn modelId="{30F9DE76-645A-4D9B-A519-49167F5F9047}" type="presParOf" srcId="{DA1B03EA-3B3A-4000-BD99-3B6C6D80CCB9}" destId="{8561FB36-C2F3-43D3-991F-1F3F7A203480}"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72200" cy="1944216"/>
        <a:chOff x="0" y="0"/>
        <a:chExt cx="6172200" cy="1944216"/>
      </a:xfrm>
    </dsp:grpSpPr>
    <dsp:sp modelId="{97527EBF-0E0A-4225-BED5-15810BA395FC}">
      <dsp:nvSpPr>
        <dsp:cNvPr id="3" name="圆角矩形 2"/>
        <dsp:cNvSpPr/>
      </dsp:nvSpPr>
      <dsp:spPr bwMode="white">
        <a:xfrm>
          <a:off x="0" y="162800"/>
          <a:ext cx="6172200" cy="1618615"/>
        </a:xfrm>
        <a:prstGeom prst="roundRect">
          <a:avLst/>
        </a:prstGeom>
      </dsp:spPr>
      <dsp:style>
        <a:lnRef idx="0">
          <a:schemeClr val="lt1"/>
        </a:lnRef>
        <a:fillRef idx="3">
          <a:schemeClr val="accent1"/>
        </a:fillRef>
        <a:effectRef idx="3">
          <a:scrgbClr r="0" g="0" b="0"/>
        </a:effectRef>
        <a:fontRef idx="minor">
          <a:schemeClr val="lt1"/>
        </a:fontRef>
      </dsp:style>
      <dsp:txBody>
        <a:bodyPr lIns="232410" tIns="232410" rIns="232410" bIns="232410" anchor="ctr"/>
        <a:lstStyle>
          <a:lvl1pPr algn="l">
            <a:defRPr sz="6100"/>
          </a:lvl1pPr>
          <a:lvl2pPr marL="285750" indent="-285750" algn="l">
            <a:defRPr sz="4700"/>
          </a:lvl2pPr>
          <a:lvl3pPr marL="571500" indent="-285750" algn="l">
            <a:defRPr sz="4700"/>
          </a:lvl3pPr>
          <a:lvl4pPr marL="857250" indent="-285750" algn="l">
            <a:defRPr sz="4700"/>
          </a:lvl4pPr>
          <a:lvl5pPr marL="1143000" indent="-285750" algn="l">
            <a:defRPr sz="4700"/>
          </a:lvl5pPr>
          <a:lvl6pPr marL="1428750" indent="-285750" algn="l">
            <a:defRPr sz="4700"/>
          </a:lvl6pPr>
          <a:lvl7pPr marL="1714500" indent="-285750" algn="l">
            <a:defRPr sz="4700"/>
          </a:lvl7pPr>
          <a:lvl8pPr marL="2000250" indent="-285750" algn="l">
            <a:defRPr sz="4700"/>
          </a:lvl8pPr>
          <a:lvl9pPr marL="2286000" indent="-285750" algn="l">
            <a:defRPr sz="4700"/>
          </a:lvl9pPr>
        </a:lstStyle>
        <a:p>
          <a:pPr lvl="0" rtl="0">
            <a:lnSpc>
              <a:spcPct val="100000"/>
            </a:lnSpc>
            <a:spcBef>
              <a:spcPct val="0"/>
            </a:spcBef>
            <a:spcAft>
              <a:spcPct val="35000"/>
            </a:spcAft>
          </a:pPr>
          <a:r>
            <a:rPr lang="zh-CN" b="1" baseline="0" dirty="0" smtClean="0"/>
            <a:t>计算机应用基础</a:t>
          </a:r>
          <a:endParaRPr lang="zh-CN" b="1" baseline="0" dirty="0"/>
        </a:p>
      </dsp:txBody>
      <dsp:txXfrm>
        <a:off x="0" y="162800"/>
        <a:ext cx="6172200" cy="161861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7215238" cy="1643074"/>
        <a:chOff x="0" y="0"/>
        <a:chExt cx="7215238" cy="1643074"/>
      </a:xfrm>
    </dsp:grpSpPr>
    <dsp:sp modelId="{5874E017-114B-4274-A468-E68360809E63}">
      <dsp:nvSpPr>
        <dsp:cNvPr id="3" name="圆角矩形 2"/>
        <dsp:cNvSpPr/>
      </dsp:nvSpPr>
      <dsp:spPr bwMode="white">
        <a:xfrm>
          <a:off x="0" y="251913"/>
          <a:ext cx="1898747" cy="1139248"/>
        </a:xfrm>
        <a:prstGeom prst="roundRect">
          <a:avLst>
            <a:gd name="adj" fmla="val 10000"/>
          </a:avLst>
        </a:prstGeom>
      </dsp:spPr>
      <dsp:style>
        <a:lnRef idx="1">
          <a:schemeClr val="accent2"/>
        </a:lnRef>
        <a:fillRef idx="3">
          <a:schemeClr val="accent2"/>
        </a:fillRef>
        <a:effectRef idx="2">
          <a:schemeClr val="accent2"/>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b="1" dirty="0" smtClean="0">
              <a:solidFill>
                <a:schemeClr val="tx1"/>
              </a:solidFill>
            </a:rPr>
            <a:t>(1)</a:t>
          </a:r>
          <a:r>
            <a:rPr lang="zh-CN" sz="1800" b="1" dirty="0" smtClean="0">
              <a:solidFill>
                <a:schemeClr val="tx1"/>
              </a:solidFill>
            </a:rPr>
            <a:t>机器语言。</a:t>
          </a:r>
          <a:endParaRPr lang="zh-CN" sz="1800" b="1" dirty="0">
            <a:solidFill>
              <a:schemeClr val="tx1"/>
            </a:solidFill>
          </a:endParaRPr>
        </a:p>
      </dsp:txBody>
      <dsp:txXfrm>
        <a:off x="0" y="251913"/>
        <a:ext cx="1898747" cy="1139248"/>
      </dsp:txXfrm>
    </dsp:sp>
    <dsp:sp modelId="{4BD9CE40-FED2-43FB-AA12-3A7B07C92293}">
      <dsp:nvSpPr>
        <dsp:cNvPr id="4" name="右箭头 3"/>
        <dsp:cNvSpPr/>
      </dsp:nvSpPr>
      <dsp:spPr bwMode="white">
        <a:xfrm>
          <a:off x="2077229" y="586092"/>
          <a:ext cx="402534" cy="470889"/>
        </a:xfrm>
        <a:prstGeom prst="rightArrow">
          <a:avLst>
            <a:gd name="adj1" fmla="val 60000"/>
            <a:gd name="adj2" fmla="val 50000"/>
          </a:avLst>
        </a:prstGeom>
      </dsp:spPr>
      <dsp:style>
        <a:lnRef idx="0">
          <a:schemeClr val="lt1"/>
        </a:lnRef>
        <a:fillRef idx="1">
          <a:schemeClr val="accent2">
            <a:hueOff val="0"/>
            <a:satOff val="0"/>
            <a:lumOff val="0"/>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b="1">
            <a:solidFill>
              <a:schemeClr val="tx1"/>
            </a:solidFill>
          </a:endParaRPr>
        </a:p>
      </dsp:txBody>
      <dsp:txXfrm>
        <a:off x="2077229" y="586092"/>
        <a:ext cx="402534" cy="470889"/>
      </dsp:txXfrm>
    </dsp:sp>
    <dsp:sp modelId="{E4E16338-1184-41A5-84B8-ACADA54E1926}">
      <dsp:nvSpPr>
        <dsp:cNvPr id="5" name="圆角矩形 4"/>
        <dsp:cNvSpPr/>
      </dsp:nvSpPr>
      <dsp:spPr bwMode="white">
        <a:xfrm>
          <a:off x="2658246" y="251913"/>
          <a:ext cx="1898747" cy="1139248"/>
        </a:xfrm>
        <a:prstGeom prst="roundRect">
          <a:avLst>
            <a:gd name="adj" fmla="val 10000"/>
          </a:avLst>
        </a:prstGeom>
      </dsp:spPr>
      <dsp:style>
        <a:lnRef idx="1">
          <a:schemeClr val="accent3"/>
        </a:lnRef>
        <a:fillRef idx="3">
          <a:schemeClr val="accent3"/>
        </a:fillRef>
        <a:effectRef idx="2">
          <a:schemeClr val="accent3"/>
        </a:effectRef>
        <a:fontRef idx="minor">
          <a:schemeClr val="lt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b="1" dirty="0" smtClean="0">
              <a:solidFill>
                <a:schemeClr val="tx1"/>
              </a:solidFill>
            </a:rPr>
            <a:t>(2)</a:t>
          </a:r>
          <a:r>
            <a:rPr lang="zh-CN" sz="1800" b="1" dirty="0" smtClean="0">
              <a:solidFill>
                <a:schemeClr val="tx1"/>
              </a:solidFill>
            </a:rPr>
            <a:t>汇编语言。</a:t>
          </a:r>
          <a:endParaRPr lang="zh-CN" sz="1800" b="1" dirty="0">
            <a:solidFill>
              <a:schemeClr val="tx1"/>
            </a:solidFill>
          </a:endParaRPr>
        </a:p>
      </dsp:txBody>
      <dsp:txXfrm>
        <a:off x="2658246" y="251913"/>
        <a:ext cx="1898747" cy="1139248"/>
      </dsp:txXfrm>
    </dsp:sp>
    <dsp:sp modelId="{F688A27B-734C-4C6C-A807-A37D0542D68C}">
      <dsp:nvSpPr>
        <dsp:cNvPr id="6" name="右箭头 5"/>
        <dsp:cNvSpPr/>
      </dsp:nvSpPr>
      <dsp:spPr bwMode="white">
        <a:xfrm>
          <a:off x="4735475" y="586092"/>
          <a:ext cx="402534" cy="470889"/>
        </a:xfrm>
        <a:prstGeom prst="rightArrow">
          <a:avLst>
            <a:gd name="adj1" fmla="val 60000"/>
            <a:gd name="adj2" fmla="val 50000"/>
          </a:avLst>
        </a:prstGeom>
      </dsp:spPr>
      <dsp:style>
        <a:lnRef idx="0">
          <a:schemeClr val="lt1"/>
        </a:lnRef>
        <a:fillRef idx="1">
          <a:schemeClr val="accent2">
            <a:hueOff val="1200000"/>
            <a:satOff val="13333"/>
            <a:lumOff val="-8234"/>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b="1">
            <a:solidFill>
              <a:schemeClr val="tx1"/>
            </a:solidFill>
          </a:endParaRPr>
        </a:p>
      </dsp:txBody>
      <dsp:txXfrm>
        <a:off x="4735475" y="586092"/>
        <a:ext cx="402534" cy="470889"/>
      </dsp:txXfrm>
    </dsp:sp>
    <dsp:sp modelId="{8561FB36-C2F3-43D3-991F-1F3F7A203480}">
      <dsp:nvSpPr>
        <dsp:cNvPr id="7" name="圆角矩形 6"/>
        <dsp:cNvSpPr/>
      </dsp:nvSpPr>
      <dsp:spPr bwMode="white">
        <a:xfrm>
          <a:off x="5316491" y="251913"/>
          <a:ext cx="1898747" cy="1139248"/>
        </a:xfrm>
        <a:prstGeom prst="roundRect">
          <a:avLst>
            <a:gd name="adj" fmla="val 10000"/>
          </a:avLst>
        </a:prstGeom>
      </dsp:spPr>
      <dsp:style>
        <a:lnRef idx="1">
          <a:schemeClr val="accent2"/>
        </a:lnRef>
        <a:fillRef idx="2">
          <a:schemeClr val="accent2"/>
        </a:fillRef>
        <a:effectRef idx="1">
          <a:schemeClr val="accent2"/>
        </a:effectRef>
        <a:fontRef idx="minor">
          <a:schemeClr val="dk1"/>
        </a:fontRef>
      </dsp:style>
      <dsp:txBody>
        <a:bodyPr lIns="68580" tIns="68580" rIns="68580" bIns="6858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800" b="1" dirty="0" smtClean="0">
              <a:solidFill>
                <a:schemeClr val="tx1"/>
              </a:solidFill>
            </a:rPr>
            <a:t>(3)</a:t>
          </a:r>
          <a:r>
            <a:rPr lang="zh-CN" sz="1800" b="1" dirty="0" smtClean="0">
              <a:solidFill>
                <a:schemeClr val="tx1"/>
              </a:solidFill>
            </a:rPr>
            <a:t>高级语言。</a:t>
          </a:r>
          <a:endParaRPr lang="zh-CN" sz="1800" b="1" dirty="0">
            <a:solidFill>
              <a:schemeClr val="tx1"/>
            </a:solidFill>
          </a:endParaRPr>
        </a:p>
      </dsp:txBody>
      <dsp:txXfrm>
        <a:off x="5316491" y="251913"/>
        <a:ext cx="1898747" cy="1139248"/>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rSet qsTypeId="urn:microsoft.com/office/officeart/2005/8/quickstyle/simple5"/>
        </dgm:pt>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lnSpAfChP" val="20"/>
              <dgm:param type="stBulletLvl" val="1"/>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align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alignNode1">
    <dgm:scene3d>
      <a:camera prst="orthographicFront"/>
      <a:lightRig rig="threePt" dir="t"/>
    </dgm:scene3d>
    <dgm:txPr/>
    <dgm:style>
      <a:lnRef idx="1">
        <a:scrgbClr r="0" g="0" b="0"/>
      </a:lnRef>
      <a:fillRef idx="3">
        <a:scrgbClr r="0" g="0" b="0"/>
      </a:fillRef>
      <a:effectRef idx="3">
        <a:scrgbClr r="0" g="0" b="0"/>
      </a:effectRef>
      <a:fontRef idx="minor">
        <a:schemeClr val="lt1"/>
      </a:fontRef>
    </dgm:style>
  </dgm:styleLbl>
  <dgm:styleLbl name="asst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b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b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callout">
    <dgm:scene3d>
      <a:camera prst="orthographicFront"/>
      <a:lightRig rig="threePt" dir="t"/>
    </dgm:scene3d>
    <dgm:txPr/>
    <dgm:style>
      <a:lnRef idx="1">
        <a:scrgbClr r="0" g="0" b="0"/>
      </a:lnRef>
      <a:fillRef idx="0">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3">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2">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2">
        <a:scrgbClr r="0" g="0" b="0"/>
      </a:effectRef>
      <a:fontRef idx="minor"/>
    </dgm:style>
  </dgm:styleLbl>
  <dgm:styleLbl name="fgImgPlace1">
    <dgm:scene3d>
      <a:camera prst="orthographicFront"/>
      <a:lightRig rig="threePt" dir="t"/>
    </dgm:scene3d>
    <dgm:txPr/>
    <dgm:style>
      <a:lnRef idx="0">
        <a:scrgbClr r="0" g="0" b="0"/>
      </a:lnRef>
      <a:fillRef idx="1">
        <a:scrgbClr r="0" g="0" b="0"/>
      </a:fillRef>
      <a:effectRef idx="3">
        <a:scrgbClr r="0" g="0" b="0"/>
      </a:effectRef>
      <a:fontRef idx="minor"/>
    </dgm:style>
  </dgm:styleLbl>
  <dgm:styleLbl name="fgShp">
    <dgm:scene3d>
      <a:camera prst="orthographicFront"/>
      <a:lightRig rig="threePt" dir="t"/>
    </dgm:scene3d>
    <dgm:txPr/>
    <dgm:style>
      <a:lnRef idx="0">
        <a:scrgbClr r="0" g="0" b="0"/>
      </a:lnRef>
      <a:fillRef idx="3">
        <a:scrgbClr r="0" g="0" b="0"/>
      </a:fillRef>
      <a:effectRef idx="3">
        <a:scrgbClr r="0" g="0" b="0"/>
      </a:effectRef>
      <a:fontRef idx="minor"/>
    </dgm:style>
  </dgm:styleLbl>
  <dgm:styleLbl name="fg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0">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3">
        <a:scrgbClr r="0" g="0" b="0"/>
      </a:fillRef>
      <a:effectRef idx="3">
        <a:scrgbClr r="0" g="0" b="0"/>
      </a:effectRef>
      <a:fontRef idx="minor">
        <a:schemeClr val="lt1"/>
      </a:fontRef>
    </dgm:style>
  </dgm:styleLbl>
  <dgm:styleLbl name="solidAlign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3">
        <a:scrgbClr r="0" g="0" b="0"/>
      </a:effectRef>
      <a:fontRef idx="minor"/>
    </dgm:style>
  </dgm:styleLbl>
  <dgm:styleLbl name="solidFgAcc1">
    <dgm:scene3d>
      <a:camera prst="orthographicFront"/>
      <a:lightRig rig="threePt" dir="t"/>
    </dgm:scene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0">
        <a:scrgbClr r="0" g="0" b="0"/>
      </a:lnRef>
      <a:fillRef idx="3">
        <a:scrgbClr r="0" g="0" b="0"/>
      </a:fillRef>
      <a:effectRef idx="3">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632BC719-7C55-4B95-8FD5-639CCFF77299}"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jpeg"/><Relationship Id="rId3" Type="http://schemas.openxmlformats.org/officeDocument/2006/relationships/image" Target="../media/image2.jpeg"/><Relationship Id="rId2" Type="http://schemas.openxmlformats.org/officeDocument/2006/relationships/image" Target="../media/image3.jpe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jpeg"/><Relationship Id="rId2" Type="http://schemas.openxmlformats.org/officeDocument/2006/relationships/image" Target="../media/image2.jpe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7.jpeg"/><Relationship Id="rId2" Type="http://schemas.openxmlformats.org/officeDocument/2006/relationships/image" Target="../media/image2.jpe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microsoft.com/office/2007/relationships/diagramDrawing" Target="../diagrams/drawing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3" Type="http://schemas.openxmlformats.org/officeDocument/2006/relationships/diagramData" Target="../diagrams/data2.xml"/><Relationship Id="rId2" Type="http://schemas.openxmlformats.org/officeDocument/2006/relationships/image" Target="../media/image2.jpe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jpeg"/><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5.jpeg"/><Relationship Id="rId2" Type="http://schemas.openxmlformats.org/officeDocument/2006/relationships/image" Target="../media/image2.jpeg"/><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jpeg"/><Relationship Id="rId2" Type="http://schemas.openxmlformats.org/officeDocument/2006/relationships/image" Target="../media/image2.jpeg"/><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1.jpeg"/><Relationship Id="rId2" Type="http://schemas.openxmlformats.org/officeDocument/2006/relationships/image" Target="../media/image2.jpe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2.jpeg"/><Relationship Id="rId2" Type="http://schemas.openxmlformats.org/officeDocument/2006/relationships/image" Target="../media/image2.jpeg"/><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3.jpeg"/><Relationship Id="rId2" Type="http://schemas.openxmlformats.org/officeDocument/2006/relationships/image" Target="../media/image2.jpeg"/><Relationship Id="rId1" Type="http://schemas.openxmlformats.org/officeDocument/2006/relationships/image" Target="../media/image1.png"/></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2.jpeg"/><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jpeg"/><Relationship Id="rId2" Type="http://schemas.openxmlformats.org/officeDocument/2006/relationships/image" Target="../media/image2.jpeg"/><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6.jpeg"/><Relationship Id="rId2" Type="http://schemas.openxmlformats.org/officeDocument/2006/relationships/image" Target="../media/image2.jpeg"/><Relationship Id="rId1" Type="http://schemas.openxmlformats.org/officeDocument/2006/relationships/image" Target="../media/image1.png"/></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7.jpeg"/><Relationship Id="rId2" Type="http://schemas.openxmlformats.org/officeDocument/2006/relationships/image" Target="../media/image2.jpeg"/><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0.jpeg"/><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image" Target="../media/image2.jpeg"/><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2.jpeg"/><Relationship Id="rId4" Type="http://schemas.openxmlformats.org/officeDocument/2006/relationships/image" Target="../media/image21.jpeg"/><Relationship Id="rId3" Type="http://schemas.openxmlformats.org/officeDocument/2006/relationships/image" Target="../media/image2.jpeg"/><Relationship Id="rId2" Type="http://schemas.openxmlformats.org/officeDocument/2006/relationships/tags" Target="../tags/tag1.xml"/><Relationship Id="rId1" Type="http://schemas.openxmlformats.org/officeDocument/2006/relationships/image" Target="../media/image1.png"/></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graphicFrame>
        <p:nvGraphicFramePr>
          <p:cNvPr id="5" name="图示 4"/>
          <p:cNvGraphicFramePr/>
          <p:nvPr/>
        </p:nvGraphicFramePr>
        <p:xfrm>
          <a:off x="3791744" y="2276872"/>
          <a:ext cx="6172200" cy="1944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副标题 2"/>
          <p:cNvSpPr>
            <a:spLocks noGrp="1"/>
          </p:cNvSpPr>
          <p:nvPr>
            <p:ph type="subTitle" idx="1"/>
          </p:nvPr>
        </p:nvSpPr>
        <p:spPr/>
        <p:txBody>
          <a:bodyPr/>
          <a:lstStyle/>
          <a:p>
            <a:r>
              <a:rPr lang="zh-CN" altLang="en-US" dirty="0" smtClean="0">
                <a:solidFill>
                  <a:schemeClr val="accent1">
                    <a:lumMod val="75000"/>
                  </a:schemeClr>
                </a:solidFill>
                <a:effectLst>
                  <a:outerShdw blurRad="38100" dist="38100" dir="2700000" algn="tl">
                    <a:srgbClr val="000000">
                      <a:alpha val="43137"/>
                    </a:srgbClr>
                  </a:outerShdw>
                </a:effectLst>
              </a:rPr>
              <a:t> </a:t>
            </a:r>
            <a:endParaRPr lang="zh-CN" altLang="en-US" dirty="0">
              <a:solidFill>
                <a:schemeClr val="accent1">
                  <a:lumMod val="75000"/>
                </a:schemeClr>
              </a:solidFill>
              <a:effectLst>
                <a:outerShdw blurRad="38100" dist="38100" dir="2700000" algn="tl">
                  <a:srgbClr val="000000">
                    <a:alpha val="43137"/>
                  </a:srgbClr>
                </a:outerShdw>
              </a:effectLst>
            </a:endParaRPr>
          </a:p>
        </p:txBody>
      </p:sp>
      <p:sp>
        <p:nvSpPr>
          <p:cNvPr id="4" name="TextBox 3"/>
          <p:cNvSpPr txBox="1"/>
          <p:nvPr/>
        </p:nvSpPr>
        <p:spPr>
          <a:xfrm>
            <a:off x="5303912" y="188640"/>
            <a:ext cx="5184576" cy="368300"/>
          </a:xfrm>
          <a:prstGeom prst="rect">
            <a:avLst/>
          </a:prstGeom>
          <a:noFill/>
        </p:spPr>
        <p:txBody>
          <a:bodyPr wrap="square" rtlCol="0">
            <a:spAutoFit/>
          </a:bodyPr>
          <a:lstStyle/>
          <a:p>
            <a:pPr algn="r"/>
            <a:r>
              <a:rPr lang="en-US" altLang="zh-CN" dirty="0" smtClean="0">
                <a:solidFill>
                  <a:schemeClr val="accent1">
                    <a:lumMod val="75000"/>
                  </a:schemeClr>
                </a:solidFill>
              </a:rPr>
              <a:t> </a:t>
            </a:r>
            <a:endParaRPr lang="zh-CN" altLang="zh-CN" dirty="0">
              <a:solidFill>
                <a:schemeClr val="accent1">
                  <a:lumMod val="7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65275" y="754063"/>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lstStyle/>
          <a:p>
            <a:pPr>
              <a:lnSpc>
                <a:spcPct val="150000"/>
              </a:lnSpc>
            </a:pPr>
            <a:r>
              <a:rPr lang="en-US" altLang="zh-CN" dirty="0" smtClean="0"/>
              <a:t>    </a:t>
            </a:r>
            <a:r>
              <a:rPr lang="zh-CN" altLang="zh-CN" dirty="0" smtClean="0"/>
              <a:t>当今应用计算机技术已经成为人们学习和工作的基本技能</a:t>
            </a:r>
            <a:r>
              <a:rPr lang="en-US" altLang="zh-CN" dirty="0" smtClean="0"/>
              <a:t>,</a:t>
            </a:r>
            <a:r>
              <a:rPr lang="zh-CN" altLang="zh-CN" dirty="0" smtClean="0"/>
              <a:t>学习计算机技术需要了解计算机的基本概念、掌握计算机的硬件系统和软件系统构成的知识、了解信息在计算机中的表示方法、掌握微型计算机硬件的性能和常用设备的使用方法。</a:t>
            </a:r>
            <a:endParaRPr lang="zh-CN" altLang="zh-CN"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pic>
        <p:nvPicPr>
          <p:cNvPr id="7" name="1A0.EPS" descr="id:2147491590;FounderCES"/>
          <p:cNvPicPr/>
          <p:nvPr/>
        </p:nvPicPr>
        <p:blipFill>
          <a:blip r:embed="rId2" cstate="print"/>
          <a:stretch>
            <a:fillRect/>
          </a:stretch>
        </p:blipFill>
        <p:spPr>
          <a:xfrm>
            <a:off x="3238480" y="1428736"/>
            <a:ext cx="6500858" cy="5000660"/>
          </a:xfrm>
          <a:prstGeom prst="rect">
            <a:avLst/>
          </a:prstGeom>
        </p:spPr>
        <p:style>
          <a:lnRef idx="1">
            <a:schemeClr val="accent3"/>
          </a:lnRef>
          <a:fillRef idx="3">
            <a:schemeClr val="accent3"/>
          </a:fillRef>
          <a:effectRef idx="2">
            <a:schemeClr val="accent3"/>
          </a:effectRef>
          <a:fontRef idx="minor">
            <a:schemeClr val="lt1"/>
          </a:fontRef>
        </p:style>
      </p:pic>
      <p:pic>
        <p:nvPicPr>
          <p:cNvPr id="5" name="Z.EPS" descr="id:2147491553;FounderCES"/>
          <p:cNvPicPr/>
          <p:nvPr/>
        </p:nvPicPr>
        <p:blipFill>
          <a:blip r:embed="rId3" cstate="print"/>
          <a:stretch>
            <a:fillRect/>
          </a:stretch>
        </p:blipFill>
        <p:spPr>
          <a:xfrm>
            <a:off x="1703512" y="188640"/>
            <a:ext cx="1079640" cy="1250640"/>
          </a:xfrm>
          <a:prstGeom prst="rect">
            <a:avLst/>
          </a:prstGeom>
        </p:spPr>
      </p:pic>
      <p:pic>
        <p:nvPicPr>
          <p:cNvPr id="6" name="知识导论.EPS" descr="id:2147491583;FounderCES"/>
          <p:cNvPicPr>
            <a:picLocks noGrp="1"/>
          </p:cNvPicPr>
          <p:nvPr>
            <p:ph sz="quarter" idx="1"/>
          </p:nvPr>
        </p:nvPicPr>
        <p:blipFill>
          <a:blip r:embed="rId4" cstate="print"/>
          <a:stretch>
            <a:fillRect/>
          </a:stretch>
        </p:blipFill>
        <p:spPr>
          <a:xfrm>
            <a:off x="2024034" y="1857364"/>
            <a:ext cx="1944216" cy="504056"/>
          </a:xfrm>
          <a:prstGeom prst="rect">
            <a:avLst/>
          </a:prstGeom>
        </p:spPr>
        <p:style>
          <a:lnRef idx="0">
            <a:schemeClr val="accent2"/>
          </a:lnRef>
          <a:fillRef idx="3">
            <a:schemeClr val="accent2"/>
          </a:fillRef>
          <a:effectRef idx="3">
            <a:schemeClr val="accent2"/>
          </a:effectRef>
          <a:fontRef idx="minor">
            <a:schemeClr val="lt1"/>
          </a:fontRef>
        </p:style>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188595"/>
            <a:ext cx="6612255" cy="39116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rmAutofit fontScale="90000" lnSpcReduction="10000"/>
          </a:bodyPr>
          <a:lstStyle/>
          <a:p>
            <a:pPr>
              <a:lnSpc>
                <a:spcPct val="150000"/>
              </a:lnSpc>
            </a:pPr>
            <a:r>
              <a:rPr lang="en-US" altLang="zh-CN" dirty="0" smtClean="0"/>
              <a:t>1.1</a:t>
            </a:r>
            <a:r>
              <a:rPr lang="zh-CN" altLang="zh-CN" dirty="0" smtClean="0"/>
              <a:t>　计算机的基本概念</a:t>
            </a:r>
            <a:endParaRPr lang="en-US" altLang="zh-CN" dirty="0" smtClean="0"/>
          </a:p>
          <a:p>
            <a:pPr>
              <a:lnSpc>
                <a:spcPct val="150000"/>
              </a:lnSpc>
            </a:pPr>
            <a:endParaRPr lang="en-US" altLang="zh-CN" dirty="0" smtClean="0"/>
          </a:p>
          <a:p>
            <a:pPr>
              <a:lnSpc>
                <a:spcPct val="150000"/>
              </a:lnSpc>
              <a:buNone/>
            </a:pPr>
            <a:endParaRPr lang="en-US" altLang="zh-CN" sz="2000" dirty="0" smtClean="0"/>
          </a:p>
          <a:p>
            <a:pPr>
              <a:lnSpc>
                <a:spcPct val="150000"/>
              </a:lnSpc>
              <a:buNone/>
            </a:pPr>
            <a:r>
              <a:rPr lang="en-US" altLang="zh-CN" sz="2000" dirty="0" smtClean="0"/>
              <a:t>※ </a:t>
            </a:r>
            <a:r>
              <a:rPr lang="zh-CN" altLang="zh-CN" sz="2000" dirty="0" smtClean="0"/>
              <a:t>了解计算机的发展过程</a:t>
            </a:r>
            <a:r>
              <a:rPr lang="en-US" altLang="zh-CN" sz="2000" dirty="0" smtClean="0"/>
              <a:t>;</a:t>
            </a:r>
            <a:endParaRPr lang="zh-CN" altLang="zh-CN" sz="2000" dirty="0" smtClean="0"/>
          </a:p>
          <a:p>
            <a:pPr>
              <a:lnSpc>
                <a:spcPct val="150000"/>
              </a:lnSpc>
              <a:buNone/>
            </a:pPr>
            <a:r>
              <a:rPr lang="en-US" altLang="zh-CN" sz="2000" dirty="0" smtClean="0"/>
              <a:t>※ </a:t>
            </a:r>
            <a:r>
              <a:rPr lang="zh-CN" altLang="zh-CN" sz="2000" dirty="0" smtClean="0"/>
              <a:t>了解计算机的分类</a:t>
            </a:r>
            <a:r>
              <a:rPr lang="en-US" altLang="zh-CN" sz="2000" dirty="0" smtClean="0"/>
              <a:t>;</a:t>
            </a:r>
            <a:endParaRPr lang="zh-CN" altLang="zh-CN" sz="2000" dirty="0" smtClean="0"/>
          </a:p>
          <a:p>
            <a:pPr>
              <a:lnSpc>
                <a:spcPct val="150000"/>
              </a:lnSpc>
              <a:buNone/>
            </a:pPr>
            <a:r>
              <a:rPr lang="en-US" altLang="zh-CN" sz="2000" dirty="0" smtClean="0"/>
              <a:t>※ </a:t>
            </a:r>
            <a:r>
              <a:rPr lang="zh-CN" altLang="zh-CN" sz="2000" dirty="0" smtClean="0"/>
              <a:t>理解计算机的主要特点</a:t>
            </a:r>
            <a:r>
              <a:rPr lang="en-US" altLang="zh-CN" sz="2000" dirty="0" smtClean="0"/>
              <a:t>;</a:t>
            </a:r>
            <a:endParaRPr lang="zh-CN" altLang="zh-CN" sz="2000" dirty="0" smtClean="0"/>
          </a:p>
          <a:p>
            <a:pPr>
              <a:lnSpc>
                <a:spcPct val="150000"/>
              </a:lnSpc>
              <a:buNone/>
            </a:pPr>
            <a:r>
              <a:rPr lang="en-US" altLang="zh-CN" sz="2000" dirty="0" smtClean="0"/>
              <a:t>※ </a:t>
            </a:r>
            <a:r>
              <a:rPr lang="zh-CN" altLang="zh-CN" sz="2000" dirty="0" smtClean="0"/>
              <a:t>了解计算机的主要用途</a:t>
            </a:r>
            <a:r>
              <a:rPr lang="en-US" altLang="zh-CN" sz="2000" dirty="0" smtClean="0"/>
              <a:t>;</a:t>
            </a:r>
            <a:endParaRPr lang="zh-CN" altLang="zh-CN" sz="2000" dirty="0" smtClean="0"/>
          </a:p>
          <a:p>
            <a:pPr>
              <a:lnSpc>
                <a:spcPct val="150000"/>
              </a:lnSpc>
              <a:buNone/>
            </a:pPr>
            <a:r>
              <a:rPr lang="en-US" altLang="zh-CN" sz="2000" dirty="0" smtClean="0"/>
              <a:t>※ </a:t>
            </a:r>
            <a:r>
              <a:rPr lang="zh-CN" altLang="zh-CN" sz="2000" dirty="0" smtClean="0"/>
              <a:t>了解信息的基本概念。</a:t>
            </a:r>
            <a:endParaRPr lang="zh-CN" altLang="zh-CN" sz="2000" dirty="0" smtClean="0"/>
          </a:p>
          <a:p>
            <a:pPr>
              <a:lnSpc>
                <a:spcPct val="150000"/>
              </a:lnSpc>
            </a:pPr>
            <a:endParaRPr lang="zh-CN" altLang="zh-CN" dirty="0"/>
          </a:p>
        </p:txBody>
      </p:sp>
      <p:pic>
        <p:nvPicPr>
          <p:cNvPr id="5" name="Z.EPS" descr="id:2147491553;FounderCES"/>
          <p:cNvPicPr/>
          <p:nvPr/>
        </p:nvPicPr>
        <p:blipFill>
          <a:blip r:embed="rId2" cstate="print"/>
          <a:stretch>
            <a:fillRect/>
          </a:stretch>
        </p:blipFill>
        <p:spPr>
          <a:xfrm>
            <a:off x="1182177" y="188640"/>
            <a:ext cx="1079640" cy="1250640"/>
          </a:xfrm>
          <a:prstGeom prst="rect">
            <a:avLst/>
          </a:prstGeom>
        </p:spPr>
      </p:pic>
      <p:pic>
        <p:nvPicPr>
          <p:cNvPr id="6" name="学习目标.EPS" descr="id:2147491605;FounderCES"/>
          <p:cNvPicPr/>
          <p:nvPr/>
        </p:nvPicPr>
        <p:blipFill>
          <a:blip r:embed="rId3" cstate="print"/>
          <a:stretch>
            <a:fillRect/>
          </a:stretch>
        </p:blipFill>
        <p:spPr>
          <a:xfrm>
            <a:off x="1952596" y="2526022"/>
            <a:ext cx="1714512" cy="57150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981200" y="274955"/>
            <a:ext cx="6387465" cy="375285"/>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rmAutofit lnSpcReduction="10000"/>
          </a:bodyPr>
          <a:lstStyle/>
          <a:p>
            <a:pPr>
              <a:lnSpc>
                <a:spcPct val="150000"/>
              </a:lnSpc>
            </a:pPr>
            <a:r>
              <a:rPr lang="en-US" altLang="zh-CN" sz="2000" dirty="0" smtClean="0"/>
              <a:t>1.1.1</a:t>
            </a:r>
            <a:r>
              <a:rPr lang="zh-CN" altLang="zh-CN" sz="2000" dirty="0" smtClean="0"/>
              <a:t>　计算机的发展过程</a:t>
            </a:r>
            <a:endParaRPr lang="zh-CN" altLang="zh-CN" sz="2000" dirty="0" smtClean="0"/>
          </a:p>
          <a:p>
            <a:pPr>
              <a:lnSpc>
                <a:spcPct val="150000"/>
              </a:lnSpc>
              <a:buFont typeface="Wingdings" panose="05000000000000000000" pitchFamily="2" charset="2"/>
              <a:buChar char="Ø"/>
            </a:pPr>
            <a:r>
              <a:rPr lang="en-US" altLang="zh-CN" sz="2000" dirty="0" smtClean="0"/>
              <a:t>1.</a:t>
            </a:r>
            <a:r>
              <a:rPr lang="zh-CN" altLang="zh-CN" sz="2000" dirty="0" smtClean="0"/>
              <a:t>计算机的诞生</a:t>
            </a:r>
            <a:endParaRPr lang="zh-CN" altLang="zh-CN" sz="2000" dirty="0" smtClean="0"/>
          </a:p>
          <a:p>
            <a:pPr>
              <a:lnSpc>
                <a:spcPct val="150000"/>
              </a:lnSpc>
              <a:buNone/>
            </a:pPr>
            <a:r>
              <a:rPr lang="en-US" altLang="zh-CN" sz="2000" dirty="0" smtClean="0"/>
              <a:t>      </a:t>
            </a:r>
            <a:r>
              <a:rPr lang="zh-CN" altLang="zh-CN" sz="2000" dirty="0" smtClean="0"/>
              <a:t>计算机是一种能自动运行、具有高速运算能力和信息存储能力、在程序控制下完成信息加工工作的电子设备。</a:t>
            </a:r>
            <a:endParaRPr lang="en-US" altLang="zh-CN" sz="2000" dirty="0" smtClean="0"/>
          </a:p>
          <a:p>
            <a:pPr>
              <a:lnSpc>
                <a:spcPct val="150000"/>
              </a:lnSpc>
              <a:buFont typeface="Wingdings" panose="05000000000000000000" pitchFamily="2" charset="2"/>
              <a:buChar char="Ø"/>
            </a:pPr>
            <a:r>
              <a:rPr lang="en-US" altLang="zh-CN" sz="2000" dirty="0" smtClean="0"/>
              <a:t>2.</a:t>
            </a:r>
            <a:r>
              <a:rPr lang="zh-CN" altLang="zh-CN" sz="2000" dirty="0" smtClean="0"/>
              <a:t>计算机的发展阶段</a:t>
            </a:r>
            <a:endParaRPr lang="zh-CN" altLang="zh-CN" sz="2000" dirty="0" smtClean="0"/>
          </a:p>
          <a:p>
            <a:pPr>
              <a:lnSpc>
                <a:spcPct val="150000"/>
              </a:lnSpc>
              <a:buNone/>
            </a:pPr>
            <a:r>
              <a:rPr lang="en-US" altLang="zh-CN" sz="2000" dirty="0" smtClean="0"/>
              <a:t>       </a:t>
            </a:r>
            <a:r>
              <a:rPr lang="zh-CN" altLang="zh-CN" sz="2000" dirty="0" smtClean="0"/>
              <a:t>按照计算机电子元件的构成</a:t>
            </a:r>
            <a:r>
              <a:rPr lang="en-US" altLang="zh-CN" sz="2000" dirty="0" smtClean="0"/>
              <a:t>,</a:t>
            </a:r>
            <a:r>
              <a:rPr lang="zh-CN" altLang="zh-CN" sz="2000" dirty="0" smtClean="0"/>
              <a:t>计算机的发展经历了以下阶段</a:t>
            </a:r>
            <a:r>
              <a:rPr lang="en-US" altLang="zh-CN" sz="2000" dirty="0" smtClean="0"/>
              <a:t>:</a:t>
            </a:r>
            <a:endParaRPr lang="zh-CN" altLang="zh-CN" sz="2000" dirty="0" smtClean="0"/>
          </a:p>
          <a:p>
            <a:pPr>
              <a:lnSpc>
                <a:spcPct val="150000"/>
              </a:lnSpc>
              <a:buNone/>
            </a:pPr>
            <a:r>
              <a:rPr lang="en-US" altLang="zh-CN" sz="2000" dirty="0" smtClean="0"/>
              <a:t>(1)</a:t>
            </a:r>
            <a:r>
              <a:rPr lang="zh-CN" altLang="zh-CN" sz="2000" dirty="0" smtClean="0"/>
              <a:t>第一代计算机。</a:t>
            </a:r>
            <a:r>
              <a:rPr lang="en-US" altLang="zh-CN" sz="2000" dirty="0" smtClean="0"/>
              <a:t>     (2)</a:t>
            </a:r>
            <a:r>
              <a:rPr lang="zh-CN" altLang="zh-CN" sz="2000" dirty="0" smtClean="0"/>
              <a:t>第二代计算机。</a:t>
            </a:r>
            <a:endParaRPr lang="zh-CN" altLang="zh-CN" sz="2000" dirty="0" smtClean="0"/>
          </a:p>
          <a:p>
            <a:pPr>
              <a:lnSpc>
                <a:spcPct val="150000"/>
              </a:lnSpc>
              <a:buNone/>
            </a:pPr>
            <a:r>
              <a:rPr lang="en-US" altLang="zh-CN" sz="2000" dirty="0" smtClean="0"/>
              <a:t>(3)</a:t>
            </a:r>
            <a:r>
              <a:rPr lang="zh-CN" altLang="zh-CN" sz="2000" dirty="0" smtClean="0"/>
              <a:t>第三代计算机。</a:t>
            </a:r>
            <a:r>
              <a:rPr lang="en-US" altLang="zh-CN" sz="2000" dirty="0" smtClean="0"/>
              <a:t>     (4)</a:t>
            </a:r>
            <a:r>
              <a:rPr lang="zh-CN" altLang="zh-CN" sz="2000" dirty="0" smtClean="0"/>
              <a:t>第四代计算机。</a:t>
            </a:r>
            <a:endParaRPr lang="zh-CN" altLang="zh-CN" sz="2000" dirty="0"/>
          </a:p>
        </p:txBody>
      </p:sp>
      <p:pic>
        <p:nvPicPr>
          <p:cNvPr id="5" name="Z.EPS" descr="id:2147491553;FounderCES"/>
          <p:cNvPicPr/>
          <p:nvPr/>
        </p:nvPicPr>
        <p:blipFill>
          <a:blip r:embed="rId2" cstate="print"/>
          <a:stretch>
            <a:fillRect/>
          </a:stretch>
        </p:blipFill>
        <p:spPr>
          <a:xfrm>
            <a:off x="838007" y="164510"/>
            <a:ext cx="1079640" cy="1250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509395" y="0"/>
            <a:ext cx="6891020" cy="64643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20000"/>
              </a:lnSpc>
            </a:pPr>
            <a:r>
              <a:rPr lang="en-US" altLang="zh-CN" sz="2000" dirty="0" smtClean="0"/>
              <a:t>1.2.2</a:t>
            </a:r>
            <a:r>
              <a:rPr lang="zh-CN" altLang="zh-CN" sz="2000" dirty="0" smtClean="0"/>
              <a:t>　计算机的分类</a:t>
            </a:r>
            <a:endParaRPr lang="zh-CN" altLang="zh-CN" sz="2000" dirty="0" smtClean="0"/>
          </a:p>
          <a:p>
            <a:pPr>
              <a:lnSpc>
                <a:spcPct val="120000"/>
              </a:lnSpc>
              <a:buNone/>
            </a:pPr>
            <a:r>
              <a:rPr lang="en-US" altLang="zh-CN" sz="2000" dirty="0" smtClean="0"/>
              <a:t>      </a:t>
            </a:r>
            <a:r>
              <a:rPr lang="zh-CN" altLang="zh-CN" sz="2000" dirty="0" smtClean="0"/>
              <a:t>计算机按照用途可以分为通用计算机和专用计算机。通用计算机功能齐全、用途广泛</a:t>
            </a:r>
            <a:r>
              <a:rPr lang="en-US" altLang="zh-CN" sz="2000" dirty="0" smtClean="0"/>
              <a:t>,</a:t>
            </a:r>
            <a:r>
              <a:rPr lang="zh-CN" altLang="zh-CN" sz="2000" dirty="0" smtClean="0"/>
              <a:t>专用计算机功能单一。通用计算机按照机器的规模和处理能力可以分为以下类别</a:t>
            </a:r>
            <a:r>
              <a:rPr lang="en-US" altLang="zh-CN" sz="2000" dirty="0" smtClean="0"/>
              <a:t>:</a:t>
            </a:r>
            <a:endParaRPr lang="zh-CN" altLang="zh-CN" sz="2000" dirty="0" smtClean="0"/>
          </a:p>
          <a:p>
            <a:pPr>
              <a:lnSpc>
                <a:spcPct val="120000"/>
              </a:lnSpc>
              <a:buNone/>
            </a:pPr>
            <a:r>
              <a:rPr lang="en-US" altLang="zh-CN" sz="2000" dirty="0" smtClean="0"/>
              <a:t>(1)</a:t>
            </a:r>
            <a:r>
              <a:rPr lang="zh-CN" altLang="zh-CN" sz="2000" dirty="0" smtClean="0"/>
              <a:t>巨型计算机。</a:t>
            </a:r>
            <a:r>
              <a:rPr lang="en-US" altLang="zh-CN" sz="2000" dirty="0" smtClean="0"/>
              <a:t>(2)</a:t>
            </a:r>
            <a:r>
              <a:rPr lang="zh-CN" altLang="zh-CN" sz="2000" dirty="0" smtClean="0"/>
              <a:t>大型计算机。</a:t>
            </a:r>
            <a:r>
              <a:rPr lang="en-US" altLang="zh-CN" sz="2000" dirty="0" smtClean="0"/>
              <a:t> (3)</a:t>
            </a:r>
            <a:r>
              <a:rPr lang="zh-CN" altLang="zh-CN" sz="2000" dirty="0" smtClean="0"/>
              <a:t>中型计算机。</a:t>
            </a:r>
            <a:endParaRPr lang="en-US" altLang="zh-CN" sz="2000" dirty="0" smtClean="0"/>
          </a:p>
          <a:p>
            <a:pPr>
              <a:lnSpc>
                <a:spcPct val="120000"/>
              </a:lnSpc>
              <a:buNone/>
            </a:pPr>
            <a:r>
              <a:rPr lang="en-US" altLang="zh-CN" sz="2000" dirty="0" smtClean="0"/>
              <a:t>(4)</a:t>
            </a:r>
            <a:r>
              <a:rPr lang="zh-CN" altLang="zh-CN" sz="2000" dirty="0" smtClean="0"/>
              <a:t>小型计算机。</a:t>
            </a:r>
            <a:r>
              <a:rPr lang="en-US" altLang="zh-CN" sz="2000" dirty="0" smtClean="0"/>
              <a:t>    (5)</a:t>
            </a:r>
            <a:r>
              <a:rPr lang="zh-CN" altLang="zh-CN" sz="2000" dirty="0" smtClean="0"/>
              <a:t>微型计算机。</a:t>
            </a:r>
            <a:endParaRPr lang="en-US" altLang="zh-CN" sz="2000" dirty="0" smtClean="0"/>
          </a:p>
          <a:p>
            <a:pPr>
              <a:lnSpc>
                <a:spcPct val="120000"/>
              </a:lnSpc>
            </a:pPr>
            <a:r>
              <a:rPr lang="en-US" altLang="zh-CN" sz="2000" dirty="0" smtClean="0"/>
              <a:t>1.2.3</a:t>
            </a:r>
            <a:r>
              <a:rPr lang="zh-CN" altLang="zh-CN" sz="2000" dirty="0" smtClean="0"/>
              <a:t>　计算机的特点</a:t>
            </a:r>
            <a:endParaRPr lang="zh-CN" altLang="zh-CN" sz="2000" dirty="0" smtClean="0"/>
          </a:p>
          <a:p>
            <a:pPr>
              <a:lnSpc>
                <a:spcPct val="120000"/>
              </a:lnSpc>
              <a:buNone/>
            </a:pPr>
            <a:r>
              <a:rPr lang="zh-CN" altLang="zh-CN" sz="2000" dirty="0" smtClean="0"/>
              <a:t>计算机具有以下特点</a:t>
            </a:r>
            <a:r>
              <a:rPr lang="en-US" altLang="zh-CN" sz="2000" dirty="0" smtClean="0"/>
              <a:t>:</a:t>
            </a:r>
            <a:endParaRPr lang="zh-CN" altLang="zh-CN" sz="2000" dirty="0" smtClean="0"/>
          </a:p>
          <a:p>
            <a:pPr>
              <a:lnSpc>
                <a:spcPct val="120000"/>
              </a:lnSpc>
              <a:buNone/>
            </a:pPr>
            <a:r>
              <a:rPr lang="en-US" altLang="zh-CN" sz="2000" dirty="0" smtClean="0"/>
              <a:t>(1)</a:t>
            </a:r>
            <a:r>
              <a:rPr lang="zh-CN" altLang="zh-CN" sz="2000" dirty="0" smtClean="0"/>
              <a:t>运算速度快、精度高。</a:t>
            </a:r>
            <a:r>
              <a:rPr lang="en-US" altLang="zh-CN" sz="2000" dirty="0" smtClean="0"/>
              <a:t>      (2)</a:t>
            </a:r>
            <a:r>
              <a:rPr lang="zh-CN" altLang="zh-CN" sz="2000" dirty="0" smtClean="0"/>
              <a:t>具有存储与记忆能力。</a:t>
            </a:r>
            <a:endParaRPr lang="zh-CN" altLang="zh-CN" sz="2000" dirty="0" smtClean="0"/>
          </a:p>
          <a:p>
            <a:pPr>
              <a:lnSpc>
                <a:spcPct val="120000"/>
              </a:lnSpc>
              <a:buNone/>
            </a:pPr>
            <a:r>
              <a:rPr lang="en-US" altLang="zh-CN" sz="2000" dirty="0" smtClean="0"/>
              <a:t>(3)</a:t>
            </a:r>
            <a:r>
              <a:rPr lang="zh-CN" altLang="zh-CN" sz="2000" dirty="0" smtClean="0"/>
              <a:t>具有逻辑判断能力。</a:t>
            </a:r>
            <a:r>
              <a:rPr lang="en-US" altLang="zh-CN" sz="2000" dirty="0" smtClean="0"/>
              <a:t>          (4)</a:t>
            </a:r>
            <a:r>
              <a:rPr lang="zh-CN" altLang="zh-CN" sz="2000" dirty="0" smtClean="0"/>
              <a:t>自动化程度高。</a:t>
            </a:r>
            <a:endParaRPr lang="zh-CN" altLang="zh-CN" sz="2000" dirty="0" smtClean="0"/>
          </a:p>
          <a:p>
            <a:pPr>
              <a:lnSpc>
                <a:spcPct val="120000"/>
              </a:lnSpc>
              <a:buNone/>
            </a:pPr>
            <a:r>
              <a:rPr lang="en-US" altLang="zh-CN" sz="2000" dirty="0" smtClean="0"/>
              <a:t>(5)</a:t>
            </a:r>
            <a:r>
              <a:rPr lang="zh-CN" altLang="zh-CN" sz="2000" dirty="0" smtClean="0"/>
              <a:t>计算机通用性强。</a:t>
            </a:r>
            <a:endParaRPr lang="zh-CN" altLang="zh-CN" sz="2000" dirty="0"/>
          </a:p>
        </p:txBody>
      </p:sp>
      <p:pic>
        <p:nvPicPr>
          <p:cNvPr id="5" name="Z.EPS" descr="id:2147491553;FounderCES"/>
          <p:cNvPicPr/>
          <p:nvPr/>
        </p:nvPicPr>
        <p:blipFill>
          <a:blip r:embed="rId2" cstate="print"/>
          <a:stretch>
            <a:fillRect/>
          </a:stretch>
        </p:blipFill>
        <p:spPr>
          <a:xfrm>
            <a:off x="727517" y="128315"/>
            <a:ext cx="1079640" cy="1250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68655" y="-23653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1.2.4</a:t>
            </a:r>
            <a:r>
              <a:rPr lang="zh-CN" altLang="en-US" sz="2000" dirty="0" smtClean="0"/>
              <a:t>　计算机的用途</a:t>
            </a:r>
            <a:endParaRPr lang="zh-CN" altLang="en-US" sz="2000" dirty="0" smtClean="0"/>
          </a:p>
          <a:p>
            <a:pPr>
              <a:lnSpc>
                <a:spcPct val="150000"/>
              </a:lnSpc>
              <a:buNone/>
            </a:pPr>
            <a:r>
              <a:rPr lang="zh-CN" altLang="en-US" sz="2000" dirty="0" smtClean="0"/>
              <a:t>    电子计算机自诞生以来广泛应用于各个领域。</a:t>
            </a:r>
            <a:endParaRPr lang="zh-CN" altLang="en-US" sz="2000" dirty="0" smtClean="0"/>
          </a:p>
          <a:p>
            <a:pPr>
              <a:lnSpc>
                <a:spcPct val="150000"/>
              </a:lnSpc>
              <a:buNone/>
            </a:pPr>
            <a:r>
              <a:rPr lang="en-US" sz="2000" dirty="0" smtClean="0"/>
              <a:t>(1)</a:t>
            </a:r>
            <a:r>
              <a:rPr lang="zh-CN" altLang="en-US" sz="2000" dirty="0" smtClean="0"/>
              <a:t>数值计算。</a:t>
            </a:r>
            <a:endParaRPr lang="zh-CN" altLang="en-US" sz="2000" dirty="0" smtClean="0"/>
          </a:p>
          <a:p>
            <a:pPr>
              <a:lnSpc>
                <a:spcPct val="150000"/>
              </a:lnSpc>
              <a:buNone/>
            </a:pPr>
            <a:r>
              <a:rPr lang="zh-CN" altLang="en-US" sz="2000" dirty="0" smtClean="0"/>
              <a:t>       数值计算是计算机应用的重要领域</a:t>
            </a:r>
            <a:r>
              <a:rPr lang="en-US" sz="2000" dirty="0" smtClean="0"/>
              <a:t>,</a:t>
            </a:r>
            <a:r>
              <a:rPr lang="zh-CN" altLang="en-US" sz="2000" dirty="0" smtClean="0"/>
              <a:t>数值计算要求量大、计算结果精度高、速度快。</a:t>
            </a:r>
            <a:endParaRPr lang="zh-CN" altLang="en-US" sz="2000" dirty="0" smtClean="0"/>
          </a:p>
          <a:p>
            <a:pPr>
              <a:lnSpc>
                <a:spcPct val="150000"/>
              </a:lnSpc>
              <a:buNone/>
            </a:pPr>
            <a:r>
              <a:rPr lang="en-US" sz="2000" dirty="0" smtClean="0"/>
              <a:t>(2)</a:t>
            </a:r>
            <a:r>
              <a:rPr lang="zh-CN" altLang="en-US" sz="2000" dirty="0" smtClean="0"/>
              <a:t>事务信息处理。</a:t>
            </a:r>
            <a:endParaRPr lang="zh-CN" altLang="en-US" sz="2000" dirty="0" smtClean="0"/>
          </a:p>
          <a:p>
            <a:pPr>
              <a:lnSpc>
                <a:spcPct val="150000"/>
              </a:lnSpc>
              <a:buNone/>
            </a:pPr>
            <a:r>
              <a:rPr lang="zh-CN" altLang="en-US" sz="2000" dirty="0" smtClean="0"/>
              <a:t>      事务信息处理是计算机应用最广泛的领域</a:t>
            </a:r>
            <a:r>
              <a:rPr lang="en-US" sz="2000" dirty="0" smtClean="0"/>
              <a:t>,</a:t>
            </a:r>
            <a:r>
              <a:rPr lang="zh-CN" altLang="en-US" sz="2000" dirty="0" smtClean="0"/>
              <a:t>事物信息处理主要指文字数据的处理</a:t>
            </a:r>
            <a:r>
              <a:rPr lang="en-US" sz="2000" dirty="0" smtClean="0"/>
              <a:t>,</a:t>
            </a:r>
            <a:r>
              <a:rPr lang="zh-CN" altLang="en-US" sz="2000" dirty="0" smtClean="0"/>
              <a:t>包括数据的收集、存储、加工、传输、利用等环节。</a:t>
            </a:r>
            <a:endParaRPr lang="zh-CN" altLang="en-US" sz="2000" dirty="0" smtClean="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77545" y="-13684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None/>
            </a:pPr>
            <a:r>
              <a:rPr lang="en-US" sz="2000" dirty="0" smtClean="0"/>
              <a:t>(3)</a:t>
            </a:r>
            <a:r>
              <a:rPr lang="zh-CN" altLang="en-US" sz="2000" dirty="0" smtClean="0"/>
              <a:t>自动控制。</a:t>
            </a:r>
            <a:endParaRPr lang="zh-CN" altLang="en-US" sz="2000" dirty="0" smtClean="0"/>
          </a:p>
          <a:p>
            <a:pPr>
              <a:lnSpc>
                <a:spcPct val="150000"/>
              </a:lnSpc>
              <a:buNone/>
            </a:pPr>
            <a:r>
              <a:rPr lang="zh-CN" altLang="en-US" sz="2000" dirty="0" smtClean="0"/>
              <a:t>      利用计算机进行生产过程的自动控制</a:t>
            </a:r>
            <a:r>
              <a:rPr lang="en-US" sz="2000" dirty="0" smtClean="0"/>
              <a:t>,</a:t>
            </a:r>
            <a:r>
              <a:rPr lang="zh-CN" altLang="en-US" sz="2000" dirty="0" smtClean="0"/>
              <a:t>可以实现生产过程的实时数据处理。</a:t>
            </a:r>
            <a:endParaRPr lang="zh-CN" altLang="en-US" sz="2000" dirty="0" smtClean="0"/>
          </a:p>
          <a:p>
            <a:pPr>
              <a:lnSpc>
                <a:spcPct val="150000"/>
              </a:lnSpc>
              <a:buNone/>
            </a:pPr>
            <a:r>
              <a:rPr lang="en-US" sz="2000" dirty="0" smtClean="0"/>
              <a:t>(4)</a:t>
            </a:r>
            <a:r>
              <a:rPr lang="zh-CN" altLang="en-US" sz="2000" dirty="0" smtClean="0"/>
              <a:t>计算机辅助应用。</a:t>
            </a:r>
            <a:endParaRPr lang="zh-CN" altLang="en-US" sz="2000" dirty="0" smtClean="0"/>
          </a:p>
          <a:p>
            <a:pPr>
              <a:lnSpc>
                <a:spcPct val="150000"/>
              </a:lnSpc>
              <a:buNone/>
            </a:pPr>
            <a:r>
              <a:rPr lang="zh-CN" altLang="en-US" sz="2000" dirty="0" smtClean="0"/>
              <a:t>       计算机辅助设计</a:t>
            </a:r>
            <a:r>
              <a:rPr lang="en-US" sz="2000" dirty="0" smtClean="0"/>
              <a:t>(Computer Aided Design,CAD)</a:t>
            </a:r>
            <a:r>
              <a:rPr lang="zh-CN" altLang="en-US" sz="2000" dirty="0" smtClean="0"/>
              <a:t>技术是指工程技术人员利用计算机技术对产品和工程项目进行总体设计、绘图、分析的过程</a:t>
            </a:r>
            <a:r>
              <a:rPr lang="en-US" sz="2000" dirty="0" smtClean="0"/>
              <a:t>,</a:t>
            </a:r>
            <a:r>
              <a:rPr lang="zh-CN" altLang="en-US" sz="2000" dirty="0" smtClean="0"/>
              <a:t>利用</a:t>
            </a:r>
            <a:r>
              <a:rPr lang="en-US" sz="2000" dirty="0" smtClean="0"/>
              <a:t>CAD</a:t>
            </a:r>
            <a:r>
              <a:rPr lang="zh-CN" altLang="en-US" sz="2000" dirty="0" smtClean="0"/>
              <a:t>技术可以提高产品设计、建筑设计的工作效率。</a:t>
            </a:r>
            <a:endParaRPr lang="zh-CN" altLang="en-US" sz="2000" dirty="0" smtClean="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1240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None/>
            </a:pPr>
            <a:r>
              <a:rPr lang="en-US" sz="2000" dirty="0" smtClean="0"/>
              <a:t>(5)</a:t>
            </a:r>
            <a:r>
              <a:rPr lang="zh-CN" altLang="en-US" sz="2000" dirty="0" smtClean="0"/>
              <a:t>人工智能的应用。</a:t>
            </a:r>
            <a:endParaRPr lang="zh-CN" altLang="en-US" sz="2000" dirty="0" smtClean="0"/>
          </a:p>
          <a:p>
            <a:pPr>
              <a:lnSpc>
                <a:spcPct val="150000"/>
              </a:lnSpc>
              <a:buNone/>
            </a:pPr>
            <a:r>
              <a:rPr lang="zh-CN" altLang="en-US" sz="2000" dirty="0" smtClean="0"/>
              <a:t>       人工智能的应用是指利用计算机可以模拟人的思维、感知、判断、理解活动的应用。</a:t>
            </a:r>
            <a:endParaRPr lang="zh-CN" altLang="en-US" sz="2000" dirty="0" smtClean="0"/>
          </a:p>
          <a:p>
            <a:pPr>
              <a:lnSpc>
                <a:spcPct val="150000"/>
              </a:lnSpc>
              <a:buNone/>
            </a:pPr>
            <a:r>
              <a:rPr lang="en-US" sz="2000" dirty="0" smtClean="0"/>
              <a:t>(6)</a:t>
            </a:r>
            <a:r>
              <a:rPr lang="zh-CN" altLang="en-US" sz="2000" dirty="0" smtClean="0"/>
              <a:t>计算机网络的应用。</a:t>
            </a:r>
            <a:endParaRPr lang="zh-CN" altLang="en-US" sz="2000" dirty="0" smtClean="0"/>
          </a:p>
          <a:p>
            <a:pPr>
              <a:lnSpc>
                <a:spcPct val="150000"/>
              </a:lnSpc>
              <a:buNone/>
            </a:pPr>
            <a:r>
              <a:rPr lang="zh-CN" altLang="en-US" sz="2000" dirty="0" smtClean="0"/>
              <a:t>      利用计算机网络可以实现信息资源的共享</a:t>
            </a:r>
            <a:r>
              <a:rPr lang="en-US" sz="2000" dirty="0" smtClean="0"/>
              <a:t>,</a:t>
            </a:r>
            <a:r>
              <a:rPr lang="zh-CN" altLang="en-US" sz="2000" dirty="0" smtClean="0"/>
              <a:t>特别是互联网的应用与人们的生活、学习和工作密切相关</a:t>
            </a:r>
            <a:r>
              <a:rPr lang="en-US" sz="2000" dirty="0" smtClean="0"/>
              <a:t>,</a:t>
            </a:r>
            <a:r>
              <a:rPr lang="zh-CN" altLang="en-US" sz="2000" dirty="0" smtClean="0"/>
              <a:t>利用互联网可以获得更多的信息资源。</a:t>
            </a:r>
            <a:endParaRPr lang="zh-CN" altLang="en-US" sz="2000" dirty="0" smtClean="0"/>
          </a:p>
          <a:p>
            <a:pPr>
              <a:lnSpc>
                <a:spcPct val="150000"/>
              </a:lnSpc>
              <a:buNone/>
            </a:pPr>
            <a:r>
              <a:rPr lang="en-US" sz="2000" dirty="0" smtClean="0"/>
              <a:t>(7)</a:t>
            </a:r>
            <a:r>
              <a:rPr lang="zh-CN" altLang="en-US" sz="2000" dirty="0" smtClean="0"/>
              <a:t>计算机多媒体的应用。</a:t>
            </a:r>
            <a:endParaRPr lang="zh-CN" altLang="en-US" sz="2000" dirty="0" smtClean="0"/>
          </a:p>
          <a:p>
            <a:pPr>
              <a:lnSpc>
                <a:spcPct val="150000"/>
              </a:lnSpc>
              <a:buNone/>
            </a:pPr>
            <a:r>
              <a:rPr lang="zh-CN" altLang="en-US" sz="2000" dirty="0" smtClean="0"/>
              <a:t>     多媒体是指文字、图片、音频和视频信息。</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1045" y="-37242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30000"/>
              </a:lnSpc>
            </a:pPr>
            <a:r>
              <a:rPr lang="en-US" sz="2000" dirty="0" smtClean="0"/>
              <a:t>1.2.5</a:t>
            </a:r>
            <a:r>
              <a:rPr lang="zh-CN" altLang="en-US" sz="2000" dirty="0" smtClean="0"/>
              <a:t>　信息的概念</a:t>
            </a:r>
            <a:endParaRPr lang="zh-CN" altLang="en-US" sz="2000" dirty="0" smtClean="0"/>
          </a:p>
          <a:p>
            <a:pPr>
              <a:lnSpc>
                <a:spcPct val="130000"/>
              </a:lnSpc>
              <a:buFont typeface="Wingdings" panose="05000000000000000000" pitchFamily="2" charset="2"/>
              <a:buChar char="Ø"/>
            </a:pPr>
            <a:r>
              <a:rPr lang="en-US" sz="2000" dirty="0" smtClean="0"/>
              <a:t>1.</a:t>
            </a:r>
            <a:r>
              <a:rPr lang="zh-CN" altLang="en-US" sz="2000" dirty="0" smtClean="0"/>
              <a:t>数据</a:t>
            </a:r>
            <a:endParaRPr lang="zh-CN" altLang="en-US" sz="2000" dirty="0" smtClean="0"/>
          </a:p>
          <a:p>
            <a:pPr>
              <a:lnSpc>
                <a:spcPct val="130000"/>
              </a:lnSpc>
              <a:buNone/>
            </a:pPr>
            <a:r>
              <a:rPr lang="zh-CN" altLang="en-US" sz="2000" dirty="0" smtClean="0"/>
              <a:t>       数据是对客观事物特征的具体描述</a:t>
            </a:r>
            <a:r>
              <a:rPr lang="en-US" sz="2000" dirty="0" smtClean="0"/>
              <a:t>,</a:t>
            </a:r>
            <a:r>
              <a:rPr lang="zh-CN" altLang="en-US" sz="2000" dirty="0" smtClean="0"/>
              <a:t>数据能够用符号直接反映出来</a:t>
            </a:r>
            <a:r>
              <a:rPr lang="en-US" sz="2000" dirty="0" smtClean="0"/>
              <a:t>,</a:t>
            </a:r>
            <a:r>
              <a:rPr lang="zh-CN" altLang="en-US" sz="2000" dirty="0" smtClean="0"/>
              <a:t>其表现形式可以是文字、数值、图形、图像、语音、视频等。</a:t>
            </a:r>
            <a:endParaRPr lang="zh-CN" altLang="en-US" sz="2000" dirty="0" smtClean="0"/>
          </a:p>
          <a:p>
            <a:pPr>
              <a:lnSpc>
                <a:spcPct val="130000"/>
              </a:lnSpc>
              <a:buFont typeface="Wingdings" panose="05000000000000000000" pitchFamily="2" charset="2"/>
              <a:buChar char="Ø"/>
            </a:pPr>
            <a:r>
              <a:rPr lang="en-US" sz="2000" dirty="0" smtClean="0"/>
              <a:t>2.</a:t>
            </a:r>
            <a:r>
              <a:rPr lang="zh-CN" altLang="en-US" sz="2000" dirty="0" smtClean="0"/>
              <a:t>信息</a:t>
            </a:r>
            <a:endParaRPr lang="zh-CN" altLang="en-US" sz="2000" dirty="0" smtClean="0"/>
          </a:p>
          <a:p>
            <a:pPr>
              <a:lnSpc>
                <a:spcPct val="130000"/>
              </a:lnSpc>
              <a:buNone/>
            </a:pPr>
            <a:r>
              <a:rPr lang="zh-CN" altLang="en-US" sz="2000" dirty="0" smtClean="0"/>
              <a:t>       信息是对客观事物的抽象描述</a:t>
            </a:r>
            <a:r>
              <a:rPr lang="en-US" sz="2000" dirty="0" smtClean="0"/>
              <a:t>,</a:t>
            </a:r>
            <a:r>
              <a:rPr lang="zh-CN" altLang="en-US" sz="2000" dirty="0" smtClean="0"/>
              <a:t>是对大量数据加工后得到的结果。</a:t>
            </a:r>
            <a:endParaRPr lang="zh-CN" altLang="en-US" sz="2000" dirty="0" smtClean="0"/>
          </a:p>
          <a:p>
            <a:pPr>
              <a:lnSpc>
                <a:spcPct val="130000"/>
              </a:lnSpc>
              <a:buFont typeface="Wingdings" panose="05000000000000000000" pitchFamily="2" charset="2"/>
              <a:buChar char="Ø"/>
            </a:pPr>
            <a:r>
              <a:rPr lang="en-US" sz="2000" dirty="0" smtClean="0"/>
              <a:t>3.</a:t>
            </a:r>
            <a:r>
              <a:rPr lang="zh-CN" altLang="en-US" sz="2000" dirty="0" smtClean="0"/>
              <a:t>信息系统</a:t>
            </a:r>
            <a:endParaRPr lang="zh-CN" altLang="en-US" sz="2000" dirty="0" smtClean="0"/>
          </a:p>
          <a:p>
            <a:pPr>
              <a:lnSpc>
                <a:spcPct val="130000"/>
              </a:lnSpc>
              <a:buNone/>
            </a:pPr>
            <a:r>
              <a:rPr lang="zh-CN" altLang="en-US" sz="2000" dirty="0" smtClean="0"/>
              <a:t>       信息系统是具有一定职能、以信息管理为目的、由相关要素组成的整体。</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7463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dirty="0" smtClean="0"/>
              <a:t>1.2</a:t>
            </a:r>
            <a:r>
              <a:rPr lang="zh-CN" altLang="en-US" dirty="0" smtClean="0"/>
              <a:t>　计算机系统的组成</a:t>
            </a:r>
            <a:endParaRPr lang="en-US" altLang="zh-CN" dirty="0" smtClean="0"/>
          </a:p>
          <a:p>
            <a:pPr>
              <a:lnSpc>
                <a:spcPct val="150000"/>
              </a:lnSpc>
            </a:pPr>
            <a:endParaRPr lang="en-US" altLang="zh-CN" dirty="0" smtClean="0"/>
          </a:p>
          <a:p>
            <a:pPr>
              <a:lnSpc>
                <a:spcPct val="150000"/>
              </a:lnSpc>
            </a:pPr>
            <a:endParaRPr lang="en-US" altLang="zh-CN" dirty="0" smtClean="0"/>
          </a:p>
          <a:p>
            <a:pPr>
              <a:lnSpc>
                <a:spcPct val="150000"/>
              </a:lnSpc>
              <a:buNone/>
            </a:pPr>
            <a:r>
              <a:rPr lang="en-US" sz="2000" dirty="0" smtClean="0"/>
              <a:t>※ </a:t>
            </a:r>
            <a:r>
              <a:rPr lang="zh-CN" altLang="en-US" sz="2000" dirty="0" smtClean="0"/>
              <a:t>理解计算机系统的基本组成</a:t>
            </a:r>
            <a:r>
              <a:rPr lang="en-US" sz="2000" dirty="0" smtClean="0"/>
              <a:t>;</a:t>
            </a:r>
            <a:endParaRPr lang="zh-CN" altLang="en-US" sz="2000" dirty="0" smtClean="0"/>
          </a:p>
          <a:p>
            <a:pPr>
              <a:lnSpc>
                <a:spcPct val="150000"/>
              </a:lnSpc>
              <a:buNone/>
            </a:pPr>
            <a:r>
              <a:rPr lang="en-US" sz="2000" dirty="0" smtClean="0"/>
              <a:t>※ </a:t>
            </a:r>
            <a:r>
              <a:rPr lang="zh-CN" altLang="en-US" sz="2000" dirty="0" smtClean="0"/>
              <a:t>了解硬件系统的组成及各个部件的主要功能</a:t>
            </a:r>
            <a:r>
              <a:rPr lang="en-US" sz="2000" dirty="0" smtClean="0"/>
              <a:t>;</a:t>
            </a:r>
            <a:endParaRPr lang="zh-CN" altLang="en-US" sz="2000" dirty="0" smtClean="0"/>
          </a:p>
          <a:p>
            <a:pPr>
              <a:lnSpc>
                <a:spcPct val="150000"/>
              </a:lnSpc>
              <a:buNone/>
            </a:pPr>
            <a:r>
              <a:rPr lang="en-US" sz="2000" dirty="0" smtClean="0"/>
              <a:t>※ </a:t>
            </a:r>
            <a:r>
              <a:rPr lang="zh-CN" altLang="en-US" sz="2000" dirty="0" smtClean="0"/>
              <a:t>理解计算机数据存储的基本概念</a:t>
            </a:r>
            <a:r>
              <a:rPr lang="en-US" sz="2000" dirty="0" smtClean="0"/>
              <a:t>;</a:t>
            </a:r>
            <a:endParaRPr lang="zh-CN" altLang="en-US" sz="2000" dirty="0" smtClean="0"/>
          </a:p>
          <a:p>
            <a:pPr>
              <a:lnSpc>
                <a:spcPct val="150000"/>
              </a:lnSpc>
              <a:buNone/>
            </a:pPr>
            <a:r>
              <a:rPr lang="en-US" sz="2000" dirty="0" smtClean="0"/>
              <a:t>※ </a:t>
            </a:r>
            <a:r>
              <a:rPr lang="zh-CN" altLang="en-US" sz="2000" dirty="0" smtClean="0"/>
              <a:t>了解指令、程序、软件的概念以及软件的分类。</a:t>
            </a:r>
            <a:endParaRPr lang="zh-CN" altLang="en-US" sz="2000" dirty="0" smtClean="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学习目标.EPS" descr="id:2147491700;FounderCES"/>
          <p:cNvPicPr/>
          <p:nvPr/>
        </p:nvPicPr>
        <p:blipFill>
          <a:blip r:embed="rId3" cstate="print"/>
          <a:stretch>
            <a:fillRect/>
          </a:stretch>
        </p:blipFill>
        <p:spPr>
          <a:xfrm>
            <a:off x="2166910" y="2500306"/>
            <a:ext cx="1785950" cy="50006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0575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1.2.1</a:t>
            </a:r>
            <a:r>
              <a:rPr lang="zh-CN" altLang="en-US" sz="2000" dirty="0" smtClean="0"/>
              <a:t>　计算机系统的基本组成</a:t>
            </a:r>
            <a:endParaRPr lang="zh-CN" altLang="en-US" sz="2000" dirty="0" smtClean="0"/>
          </a:p>
          <a:p>
            <a:pPr>
              <a:lnSpc>
                <a:spcPct val="150000"/>
              </a:lnSpc>
              <a:buNone/>
            </a:pPr>
            <a:r>
              <a:rPr lang="zh-CN" altLang="en-US" sz="2000" dirty="0" smtClean="0"/>
              <a:t>       计算机系统由硬件和软件两大部分组成</a:t>
            </a:r>
            <a:r>
              <a:rPr lang="en-US" sz="2000" dirty="0" smtClean="0"/>
              <a:t>,</a:t>
            </a:r>
            <a:r>
              <a:rPr lang="zh-CN" altLang="en-US" sz="2000" dirty="0" smtClean="0"/>
              <a:t>计算机系统的组成如图</a:t>
            </a:r>
            <a:r>
              <a:rPr lang="en-US" sz="2000" dirty="0" smtClean="0"/>
              <a:t>1—1</a:t>
            </a:r>
            <a:r>
              <a:rPr lang="zh-CN" altLang="en-US" sz="2000" dirty="0" smtClean="0"/>
              <a:t>所示。</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1A1.EPS" descr="id:2147491731;FounderCES"/>
          <p:cNvPicPr/>
          <p:nvPr/>
        </p:nvPicPr>
        <p:blipFill>
          <a:blip r:embed="rId3" cstate="print"/>
          <a:stretch>
            <a:fillRect/>
          </a:stretch>
        </p:blipFill>
        <p:spPr>
          <a:xfrm>
            <a:off x="4310050" y="2714620"/>
            <a:ext cx="5072098" cy="3429024"/>
          </a:xfrm>
          <a:prstGeom prst="rect">
            <a:avLst/>
          </a:prstGeom>
        </p:spPr>
        <p:style>
          <a:lnRef idx="2">
            <a:schemeClr val="accent4">
              <a:shade val="50000"/>
            </a:schemeClr>
          </a:lnRef>
          <a:fillRef idx="1">
            <a:schemeClr val="accent4"/>
          </a:fillRef>
          <a:effectRef idx="0">
            <a:schemeClr val="accent4"/>
          </a:effectRef>
          <a:fontRef idx="minor">
            <a:schemeClr val="lt1"/>
          </a:fontRef>
        </p:style>
      </p:pic>
      <p:sp>
        <p:nvSpPr>
          <p:cNvPr id="7" name="TextBox 6"/>
          <p:cNvSpPr txBox="1"/>
          <p:nvPr/>
        </p:nvSpPr>
        <p:spPr>
          <a:xfrm>
            <a:off x="4167174" y="6429396"/>
            <a:ext cx="5357850" cy="337185"/>
          </a:xfrm>
          <a:prstGeom prst="rect">
            <a:avLst/>
          </a:prstGeom>
          <a:noFill/>
        </p:spPr>
        <p:txBody>
          <a:bodyPr wrap="square" rtlCol="0">
            <a:spAutoFit/>
          </a:bodyPr>
          <a:lstStyle/>
          <a:p>
            <a:pPr algn="ctr"/>
            <a:r>
              <a:rPr lang="zh-CN" altLang="en-US" sz="1600" dirty="0" smtClean="0"/>
              <a:t>图</a:t>
            </a:r>
            <a:r>
              <a:rPr lang="en-US" sz="1600" dirty="0" smtClean="0"/>
              <a:t>1—1</a:t>
            </a:r>
            <a:r>
              <a:rPr lang="zh-CN" altLang="en-US" sz="1600" dirty="0" smtClean="0"/>
              <a:t>　计算机系统的组成</a:t>
            </a:r>
            <a:endParaRPr lang="zh-CN" altLang="en-US" sz="16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6447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1.2.2</a:t>
            </a:r>
            <a:r>
              <a:rPr lang="zh-CN" altLang="en-US" sz="2000" dirty="0" smtClean="0"/>
              <a:t>　硬件系统的组成及各个部件的主要功能</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硬件系统的组成</a:t>
            </a:r>
            <a:endParaRPr lang="zh-CN" altLang="en-US" sz="2000" dirty="0" smtClean="0"/>
          </a:p>
          <a:p>
            <a:pPr>
              <a:lnSpc>
                <a:spcPct val="150000"/>
              </a:lnSpc>
              <a:buNone/>
            </a:pPr>
            <a:r>
              <a:rPr lang="zh-CN" altLang="en-US" sz="2000" dirty="0" smtClean="0"/>
              <a:t>      计算机硬件系统的组成如图</a:t>
            </a:r>
            <a:r>
              <a:rPr lang="en-US" sz="2000" dirty="0" smtClean="0"/>
              <a:t>1—2</a:t>
            </a:r>
            <a:r>
              <a:rPr lang="zh-CN" altLang="en-US" sz="2000" dirty="0" smtClean="0"/>
              <a:t>所示</a:t>
            </a:r>
            <a:r>
              <a:rPr lang="en-US" sz="2000" dirty="0" smtClean="0"/>
              <a:t>,</a:t>
            </a:r>
            <a:r>
              <a:rPr lang="zh-CN" altLang="en-US" sz="2000" dirty="0" smtClean="0"/>
              <a:t>包括输入设备、存储设备、运算器、控制器、输出设备。</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1A2.EPS" descr="id:2147491738;FounderCES"/>
          <p:cNvPicPr/>
          <p:nvPr/>
        </p:nvPicPr>
        <p:blipFill>
          <a:blip r:embed="rId3" cstate="print"/>
          <a:stretch>
            <a:fillRect/>
          </a:stretch>
        </p:blipFill>
        <p:spPr>
          <a:xfrm>
            <a:off x="3452794" y="3571876"/>
            <a:ext cx="4929222" cy="2714644"/>
          </a:xfrm>
          <a:prstGeom prst="rect">
            <a:avLst/>
          </a:prstGeom>
        </p:spPr>
        <p:style>
          <a:lnRef idx="2">
            <a:schemeClr val="accent1"/>
          </a:lnRef>
          <a:fillRef idx="1">
            <a:schemeClr val="lt1"/>
          </a:fillRef>
          <a:effectRef idx="0">
            <a:schemeClr val="accent1"/>
          </a:effectRef>
          <a:fontRef idx="minor">
            <a:schemeClr val="dk1"/>
          </a:fontRef>
        </p:style>
      </p:pic>
      <p:sp>
        <p:nvSpPr>
          <p:cNvPr id="7" name="TextBox 6"/>
          <p:cNvSpPr txBox="1"/>
          <p:nvPr/>
        </p:nvSpPr>
        <p:spPr>
          <a:xfrm>
            <a:off x="4095736" y="6357958"/>
            <a:ext cx="4071966" cy="337185"/>
          </a:xfrm>
          <a:prstGeom prst="rect">
            <a:avLst/>
          </a:prstGeom>
          <a:noFill/>
        </p:spPr>
        <p:txBody>
          <a:bodyPr wrap="square" rtlCol="0">
            <a:spAutoFit/>
          </a:bodyPr>
          <a:lstStyle/>
          <a:p>
            <a:pPr algn="ctr"/>
            <a:r>
              <a:rPr lang="zh-CN" altLang="en-US" sz="1600" dirty="0" smtClean="0"/>
              <a:t>图</a:t>
            </a:r>
            <a:r>
              <a:rPr lang="en-US" sz="1600" dirty="0" smtClean="0"/>
              <a:t>1—2</a:t>
            </a:r>
            <a:r>
              <a:rPr lang="zh-CN" altLang="en-US" sz="1600" dirty="0" smtClean="0"/>
              <a:t>　计算机硬件系统的组成</a:t>
            </a:r>
            <a:endParaRPr lang="zh-CN" altLang="en-US" sz="1600" dirty="0" smtClean="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8479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20000"/>
              </a:lnSpc>
              <a:buFont typeface="Wingdings" panose="05000000000000000000" pitchFamily="2" charset="2"/>
              <a:buChar char="Ø"/>
            </a:pPr>
            <a:r>
              <a:rPr lang="en-US" sz="2000" dirty="0" smtClean="0"/>
              <a:t>2.</a:t>
            </a:r>
            <a:r>
              <a:rPr lang="zh-CN" altLang="en-US" sz="2000" dirty="0" smtClean="0"/>
              <a:t>计算机的工作原理</a:t>
            </a:r>
            <a:endParaRPr lang="zh-CN" altLang="en-US" sz="2000" dirty="0" smtClean="0"/>
          </a:p>
          <a:p>
            <a:pPr>
              <a:lnSpc>
                <a:spcPct val="120000"/>
              </a:lnSpc>
              <a:buNone/>
            </a:pPr>
            <a:r>
              <a:rPr lang="en-US" sz="2000" dirty="0" smtClean="0"/>
              <a:t>(1)</a:t>
            </a:r>
            <a:r>
              <a:rPr lang="zh-CN" altLang="en-US" sz="2000" dirty="0" smtClean="0"/>
              <a:t>计算机在控制器的控制下</a:t>
            </a:r>
            <a:r>
              <a:rPr lang="en-US" sz="2000" dirty="0" smtClean="0"/>
              <a:t>,</a:t>
            </a:r>
            <a:r>
              <a:rPr lang="zh-CN" altLang="en-US" sz="2000" dirty="0" smtClean="0"/>
              <a:t>把以文字符号形式存在的数据或程序</a:t>
            </a:r>
            <a:r>
              <a:rPr lang="en-US" sz="2000" dirty="0" smtClean="0"/>
              <a:t>,</a:t>
            </a:r>
            <a:r>
              <a:rPr lang="zh-CN" altLang="en-US" sz="2000" dirty="0" smtClean="0"/>
              <a:t>通过输入设备转换成二进制代码</a:t>
            </a:r>
            <a:r>
              <a:rPr lang="en-US" sz="2000" dirty="0" smtClean="0"/>
              <a:t>,</a:t>
            </a:r>
            <a:r>
              <a:rPr lang="zh-CN" altLang="en-US" sz="2000" dirty="0" smtClean="0"/>
              <a:t>存储到计算机的内部存储器。</a:t>
            </a:r>
            <a:endParaRPr lang="zh-CN" altLang="en-US" sz="2000" dirty="0" smtClean="0"/>
          </a:p>
          <a:p>
            <a:pPr>
              <a:lnSpc>
                <a:spcPct val="120000"/>
              </a:lnSpc>
              <a:buNone/>
            </a:pPr>
            <a:r>
              <a:rPr lang="en-US" sz="2000" dirty="0" smtClean="0"/>
              <a:t>(2)</a:t>
            </a:r>
            <a:r>
              <a:rPr lang="zh-CN" altLang="en-US" sz="2000" dirty="0" smtClean="0"/>
              <a:t>计算机在控制器的控制下</a:t>
            </a:r>
            <a:r>
              <a:rPr lang="en-US" sz="2000" dirty="0" smtClean="0"/>
              <a:t>,</a:t>
            </a:r>
            <a:r>
              <a:rPr lang="zh-CN" altLang="en-US" sz="2000" dirty="0" smtClean="0"/>
              <a:t>根据程序的处理要求</a:t>
            </a:r>
            <a:r>
              <a:rPr lang="en-US" sz="2000" dirty="0" smtClean="0"/>
              <a:t>,</a:t>
            </a:r>
            <a:r>
              <a:rPr lang="zh-CN" altLang="en-US" sz="2000" dirty="0" smtClean="0"/>
              <a:t>从内部存储器中取得数据传送到运算器进行加工</a:t>
            </a:r>
            <a:r>
              <a:rPr lang="en-US" sz="2000" dirty="0" smtClean="0"/>
              <a:t>,</a:t>
            </a:r>
            <a:r>
              <a:rPr lang="zh-CN" altLang="en-US" sz="2000" dirty="0" smtClean="0"/>
              <a:t>运算器将运算的结果返回到内部存储器。</a:t>
            </a:r>
            <a:endParaRPr lang="zh-CN" altLang="en-US" sz="2000" dirty="0" smtClean="0"/>
          </a:p>
          <a:p>
            <a:pPr>
              <a:lnSpc>
                <a:spcPct val="120000"/>
              </a:lnSpc>
              <a:buNone/>
            </a:pPr>
            <a:r>
              <a:rPr lang="en-US" sz="2000" dirty="0" smtClean="0"/>
              <a:t>(3)</a:t>
            </a:r>
            <a:r>
              <a:rPr lang="zh-CN" altLang="en-US" sz="2000" dirty="0" smtClean="0"/>
              <a:t>计算机在控制器的控制下</a:t>
            </a:r>
            <a:r>
              <a:rPr lang="en-US" sz="2000" dirty="0" smtClean="0"/>
              <a:t>,</a:t>
            </a:r>
            <a:r>
              <a:rPr lang="zh-CN" altLang="en-US" sz="2000" dirty="0" smtClean="0"/>
              <a:t>根据程序的处理要求</a:t>
            </a:r>
            <a:r>
              <a:rPr lang="en-US" sz="2000" dirty="0" smtClean="0"/>
              <a:t>,</a:t>
            </a:r>
            <a:r>
              <a:rPr lang="zh-CN" altLang="en-US" sz="2000" dirty="0" smtClean="0"/>
              <a:t>从内部存储器中取得数据传送到输出设备</a:t>
            </a:r>
            <a:r>
              <a:rPr lang="en-US" sz="2000" dirty="0" smtClean="0"/>
              <a:t>,</a:t>
            </a:r>
            <a:r>
              <a:rPr lang="zh-CN" altLang="en-US" sz="2000" dirty="0" smtClean="0"/>
              <a:t>经输出设备将二进制代码转换成文字符号显示或打印。</a:t>
            </a:r>
            <a:endParaRPr lang="zh-CN" altLang="en-US" sz="2000" dirty="0" smtClean="0"/>
          </a:p>
          <a:p>
            <a:pPr>
              <a:lnSpc>
                <a:spcPct val="120000"/>
              </a:lnSpc>
              <a:buNone/>
            </a:pPr>
            <a:r>
              <a:rPr lang="en-US" sz="2000" dirty="0" smtClean="0"/>
              <a:t>(4)</a:t>
            </a:r>
            <a:r>
              <a:rPr lang="zh-CN" altLang="en-US" sz="2000" dirty="0" smtClean="0"/>
              <a:t>计算机在控制器的控制下</a:t>
            </a:r>
            <a:r>
              <a:rPr lang="en-US" sz="2000" dirty="0" smtClean="0"/>
              <a:t>,</a:t>
            </a:r>
            <a:r>
              <a:rPr lang="zh-CN" altLang="en-US" sz="2000" dirty="0" smtClean="0"/>
              <a:t>根据操作需要</a:t>
            </a:r>
            <a:r>
              <a:rPr lang="en-US" sz="2000" dirty="0" smtClean="0"/>
              <a:t>,</a:t>
            </a:r>
            <a:r>
              <a:rPr lang="zh-CN" altLang="en-US" sz="2000" dirty="0" smtClean="0"/>
              <a:t>可以将内部存储器中的数据保存到计算机的外部存储器。</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58825" y="-31527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10000"/>
              </a:lnSpc>
              <a:buFont typeface="Wingdings" panose="05000000000000000000" pitchFamily="2" charset="2"/>
              <a:buChar char="Ø"/>
            </a:pPr>
            <a:r>
              <a:rPr lang="en-US" sz="2000" dirty="0" smtClean="0"/>
              <a:t>3.</a:t>
            </a:r>
            <a:r>
              <a:rPr lang="zh-CN" altLang="en-US" sz="2000" dirty="0" smtClean="0"/>
              <a:t>计算机各部件的职能</a:t>
            </a:r>
            <a:endParaRPr lang="zh-CN" altLang="en-US" sz="2000" dirty="0" smtClean="0"/>
          </a:p>
          <a:p>
            <a:pPr>
              <a:lnSpc>
                <a:spcPct val="110000"/>
              </a:lnSpc>
              <a:buNone/>
            </a:pPr>
            <a:r>
              <a:rPr lang="en-US" sz="2000" dirty="0" smtClean="0"/>
              <a:t>(1)</a:t>
            </a:r>
            <a:r>
              <a:rPr lang="zh-CN" altLang="en-US" sz="2000" dirty="0" smtClean="0"/>
              <a:t>输入设备。由于计算机是电子设备</a:t>
            </a:r>
            <a:r>
              <a:rPr lang="en-US" sz="2000" dirty="0" smtClean="0"/>
              <a:t>,</a:t>
            </a:r>
            <a:r>
              <a:rPr lang="zh-CN" altLang="en-US" sz="2000" dirty="0" smtClean="0"/>
              <a:t>只能够识别电信号</a:t>
            </a:r>
            <a:r>
              <a:rPr lang="en-US" sz="2000" dirty="0" smtClean="0"/>
              <a:t>,</a:t>
            </a:r>
            <a:r>
              <a:rPr lang="zh-CN" altLang="en-US" sz="2000" dirty="0" smtClean="0"/>
              <a:t>而电信号可用</a:t>
            </a:r>
            <a:r>
              <a:rPr lang="en-US" sz="2000" dirty="0" smtClean="0"/>
              <a:t>0</a:t>
            </a:r>
            <a:r>
              <a:rPr lang="zh-CN" altLang="en-US" sz="2000" dirty="0" smtClean="0"/>
              <a:t>、</a:t>
            </a:r>
            <a:r>
              <a:rPr lang="en-US" sz="2000" dirty="0" smtClean="0"/>
              <a:t>1</a:t>
            </a:r>
            <a:r>
              <a:rPr lang="zh-CN" altLang="en-US" sz="2000" dirty="0" smtClean="0"/>
              <a:t>表示</a:t>
            </a:r>
            <a:r>
              <a:rPr lang="en-US" sz="2000" dirty="0" smtClean="0"/>
              <a:t>,</a:t>
            </a:r>
            <a:r>
              <a:rPr lang="zh-CN" altLang="en-US" sz="2000" dirty="0" smtClean="0"/>
              <a:t>所以计算机能够识别二进制代码信息。</a:t>
            </a:r>
            <a:endParaRPr lang="zh-CN" altLang="en-US" sz="2000" dirty="0" smtClean="0"/>
          </a:p>
          <a:p>
            <a:pPr>
              <a:lnSpc>
                <a:spcPct val="110000"/>
              </a:lnSpc>
              <a:buNone/>
            </a:pPr>
            <a:r>
              <a:rPr lang="en-US" sz="2000" dirty="0" smtClean="0"/>
              <a:t>(2)</a:t>
            </a:r>
            <a:r>
              <a:rPr lang="zh-CN" altLang="en-US" sz="2000" dirty="0" smtClean="0"/>
              <a:t>存储设备。存储设备是存储用户输入的数据或计算机加工结果的设备。</a:t>
            </a:r>
            <a:endParaRPr lang="zh-CN" altLang="en-US" sz="2000" dirty="0" smtClean="0"/>
          </a:p>
          <a:p>
            <a:pPr>
              <a:lnSpc>
                <a:spcPct val="110000"/>
              </a:lnSpc>
              <a:buNone/>
            </a:pPr>
            <a:r>
              <a:rPr lang="en-US" sz="2000" dirty="0" smtClean="0"/>
              <a:t>(3)</a:t>
            </a:r>
            <a:r>
              <a:rPr lang="zh-CN" altLang="en-US" sz="2000" dirty="0" smtClean="0"/>
              <a:t>运算器。计算机的运算器</a:t>
            </a:r>
            <a:r>
              <a:rPr lang="en-US" sz="2000" dirty="0" smtClean="0"/>
              <a:t>(Arithmetic Logic Unit,ALU)</a:t>
            </a:r>
            <a:r>
              <a:rPr lang="zh-CN" altLang="en-US" sz="2000" dirty="0" smtClean="0"/>
              <a:t>是计算机进行各种运算的部件</a:t>
            </a:r>
            <a:r>
              <a:rPr lang="en-US" sz="2000" dirty="0" smtClean="0"/>
              <a:t>,</a:t>
            </a:r>
            <a:r>
              <a:rPr lang="zh-CN" altLang="en-US" sz="2000" dirty="0" smtClean="0"/>
              <a:t>可以进行算术运算、逻辑运算和移位运算。</a:t>
            </a:r>
            <a:endParaRPr lang="zh-CN" altLang="en-US" sz="2000" dirty="0" smtClean="0"/>
          </a:p>
          <a:p>
            <a:pPr>
              <a:lnSpc>
                <a:spcPct val="110000"/>
              </a:lnSpc>
              <a:buNone/>
            </a:pPr>
            <a:r>
              <a:rPr lang="en-US" sz="2000" dirty="0" smtClean="0"/>
              <a:t>(4)</a:t>
            </a:r>
            <a:r>
              <a:rPr lang="zh-CN" altLang="en-US" sz="2000" dirty="0" smtClean="0"/>
              <a:t>控制器。计算机的所有工作全部是在控制器的控制和协调下完成的。</a:t>
            </a:r>
            <a:endParaRPr lang="zh-CN" altLang="en-US" sz="2000" dirty="0" smtClean="0"/>
          </a:p>
          <a:p>
            <a:pPr>
              <a:lnSpc>
                <a:spcPct val="110000"/>
              </a:lnSpc>
              <a:buNone/>
            </a:pPr>
            <a:r>
              <a:rPr lang="en-US" sz="2000" dirty="0" smtClean="0"/>
              <a:t>(5)</a:t>
            </a:r>
            <a:r>
              <a:rPr lang="zh-CN" altLang="en-US" sz="2000" dirty="0" smtClean="0"/>
              <a:t>输出设备。由于计算机内部是以二进制代码的形式处理数据</a:t>
            </a:r>
            <a:r>
              <a:rPr lang="en-US" sz="2000" dirty="0" smtClean="0"/>
              <a:t>,</a:t>
            </a:r>
            <a:r>
              <a:rPr lang="zh-CN" altLang="en-US" sz="2000" dirty="0" smtClean="0"/>
              <a:t>所以计算机输出设备的作用是将计算机内部的二进制代码转换成为人们能够识别的图形或符号。</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5655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1.2.3</a:t>
            </a:r>
            <a:r>
              <a:rPr lang="zh-CN" altLang="en-US" sz="2000" dirty="0" smtClean="0"/>
              <a:t>　计算机数据存储的基本概念</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计算机为什么采用二进制表达信息</a:t>
            </a:r>
            <a:endParaRPr lang="zh-CN" altLang="en-US" sz="2000" dirty="0" smtClean="0"/>
          </a:p>
          <a:p>
            <a:pPr>
              <a:lnSpc>
                <a:spcPct val="150000"/>
              </a:lnSpc>
              <a:buNone/>
            </a:pPr>
            <a:r>
              <a:rPr lang="zh-CN" altLang="en-US" sz="2000" dirty="0" smtClean="0"/>
              <a:t>      由于计算机是由电子元件组成的电子设备</a:t>
            </a:r>
            <a:r>
              <a:rPr lang="en-US" sz="2000" dirty="0" smtClean="0"/>
              <a:t>,</a:t>
            </a:r>
            <a:r>
              <a:rPr lang="zh-CN" altLang="en-US" sz="2000" dirty="0" smtClean="0"/>
              <a:t>计算机只能识别电压信息</a:t>
            </a:r>
            <a:r>
              <a:rPr lang="en-US" sz="2000" dirty="0" smtClean="0"/>
              <a:t>,</a:t>
            </a:r>
            <a:r>
              <a:rPr lang="zh-CN" altLang="en-US" sz="2000" dirty="0" smtClean="0"/>
              <a:t>简单来说当计算机的电子元件有电压时</a:t>
            </a:r>
            <a:r>
              <a:rPr lang="en-US" sz="2000" dirty="0" smtClean="0"/>
              <a:t>,</a:t>
            </a:r>
            <a:r>
              <a:rPr lang="zh-CN" altLang="en-US" sz="2000" dirty="0" smtClean="0"/>
              <a:t>可以用</a:t>
            </a:r>
            <a:r>
              <a:rPr lang="en-US" sz="2000" dirty="0" smtClean="0"/>
              <a:t>“1”</a:t>
            </a:r>
            <a:r>
              <a:rPr lang="zh-CN" altLang="en-US" sz="2000" dirty="0" smtClean="0"/>
              <a:t>表示</a:t>
            </a:r>
            <a:r>
              <a:rPr lang="en-US" sz="2000" dirty="0" smtClean="0"/>
              <a:t>,</a:t>
            </a:r>
            <a:r>
              <a:rPr lang="zh-CN" altLang="en-US" sz="2000" dirty="0" smtClean="0"/>
              <a:t>无电压时用</a:t>
            </a:r>
            <a:r>
              <a:rPr lang="en-US" sz="2000" dirty="0" smtClean="0"/>
              <a:t>“0”</a:t>
            </a:r>
            <a:r>
              <a:rPr lang="zh-CN" altLang="en-US" sz="2000" dirty="0" smtClean="0"/>
              <a:t>表示。</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计算机的信息存储单位</a:t>
            </a:r>
            <a:endParaRPr lang="zh-CN" altLang="en-US" sz="2000" dirty="0" smtClean="0"/>
          </a:p>
          <a:p>
            <a:pPr>
              <a:lnSpc>
                <a:spcPct val="150000"/>
              </a:lnSpc>
              <a:buNone/>
            </a:pPr>
            <a:r>
              <a:rPr lang="zh-CN" altLang="en-US" sz="2000" dirty="0" smtClean="0"/>
              <a:t>      计算机中存储数据的最小单位是一位二进制代码</a:t>
            </a:r>
            <a:r>
              <a:rPr lang="en-US" sz="2000" dirty="0" smtClean="0"/>
              <a:t>,</a:t>
            </a:r>
            <a:r>
              <a:rPr lang="zh-CN" altLang="en-US" sz="2000" dirty="0" smtClean="0"/>
              <a:t>称作</a:t>
            </a:r>
            <a:r>
              <a:rPr lang="en-US" sz="2000" dirty="0" smtClean="0"/>
              <a:t>1bit(</a:t>
            </a:r>
            <a:r>
              <a:rPr lang="zh-CN" altLang="en-US" sz="2000" dirty="0" smtClean="0"/>
              <a:t>比特</a:t>
            </a:r>
            <a:r>
              <a:rPr lang="en-US" sz="2000" dirty="0" smtClean="0"/>
              <a:t>),</a:t>
            </a:r>
            <a:r>
              <a:rPr lang="zh-CN" altLang="en-US" sz="2000" dirty="0" smtClean="0"/>
              <a:t>其结果值是</a:t>
            </a:r>
            <a:r>
              <a:rPr lang="en-US" sz="2000" dirty="0" smtClean="0"/>
              <a:t>“0”</a:t>
            </a:r>
            <a:r>
              <a:rPr lang="zh-CN" altLang="en-US" sz="2000" dirty="0" smtClean="0"/>
              <a:t>或</a:t>
            </a:r>
            <a:r>
              <a:rPr lang="en-US" sz="2000" dirty="0" smtClean="0"/>
              <a:t>“1”,</a:t>
            </a:r>
            <a:r>
              <a:rPr lang="zh-CN" altLang="en-US" sz="2000" dirty="0" smtClean="0"/>
              <a:t>一位二进制代码能够表达两个信息状态。</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50900" y="-24415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a:xfrm>
            <a:off x="1981200" y="1600200"/>
            <a:ext cx="7467600" cy="2614618"/>
          </a:xfrm>
        </p:spPr>
        <p:txBody>
          <a:bodyPr>
            <a:noAutofit/>
          </a:bodyPr>
          <a:lstStyle/>
          <a:p>
            <a:pPr>
              <a:lnSpc>
                <a:spcPct val="150000"/>
              </a:lnSpc>
            </a:pPr>
            <a:r>
              <a:rPr lang="en-US" sz="2000" dirty="0" smtClean="0"/>
              <a:t>1.2.4</a:t>
            </a:r>
            <a:r>
              <a:rPr lang="zh-CN" altLang="en-US" sz="2000" dirty="0" smtClean="0"/>
              <a:t>　指令、程序、软件以及软件的分类</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指令   指令是指挥机器工作的命令</a:t>
            </a:r>
            <a:r>
              <a:rPr lang="en-US" sz="2000" dirty="0" smtClean="0"/>
              <a:t>,</a:t>
            </a:r>
            <a:r>
              <a:rPr lang="zh-CN" altLang="en-US" sz="2000" dirty="0" smtClean="0"/>
              <a:t>计算机能够执行的指令的集合</a:t>
            </a:r>
            <a:r>
              <a:rPr lang="en-US" sz="2000" dirty="0" smtClean="0"/>
              <a:t>,</a:t>
            </a:r>
            <a:r>
              <a:rPr lang="zh-CN" altLang="en-US" sz="2000" dirty="0" smtClean="0"/>
              <a:t>称作计算机的指令系统。</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程序   程序是用某种计算机程序设计语言编写的、按一定逻辑排列的指令序列。</a:t>
            </a:r>
            <a:endParaRPr lang="zh-CN" altLang="en-US" sz="2000" dirty="0" smtClean="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graphicFrame>
        <p:nvGraphicFramePr>
          <p:cNvPr id="7" name="图示 6"/>
          <p:cNvGraphicFramePr/>
          <p:nvPr/>
        </p:nvGraphicFramePr>
        <p:xfrm>
          <a:off x="2452662" y="4286256"/>
          <a:ext cx="7215238" cy="164307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9495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3.</a:t>
            </a:r>
            <a:r>
              <a:rPr lang="zh-CN" altLang="en-US" sz="2000" dirty="0" smtClean="0"/>
              <a:t>软件</a:t>
            </a:r>
            <a:endParaRPr lang="zh-CN" altLang="en-US" sz="2000" dirty="0" smtClean="0"/>
          </a:p>
          <a:p>
            <a:pPr>
              <a:lnSpc>
                <a:spcPct val="150000"/>
              </a:lnSpc>
              <a:buNone/>
            </a:pPr>
            <a:r>
              <a:rPr lang="zh-CN" altLang="en-US" sz="2000" dirty="0" smtClean="0"/>
              <a:t>      软件是指支持计算机运行或解决某些特定问题而需要的程序、数据以及相关的文档。软件包括系统软件和应用软件。计算机软件系统的构成如图</a:t>
            </a:r>
            <a:r>
              <a:rPr lang="en-US" sz="2000" dirty="0" smtClean="0"/>
              <a:t>1—3</a:t>
            </a:r>
            <a:r>
              <a:rPr lang="zh-CN" altLang="en-US" sz="2000" dirty="0" smtClean="0"/>
              <a:t>所示。</a:t>
            </a:r>
            <a:endParaRPr lang="en-US" altLang="zh-CN" sz="2000" dirty="0" smtClean="0"/>
          </a:p>
          <a:p>
            <a:pPr>
              <a:lnSpc>
                <a:spcPct val="150000"/>
              </a:lnSpc>
              <a:buNone/>
            </a:pPr>
            <a:r>
              <a:rPr lang="zh-CN" altLang="en-US" sz="2000" dirty="0" smtClean="0"/>
              <a:t>　</a:t>
            </a:r>
            <a:endParaRPr lang="zh-CN" altLang="en-US" sz="2000" dirty="0" smtClean="0"/>
          </a:p>
          <a:p>
            <a:pPr>
              <a:lnSpc>
                <a:spcPct val="150000"/>
              </a:lnSpc>
              <a:buNone/>
            </a:pPr>
            <a:r>
              <a:rPr lang="zh-CN" altLang="en-US" sz="2000" dirty="0" smtClean="0"/>
              <a:t>　</a:t>
            </a:r>
            <a:endParaRPr lang="zh-CN" altLang="en-US" sz="2000" dirty="0" smtClean="0"/>
          </a:p>
          <a:p>
            <a:pPr>
              <a:lnSpc>
                <a:spcPct val="150000"/>
              </a:lnSpc>
              <a:buNone/>
            </a:pPr>
            <a:endParaRPr lang="zh-CN" altLang="en-US" sz="2000" dirty="0" smtClean="0"/>
          </a:p>
          <a:p>
            <a:pPr>
              <a:lnSpc>
                <a:spcPct val="150000"/>
              </a:lnSpc>
              <a:buNone/>
            </a:pPr>
            <a:endParaRPr lang="zh-CN" altLang="en-US" sz="2000" dirty="0" smtClean="0"/>
          </a:p>
          <a:p>
            <a:pPr>
              <a:lnSpc>
                <a:spcPct val="150000"/>
              </a:lnSpc>
              <a:buNone/>
            </a:pP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1026" name="Rectangle 2"/>
          <p:cNvSpPr>
            <a:spLocks noChangeArrowheads="1"/>
          </p:cNvSpPr>
          <p:nvPr/>
        </p:nvSpPr>
        <p:spPr bwMode="auto">
          <a:xfrm>
            <a:off x="1524000" y="-1841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1025" name="Picture 1"/>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24000" y="0"/>
            <a:ext cx="1676400" cy="219075"/>
          </a:xfrm>
          <a:prstGeom prst="rect">
            <a:avLst/>
          </a:prstGeom>
          <a:noFill/>
        </p:spPr>
      </p:pic>
      <p:sp>
        <p:nvSpPr>
          <p:cNvPr id="1028" name="Rectangle 4"/>
          <p:cNvSpPr>
            <a:spLocks noChangeArrowheads="1"/>
          </p:cNvSpPr>
          <p:nvPr/>
        </p:nvSpPr>
        <p:spPr bwMode="auto">
          <a:xfrm>
            <a:off x="1524000" y="-1841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1027" name="Picture 3"/>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24000" y="0"/>
            <a:ext cx="1676400" cy="219075"/>
          </a:xfrm>
          <a:prstGeom prst="rect">
            <a:avLst/>
          </a:prstGeom>
          <a:noFill/>
        </p:spPr>
      </p:pic>
      <p:sp>
        <p:nvSpPr>
          <p:cNvPr id="1030" name="Rectangle 6"/>
          <p:cNvSpPr>
            <a:spLocks noChangeArrowheads="1"/>
          </p:cNvSpPr>
          <p:nvPr/>
        </p:nvSpPr>
        <p:spPr bwMode="auto">
          <a:xfrm>
            <a:off x="1524000" y="-184150"/>
            <a:ext cx="309880" cy="36830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pic>
        <p:nvPicPr>
          <p:cNvPr id="1029" name="Picture 5"/>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524000" y="0"/>
            <a:ext cx="1676400" cy="219075"/>
          </a:xfrm>
          <a:prstGeom prst="rect">
            <a:avLst/>
          </a:prstGeom>
          <a:noFill/>
        </p:spPr>
      </p:pic>
      <p:pic>
        <p:nvPicPr>
          <p:cNvPr id="11" name="图片 10" descr="QQ图片20020101103809.jpg"/>
          <p:cNvPicPr>
            <a:picLocks noChangeAspect="1"/>
          </p:cNvPicPr>
          <p:nvPr/>
        </p:nvPicPr>
        <p:blipFill>
          <a:blip r:embed="rId4" cstate="print"/>
          <a:stretch>
            <a:fillRect/>
          </a:stretch>
        </p:blipFill>
        <p:spPr>
          <a:xfrm>
            <a:off x="4238612" y="3571876"/>
            <a:ext cx="3500462" cy="2342722"/>
          </a:xfrm>
          <a:prstGeom prst="rect">
            <a:avLst/>
          </a:prstGeom>
        </p:spPr>
        <p:style>
          <a:lnRef idx="1">
            <a:schemeClr val="accent1"/>
          </a:lnRef>
          <a:fillRef idx="3">
            <a:schemeClr val="accent1"/>
          </a:fillRef>
          <a:effectRef idx="2">
            <a:schemeClr val="accent1"/>
          </a:effectRef>
          <a:fontRef idx="minor">
            <a:schemeClr val="lt1"/>
          </a:fontRef>
        </p:style>
      </p:pic>
      <p:sp>
        <p:nvSpPr>
          <p:cNvPr id="12" name="TextBox 11"/>
          <p:cNvSpPr txBox="1"/>
          <p:nvPr/>
        </p:nvSpPr>
        <p:spPr>
          <a:xfrm>
            <a:off x="4452926" y="6162280"/>
            <a:ext cx="3929090" cy="337185"/>
          </a:xfrm>
          <a:prstGeom prst="rect">
            <a:avLst/>
          </a:prstGeom>
          <a:noFill/>
        </p:spPr>
        <p:txBody>
          <a:bodyPr wrap="square" rtlCol="0">
            <a:spAutoFit/>
          </a:bodyPr>
          <a:lstStyle/>
          <a:p>
            <a:pPr algn="ctr"/>
            <a:r>
              <a:rPr lang="zh-CN" altLang="en-US" sz="1600" dirty="0" smtClean="0"/>
              <a:t>图</a:t>
            </a:r>
            <a:r>
              <a:rPr lang="en-US" sz="1600" dirty="0" smtClean="0"/>
              <a:t>1—3</a:t>
            </a:r>
            <a:r>
              <a:rPr lang="zh-CN" altLang="en-US" sz="1600" dirty="0" smtClean="0"/>
              <a:t>　计算机软件系统的构成</a:t>
            </a:r>
            <a:endParaRPr lang="zh-CN" alt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6447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200000"/>
              </a:lnSpc>
            </a:pPr>
            <a:r>
              <a:rPr lang="en-US" dirty="0" smtClean="0"/>
              <a:t>1.3</a:t>
            </a:r>
            <a:r>
              <a:rPr lang="zh-CN" altLang="en-US" dirty="0" smtClean="0"/>
              <a:t>　信息编码</a:t>
            </a:r>
            <a:endParaRPr lang="en-US" altLang="zh-CN" dirty="0" smtClean="0"/>
          </a:p>
          <a:p>
            <a:pPr>
              <a:lnSpc>
                <a:spcPct val="200000"/>
              </a:lnSpc>
              <a:buNone/>
            </a:pPr>
            <a:endParaRPr lang="en-US" altLang="zh-CN" dirty="0" smtClean="0"/>
          </a:p>
          <a:p>
            <a:pPr>
              <a:lnSpc>
                <a:spcPct val="200000"/>
              </a:lnSpc>
              <a:buNone/>
            </a:pPr>
            <a:r>
              <a:rPr lang="en-US" sz="2000" dirty="0" smtClean="0"/>
              <a:t>※ </a:t>
            </a:r>
            <a:r>
              <a:rPr lang="zh-CN" altLang="en-US" sz="2000" dirty="0" smtClean="0"/>
              <a:t>了解数值在计算机中的表示形式及数制转换</a:t>
            </a:r>
            <a:r>
              <a:rPr lang="en-US" sz="2000" dirty="0" smtClean="0"/>
              <a:t>;</a:t>
            </a:r>
            <a:endParaRPr lang="zh-CN" altLang="en-US" sz="2000" dirty="0" smtClean="0"/>
          </a:p>
          <a:p>
            <a:pPr>
              <a:lnSpc>
                <a:spcPct val="200000"/>
              </a:lnSpc>
              <a:buNone/>
            </a:pPr>
            <a:r>
              <a:rPr lang="en-US" sz="2000" dirty="0" smtClean="0"/>
              <a:t>※ </a:t>
            </a:r>
            <a:r>
              <a:rPr lang="zh-CN" altLang="en-US" sz="2000" dirty="0" smtClean="0"/>
              <a:t>了解字符编码。</a:t>
            </a:r>
            <a:endParaRPr lang="zh-CN" altLang="en-US" sz="2000" dirty="0" smtClean="0"/>
          </a:p>
          <a:p>
            <a:pPr>
              <a:lnSpc>
                <a:spcPct val="200000"/>
              </a:lnSpc>
            </a:pPr>
            <a:endParaRPr lang="zh-CN" altLang="en-US"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学习目标.EPS" descr="id:2147491825;FounderCES"/>
          <p:cNvPicPr/>
          <p:nvPr/>
        </p:nvPicPr>
        <p:blipFill>
          <a:blip r:embed="rId3" cstate="print"/>
          <a:stretch>
            <a:fillRect/>
          </a:stretch>
        </p:blipFill>
        <p:spPr>
          <a:xfrm>
            <a:off x="2095472" y="2571744"/>
            <a:ext cx="1571636" cy="50006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2383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1.3.1</a:t>
            </a:r>
            <a:r>
              <a:rPr lang="zh-CN" altLang="en-US" sz="2000" dirty="0" smtClean="0"/>
              <a:t>　数值在计算机中的表示形式及数制转换</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数制及其表示</a:t>
            </a:r>
            <a:endParaRPr lang="zh-CN" altLang="en-US" sz="2000" dirty="0" smtClean="0"/>
          </a:p>
          <a:p>
            <a:pPr>
              <a:lnSpc>
                <a:spcPct val="150000"/>
              </a:lnSpc>
              <a:buNone/>
            </a:pPr>
            <a:r>
              <a:rPr lang="zh-CN" altLang="en-US" sz="2000" dirty="0" smtClean="0"/>
              <a:t>      数制是一种计数进位的规则</a:t>
            </a:r>
            <a:r>
              <a:rPr lang="en-US" sz="2000" dirty="0" smtClean="0"/>
              <a:t>,</a:t>
            </a:r>
            <a:r>
              <a:rPr lang="zh-CN" altLang="en-US" sz="2000" dirty="0" smtClean="0"/>
              <a:t>常见的有十进制、二进制、八进制、十六进制。</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数制间的转换</a:t>
            </a:r>
            <a:endParaRPr lang="zh-CN" altLang="en-US" sz="2000" dirty="0" smtClean="0"/>
          </a:p>
          <a:p>
            <a:pPr>
              <a:lnSpc>
                <a:spcPct val="150000"/>
              </a:lnSpc>
              <a:buNone/>
            </a:pPr>
            <a:r>
              <a:rPr lang="zh-CN" altLang="en-US" sz="2000" dirty="0" smtClean="0"/>
              <a:t>       各种进制数之间的转换遵循一些规律</a:t>
            </a:r>
            <a:r>
              <a:rPr lang="en-US" sz="2000" dirty="0" smtClean="0"/>
              <a:t>,</a:t>
            </a:r>
            <a:r>
              <a:rPr lang="zh-CN" altLang="en-US" sz="2000" dirty="0" smtClean="0"/>
              <a:t>在此介绍常见的数制转换方法。</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8479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1.3.2</a:t>
            </a:r>
            <a:r>
              <a:rPr lang="zh-CN" altLang="en-US" sz="2000" dirty="0" smtClean="0"/>
              <a:t>　字符编码</a:t>
            </a:r>
            <a:endParaRPr lang="zh-CN" altLang="en-US" sz="2000" dirty="0" smtClean="0"/>
          </a:p>
          <a:p>
            <a:pPr>
              <a:lnSpc>
                <a:spcPct val="150000"/>
              </a:lnSpc>
              <a:buFont typeface="Wingdings" panose="05000000000000000000" pitchFamily="2" charset="2"/>
              <a:buChar char="Ø"/>
            </a:pPr>
            <a:r>
              <a:rPr lang="en-US" sz="2000" dirty="0" smtClean="0"/>
              <a:t>1.ASCII</a:t>
            </a:r>
            <a:r>
              <a:rPr lang="zh-CN" altLang="en-US" sz="2000" dirty="0" smtClean="0"/>
              <a:t>编码</a:t>
            </a:r>
            <a:endParaRPr lang="zh-CN" altLang="en-US" sz="2000" dirty="0" smtClean="0"/>
          </a:p>
          <a:p>
            <a:pPr>
              <a:lnSpc>
                <a:spcPct val="150000"/>
              </a:lnSpc>
              <a:buNone/>
            </a:pPr>
            <a:r>
              <a:rPr lang="en-US" sz="2000" dirty="0" smtClean="0"/>
              <a:t>(1)ASCII</a:t>
            </a:r>
            <a:r>
              <a:rPr lang="zh-CN" altLang="en-US" sz="2000" dirty="0" smtClean="0"/>
              <a:t>编码的作用。</a:t>
            </a:r>
            <a:endParaRPr lang="zh-CN" altLang="en-US" sz="2000" dirty="0" smtClean="0"/>
          </a:p>
          <a:p>
            <a:pPr>
              <a:lnSpc>
                <a:spcPct val="150000"/>
              </a:lnSpc>
              <a:buNone/>
            </a:pPr>
            <a:r>
              <a:rPr lang="en-US" sz="2000" dirty="0" smtClean="0"/>
              <a:t>       ASCII(American Standard Code for Information Interchange)</a:t>
            </a:r>
            <a:r>
              <a:rPr lang="zh-CN" altLang="en-US" sz="2000" dirty="0" smtClean="0"/>
              <a:t>编码即美国标准信息交换码</a:t>
            </a:r>
            <a:r>
              <a:rPr lang="en-US" sz="2000" dirty="0" smtClean="0"/>
              <a:t>,</a:t>
            </a:r>
            <a:r>
              <a:rPr lang="zh-CN" altLang="en-US" sz="2000" dirty="0" smtClean="0"/>
              <a:t>是微型计算机普遍采用的英文字符编码方案。</a:t>
            </a:r>
            <a:endParaRPr lang="zh-CN" altLang="en-US" sz="2000" dirty="0" smtClean="0"/>
          </a:p>
          <a:p>
            <a:pPr>
              <a:lnSpc>
                <a:spcPct val="150000"/>
              </a:lnSpc>
              <a:buNone/>
            </a:pPr>
            <a:r>
              <a:rPr lang="en-US" sz="2000" dirty="0" smtClean="0"/>
              <a:t>(2)ASCII</a:t>
            </a:r>
            <a:r>
              <a:rPr lang="zh-CN" altLang="en-US" sz="2000" dirty="0" smtClean="0"/>
              <a:t>编码方案。</a:t>
            </a:r>
            <a:endParaRPr lang="zh-CN" altLang="en-US" sz="2000" dirty="0" smtClean="0"/>
          </a:p>
          <a:p>
            <a:pPr>
              <a:lnSpc>
                <a:spcPct val="150000"/>
              </a:lnSpc>
              <a:buNone/>
            </a:pPr>
            <a:r>
              <a:rPr lang="en-US" sz="2000" dirty="0" smtClean="0"/>
              <a:t>      ASCII</a:t>
            </a:r>
            <a:r>
              <a:rPr lang="zh-CN" altLang="en-US" sz="2000" dirty="0" smtClean="0"/>
              <a:t>编码方案将所有英文字母包括大写和小写、数字符号、特殊符号有规律地排列成为一个符号集合</a:t>
            </a:r>
            <a:r>
              <a:rPr lang="en-US" sz="2000" dirty="0" smtClean="0"/>
              <a:t>,</a:t>
            </a:r>
            <a:r>
              <a:rPr lang="zh-CN" altLang="en-US" sz="2000" dirty="0" smtClean="0"/>
              <a:t>每个符号依次用八位二进制代码表示</a:t>
            </a:r>
            <a:r>
              <a:rPr lang="en-US" sz="2000" dirty="0" smtClean="0"/>
              <a:t>,</a:t>
            </a:r>
            <a:r>
              <a:rPr lang="zh-CN" altLang="en-US" sz="2000" dirty="0" smtClean="0"/>
              <a:t>所以一个符号存储在计算机内部占用</a:t>
            </a:r>
            <a:r>
              <a:rPr lang="en-US" sz="2000" dirty="0" smtClean="0"/>
              <a:t>1</a:t>
            </a:r>
            <a:r>
              <a:rPr lang="zh-CN" altLang="en-US" sz="2000" dirty="0" smtClean="0"/>
              <a:t>个字节。</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8479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汉字编码</a:t>
            </a:r>
            <a:endParaRPr lang="zh-CN" altLang="en-US" sz="2000" dirty="0" smtClean="0"/>
          </a:p>
          <a:p>
            <a:pPr>
              <a:lnSpc>
                <a:spcPct val="150000"/>
              </a:lnSpc>
              <a:buNone/>
            </a:pPr>
            <a:r>
              <a:rPr lang="en-US" sz="2000" dirty="0" smtClean="0"/>
              <a:t>(1)</a:t>
            </a:r>
            <a:r>
              <a:rPr lang="zh-CN" altLang="en-US" sz="2000" dirty="0" smtClean="0"/>
              <a:t>汉字编码的作用。</a:t>
            </a:r>
            <a:endParaRPr lang="zh-CN" altLang="en-US" sz="2000" dirty="0" smtClean="0"/>
          </a:p>
          <a:p>
            <a:pPr>
              <a:lnSpc>
                <a:spcPct val="150000"/>
              </a:lnSpc>
              <a:buNone/>
            </a:pPr>
            <a:r>
              <a:rPr lang="zh-CN" altLang="en-US" sz="2000" dirty="0" smtClean="0"/>
              <a:t>      汉字编码解决的是汉字及中文符号在计算机中保存的问题</a:t>
            </a:r>
            <a:r>
              <a:rPr lang="en-US" sz="2000" dirty="0" smtClean="0"/>
              <a:t>,</a:t>
            </a:r>
            <a:r>
              <a:rPr lang="zh-CN" altLang="en-US" sz="2000" dirty="0" smtClean="0"/>
              <a:t>按照汉字的编码方案将每个中文符号分配一个二进制代码</a:t>
            </a:r>
            <a:r>
              <a:rPr lang="en-US" sz="2000" dirty="0" smtClean="0"/>
              <a:t>,</a:t>
            </a:r>
            <a:r>
              <a:rPr lang="zh-CN" altLang="en-US" sz="2000" dirty="0" smtClean="0"/>
              <a:t>计算机通过保存和处理每个符号对应的二进制代码完成对汉字的加工。</a:t>
            </a:r>
            <a:endParaRPr lang="zh-CN" altLang="en-US" sz="2000" dirty="0" smtClean="0"/>
          </a:p>
          <a:p>
            <a:pPr>
              <a:lnSpc>
                <a:spcPct val="150000"/>
              </a:lnSpc>
              <a:buNone/>
            </a:pPr>
            <a:r>
              <a:rPr lang="en-US" sz="2000" dirty="0" smtClean="0"/>
              <a:t>(2)</a:t>
            </a:r>
            <a:r>
              <a:rPr lang="zh-CN" altLang="en-US" sz="2000" dirty="0" smtClean="0"/>
              <a:t>汉字编码方案。</a:t>
            </a:r>
            <a:endParaRPr lang="zh-CN" altLang="en-US" sz="2000" dirty="0" smtClean="0"/>
          </a:p>
          <a:p>
            <a:pPr>
              <a:lnSpc>
                <a:spcPct val="150000"/>
              </a:lnSpc>
              <a:buNone/>
            </a:pPr>
            <a:r>
              <a:rPr lang="zh-CN" altLang="en-US" sz="2000" dirty="0" smtClean="0"/>
              <a:t>       汉字编码方案是指收集所有汉字、特殊符号形成汉字符号集合</a:t>
            </a:r>
            <a:r>
              <a:rPr lang="en-US" sz="2000" dirty="0" smtClean="0"/>
              <a:t>,</a:t>
            </a:r>
            <a:r>
              <a:rPr lang="zh-CN" altLang="en-US" sz="2000" dirty="0" smtClean="0"/>
              <a:t>所有符号有规律地排列</a:t>
            </a:r>
            <a:r>
              <a:rPr lang="en-US" sz="2000" dirty="0" smtClean="0"/>
              <a:t>,</a:t>
            </a:r>
            <a:r>
              <a:rPr lang="zh-CN" altLang="en-US" sz="2000" dirty="0" smtClean="0"/>
              <a:t>每个符号依次用十六位二进制代码表示</a:t>
            </a:r>
            <a:r>
              <a:rPr lang="en-US" sz="2000" dirty="0" smtClean="0"/>
              <a:t>,</a:t>
            </a:r>
            <a:r>
              <a:rPr lang="zh-CN" altLang="en-US" sz="2000" dirty="0" smtClean="0"/>
              <a:t>一个汉字符号在计算机内部存储占</a:t>
            </a:r>
            <a:r>
              <a:rPr lang="en-US" sz="2000" dirty="0" smtClean="0"/>
              <a:t>2</a:t>
            </a:r>
            <a:r>
              <a:rPr lang="zh-CN" altLang="en-US" sz="2000" dirty="0" smtClean="0"/>
              <a:t>个字节。</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8479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dirty="0" smtClean="0"/>
              <a:t>1.4</a:t>
            </a:r>
            <a:r>
              <a:rPr lang="zh-CN" altLang="en-US" dirty="0" smtClean="0"/>
              <a:t>　微型计算机的硬件组成</a:t>
            </a:r>
            <a:endParaRPr lang="en-US" altLang="zh-CN" dirty="0" smtClean="0"/>
          </a:p>
          <a:p>
            <a:pPr>
              <a:lnSpc>
                <a:spcPct val="150000"/>
              </a:lnSpc>
              <a:buNone/>
            </a:pPr>
            <a:endParaRPr lang="en-US" altLang="zh-CN" dirty="0" smtClean="0"/>
          </a:p>
          <a:p>
            <a:pPr>
              <a:lnSpc>
                <a:spcPct val="150000"/>
              </a:lnSpc>
              <a:buNone/>
            </a:pPr>
            <a:endParaRPr lang="en-US" altLang="zh-CN" dirty="0" smtClean="0"/>
          </a:p>
          <a:p>
            <a:pPr>
              <a:lnSpc>
                <a:spcPct val="150000"/>
              </a:lnSpc>
              <a:buNone/>
            </a:pPr>
            <a:r>
              <a:rPr lang="en-US" sz="2000" dirty="0" smtClean="0"/>
              <a:t>※ </a:t>
            </a:r>
            <a:r>
              <a:rPr lang="zh-CN" altLang="en-US" sz="2000" dirty="0" smtClean="0"/>
              <a:t>了解</a:t>
            </a:r>
            <a:r>
              <a:rPr lang="en-US" sz="2000" dirty="0" smtClean="0"/>
              <a:t>CPU</a:t>
            </a:r>
            <a:r>
              <a:rPr lang="zh-CN" altLang="en-US" sz="2000" dirty="0" smtClean="0"/>
              <a:t>、内存、接口和总线的概念</a:t>
            </a:r>
            <a:r>
              <a:rPr lang="en-US" sz="2000" dirty="0" smtClean="0"/>
              <a:t>;</a:t>
            </a:r>
            <a:endParaRPr lang="zh-CN" altLang="en-US" sz="2000" dirty="0" smtClean="0"/>
          </a:p>
          <a:p>
            <a:pPr>
              <a:lnSpc>
                <a:spcPct val="150000"/>
              </a:lnSpc>
              <a:buNone/>
            </a:pPr>
            <a:r>
              <a:rPr lang="en-US" sz="2000" dirty="0" smtClean="0"/>
              <a:t>※ </a:t>
            </a:r>
            <a:r>
              <a:rPr lang="zh-CN" altLang="en-US" sz="2000" dirty="0" smtClean="0"/>
              <a:t>理解常用外部设备的性能指标</a:t>
            </a:r>
            <a:r>
              <a:rPr lang="en-US" sz="2000" dirty="0" smtClean="0"/>
              <a:t>;</a:t>
            </a:r>
            <a:endParaRPr lang="zh-CN" altLang="en-US" sz="2000" dirty="0" smtClean="0"/>
          </a:p>
          <a:p>
            <a:pPr>
              <a:lnSpc>
                <a:spcPct val="150000"/>
              </a:lnSpc>
              <a:buNone/>
            </a:pPr>
            <a:r>
              <a:rPr lang="en-US" sz="2000" dirty="0" smtClean="0"/>
              <a:t>※ </a:t>
            </a:r>
            <a:r>
              <a:rPr lang="zh-CN" altLang="en-US" sz="2000" dirty="0" smtClean="0"/>
              <a:t>理解微型计算机的主要性能指标。</a:t>
            </a:r>
            <a:endParaRPr lang="zh-CN" altLang="en-US" sz="2000" dirty="0" smtClean="0"/>
          </a:p>
          <a:p>
            <a:pPr>
              <a:lnSpc>
                <a:spcPct val="150000"/>
              </a:lnSpc>
            </a:pPr>
            <a:endParaRPr lang="zh-CN" altLang="en-US"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学习目标.EPS" descr="id:2147491917;FounderCES"/>
          <p:cNvPicPr/>
          <p:nvPr/>
        </p:nvPicPr>
        <p:blipFill>
          <a:blip r:embed="rId3" cstate="print"/>
          <a:stretch>
            <a:fillRect/>
          </a:stretch>
        </p:blipFill>
        <p:spPr>
          <a:xfrm>
            <a:off x="2238348" y="2428868"/>
            <a:ext cx="1643074" cy="500066"/>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8479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1.4.1</a:t>
            </a:r>
            <a:r>
              <a:rPr lang="zh-CN" altLang="en-US" sz="2000" dirty="0" smtClean="0"/>
              <a:t>　微处理器、微型计算机和微型计算机系统</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微型计算机</a:t>
            </a:r>
            <a:endParaRPr lang="zh-CN" altLang="en-US" sz="2000" dirty="0" smtClean="0"/>
          </a:p>
          <a:p>
            <a:pPr>
              <a:lnSpc>
                <a:spcPct val="150000"/>
              </a:lnSpc>
              <a:buNone/>
            </a:pPr>
            <a:r>
              <a:rPr lang="zh-CN" altLang="en-US" sz="2000" dirty="0" smtClean="0"/>
              <a:t>      微型计算机是能自动、高速、精确地处理信息的电子设备</a:t>
            </a:r>
            <a:r>
              <a:rPr lang="en-US" sz="2000" dirty="0" smtClean="0"/>
              <a:t>,</a:t>
            </a:r>
            <a:r>
              <a:rPr lang="zh-CN" altLang="en-US" sz="2000" dirty="0" smtClean="0"/>
              <a:t>具有算术运算和逻辑判断能力</a:t>
            </a:r>
            <a:r>
              <a:rPr lang="en-US" sz="2000" dirty="0" smtClean="0"/>
              <a:t>,</a:t>
            </a:r>
            <a:r>
              <a:rPr lang="zh-CN" altLang="en-US" sz="2000" dirty="0" smtClean="0"/>
              <a:t>能通过预先编好的程序自动完成数据的加工处理</a:t>
            </a:r>
            <a:r>
              <a:rPr lang="en-US" sz="2000" dirty="0" smtClean="0"/>
              <a:t>,</a:t>
            </a:r>
            <a:r>
              <a:rPr lang="zh-CN" altLang="en-US" sz="2000" dirty="0" smtClean="0"/>
              <a:t>微型计算机以微处理器为核心</a:t>
            </a:r>
            <a:r>
              <a:rPr lang="en-US" sz="2000" dirty="0" smtClean="0"/>
              <a:t>,</a:t>
            </a:r>
            <a:r>
              <a:rPr lang="zh-CN" altLang="en-US" sz="2000" dirty="0" smtClean="0"/>
              <a:t>采用总线结构模式。</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微型计算机系统</a:t>
            </a:r>
            <a:endParaRPr lang="zh-CN" altLang="en-US" sz="2000" dirty="0" smtClean="0"/>
          </a:p>
          <a:p>
            <a:pPr>
              <a:lnSpc>
                <a:spcPct val="150000"/>
              </a:lnSpc>
              <a:buNone/>
            </a:pPr>
            <a:r>
              <a:rPr lang="zh-CN" altLang="en-US" sz="2000" dirty="0" smtClean="0"/>
              <a:t>      微型计算机系统由硬件系统和软件系统组成。</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4415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None/>
            </a:pPr>
            <a:r>
              <a:rPr lang="zh-CN" altLang="en-US" sz="2000" dirty="0" smtClean="0"/>
              <a:t>微型计算机的硬件系统包括主机和外部设备</a:t>
            </a:r>
            <a:r>
              <a:rPr lang="en-US" sz="2000" dirty="0" smtClean="0"/>
              <a:t>,</a:t>
            </a:r>
            <a:r>
              <a:rPr lang="zh-CN" altLang="en-US" sz="2000" dirty="0" smtClean="0"/>
              <a:t>如图</a:t>
            </a:r>
            <a:r>
              <a:rPr lang="en-US" sz="2000" dirty="0" smtClean="0"/>
              <a:t>1—4</a:t>
            </a:r>
            <a:r>
              <a:rPr lang="zh-CN" altLang="en-US" sz="2000" dirty="0" smtClean="0"/>
              <a:t>所示。</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1A4.EPS" descr="id:2147491948;FounderCES"/>
          <p:cNvPicPr/>
          <p:nvPr/>
        </p:nvPicPr>
        <p:blipFill>
          <a:blip r:embed="rId3" cstate="print"/>
          <a:stretch>
            <a:fillRect/>
          </a:stretch>
        </p:blipFill>
        <p:spPr>
          <a:xfrm>
            <a:off x="2738414" y="2285992"/>
            <a:ext cx="6215106" cy="3286148"/>
          </a:xfrm>
          <a:prstGeom prst="rect">
            <a:avLst/>
          </a:prstGeom>
        </p:spPr>
        <p:style>
          <a:lnRef idx="1">
            <a:schemeClr val="accent3"/>
          </a:lnRef>
          <a:fillRef idx="2">
            <a:schemeClr val="accent3"/>
          </a:fillRef>
          <a:effectRef idx="1">
            <a:schemeClr val="accent3"/>
          </a:effectRef>
          <a:fontRef idx="minor">
            <a:schemeClr val="dk1"/>
          </a:fontRef>
        </p:style>
      </p:pic>
      <p:sp>
        <p:nvSpPr>
          <p:cNvPr id="7" name="TextBox 6"/>
          <p:cNvSpPr txBox="1"/>
          <p:nvPr/>
        </p:nvSpPr>
        <p:spPr>
          <a:xfrm>
            <a:off x="3809984" y="6143644"/>
            <a:ext cx="4500594" cy="337185"/>
          </a:xfrm>
          <a:prstGeom prst="rect">
            <a:avLst/>
          </a:prstGeom>
          <a:noFill/>
        </p:spPr>
        <p:txBody>
          <a:bodyPr wrap="square" rtlCol="0">
            <a:spAutoFit/>
          </a:bodyPr>
          <a:lstStyle/>
          <a:p>
            <a:pPr algn="ctr"/>
            <a:r>
              <a:rPr lang="zh-CN" altLang="en-US" sz="1600" dirty="0" smtClean="0"/>
              <a:t>图</a:t>
            </a:r>
            <a:r>
              <a:rPr lang="en-US" sz="1600" dirty="0" smtClean="0"/>
              <a:t>1—4</a:t>
            </a:r>
            <a:r>
              <a:rPr lang="zh-CN" altLang="en-US" sz="1600" dirty="0" smtClean="0"/>
              <a:t>　微型计算机硬件结构</a:t>
            </a:r>
            <a:endParaRPr lang="zh-CN" altLang="en-US" sz="1600" dirty="0" smtClean="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2383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None/>
            </a:pPr>
            <a:r>
              <a:rPr lang="zh-CN" altLang="en-US" sz="2000" dirty="0" smtClean="0"/>
              <a:t>微型计算机的主板如图</a:t>
            </a:r>
            <a:r>
              <a:rPr lang="en-US" sz="2000" dirty="0" smtClean="0"/>
              <a:t>1—5</a:t>
            </a:r>
            <a:r>
              <a:rPr lang="zh-CN" altLang="en-US" sz="2000" dirty="0" smtClean="0"/>
              <a:t>所示。</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7" name="TextBox 6"/>
          <p:cNvSpPr txBox="1"/>
          <p:nvPr/>
        </p:nvSpPr>
        <p:spPr>
          <a:xfrm>
            <a:off x="3809984" y="6143644"/>
            <a:ext cx="4500594" cy="337185"/>
          </a:xfrm>
          <a:prstGeom prst="rect">
            <a:avLst/>
          </a:prstGeom>
          <a:noFill/>
        </p:spPr>
        <p:txBody>
          <a:bodyPr wrap="square" rtlCol="0">
            <a:spAutoFit/>
          </a:bodyPr>
          <a:lstStyle/>
          <a:p>
            <a:pPr algn="ctr"/>
            <a:r>
              <a:rPr lang="zh-CN" altLang="en-US" sz="1600" dirty="0" smtClean="0"/>
              <a:t>图</a:t>
            </a:r>
            <a:r>
              <a:rPr lang="en-US" sz="1600" dirty="0" smtClean="0"/>
              <a:t>1—5</a:t>
            </a:r>
            <a:r>
              <a:rPr lang="zh-CN" altLang="en-US" sz="1600" dirty="0" smtClean="0"/>
              <a:t>　微型计算机主板</a:t>
            </a:r>
            <a:endParaRPr lang="zh-CN" altLang="en-US" sz="1600" dirty="0"/>
          </a:p>
        </p:txBody>
      </p:sp>
      <p:pic>
        <p:nvPicPr>
          <p:cNvPr id="8" name="1A5.EPS" descr="id:2147491955;FounderCES"/>
          <p:cNvPicPr/>
          <p:nvPr/>
        </p:nvPicPr>
        <p:blipFill>
          <a:blip r:embed="rId3" cstate="print"/>
          <a:stretch>
            <a:fillRect/>
          </a:stretch>
        </p:blipFill>
        <p:spPr>
          <a:xfrm>
            <a:off x="3309918" y="2357430"/>
            <a:ext cx="5357850" cy="3286148"/>
          </a:xfrm>
          <a:prstGeom prst="rect">
            <a:avLst/>
          </a:prstGeom>
        </p:spPr>
        <p:style>
          <a:lnRef idx="0">
            <a:schemeClr val="accent4"/>
          </a:lnRef>
          <a:fillRef idx="3">
            <a:schemeClr val="accent4"/>
          </a:fillRef>
          <a:effectRef idx="3">
            <a:schemeClr val="accent4"/>
          </a:effectRef>
          <a:fontRef idx="minor">
            <a:schemeClr val="lt1"/>
          </a:fontRef>
        </p:style>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5431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30000"/>
              </a:lnSpc>
            </a:pPr>
            <a:r>
              <a:rPr lang="en-US" sz="2000" dirty="0" smtClean="0"/>
              <a:t>1.4.2</a:t>
            </a:r>
            <a:r>
              <a:rPr lang="zh-CN" altLang="en-US" sz="2000" dirty="0" smtClean="0"/>
              <a:t>　</a:t>
            </a:r>
            <a:r>
              <a:rPr lang="en-US" sz="2000" dirty="0" smtClean="0"/>
              <a:t>CPU</a:t>
            </a:r>
            <a:r>
              <a:rPr lang="zh-CN" altLang="en-US" sz="2000" dirty="0" smtClean="0"/>
              <a:t>、内存、接口和总线</a:t>
            </a:r>
            <a:endParaRPr lang="zh-CN" altLang="en-US" sz="2000" dirty="0" smtClean="0"/>
          </a:p>
          <a:p>
            <a:pPr>
              <a:lnSpc>
                <a:spcPct val="130000"/>
              </a:lnSpc>
              <a:buNone/>
            </a:pPr>
            <a:r>
              <a:rPr lang="zh-CN" altLang="en-US" sz="2000" dirty="0" smtClean="0"/>
              <a:t>       微型计算机的主板安装有微处理器、内存、接口卡</a:t>
            </a:r>
            <a:r>
              <a:rPr lang="en-US" sz="2000" dirty="0" smtClean="0"/>
              <a:t>,</a:t>
            </a:r>
            <a:r>
              <a:rPr lang="zh-CN" altLang="en-US" sz="2000" dirty="0" smtClean="0"/>
              <a:t>各部件通过总线传递信息。</a:t>
            </a:r>
            <a:endParaRPr lang="zh-CN" altLang="en-US" sz="2000" dirty="0" smtClean="0"/>
          </a:p>
          <a:p>
            <a:pPr>
              <a:lnSpc>
                <a:spcPct val="130000"/>
              </a:lnSpc>
              <a:buFont typeface="Wingdings" panose="05000000000000000000" pitchFamily="2" charset="2"/>
              <a:buChar char="Ø"/>
            </a:pPr>
            <a:r>
              <a:rPr lang="en-US" sz="2000" dirty="0" smtClean="0"/>
              <a:t>1.</a:t>
            </a:r>
            <a:r>
              <a:rPr lang="zh-CN" altLang="en-US" sz="2000" dirty="0" smtClean="0"/>
              <a:t>微型计算机主板</a:t>
            </a:r>
            <a:endParaRPr lang="zh-CN" altLang="en-US" sz="2000" dirty="0" smtClean="0"/>
          </a:p>
          <a:p>
            <a:pPr>
              <a:lnSpc>
                <a:spcPct val="130000"/>
              </a:lnSpc>
              <a:buNone/>
            </a:pPr>
            <a:r>
              <a:rPr lang="zh-CN" altLang="en-US" sz="2000" dirty="0" smtClean="0"/>
              <a:t>       主板是计算机中的一块电路板</a:t>
            </a:r>
            <a:r>
              <a:rPr lang="en-US" sz="2000" dirty="0" smtClean="0"/>
              <a:t>,</a:t>
            </a:r>
            <a:r>
              <a:rPr lang="zh-CN" altLang="en-US" sz="2000" dirty="0" smtClean="0"/>
              <a:t>用于连接各种设备和插卡。</a:t>
            </a:r>
            <a:endParaRPr lang="zh-CN" altLang="en-US" sz="2000" dirty="0" smtClean="0"/>
          </a:p>
          <a:p>
            <a:pPr>
              <a:lnSpc>
                <a:spcPct val="130000"/>
              </a:lnSpc>
              <a:buFont typeface="Wingdings" panose="05000000000000000000" pitchFamily="2" charset="2"/>
              <a:buChar char="Ø"/>
            </a:pPr>
            <a:r>
              <a:rPr lang="en-US" sz="2000" dirty="0" smtClean="0"/>
              <a:t>2.</a:t>
            </a:r>
            <a:r>
              <a:rPr lang="zh-CN" altLang="en-US" sz="2000" dirty="0" smtClean="0"/>
              <a:t>微处理器</a:t>
            </a:r>
            <a:endParaRPr lang="zh-CN" altLang="en-US" sz="2000" dirty="0" smtClean="0"/>
          </a:p>
          <a:p>
            <a:pPr>
              <a:lnSpc>
                <a:spcPct val="130000"/>
              </a:lnSpc>
              <a:buNone/>
            </a:pPr>
            <a:r>
              <a:rPr lang="zh-CN" altLang="en-US" sz="2000" dirty="0" smtClean="0"/>
              <a:t>       微处理器也称</a:t>
            </a:r>
            <a:r>
              <a:rPr lang="en-US" sz="2000" dirty="0" smtClean="0"/>
              <a:t>CPU,</a:t>
            </a:r>
            <a:r>
              <a:rPr lang="zh-CN" altLang="en-US" sz="2000" dirty="0" smtClean="0"/>
              <a:t>是微型计算机的核心</a:t>
            </a:r>
            <a:r>
              <a:rPr lang="en-US" sz="2000" dirty="0" smtClean="0"/>
              <a:t>,</a:t>
            </a:r>
            <a:r>
              <a:rPr lang="zh-CN" altLang="en-US" sz="2000" dirty="0" smtClean="0"/>
              <a:t>包括控制器和运算器。</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1a6.jpg" descr="id:2147491986;FounderCES"/>
          <p:cNvPicPr/>
          <p:nvPr/>
        </p:nvPicPr>
        <p:blipFill>
          <a:blip r:embed="rId3" cstate="print"/>
          <a:stretch>
            <a:fillRect/>
          </a:stretch>
        </p:blipFill>
        <p:spPr>
          <a:xfrm>
            <a:off x="4810116" y="4857760"/>
            <a:ext cx="1321200" cy="1068480"/>
          </a:xfrm>
          <a:prstGeom prst="rect">
            <a:avLst/>
          </a:prstGeom>
        </p:spPr>
        <p:style>
          <a:lnRef idx="2">
            <a:schemeClr val="accent2"/>
          </a:lnRef>
          <a:fillRef idx="1">
            <a:schemeClr val="lt1"/>
          </a:fillRef>
          <a:effectRef idx="0">
            <a:schemeClr val="accent2"/>
          </a:effectRef>
          <a:fontRef idx="minor">
            <a:schemeClr val="dk1"/>
          </a:fontRef>
        </p:style>
      </p:pic>
      <p:sp>
        <p:nvSpPr>
          <p:cNvPr id="7" name="矩形 6"/>
          <p:cNvSpPr/>
          <p:nvPr/>
        </p:nvSpPr>
        <p:spPr>
          <a:xfrm>
            <a:off x="4449324" y="6131502"/>
            <a:ext cx="1932305" cy="337185"/>
          </a:xfrm>
          <a:prstGeom prst="rect">
            <a:avLst/>
          </a:prstGeom>
        </p:spPr>
        <p:txBody>
          <a:bodyPr wrap="none">
            <a:spAutoFit/>
          </a:bodyPr>
          <a:lstStyle/>
          <a:p>
            <a:r>
              <a:rPr lang="zh-CN" altLang="en-US" sz="1600" dirty="0" smtClean="0"/>
              <a:t>图</a:t>
            </a:r>
            <a:r>
              <a:rPr lang="en-US" sz="1600" dirty="0" smtClean="0"/>
              <a:t>1—6</a:t>
            </a:r>
            <a:r>
              <a:rPr lang="zh-CN" altLang="en-US" sz="1600" dirty="0" smtClean="0"/>
              <a:t>　</a:t>
            </a:r>
            <a:r>
              <a:rPr lang="en-US" sz="1600" dirty="0" smtClean="0"/>
              <a:t>CPU</a:t>
            </a:r>
            <a:r>
              <a:rPr lang="zh-CN" altLang="en-US" sz="1600" dirty="0" smtClean="0"/>
              <a:t>示意图</a:t>
            </a:r>
            <a:endParaRPr lang="zh-CN" alt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73430" y="-30829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3.</a:t>
            </a:r>
            <a:r>
              <a:rPr lang="zh-CN" altLang="en-US" sz="2000" dirty="0" smtClean="0"/>
              <a:t>内部存储器</a:t>
            </a:r>
            <a:endParaRPr lang="zh-CN" altLang="en-US" sz="2000" dirty="0" smtClean="0"/>
          </a:p>
          <a:p>
            <a:pPr>
              <a:lnSpc>
                <a:spcPct val="150000"/>
              </a:lnSpc>
              <a:buNone/>
            </a:pPr>
            <a:r>
              <a:rPr lang="zh-CN" altLang="en-US" sz="2000" dirty="0" smtClean="0"/>
              <a:t>      内部存储器是计算机存储加工数据的场所。内部存储器如图</a:t>
            </a:r>
            <a:r>
              <a:rPr lang="en-US" sz="2000" dirty="0" smtClean="0"/>
              <a:t>1—7</a:t>
            </a:r>
            <a:r>
              <a:rPr lang="zh-CN" altLang="en-US" sz="2000" dirty="0" smtClean="0"/>
              <a:t>所示。</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1a7.jpg" descr="id:2147492001;FounderCES"/>
          <p:cNvPicPr/>
          <p:nvPr/>
        </p:nvPicPr>
        <p:blipFill>
          <a:blip r:embed="rId3" cstate="print"/>
          <a:stretch>
            <a:fillRect/>
          </a:stretch>
        </p:blipFill>
        <p:spPr>
          <a:xfrm>
            <a:off x="4667240" y="3286124"/>
            <a:ext cx="2643206" cy="1928826"/>
          </a:xfrm>
          <a:prstGeom prst="rect">
            <a:avLst/>
          </a:prstGeom>
        </p:spPr>
        <p:style>
          <a:lnRef idx="2">
            <a:schemeClr val="accent2">
              <a:shade val="50000"/>
            </a:schemeClr>
          </a:lnRef>
          <a:fillRef idx="1">
            <a:schemeClr val="accent2"/>
          </a:fillRef>
          <a:effectRef idx="0">
            <a:schemeClr val="accent2"/>
          </a:effectRef>
          <a:fontRef idx="minor">
            <a:schemeClr val="lt1"/>
          </a:fontRef>
        </p:style>
      </p:pic>
      <p:sp>
        <p:nvSpPr>
          <p:cNvPr id="7" name="矩形 6"/>
          <p:cNvSpPr/>
          <p:nvPr/>
        </p:nvSpPr>
        <p:spPr>
          <a:xfrm>
            <a:off x="4452926" y="5643578"/>
            <a:ext cx="2604770" cy="337185"/>
          </a:xfrm>
          <a:prstGeom prst="rect">
            <a:avLst/>
          </a:prstGeom>
        </p:spPr>
        <p:txBody>
          <a:bodyPr wrap="none">
            <a:spAutoFit/>
          </a:bodyPr>
          <a:lstStyle/>
          <a:p>
            <a:r>
              <a:rPr lang="zh-CN" altLang="en-US" sz="1600" dirty="0" smtClean="0"/>
              <a:t>图</a:t>
            </a:r>
            <a:r>
              <a:rPr lang="en-US" sz="1600" dirty="0" smtClean="0"/>
              <a:t>1—7</a:t>
            </a:r>
            <a:r>
              <a:rPr lang="zh-CN" altLang="en-US" sz="1600" dirty="0" smtClean="0"/>
              <a:t>　内部存储器示意图</a:t>
            </a:r>
            <a:endParaRPr lang="zh-CN"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81050" y="-31718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4.</a:t>
            </a:r>
            <a:r>
              <a:rPr lang="zh-CN" altLang="en-US" sz="2000" dirty="0" smtClean="0"/>
              <a:t>显卡</a:t>
            </a:r>
            <a:endParaRPr lang="zh-CN" altLang="en-US" sz="2000" dirty="0" smtClean="0"/>
          </a:p>
          <a:p>
            <a:pPr>
              <a:lnSpc>
                <a:spcPct val="150000"/>
              </a:lnSpc>
              <a:buNone/>
            </a:pPr>
            <a:r>
              <a:rPr lang="zh-CN" altLang="en-US" sz="2000" dirty="0" smtClean="0"/>
              <a:t>      显卡又称为显示器适配卡</a:t>
            </a:r>
            <a:r>
              <a:rPr lang="en-US" sz="2000" dirty="0" smtClean="0"/>
              <a:t>,</a:t>
            </a:r>
            <a:r>
              <a:rPr lang="zh-CN" altLang="en-US" sz="2000" dirty="0" smtClean="0"/>
              <a:t>是计算机主机里的一个重要组成部件。显卡如图</a:t>
            </a:r>
            <a:r>
              <a:rPr lang="en-US" sz="2000" dirty="0" smtClean="0"/>
              <a:t>1—8</a:t>
            </a:r>
            <a:r>
              <a:rPr lang="zh-CN" altLang="en-US" sz="2000" dirty="0" smtClean="0"/>
              <a:t>所示。</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7" name="矩形 6"/>
          <p:cNvSpPr/>
          <p:nvPr/>
        </p:nvSpPr>
        <p:spPr>
          <a:xfrm>
            <a:off x="4452926" y="6000768"/>
            <a:ext cx="2143140" cy="337185"/>
          </a:xfrm>
          <a:prstGeom prst="rect">
            <a:avLst/>
          </a:prstGeom>
        </p:spPr>
        <p:txBody>
          <a:bodyPr wrap="square">
            <a:spAutoFit/>
          </a:bodyPr>
          <a:lstStyle/>
          <a:p>
            <a:pPr algn="ctr"/>
            <a:r>
              <a:rPr lang="zh-CN" altLang="en-US" sz="1600" dirty="0" smtClean="0"/>
              <a:t>图</a:t>
            </a:r>
            <a:r>
              <a:rPr lang="en-US" sz="1600" dirty="0" smtClean="0"/>
              <a:t>1—8</a:t>
            </a:r>
            <a:r>
              <a:rPr lang="zh-CN" altLang="en-US" sz="1600" dirty="0" smtClean="0"/>
              <a:t>　显卡</a:t>
            </a:r>
            <a:endParaRPr lang="zh-CN" altLang="en-US" sz="1600" dirty="0"/>
          </a:p>
        </p:txBody>
      </p:sp>
      <p:pic>
        <p:nvPicPr>
          <p:cNvPr id="8" name="1a8.jpg" descr="id:2147492016;FounderCES"/>
          <p:cNvPicPr/>
          <p:nvPr/>
        </p:nvPicPr>
        <p:blipFill>
          <a:blip r:embed="rId3" cstate="print"/>
          <a:stretch>
            <a:fillRect/>
          </a:stretch>
        </p:blipFill>
        <p:spPr>
          <a:xfrm>
            <a:off x="4167174" y="3286124"/>
            <a:ext cx="3000396" cy="2357454"/>
          </a:xfrm>
          <a:prstGeom prst="rect">
            <a:avLst/>
          </a:prstGeom>
        </p:spPr>
        <p:style>
          <a:lnRef idx="2">
            <a:schemeClr val="accent3"/>
          </a:lnRef>
          <a:fillRef idx="1">
            <a:schemeClr val="lt1"/>
          </a:fillRef>
          <a:effectRef idx="0">
            <a:schemeClr val="accent3"/>
          </a:effectRef>
          <a:fontRef idx="minor">
            <a:schemeClr val="dk1"/>
          </a:fontRef>
        </p:style>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73430" y="-30067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5.</a:t>
            </a:r>
            <a:r>
              <a:rPr lang="zh-CN" altLang="en-US" sz="2000" dirty="0" smtClean="0"/>
              <a:t>声卡</a:t>
            </a:r>
            <a:endParaRPr lang="zh-CN" altLang="en-US" sz="2000" dirty="0" smtClean="0"/>
          </a:p>
          <a:p>
            <a:pPr>
              <a:lnSpc>
                <a:spcPct val="150000"/>
              </a:lnSpc>
              <a:buNone/>
            </a:pPr>
            <a:r>
              <a:rPr lang="zh-CN" altLang="en-US" sz="2000" dirty="0" smtClean="0"/>
              <a:t>      声卡也叫做音频卡</a:t>
            </a:r>
            <a:r>
              <a:rPr lang="en-US" sz="2000" dirty="0" smtClean="0"/>
              <a:t>,</a:t>
            </a:r>
            <a:r>
              <a:rPr lang="zh-CN" altLang="en-US" sz="2000" dirty="0" smtClean="0"/>
              <a:t>是计算机进行声音处理的设备</a:t>
            </a:r>
            <a:r>
              <a:rPr lang="en-US" sz="2000" dirty="0" smtClean="0"/>
              <a:t>,</a:t>
            </a:r>
            <a:r>
              <a:rPr lang="zh-CN" altLang="en-US" sz="2000" dirty="0" smtClean="0"/>
              <a:t>包括利用话筒采集音频数据和利用音箱播放音频数据。声卡如图</a:t>
            </a:r>
            <a:r>
              <a:rPr lang="en-US" sz="2000" dirty="0" smtClean="0"/>
              <a:t>1—9</a:t>
            </a:r>
            <a:r>
              <a:rPr lang="zh-CN" altLang="en-US" sz="2000" dirty="0" smtClean="0"/>
              <a:t>所示。</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7" name="矩形 6"/>
          <p:cNvSpPr/>
          <p:nvPr/>
        </p:nvSpPr>
        <p:spPr>
          <a:xfrm>
            <a:off x="4452926" y="6000768"/>
            <a:ext cx="2143140" cy="337185"/>
          </a:xfrm>
          <a:prstGeom prst="rect">
            <a:avLst/>
          </a:prstGeom>
        </p:spPr>
        <p:txBody>
          <a:bodyPr wrap="square">
            <a:spAutoFit/>
          </a:bodyPr>
          <a:lstStyle/>
          <a:p>
            <a:pPr algn="ctr"/>
            <a:r>
              <a:rPr lang="zh-CN" altLang="en-US" sz="1600" dirty="0" smtClean="0"/>
              <a:t>图</a:t>
            </a:r>
            <a:r>
              <a:rPr lang="en-US" sz="1600" dirty="0" smtClean="0"/>
              <a:t>1—9</a:t>
            </a:r>
            <a:r>
              <a:rPr lang="zh-CN" altLang="en-US" sz="1600" dirty="0" smtClean="0"/>
              <a:t>　声卡</a:t>
            </a:r>
            <a:endParaRPr lang="zh-CN" altLang="en-US" sz="1600" dirty="0"/>
          </a:p>
        </p:txBody>
      </p:sp>
      <p:pic>
        <p:nvPicPr>
          <p:cNvPr id="9" name="1a9.jpg" descr="id:2147492031;FounderCES"/>
          <p:cNvPicPr/>
          <p:nvPr/>
        </p:nvPicPr>
        <p:blipFill>
          <a:blip r:embed="rId3" cstate="print"/>
          <a:stretch>
            <a:fillRect/>
          </a:stretch>
        </p:blipFill>
        <p:spPr>
          <a:xfrm>
            <a:off x="4452926" y="3857628"/>
            <a:ext cx="2928958" cy="1785950"/>
          </a:xfrm>
          <a:prstGeom prst="rect">
            <a:avLst/>
          </a:prstGeom>
        </p:spPr>
        <p:style>
          <a:lnRef idx="2">
            <a:schemeClr val="accent1"/>
          </a:lnRef>
          <a:fillRef idx="1">
            <a:schemeClr val="lt1"/>
          </a:fillRef>
          <a:effectRef idx="0">
            <a:schemeClr val="accent1"/>
          </a:effectRef>
          <a:fontRef idx="minor">
            <a:schemeClr val="dk1"/>
          </a:fontRef>
        </p:style>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6892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6.</a:t>
            </a:r>
            <a:r>
              <a:rPr lang="zh-CN" altLang="en-US" sz="2000" dirty="0" smtClean="0"/>
              <a:t>网卡</a:t>
            </a:r>
            <a:endParaRPr lang="zh-CN" altLang="en-US" sz="2000" dirty="0" smtClean="0"/>
          </a:p>
          <a:p>
            <a:pPr>
              <a:lnSpc>
                <a:spcPct val="150000"/>
              </a:lnSpc>
              <a:buNone/>
            </a:pPr>
            <a:r>
              <a:rPr lang="zh-CN" altLang="en-US" sz="2000" dirty="0" smtClean="0"/>
              <a:t>      网卡是计算机连接局域网或互联网的设备</a:t>
            </a:r>
            <a:r>
              <a:rPr lang="en-US" sz="2000" dirty="0" smtClean="0"/>
              <a:t>,</a:t>
            </a:r>
            <a:r>
              <a:rPr lang="zh-CN" altLang="en-US" sz="2000" dirty="0" smtClean="0"/>
              <a:t>分成有线网卡和无线网卡。网卡、无线路由器如图</a:t>
            </a:r>
            <a:r>
              <a:rPr lang="en-US" sz="2000" dirty="0" smtClean="0"/>
              <a:t>1—10</a:t>
            </a:r>
            <a:r>
              <a:rPr lang="zh-CN" altLang="en-US" sz="2000" dirty="0" smtClean="0"/>
              <a:t>所示。</a:t>
            </a:r>
            <a:endParaRPr lang="zh-CN" altLang="en-US" sz="2000" dirty="0" smtClean="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
        <p:nvSpPr>
          <p:cNvPr id="7" name="矩形 6"/>
          <p:cNvSpPr/>
          <p:nvPr/>
        </p:nvSpPr>
        <p:spPr>
          <a:xfrm>
            <a:off x="4095736" y="6000768"/>
            <a:ext cx="3857652" cy="337185"/>
          </a:xfrm>
          <a:prstGeom prst="rect">
            <a:avLst/>
          </a:prstGeom>
        </p:spPr>
        <p:txBody>
          <a:bodyPr wrap="square">
            <a:spAutoFit/>
          </a:bodyPr>
          <a:lstStyle/>
          <a:p>
            <a:pPr algn="ctr"/>
            <a:r>
              <a:rPr lang="zh-CN" altLang="en-US" sz="1600" dirty="0" smtClean="0"/>
              <a:t>图</a:t>
            </a:r>
            <a:r>
              <a:rPr lang="en-US" sz="1600" dirty="0" smtClean="0"/>
              <a:t>1—10</a:t>
            </a:r>
            <a:r>
              <a:rPr lang="zh-CN" altLang="en-US" sz="1600" dirty="0" smtClean="0"/>
              <a:t>　网卡、无线路由器</a:t>
            </a:r>
            <a:endParaRPr lang="zh-CN" altLang="en-US" sz="1600" dirty="0"/>
          </a:p>
        </p:txBody>
      </p:sp>
      <p:pic>
        <p:nvPicPr>
          <p:cNvPr id="8" name="1A10.EPS" descr="id:2147492046;FounderCES"/>
          <p:cNvPicPr/>
          <p:nvPr/>
        </p:nvPicPr>
        <p:blipFill>
          <a:blip r:embed="rId3" cstate="print"/>
          <a:stretch>
            <a:fillRect/>
          </a:stretch>
        </p:blipFill>
        <p:spPr>
          <a:xfrm>
            <a:off x="3024166" y="3857628"/>
            <a:ext cx="6143668" cy="1785950"/>
          </a:xfrm>
          <a:prstGeom prst="rect">
            <a:avLst/>
          </a:prstGeom>
        </p:spPr>
        <p:style>
          <a:lnRef idx="2">
            <a:schemeClr val="accent5"/>
          </a:lnRef>
          <a:fillRef idx="1">
            <a:schemeClr val="lt1"/>
          </a:fillRef>
          <a:effectRef idx="0">
            <a:schemeClr val="accent5"/>
          </a:effectRef>
          <a:fontRef idx="minor">
            <a:schemeClr val="dk1"/>
          </a:fontRef>
        </p:style>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652780" y="-27654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7.</a:t>
            </a:r>
            <a:r>
              <a:rPr lang="zh-CN" altLang="en-US" sz="2000" dirty="0" smtClean="0"/>
              <a:t>接口</a:t>
            </a:r>
            <a:endParaRPr lang="zh-CN" altLang="en-US" sz="2000" dirty="0" smtClean="0"/>
          </a:p>
          <a:p>
            <a:pPr>
              <a:lnSpc>
                <a:spcPct val="150000"/>
              </a:lnSpc>
              <a:buNone/>
            </a:pPr>
            <a:r>
              <a:rPr lang="zh-CN" altLang="en-US" sz="2000" dirty="0" smtClean="0"/>
              <a:t>      接口指外部设备与主板系统采用何种方式进行连接。常见的接口类型有并口、串口</a:t>
            </a:r>
            <a:r>
              <a:rPr lang="en-US" sz="2000" dirty="0" smtClean="0"/>
              <a:t>(</a:t>
            </a:r>
            <a:r>
              <a:rPr lang="zh-CN" altLang="en-US" sz="2000" dirty="0" smtClean="0"/>
              <a:t>也称为</a:t>
            </a:r>
            <a:r>
              <a:rPr lang="en-US" sz="2000" dirty="0" smtClean="0"/>
              <a:t>RS-232</a:t>
            </a:r>
            <a:r>
              <a:rPr lang="zh-CN" altLang="en-US" sz="2000" dirty="0" smtClean="0"/>
              <a:t>接口</a:t>
            </a:r>
            <a:r>
              <a:rPr lang="en-US" sz="2000" dirty="0" smtClean="0"/>
              <a:t>)</a:t>
            </a:r>
            <a:r>
              <a:rPr lang="zh-CN" altLang="en-US" sz="2000" dirty="0" smtClean="0"/>
              <a:t>和</a:t>
            </a:r>
            <a:r>
              <a:rPr lang="en-US" sz="2000" dirty="0" smtClean="0"/>
              <a:t>USB</a:t>
            </a:r>
            <a:r>
              <a:rPr lang="zh-CN" altLang="en-US" sz="2000" dirty="0" smtClean="0"/>
              <a:t>接口。</a:t>
            </a:r>
            <a:endParaRPr lang="zh-CN" altLang="en-US" sz="2000" dirty="0" smtClean="0"/>
          </a:p>
          <a:p>
            <a:pPr>
              <a:lnSpc>
                <a:spcPct val="150000"/>
              </a:lnSpc>
              <a:buNone/>
            </a:pPr>
            <a:r>
              <a:rPr lang="en-US" sz="2000" dirty="0" smtClean="0"/>
              <a:t>      (1)</a:t>
            </a:r>
            <a:r>
              <a:rPr lang="zh-CN" altLang="en-US" sz="2000" dirty="0" smtClean="0"/>
              <a:t>并口又称为并行接口。目前</a:t>
            </a:r>
            <a:r>
              <a:rPr lang="en-US" sz="2000" dirty="0" smtClean="0"/>
              <a:t>,</a:t>
            </a:r>
            <a:r>
              <a:rPr lang="zh-CN" altLang="en-US" sz="2000" dirty="0" smtClean="0"/>
              <a:t>并行接口主要作为打印机端口</a:t>
            </a:r>
            <a:r>
              <a:rPr lang="en-US" sz="2000" dirty="0" smtClean="0"/>
              <a:t>,</a:t>
            </a:r>
            <a:r>
              <a:rPr lang="zh-CN" altLang="en-US" sz="2000" dirty="0" smtClean="0"/>
              <a:t>采用的是</a:t>
            </a:r>
            <a:r>
              <a:rPr lang="en-US" sz="2000" dirty="0" smtClean="0"/>
              <a:t>25</a:t>
            </a:r>
            <a:r>
              <a:rPr lang="zh-CN" altLang="en-US" sz="2000" dirty="0" smtClean="0"/>
              <a:t>针</a:t>
            </a:r>
            <a:r>
              <a:rPr lang="en-US" sz="2000" dirty="0" smtClean="0"/>
              <a:t>D</a:t>
            </a:r>
            <a:r>
              <a:rPr lang="zh-CN" altLang="en-US" sz="2000" dirty="0" smtClean="0"/>
              <a:t>形接头。</a:t>
            </a:r>
            <a:endParaRPr lang="zh-CN" altLang="en-US" sz="2000" dirty="0" smtClean="0"/>
          </a:p>
          <a:p>
            <a:pPr>
              <a:lnSpc>
                <a:spcPct val="150000"/>
              </a:lnSpc>
              <a:buNone/>
            </a:pPr>
            <a:r>
              <a:rPr lang="en-US" sz="2000" dirty="0" smtClean="0"/>
              <a:t>      (2)</a:t>
            </a:r>
            <a:r>
              <a:rPr lang="zh-CN" altLang="en-US" sz="2000" dirty="0" smtClean="0"/>
              <a:t>串口又称为串行接口</a:t>
            </a:r>
            <a:r>
              <a:rPr lang="en-US" sz="2000" dirty="0" smtClean="0"/>
              <a:t>,</a:t>
            </a:r>
            <a:r>
              <a:rPr lang="zh-CN" altLang="en-US" sz="2000" dirty="0" smtClean="0"/>
              <a:t>微机一般有两个串行口</a:t>
            </a:r>
            <a:r>
              <a:rPr lang="en-US" sz="2000" dirty="0" smtClean="0"/>
              <a:t>COM1</a:t>
            </a:r>
            <a:r>
              <a:rPr lang="zh-CN" altLang="en-US" sz="2000" dirty="0" smtClean="0"/>
              <a:t>和</a:t>
            </a:r>
            <a:r>
              <a:rPr lang="en-US" sz="2000" dirty="0" smtClean="0"/>
              <a:t>COM2</a:t>
            </a:r>
            <a:r>
              <a:rPr lang="zh-CN" altLang="en-US" sz="2000" dirty="0" smtClean="0"/>
              <a:t>。串行口不同于并行口之处在于它的数据和控制信息是一位接一位地传送出去的。</a:t>
            </a:r>
            <a:endParaRPr lang="zh-CN" altLang="en-US" sz="2000" dirty="0" smtClean="0"/>
          </a:p>
          <a:p>
            <a:pPr>
              <a:lnSpc>
                <a:spcPct val="150000"/>
              </a:lnSpc>
              <a:buNone/>
            </a:pPr>
            <a:r>
              <a:rPr lang="en-US" sz="2000" dirty="0" smtClean="0"/>
              <a:t>      (3)USB(Universal Serial Bus),</a:t>
            </a:r>
            <a:r>
              <a:rPr lang="zh-CN" altLang="en-US" sz="2000" dirty="0" smtClean="0"/>
              <a:t>通用串行总线接口。</a:t>
            </a:r>
            <a:r>
              <a:rPr lang="en-US" sz="2000" dirty="0" smtClean="0"/>
              <a:t>USB</a:t>
            </a:r>
            <a:r>
              <a:rPr lang="zh-CN" altLang="en-US" sz="2000" dirty="0" smtClean="0"/>
              <a:t>接口具有传输速度更快</a:t>
            </a:r>
            <a:r>
              <a:rPr lang="en-US" sz="2000" dirty="0" smtClean="0"/>
              <a:t>,</a:t>
            </a:r>
            <a:r>
              <a:rPr lang="zh-CN" altLang="en-US" sz="2000" dirty="0" smtClean="0"/>
              <a:t>支持热插拔以及连接多个设备的特点。</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21304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8.</a:t>
            </a:r>
            <a:r>
              <a:rPr lang="zh-CN" altLang="en-US" sz="2000" dirty="0" smtClean="0"/>
              <a:t>总线</a:t>
            </a:r>
            <a:endParaRPr lang="zh-CN" altLang="en-US" sz="2000" dirty="0" smtClean="0"/>
          </a:p>
          <a:p>
            <a:pPr>
              <a:lnSpc>
                <a:spcPct val="150000"/>
              </a:lnSpc>
              <a:buNone/>
            </a:pPr>
            <a:r>
              <a:rPr lang="zh-CN" altLang="en-US" sz="2000" dirty="0" smtClean="0"/>
              <a:t>      总线</a:t>
            </a:r>
            <a:r>
              <a:rPr lang="en-US" sz="2000" dirty="0" smtClean="0"/>
              <a:t>(Bus)</a:t>
            </a:r>
            <a:r>
              <a:rPr lang="zh-CN" altLang="en-US" sz="2000" dirty="0" smtClean="0"/>
              <a:t>是计算机各种功能部件之间传送信息的公共通信干线</a:t>
            </a:r>
            <a:r>
              <a:rPr lang="en-US" sz="2000" dirty="0" smtClean="0"/>
              <a:t>,</a:t>
            </a:r>
            <a:r>
              <a:rPr lang="zh-CN" altLang="en-US" sz="2000" dirty="0" smtClean="0"/>
              <a:t>它是由导线组成的传输线束</a:t>
            </a:r>
            <a:r>
              <a:rPr lang="en-US" sz="2000" dirty="0" smtClean="0"/>
              <a:t>,</a:t>
            </a:r>
            <a:r>
              <a:rPr lang="zh-CN" altLang="en-US" sz="2000" dirty="0" smtClean="0"/>
              <a:t>按照计算机所传输的信息种类</a:t>
            </a:r>
            <a:r>
              <a:rPr lang="en-US" sz="2000" dirty="0" smtClean="0"/>
              <a:t>,</a:t>
            </a:r>
            <a:r>
              <a:rPr lang="zh-CN" altLang="en-US" sz="2000" dirty="0" smtClean="0"/>
              <a:t>计算机的总线可以划分为数据总线</a:t>
            </a:r>
            <a:r>
              <a:rPr lang="en-US" sz="2000" dirty="0" smtClean="0"/>
              <a:t>DB(Data Bus)</a:t>
            </a:r>
            <a:r>
              <a:rPr lang="zh-CN" altLang="en-US" sz="2000" dirty="0" smtClean="0"/>
              <a:t>、地址总线</a:t>
            </a:r>
            <a:r>
              <a:rPr lang="en-US" sz="2000" dirty="0" smtClean="0"/>
              <a:t>AB(Address Bus)</a:t>
            </a:r>
            <a:r>
              <a:rPr lang="zh-CN" altLang="en-US" sz="2000" dirty="0" smtClean="0"/>
              <a:t>和控制总线</a:t>
            </a:r>
            <a:r>
              <a:rPr lang="en-US" sz="2000" dirty="0" smtClean="0"/>
              <a:t>CB(Control Bus),</a:t>
            </a:r>
            <a:r>
              <a:rPr lang="zh-CN" altLang="en-US" sz="2000" dirty="0" smtClean="0"/>
              <a:t>分别用来传输数据、数据地址和控制信号。总线是一种内部结构</a:t>
            </a:r>
            <a:r>
              <a:rPr lang="en-US" sz="2000" dirty="0" smtClean="0"/>
              <a:t>,</a:t>
            </a:r>
            <a:r>
              <a:rPr lang="zh-CN" altLang="en-US" sz="2000" dirty="0" smtClean="0"/>
              <a:t>它是</a:t>
            </a:r>
            <a:r>
              <a:rPr lang="en-US" sz="2000" dirty="0" smtClean="0"/>
              <a:t>CPU</a:t>
            </a:r>
            <a:r>
              <a:rPr lang="zh-CN" altLang="en-US" sz="2000" dirty="0" smtClean="0"/>
              <a:t>、内存、输入和输出设备传递信息的公用通道</a:t>
            </a:r>
            <a:r>
              <a:rPr lang="en-US" sz="2000" dirty="0" smtClean="0"/>
              <a:t>,</a:t>
            </a:r>
            <a:r>
              <a:rPr lang="zh-CN" altLang="en-US" sz="2000" dirty="0" smtClean="0"/>
              <a:t>主机的各个部件通过总线相连接</a:t>
            </a:r>
            <a:r>
              <a:rPr lang="en-US" sz="2000" dirty="0" smtClean="0"/>
              <a:t>,</a:t>
            </a:r>
            <a:r>
              <a:rPr lang="zh-CN" altLang="en-US" sz="2000" dirty="0" smtClean="0"/>
              <a:t>外部设备通过相应的接口电路再与总线相连接</a:t>
            </a:r>
            <a:r>
              <a:rPr lang="en-US" sz="2000" dirty="0" smtClean="0"/>
              <a:t>,</a:t>
            </a:r>
            <a:r>
              <a:rPr lang="zh-CN" altLang="en-US" sz="2000" dirty="0" smtClean="0"/>
              <a:t>从而形成了计算机硬件系统。</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32790" y="-30067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1.4.3</a:t>
            </a:r>
            <a:r>
              <a:rPr lang="zh-CN" altLang="en-US" sz="2000" dirty="0" smtClean="0"/>
              <a:t>　常用外部设备的性能指标</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外部存储设备</a:t>
            </a:r>
            <a:endParaRPr lang="zh-CN" altLang="en-US" sz="2000" dirty="0" smtClean="0"/>
          </a:p>
          <a:p>
            <a:pPr>
              <a:lnSpc>
                <a:spcPct val="150000"/>
              </a:lnSpc>
              <a:buNone/>
            </a:pPr>
            <a:r>
              <a:rPr lang="zh-CN" altLang="en-US" sz="2000" dirty="0" smtClean="0"/>
              <a:t>      外部存储设备是用于保存计算机数据的设备</a:t>
            </a:r>
            <a:r>
              <a:rPr lang="en-US" sz="2000" dirty="0" smtClean="0"/>
              <a:t>,</a:t>
            </a:r>
            <a:r>
              <a:rPr lang="zh-CN" altLang="en-US" sz="2000" dirty="0" smtClean="0"/>
              <a:t>包括硬盘、移动硬盘、</a:t>
            </a:r>
            <a:r>
              <a:rPr lang="en-US" sz="2000" dirty="0" smtClean="0"/>
              <a:t>U</a:t>
            </a:r>
            <a:r>
              <a:rPr lang="zh-CN" altLang="en-US" sz="2000" dirty="0" smtClean="0"/>
              <a:t>盘和光驱。</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1A11.EPS" descr="id:2147492085;FounderCES"/>
          <p:cNvPicPr/>
          <p:nvPr/>
        </p:nvPicPr>
        <p:blipFill>
          <a:blip r:embed="rId3" cstate="print"/>
          <a:stretch>
            <a:fillRect/>
          </a:stretch>
        </p:blipFill>
        <p:spPr>
          <a:xfrm>
            <a:off x="2738414" y="3714752"/>
            <a:ext cx="6858048" cy="2000264"/>
          </a:xfrm>
          <a:prstGeom prst="rect">
            <a:avLst/>
          </a:prstGeom>
        </p:spPr>
        <p:style>
          <a:lnRef idx="2">
            <a:schemeClr val="accent2">
              <a:shade val="50000"/>
            </a:schemeClr>
          </a:lnRef>
          <a:fillRef idx="1">
            <a:schemeClr val="accent2"/>
          </a:fillRef>
          <a:effectRef idx="0">
            <a:schemeClr val="accent2"/>
          </a:effectRef>
          <a:fontRef idx="minor">
            <a:schemeClr val="lt1"/>
          </a:fontRef>
        </p:style>
      </p:pic>
      <p:sp>
        <p:nvSpPr>
          <p:cNvPr id="7" name="矩形 6"/>
          <p:cNvSpPr/>
          <p:nvPr/>
        </p:nvSpPr>
        <p:spPr>
          <a:xfrm>
            <a:off x="2095504" y="5786454"/>
            <a:ext cx="8143900" cy="337185"/>
          </a:xfrm>
          <a:prstGeom prst="rect">
            <a:avLst/>
          </a:prstGeom>
        </p:spPr>
        <p:txBody>
          <a:bodyPr wrap="square">
            <a:spAutoFit/>
          </a:bodyPr>
          <a:lstStyle/>
          <a:p>
            <a:r>
              <a:rPr lang="zh-CN" altLang="en-US" sz="1600" dirty="0" smtClean="0"/>
              <a:t>   图</a:t>
            </a:r>
            <a:r>
              <a:rPr lang="en-US" sz="1600" dirty="0" smtClean="0"/>
              <a:t>1—11</a:t>
            </a:r>
            <a:r>
              <a:rPr lang="zh-CN" altLang="en-US" sz="1600" dirty="0" smtClean="0"/>
              <a:t>　硬盘　　图</a:t>
            </a:r>
            <a:r>
              <a:rPr lang="en-US" sz="1600" dirty="0" smtClean="0"/>
              <a:t>1—12</a:t>
            </a:r>
            <a:r>
              <a:rPr lang="zh-CN" altLang="en-US" sz="1600" dirty="0" smtClean="0"/>
              <a:t>　移动硬盘　　 图</a:t>
            </a:r>
            <a:r>
              <a:rPr lang="en-US" sz="1600" dirty="0" smtClean="0"/>
              <a:t>1—13</a:t>
            </a:r>
            <a:r>
              <a:rPr lang="zh-CN" altLang="en-US" sz="1600" dirty="0" smtClean="0"/>
              <a:t>　</a:t>
            </a:r>
            <a:r>
              <a:rPr lang="en-US" sz="1600" dirty="0" smtClean="0"/>
              <a:t>U</a:t>
            </a:r>
            <a:r>
              <a:rPr lang="zh-CN" altLang="en-US" sz="1600" dirty="0" smtClean="0"/>
              <a:t>盘　 图</a:t>
            </a:r>
            <a:r>
              <a:rPr lang="en-US" sz="1600" dirty="0" smtClean="0"/>
              <a:t>1—14</a:t>
            </a:r>
            <a:r>
              <a:rPr lang="zh-CN" altLang="en-US" sz="1600" dirty="0" smtClean="0"/>
              <a:t>　光驱　</a:t>
            </a:r>
            <a:endParaRPr lang="zh-CN" alt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40410" y="-15716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2.</a:t>
            </a:r>
            <a:r>
              <a:rPr lang="zh-CN" altLang="en-US" sz="2000" dirty="0" smtClean="0"/>
              <a:t>输入设备</a:t>
            </a:r>
            <a:endParaRPr lang="zh-CN" altLang="en-US" sz="2000" dirty="0" smtClean="0"/>
          </a:p>
          <a:p>
            <a:pPr>
              <a:lnSpc>
                <a:spcPct val="150000"/>
              </a:lnSpc>
              <a:buNone/>
            </a:pPr>
            <a:r>
              <a:rPr lang="zh-CN" altLang="en-US" sz="2000" dirty="0" smtClean="0"/>
              <a:t>      输入设备包括键盘、鼠标、手写板、扫描仪、读卡器、话筒等</a:t>
            </a:r>
            <a:r>
              <a:rPr lang="en-US" sz="2000" dirty="0" smtClean="0"/>
              <a:t>,</a:t>
            </a:r>
            <a:r>
              <a:rPr lang="zh-CN" altLang="en-US" sz="2000" dirty="0" smtClean="0"/>
              <a:t>利用这些设备可以将数据输入到计算机中。</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pic>
        <p:nvPicPr>
          <p:cNvPr id="6" name="1a15.jpg" descr="id:2147492100;FounderCES"/>
          <p:cNvPicPr/>
          <p:nvPr/>
        </p:nvPicPr>
        <p:blipFill>
          <a:blip r:embed="rId3" cstate="print"/>
          <a:stretch>
            <a:fillRect/>
          </a:stretch>
        </p:blipFill>
        <p:spPr>
          <a:xfrm>
            <a:off x="2238348" y="3786190"/>
            <a:ext cx="1995120" cy="729720"/>
          </a:xfrm>
          <a:prstGeom prst="rect">
            <a:avLst/>
          </a:prstGeom>
        </p:spPr>
        <p:style>
          <a:lnRef idx="2">
            <a:schemeClr val="accent1">
              <a:shade val="50000"/>
            </a:schemeClr>
          </a:lnRef>
          <a:fillRef idx="1">
            <a:schemeClr val="accent1"/>
          </a:fillRef>
          <a:effectRef idx="0">
            <a:schemeClr val="accent1"/>
          </a:effectRef>
          <a:fontRef idx="minor">
            <a:schemeClr val="lt1"/>
          </a:fontRef>
        </p:style>
      </p:pic>
      <p:sp>
        <p:nvSpPr>
          <p:cNvPr id="7" name="矩形 6"/>
          <p:cNvSpPr/>
          <p:nvPr/>
        </p:nvSpPr>
        <p:spPr>
          <a:xfrm>
            <a:off x="2452662" y="5162148"/>
            <a:ext cx="1488440" cy="337185"/>
          </a:xfrm>
          <a:prstGeom prst="rect">
            <a:avLst/>
          </a:prstGeom>
        </p:spPr>
        <p:txBody>
          <a:bodyPr wrap="none">
            <a:spAutoFit/>
          </a:bodyPr>
          <a:lstStyle/>
          <a:p>
            <a:r>
              <a:rPr lang="zh-CN" altLang="en-US" sz="1600" dirty="0" smtClean="0"/>
              <a:t>图</a:t>
            </a:r>
            <a:r>
              <a:rPr lang="en-US" sz="1600" dirty="0" smtClean="0"/>
              <a:t>1—15</a:t>
            </a:r>
            <a:r>
              <a:rPr lang="zh-CN" altLang="en-US" sz="1600" dirty="0" smtClean="0"/>
              <a:t>　键盘</a:t>
            </a:r>
            <a:endParaRPr lang="zh-CN" altLang="en-US" sz="1600" dirty="0"/>
          </a:p>
        </p:txBody>
      </p:sp>
      <p:pic>
        <p:nvPicPr>
          <p:cNvPr id="8" name="1a16.jpg" descr="id:2147492107;FounderCES"/>
          <p:cNvPicPr/>
          <p:nvPr/>
        </p:nvPicPr>
        <p:blipFill>
          <a:blip r:embed="rId4" cstate="print"/>
          <a:stretch>
            <a:fillRect/>
          </a:stretch>
        </p:blipFill>
        <p:spPr>
          <a:xfrm>
            <a:off x="5313518" y="3714752"/>
            <a:ext cx="853920" cy="798480"/>
          </a:xfrm>
          <a:prstGeom prst="rect">
            <a:avLst/>
          </a:prstGeom>
        </p:spPr>
        <p:style>
          <a:lnRef idx="2">
            <a:schemeClr val="accent1">
              <a:shade val="50000"/>
            </a:schemeClr>
          </a:lnRef>
          <a:fillRef idx="1">
            <a:schemeClr val="accent1"/>
          </a:fillRef>
          <a:effectRef idx="0">
            <a:schemeClr val="accent1"/>
          </a:effectRef>
          <a:fontRef idx="minor">
            <a:schemeClr val="lt1"/>
          </a:fontRef>
        </p:style>
      </p:pic>
      <p:sp>
        <p:nvSpPr>
          <p:cNvPr id="9" name="矩形 8"/>
          <p:cNvSpPr/>
          <p:nvPr/>
        </p:nvSpPr>
        <p:spPr>
          <a:xfrm>
            <a:off x="5024523" y="5214950"/>
            <a:ext cx="1894840" cy="337185"/>
          </a:xfrm>
          <a:prstGeom prst="rect">
            <a:avLst/>
          </a:prstGeom>
        </p:spPr>
        <p:txBody>
          <a:bodyPr wrap="none">
            <a:spAutoFit/>
          </a:bodyPr>
          <a:lstStyle/>
          <a:p>
            <a:r>
              <a:rPr lang="zh-CN" altLang="en-US" sz="1600" dirty="0" smtClean="0"/>
              <a:t>图</a:t>
            </a:r>
            <a:r>
              <a:rPr lang="en-US" sz="1600" dirty="0" smtClean="0"/>
              <a:t>1—16</a:t>
            </a:r>
            <a:r>
              <a:rPr lang="zh-CN" altLang="en-US" sz="1600" dirty="0" smtClean="0"/>
              <a:t>　无线鼠标</a:t>
            </a:r>
            <a:endParaRPr lang="zh-CN" altLang="en-US" sz="1600" dirty="0"/>
          </a:p>
        </p:txBody>
      </p:sp>
      <p:pic>
        <p:nvPicPr>
          <p:cNvPr id="10" name="1a17.jpg" descr="id:2147492114;FounderCES"/>
          <p:cNvPicPr/>
          <p:nvPr/>
        </p:nvPicPr>
        <p:blipFill>
          <a:blip r:embed="rId5" cstate="print"/>
          <a:stretch>
            <a:fillRect/>
          </a:stretch>
        </p:blipFill>
        <p:spPr>
          <a:xfrm>
            <a:off x="7782800" y="3786190"/>
            <a:ext cx="1170720" cy="713520"/>
          </a:xfrm>
          <a:prstGeom prst="rect">
            <a:avLst/>
          </a:prstGeom>
        </p:spPr>
        <p:style>
          <a:lnRef idx="2">
            <a:schemeClr val="accent1">
              <a:shade val="50000"/>
            </a:schemeClr>
          </a:lnRef>
          <a:fillRef idx="1">
            <a:schemeClr val="accent1"/>
          </a:fillRef>
          <a:effectRef idx="0">
            <a:schemeClr val="accent1"/>
          </a:effectRef>
          <a:fontRef idx="minor">
            <a:schemeClr val="lt1"/>
          </a:fontRef>
        </p:style>
      </p:pic>
      <p:sp>
        <p:nvSpPr>
          <p:cNvPr id="11" name="矩形 10"/>
          <p:cNvSpPr/>
          <p:nvPr/>
        </p:nvSpPr>
        <p:spPr>
          <a:xfrm>
            <a:off x="7667636" y="5162148"/>
            <a:ext cx="1691640" cy="337185"/>
          </a:xfrm>
          <a:prstGeom prst="rect">
            <a:avLst/>
          </a:prstGeom>
        </p:spPr>
        <p:txBody>
          <a:bodyPr wrap="none">
            <a:spAutoFit/>
          </a:bodyPr>
          <a:lstStyle/>
          <a:p>
            <a:r>
              <a:rPr lang="zh-CN" altLang="en-US" sz="1600" dirty="0" smtClean="0"/>
              <a:t>图</a:t>
            </a:r>
            <a:r>
              <a:rPr lang="en-US" sz="1600" dirty="0" smtClean="0"/>
              <a:t>1—17</a:t>
            </a:r>
            <a:r>
              <a:rPr lang="zh-CN" altLang="en-US" sz="1600" dirty="0" smtClean="0"/>
              <a:t>　扫描仪</a:t>
            </a:r>
            <a:endParaRPr lang="zh-CN" alt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838200" y="-9302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buFont typeface="Wingdings" panose="05000000000000000000" pitchFamily="2" charset="2"/>
              <a:buChar char="Ø"/>
            </a:pPr>
            <a:r>
              <a:rPr lang="en-US" sz="2000" dirty="0" smtClean="0"/>
              <a:t>3.</a:t>
            </a:r>
            <a:r>
              <a:rPr lang="zh-CN" altLang="en-US" sz="2000" dirty="0" smtClean="0"/>
              <a:t>输出设备</a:t>
            </a:r>
            <a:endParaRPr lang="zh-CN" altLang="en-US" sz="2000" dirty="0" smtClean="0"/>
          </a:p>
          <a:p>
            <a:pPr>
              <a:lnSpc>
                <a:spcPct val="150000"/>
              </a:lnSpc>
              <a:buNone/>
            </a:pPr>
            <a:r>
              <a:rPr lang="zh-CN" altLang="en-US" sz="2000" dirty="0" smtClean="0"/>
              <a:t>      输出设备包括显示器、打印机、音箱等</a:t>
            </a:r>
            <a:r>
              <a:rPr lang="en-US" sz="2000" dirty="0" smtClean="0"/>
              <a:t>,</a:t>
            </a:r>
            <a:r>
              <a:rPr lang="zh-CN" altLang="en-US" sz="2000" dirty="0" smtClean="0"/>
              <a:t>利用这些设备可以输出计算机中的数据。</a:t>
            </a:r>
            <a:endParaRPr lang="zh-CN" altLang="en-US" sz="2000" dirty="0"/>
          </a:p>
        </p:txBody>
      </p:sp>
      <p:pic>
        <p:nvPicPr>
          <p:cNvPr id="5" name="Z.EPS" descr="id:2147491553;FounderCES"/>
          <p:cNvPicPr/>
          <p:nvPr/>
        </p:nvPicPr>
        <p:blipFill>
          <a:blip r:embed="rId3" cstate="print"/>
          <a:stretch>
            <a:fillRect/>
          </a:stretch>
        </p:blipFill>
        <p:spPr>
          <a:xfrm>
            <a:off x="1703512" y="188640"/>
            <a:ext cx="1079640" cy="1250640"/>
          </a:xfrm>
          <a:prstGeom prst="rect">
            <a:avLst/>
          </a:prstGeom>
        </p:spPr>
      </p:pic>
      <p:pic>
        <p:nvPicPr>
          <p:cNvPr id="6" name="1a18.jpg" descr="id:2147492129;FounderCES"/>
          <p:cNvPicPr/>
          <p:nvPr/>
        </p:nvPicPr>
        <p:blipFill>
          <a:blip r:embed="rId4" cstate="print"/>
          <a:stretch>
            <a:fillRect/>
          </a:stretch>
        </p:blipFill>
        <p:spPr>
          <a:xfrm>
            <a:off x="2166910" y="3857628"/>
            <a:ext cx="2054160" cy="902160"/>
          </a:xfrm>
          <a:prstGeom prst="rect">
            <a:avLst/>
          </a:prstGeom>
        </p:spPr>
        <p:style>
          <a:lnRef idx="1">
            <a:schemeClr val="accent5"/>
          </a:lnRef>
          <a:fillRef idx="3">
            <a:schemeClr val="accent5"/>
          </a:fillRef>
          <a:effectRef idx="2">
            <a:schemeClr val="accent5"/>
          </a:effectRef>
          <a:fontRef idx="minor">
            <a:schemeClr val="lt1"/>
          </a:fontRef>
        </p:style>
      </p:pic>
      <p:sp>
        <p:nvSpPr>
          <p:cNvPr id="7" name="矩形 6"/>
          <p:cNvSpPr/>
          <p:nvPr/>
        </p:nvSpPr>
        <p:spPr>
          <a:xfrm>
            <a:off x="1734539" y="5559998"/>
            <a:ext cx="3121660" cy="306705"/>
          </a:xfrm>
          <a:prstGeom prst="rect">
            <a:avLst/>
          </a:prstGeom>
        </p:spPr>
        <p:txBody>
          <a:bodyPr wrap="none">
            <a:spAutoFit/>
          </a:bodyPr>
          <a:lstStyle/>
          <a:p>
            <a:r>
              <a:rPr lang="zh-CN" altLang="en-US" sz="1400" dirty="0" smtClean="0"/>
              <a:t>图</a:t>
            </a:r>
            <a:r>
              <a:rPr lang="en-US" sz="1400" dirty="0" smtClean="0"/>
              <a:t>1—18</a:t>
            </a:r>
            <a:r>
              <a:rPr lang="zh-CN" altLang="en-US" sz="1400" dirty="0" smtClean="0"/>
              <a:t>　</a:t>
            </a:r>
            <a:r>
              <a:rPr lang="en-US" sz="1400" dirty="0" smtClean="0"/>
              <a:t>CRT</a:t>
            </a:r>
            <a:r>
              <a:rPr lang="zh-CN" altLang="en-US" sz="1400" dirty="0" smtClean="0"/>
              <a:t>显示器和</a:t>
            </a:r>
            <a:r>
              <a:rPr lang="en-US" sz="1400" dirty="0" smtClean="0"/>
              <a:t>LCD</a:t>
            </a:r>
            <a:r>
              <a:rPr lang="zh-CN" altLang="en-US" sz="1400" dirty="0" smtClean="0"/>
              <a:t>液晶显示器</a:t>
            </a:r>
            <a:endParaRPr lang="zh-CN" altLang="en-US" sz="1400" dirty="0"/>
          </a:p>
        </p:txBody>
      </p:sp>
      <p:pic>
        <p:nvPicPr>
          <p:cNvPr id="8" name="1a19.jpg" descr="id:2147492136;FounderCES"/>
          <p:cNvPicPr/>
          <p:nvPr/>
        </p:nvPicPr>
        <p:blipFill>
          <a:blip r:embed="rId5" cstate="print"/>
          <a:stretch>
            <a:fillRect/>
          </a:stretch>
        </p:blipFill>
        <p:spPr>
          <a:xfrm>
            <a:off x="5810248" y="3929066"/>
            <a:ext cx="4340160" cy="829440"/>
          </a:xfrm>
          <a:prstGeom prst="rect">
            <a:avLst/>
          </a:prstGeom>
        </p:spPr>
        <p:style>
          <a:lnRef idx="1">
            <a:schemeClr val="accent5"/>
          </a:lnRef>
          <a:fillRef idx="3">
            <a:schemeClr val="accent5"/>
          </a:fillRef>
          <a:effectRef idx="2">
            <a:schemeClr val="accent5"/>
          </a:effectRef>
          <a:fontRef idx="minor">
            <a:schemeClr val="lt1"/>
          </a:fontRef>
        </p:style>
      </p:pic>
      <p:sp>
        <p:nvSpPr>
          <p:cNvPr id="9" name="矩形 8"/>
          <p:cNvSpPr/>
          <p:nvPr/>
        </p:nvSpPr>
        <p:spPr>
          <a:xfrm>
            <a:off x="6524628" y="5425875"/>
            <a:ext cx="3357586" cy="737235"/>
          </a:xfrm>
          <a:prstGeom prst="rect">
            <a:avLst/>
          </a:prstGeom>
        </p:spPr>
        <p:txBody>
          <a:bodyPr wrap="square">
            <a:spAutoFit/>
          </a:bodyPr>
          <a:lstStyle/>
          <a:p>
            <a:pPr>
              <a:lnSpc>
                <a:spcPct val="150000"/>
              </a:lnSpc>
            </a:pPr>
            <a:r>
              <a:rPr lang="zh-CN" altLang="en-US" sz="1400" dirty="0" smtClean="0"/>
              <a:t>图</a:t>
            </a:r>
            <a:r>
              <a:rPr lang="en-US" sz="1400" dirty="0" smtClean="0"/>
              <a:t>1—19</a:t>
            </a:r>
            <a:r>
              <a:rPr lang="zh-CN" altLang="en-US" sz="1400" dirty="0" smtClean="0"/>
              <a:t>　针式打印机、喷墨打印机、</a:t>
            </a:r>
            <a:endParaRPr lang="en-US" altLang="zh-CN" sz="1400" dirty="0" smtClean="0"/>
          </a:p>
          <a:p>
            <a:pPr>
              <a:lnSpc>
                <a:spcPct val="150000"/>
              </a:lnSpc>
            </a:pPr>
            <a:r>
              <a:rPr lang="en-US" altLang="zh-CN" sz="1400" dirty="0" smtClean="0"/>
              <a:t>         </a:t>
            </a:r>
            <a:r>
              <a:rPr lang="zh-CN" altLang="en-US" sz="1400" dirty="0" smtClean="0"/>
              <a:t>激光打印机、多功能一体机</a:t>
            </a:r>
            <a:endParaRPr lang="zh-CN" alt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12477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en-US" sz="2000" dirty="0" smtClean="0"/>
              <a:t>1.4.4</a:t>
            </a:r>
            <a:r>
              <a:rPr lang="zh-CN" altLang="en-US" sz="2000" dirty="0" smtClean="0"/>
              <a:t>　微型计算机的主要性能指标 </a:t>
            </a:r>
            <a:endParaRPr lang="zh-CN" altLang="en-US" sz="2000" dirty="0" smtClean="0"/>
          </a:p>
          <a:p>
            <a:pPr>
              <a:lnSpc>
                <a:spcPct val="150000"/>
              </a:lnSpc>
              <a:buFont typeface="Wingdings" panose="05000000000000000000" pitchFamily="2" charset="2"/>
              <a:buChar char="Ø"/>
            </a:pPr>
            <a:r>
              <a:rPr lang="en-US" sz="2000" dirty="0" smtClean="0"/>
              <a:t>1.</a:t>
            </a:r>
            <a:r>
              <a:rPr lang="zh-CN" altLang="en-US" sz="2000" dirty="0" smtClean="0"/>
              <a:t>运算速度    运算速度是衡量计算机性能的一项重要指标。</a:t>
            </a:r>
            <a:endParaRPr lang="zh-CN" altLang="en-US" sz="2000" dirty="0" smtClean="0"/>
          </a:p>
          <a:p>
            <a:pPr>
              <a:lnSpc>
                <a:spcPct val="150000"/>
              </a:lnSpc>
              <a:buFont typeface="Wingdings" panose="05000000000000000000" pitchFamily="2" charset="2"/>
              <a:buChar char="Ø"/>
            </a:pPr>
            <a:r>
              <a:rPr lang="en-US" sz="2000" dirty="0" smtClean="0"/>
              <a:t>2.</a:t>
            </a:r>
            <a:r>
              <a:rPr lang="zh-CN" altLang="en-US" sz="2000" dirty="0" smtClean="0"/>
              <a:t>字长 </a:t>
            </a:r>
            <a:r>
              <a:rPr lang="en-US" altLang="zh-CN" sz="2000" dirty="0" smtClean="0"/>
              <a:t>   </a:t>
            </a:r>
            <a:r>
              <a:rPr lang="zh-CN" altLang="en-US" sz="2000" dirty="0" smtClean="0"/>
              <a:t>计算机在同一时间内处理的一组二进制数称为一个计算机的</a:t>
            </a:r>
            <a:r>
              <a:rPr lang="en-US" sz="2000" dirty="0" smtClean="0"/>
              <a:t>“</a:t>
            </a:r>
            <a:r>
              <a:rPr lang="zh-CN" altLang="en-US" sz="2000" dirty="0" smtClean="0"/>
              <a:t>字</a:t>
            </a:r>
            <a:r>
              <a:rPr lang="en-US" sz="2000" dirty="0" smtClean="0"/>
              <a:t>”,</a:t>
            </a:r>
            <a:r>
              <a:rPr lang="zh-CN" altLang="en-US" sz="2000" dirty="0" smtClean="0"/>
              <a:t>而这组二进制数的位数就是</a:t>
            </a:r>
            <a:r>
              <a:rPr lang="en-US" sz="2000" dirty="0" smtClean="0"/>
              <a:t>“</a:t>
            </a:r>
            <a:r>
              <a:rPr lang="zh-CN" altLang="en-US" sz="2000" dirty="0" smtClean="0"/>
              <a:t>字长</a:t>
            </a:r>
            <a:r>
              <a:rPr lang="en-US" sz="2000" dirty="0" smtClean="0"/>
              <a:t>”</a:t>
            </a:r>
            <a:r>
              <a:rPr lang="zh-CN" altLang="en-US" sz="2000" dirty="0" smtClean="0"/>
              <a:t>。</a:t>
            </a:r>
            <a:endParaRPr lang="zh-CN" altLang="en-US" sz="2000" dirty="0" smtClean="0"/>
          </a:p>
          <a:p>
            <a:pPr>
              <a:lnSpc>
                <a:spcPct val="150000"/>
              </a:lnSpc>
              <a:buFont typeface="Wingdings" panose="05000000000000000000" pitchFamily="2" charset="2"/>
              <a:buChar char="Ø"/>
            </a:pPr>
            <a:r>
              <a:rPr lang="en-US" sz="2000" dirty="0" smtClean="0"/>
              <a:t>3.</a:t>
            </a:r>
            <a:r>
              <a:rPr lang="zh-CN" altLang="en-US" sz="2000" dirty="0" smtClean="0"/>
              <a:t>内部存储器的容量    内部存储器</a:t>
            </a:r>
            <a:r>
              <a:rPr lang="en-US" sz="2000" dirty="0" smtClean="0"/>
              <a:t>,</a:t>
            </a:r>
            <a:r>
              <a:rPr lang="zh-CN" altLang="en-US" sz="2000" dirty="0" smtClean="0"/>
              <a:t>也称主存</a:t>
            </a:r>
            <a:r>
              <a:rPr lang="en-US" sz="2000" dirty="0" smtClean="0"/>
              <a:t>,</a:t>
            </a:r>
            <a:r>
              <a:rPr lang="zh-CN" altLang="en-US" sz="2000" dirty="0" smtClean="0"/>
              <a:t>是</a:t>
            </a:r>
            <a:r>
              <a:rPr lang="en-US" sz="2000" dirty="0" smtClean="0"/>
              <a:t>CPU</a:t>
            </a:r>
            <a:r>
              <a:rPr lang="zh-CN" altLang="en-US" sz="2000" dirty="0" smtClean="0"/>
              <a:t>可以直接访问的存储器</a:t>
            </a:r>
            <a:r>
              <a:rPr lang="en-US" sz="2000" dirty="0" smtClean="0"/>
              <a:t>,</a:t>
            </a:r>
            <a:r>
              <a:rPr lang="zh-CN" altLang="en-US" sz="2000" dirty="0" smtClean="0"/>
              <a:t>需要执行的程序与需要处理的数据就是存放在主存中的。</a:t>
            </a:r>
            <a:endParaRPr lang="zh-CN" altLang="en-US" sz="2000" dirty="0" smtClean="0"/>
          </a:p>
          <a:p>
            <a:pPr>
              <a:lnSpc>
                <a:spcPct val="150000"/>
              </a:lnSpc>
              <a:buFont typeface="Wingdings" panose="05000000000000000000" pitchFamily="2" charset="2"/>
              <a:buChar char="Ø"/>
            </a:pPr>
            <a:r>
              <a:rPr lang="en-US" sz="2000" dirty="0" smtClean="0"/>
              <a:t>4.</a:t>
            </a:r>
            <a:r>
              <a:rPr lang="zh-CN" altLang="en-US" sz="2000" dirty="0" smtClean="0"/>
              <a:t>外存储器的容量    外存储器容量通常是指硬盘容量</a:t>
            </a:r>
            <a:r>
              <a:rPr lang="en-US" sz="2000" dirty="0" smtClean="0"/>
              <a:t>(</a:t>
            </a:r>
            <a:r>
              <a:rPr lang="zh-CN" altLang="en-US" sz="2000" dirty="0" smtClean="0"/>
              <a:t>包括内置硬盘和移动硬盘</a:t>
            </a:r>
            <a:r>
              <a:rPr lang="en-US" sz="2000" dirty="0" smtClean="0"/>
              <a:t>)</a:t>
            </a:r>
            <a:r>
              <a:rPr lang="zh-CN" altLang="en-US" sz="2000" dirty="0" smtClean="0"/>
              <a:t>。</a:t>
            </a:r>
            <a:endParaRPr lang="zh-CN" altLang="en-US" sz="20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838200" y="-341312"/>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p:txBody>
          <a:bodyPr>
            <a:noAutofit/>
          </a:bodyPr>
          <a:lstStyle/>
          <a:p>
            <a:pPr>
              <a:lnSpc>
                <a:spcPct val="150000"/>
              </a:lnSpc>
            </a:pPr>
            <a:r>
              <a:rPr lang="zh-CN" altLang="en-US" dirty="0" smtClean="0"/>
              <a:t>习　题</a:t>
            </a:r>
            <a:endParaRPr lang="zh-CN" altLang="en-US" dirty="0" smtClean="0"/>
          </a:p>
          <a:p>
            <a:pPr>
              <a:lnSpc>
                <a:spcPct val="150000"/>
              </a:lnSpc>
              <a:buFont typeface="Wingdings" panose="05000000000000000000" pitchFamily="2" charset="2"/>
              <a:buChar char="Ø"/>
            </a:pPr>
            <a:r>
              <a:rPr lang="zh-CN" altLang="en-US" sz="2000" dirty="0" smtClean="0"/>
              <a:t>一、简答题</a:t>
            </a:r>
            <a:endParaRPr lang="zh-CN" altLang="en-US" sz="2000" dirty="0" smtClean="0"/>
          </a:p>
          <a:p>
            <a:pPr>
              <a:lnSpc>
                <a:spcPct val="150000"/>
              </a:lnSpc>
              <a:buNone/>
            </a:pPr>
            <a:r>
              <a:rPr lang="en-US" sz="2000" dirty="0" smtClean="0"/>
              <a:t>1.</a:t>
            </a:r>
            <a:r>
              <a:rPr lang="zh-CN" altLang="en-US" sz="2000" dirty="0" smtClean="0"/>
              <a:t>冯</a:t>
            </a:r>
            <a:r>
              <a:rPr lang="en-US" sz="2000" dirty="0" smtClean="0"/>
              <a:t>·</a:t>
            </a:r>
            <a:r>
              <a:rPr lang="zh-CN" altLang="en-US" sz="2000" dirty="0" smtClean="0"/>
              <a:t>诺依曼计算机体系机构的主要思想是什么</a:t>
            </a:r>
            <a:r>
              <a:rPr lang="en-US" sz="2000" dirty="0" smtClean="0"/>
              <a:t>?</a:t>
            </a:r>
            <a:endParaRPr lang="zh-CN" altLang="en-US" sz="2000" dirty="0" smtClean="0"/>
          </a:p>
          <a:p>
            <a:pPr>
              <a:lnSpc>
                <a:spcPct val="150000"/>
              </a:lnSpc>
              <a:buNone/>
            </a:pPr>
            <a:r>
              <a:rPr lang="en-US" sz="2000" dirty="0" smtClean="0"/>
              <a:t>2.</a:t>
            </a:r>
            <a:r>
              <a:rPr lang="zh-CN" altLang="en-US" sz="2000" dirty="0" smtClean="0"/>
              <a:t>按照电子元件划分</a:t>
            </a:r>
            <a:r>
              <a:rPr lang="en-US" sz="2000" dirty="0" smtClean="0"/>
              <a:t>,</a:t>
            </a:r>
            <a:r>
              <a:rPr lang="zh-CN" altLang="en-US" sz="2000" dirty="0" smtClean="0"/>
              <a:t>计算机经历了几代</a:t>
            </a:r>
            <a:r>
              <a:rPr lang="en-US" sz="2000" dirty="0" smtClean="0"/>
              <a:t>?</a:t>
            </a:r>
            <a:r>
              <a:rPr lang="zh-CN" altLang="en-US" sz="2000" dirty="0" smtClean="0"/>
              <a:t>各代产品的特点有哪些</a:t>
            </a:r>
            <a:r>
              <a:rPr lang="en-US" sz="2000" dirty="0" smtClean="0"/>
              <a:t>?</a:t>
            </a:r>
            <a:endParaRPr lang="zh-CN" altLang="en-US" sz="2000" dirty="0" smtClean="0"/>
          </a:p>
          <a:p>
            <a:pPr>
              <a:lnSpc>
                <a:spcPct val="150000"/>
              </a:lnSpc>
              <a:buNone/>
            </a:pPr>
            <a:r>
              <a:rPr lang="en-US" sz="2000" dirty="0" smtClean="0"/>
              <a:t>3.</a:t>
            </a:r>
            <a:r>
              <a:rPr lang="zh-CN" altLang="en-US" sz="2000" dirty="0" smtClean="0"/>
              <a:t>计算机有哪些应用领域</a:t>
            </a:r>
            <a:r>
              <a:rPr lang="en-US" sz="2000" dirty="0" smtClean="0"/>
              <a:t>?</a:t>
            </a:r>
            <a:endParaRPr lang="zh-CN" altLang="en-US" sz="2000" dirty="0" smtClean="0"/>
          </a:p>
          <a:p>
            <a:pPr>
              <a:lnSpc>
                <a:spcPct val="150000"/>
              </a:lnSpc>
              <a:buNone/>
            </a:pPr>
            <a:r>
              <a:rPr lang="en-US" sz="2000" dirty="0" smtClean="0"/>
              <a:t>4.</a:t>
            </a:r>
            <a:r>
              <a:rPr lang="zh-CN" altLang="en-US" sz="2000" dirty="0" smtClean="0"/>
              <a:t>计算机事务处理的应用有哪些方面</a:t>
            </a:r>
            <a:r>
              <a:rPr lang="en-US" sz="2000" dirty="0" smtClean="0"/>
              <a:t>?</a:t>
            </a:r>
            <a:endParaRPr lang="zh-CN" altLang="en-US" sz="2000" dirty="0" smtClean="0"/>
          </a:p>
          <a:p>
            <a:pPr>
              <a:lnSpc>
                <a:spcPct val="150000"/>
              </a:lnSpc>
              <a:buNone/>
            </a:pPr>
            <a:r>
              <a:rPr lang="en-US" sz="2000" dirty="0" smtClean="0"/>
              <a:t>5.</a:t>
            </a:r>
            <a:r>
              <a:rPr lang="zh-CN" altLang="en-US" sz="2000" dirty="0" smtClean="0"/>
              <a:t>说明计算机为什么采用二进制表达信息。</a:t>
            </a:r>
            <a:endParaRPr lang="en-US" altLang="zh-CN" sz="2000" dirty="0" smtClean="0"/>
          </a:p>
          <a:p>
            <a:pPr>
              <a:lnSpc>
                <a:spcPct val="150000"/>
              </a:lnSpc>
              <a:buNone/>
            </a:pPr>
            <a:r>
              <a:rPr lang="en-US" altLang="zh-CN" sz="2800" dirty="0" smtClean="0"/>
              <a:t>……</a:t>
            </a:r>
            <a:endParaRPr lang="zh-CN" altLang="en-US" sz="2800" dirty="0" smtClean="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725170" y="-253047"/>
            <a:ext cx="8291264" cy="1143000"/>
          </a:xfrm>
        </p:spPr>
        <p:txBody>
          <a:bodyPr>
            <a:normAutofit fontScale="90000"/>
          </a:bodyPr>
          <a:lstStyle/>
          <a:p>
            <a:pPr algn="r"/>
            <a:br>
              <a:rPr lang="en-US" altLang="zh-CN" dirty="0" smtClean="0">
                <a:solidFill>
                  <a:schemeClr val="accent1">
                    <a:lumMod val="75000"/>
                  </a:schemeClr>
                </a:solidFill>
              </a:rPr>
            </a:br>
            <a:br>
              <a:rPr lang="en-US" altLang="zh-CN" dirty="0" smtClean="0">
                <a:solidFill>
                  <a:schemeClr val="accent1">
                    <a:lumMod val="75000"/>
                  </a:schemeClr>
                </a:solidFill>
              </a:rPr>
            </a:br>
            <a:r>
              <a:rPr lang="zh-CN" altLang="zh-CN" dirty="0" smtClean="0">
                <a:solidFill>
                  <a:schemeClr val="accent1">
                    <a:lumMod val="75000"/>
                  </a:schemeClr>
                </a:solidFill>
                <a:latin typeface="方正姚体" pitchFamily="2" charset="-122"/>
                <a:ea typeface="方正姚体" pitchFamily="2" charset="-122"/>
              </a:rPr>
              <a:t>第</a:t>
            </a:r>
            <a:r>
              <a:rPr lang="en-US" altLang="zh-CN" dirty="0" smtClean="0">
                <a:solidFill>
                  <a:schemeClr val="accent1">
                    <a:lumMod val="75000"/>
                  </a:schemeClr>
                </a:solidFill>
                <a:latin typeface="方正姚体" pitchFamily="2" charset="-122"/>
                <a:ea typeface="方正姚体" pitchFamily="2" charset="-122"/>
              </a:rPr>
              <a:t>1</a:t>
            </a:r>
            <a:r>
              <a:rPr lang="zh-CN" altLang="zh-CN" dirty="0" smtClean="0">
                <a:solidFill>
                  <a:schemeClr val="accent1">
                    <a:lumMod val="75000"/>
                  </a:schemeClr>
                </a:solidFill>
                <a:latin typeface="方正姚体" pitchFamily="2" charset="-122"/>
                <a:ea typeface="方正姚体" pitchFamily="2" charset="-122"/>
              </a:rPr>
              <a:t>章</a:t>
            </a:r>
            <a:r>
              <a:rPr lang="en-US" altLang="zh-CN" dirty="0" smtClean="0">
                <a:solidFill>
                  <a:schemeClr val="accent1">
                    <a:lumMod val="75000"/>
                  </a:schemeClr>
                </a:solidFill>
                <a:latin typeface="方正姚体" pitchFamily="2" charset="-122"/>
                <a:ea typeface="方正姚体" pitchFamily="2" charset="-122"/>
              </a:rPr>
              <a:t>    </a:t>
            </a:r>
            <a:r>
              <a:rPr lang="zh-CN" altLang="zh-CN" dirty="0" smtClean="0">
                <a:solidFill>
                  <a:schemeClr val="accent1">
                    <a:lumMod val="75000"/>
                  </a:schemeClr>
                </a:solidFill>
                <a:latin typeface="方正姚体" pitchFamily="2" charset="-122"/>
                <a:ea typeface="方正姚体" pitchFamily="2" charset="-122"/>
              </a:rPr>
              <a:t>计算机基础知识</a:t>
            </a:r>
            <a:br>
              <a:rPr lang="zh-CN" altLang="zh-CN" dirty="0" smtClean="0">
                <a:solidFill>
                  <a:schemeClr val="accent1">
                    <a:lumMod val="75000"/>
                  </a:schemeClr>
                </a:solidFill>
                <a:latin typeface="方正姚体" pitchFamily="2" charset="-122"/>
                <a:ea typeface="方正姚体" pitchFamily="2" charset="-122"/>
              </a:rPr>
            </a:br>
            <a:endParaRPr lang="zh-CN" altLang="en-US" dirty="0">
              <a:solidFill>
                <a:schemeClr val="accent1">
                  <a:lumMod val="75000"/>
                </a:schemeClr>
              </a:solidFill>
              <a:latin typeface="方正姚体" pitchFamily="2" charset="-122"/>
              <a:ea typeface="方正姚体" pitchFamily="2" charset="-122"/>
            </a:endParaRPr>
          </a:p>
        </p:txBody>
      </p:sp>
      <p:sp>
        <p:nvSpPr>
          <p:cNvPr id="3" name="内容占位符 2"/>
          <p:cNvSpPr>
            <a:spLocks noGrp="1"/>
          </p:cNvSpPr>
          <p:nvPr>
            <p:ph sz="quarter" idx="1"/>
          </p:nvPr>
        </p:nvSpPr>
        <p:spPr>
          <a:xfrm>
            <a:off x="838200" y="1539875"/>
            <a:ext cx="10515600" cy="4351338"/>
          </a:xfrm>
        </p:spPr>
        <p:txBody>
          <a:bodyPr>
            <a:noAutofit/>
          </a:bodyPr>
          <a:lstStyle/>
          <a:p>
            <a:pPr>
              <a:buFont typeface="Wingdings" panose="05000000000000000000" pitchFamily="2" charset="2"/>
              <a:buChar char="Ø"/>
            </a:pPr>
            <a:r>
              <a:rPr lang="zh-CN" altLang="en-US" sz="2000" dirty="0" smtClean="0"/>
              <a:t>二、单选题</a:t>
            </a:r>
            <a:endParaRPr lang="zh-CN" altLang="en-US" sz="2000" dirty="0" smtClean="0"/>
          </a:p>
          <a:p>
            <a:pPr>
              <a:buNone/>
            </a:pPr>
            <a:r>
              <a:rPr lang="en-US" sz="2000" dirty="0" smtClean="0"/>
              <a:t>1.</a:t>
            </a:r>
            <a:r>
              <a:rPr lang="zh-CN" altLang="en-US" sz="2000" dirty="0" smtClean="0"/>
              <a:t>软件一般分为</a:t>
            </a:r>
            <a:r>
              <a:rPr lang="zh-CN" altLang="en-US" sz="2000" u="sng" dirty="0" smtClean="0"/>
              <a:t>　　</a:t>
            </a:r>
            <a:r>
              <a:rPr lang="zh-CN" altLang="en-US" sz="2000" dirty="0" smtClean="0"/>
              <a:t>两大类。</a:t>
            </a:r>
            <a:r>
              <a:rPr lang="en-US" sz="2000" dirty="0" smtClean="0"/>
              <a:t> </a:t>
            </a:r>
            <a:endParaRPr lang="zh-CN" altLang="en-US" sz="2000" dirty="0" smtClean="0"/>
          </a:p>
          <a:p>
            <a:pPr>
              <a:buNone/>
            </a:pPr>
            <a:r>
              <a:rPr lang="en-US" sz="2000" dirty="0" smtClean="0"/>
              <a:t>A.</a:t>
            </a:r>
            <a:r>
              <a:rPr lang="zh-CN" altLang="en-US" sz="2000" dirty="0" smtClean="0"/>
              <a:t>高级软件、系统软件　　　　　</a:t>
            </a:r>
            <a:r>
              <a:rPr lang="en-US" sz="2000" dirty="0" smtClean="0"/>
              <a:t>B.</a:t>
            </a:r>
            <a:r>
              <a:rPr lang="zh-CN" altLang="en-US" sz="2000" dirty="0" smtClean="0"/>
              <a:t>汇编语言软件、系统软件</a:t>
            </a:r>
            <a:endParaRPr lang="zh-CN" altLang="en-US" sz="2000" dirty="0" smtClean="0"/>
          </a:p>
          <a:p>
            <a:pPr>
              <a:buNone/>
            </a:pPr>
            <a:r>
              <a:rPr lang="en-US" sz="2000" dirty="0" smtClean="0"/>
              <a:t>C.</a:t>
            </a:r>
            <a:r>
              <a:rPr lang="zh-CN" altLang="en-US" sz="2000" dirty="0" smtClean="0"/>
              <a:t>系统软件、应用软件　　　　　</a:t>
            </a:r>
            <a:r>
              <a:rPr lang="en-US" sz="2000" dirty="0" smtClean="0"/>
              <a:t>D.</a:t>
            </a:r>
            <a:r>
              <a:rPr lang="zh-CN" altLang="en-US" sz="2000" dirty="0" smtClean="0"/>
              <a:t>应用软件、高级语言软件</a:t>
            </a:r>
            <a:endParaRPr lang="zh-CN" altLang="en-US" sz="2000" dirty="0" smtClean="0"/>
          </a:p>
          <a:p>
            <a:pPr>
              <a:buNone/>
            </a:pPr>
            <a:r>
              <a:rPr lang="en-US" sz="2000" dirty="0" smtClean="0"/>
              <a:t>2.</a:t>
            </a:r>
            <a:r>
              <a:rPr lang="zh-CN" altLang="en-US" sz="2000" dirty="0" smtClean="0"/>
              <a:t>下列答案中</a:t>
            </a:r>
            <a:r>
              <a:rPr lang="zh-CN" altLang="en-US" sz="2000" u="sng" dirty="0" smtClean="0"/>
              <a:t>　　</a:t>
            </a:r>
            <a:r>
              <a:rPr lang="zh-CN" altLang="en-US" sz="2000" dirty="0" smtClean="0"/>
              <a:t>不是计算机总线简称。</a:t>
            </a:r>
            <a:r>
              <a:rPr lang="en-US" sz="2000" dirty="0" smtClean="0"/>
              <a:t> </a:t>
            </a:r>
            <a:endParaRPr lang="zh-CN" altLang="en-US" sz="2000" dirty="0" smtClean="0"/>
          </a:p>
          <a:p>
            <a:pPr>
              <a:buNone/>
            </a:pPr>
            <a:r>
              <a:rPr lang="en-US" sz="2000" dirty="0" smtClean="0"/>
              <a:t>A. AB</a:t>
            </a:r>
            <a:r>
              <a:rPr lang="zh-CN" altLang="en-US" sz="2000" dirty="0" smtClean="0"/>
              <a:t>　　　　　</a:t>
            </a:r>
            <a:r>
              <a:rPr lang="en-US" sz="2000" dirty="0" smtClean="0"/>
              <a:t>B. DB</a:t>
            </a:r>
            <a:r>
              <a:rPr lang="zh-CN" altLang="en-US" sz="2000" dirty="0" smtClean="0"/>
              <a:t>　　　　　</a:t>
            </a:r>
            <a:r>
              <a:rPr lang="en-US" sz="2000" dirty="0" smtClean="0"/>
              <a:t>C. CB</a:t>
            </a:r>
            <a:r>
              <a:rPr lang="zh-CN" altLang="en-US" sz="2000" dirty="0" smtClean="0"/>
              <a:t>　　　　　</a:t>
            </a:r>
            <a:r>
              <a:rPr lang="en-US" sz="2000" dirty="0" smtClean="0"/>
              <a:t>D. MB</a:t>
            </a:r>
            <a:endParaRPr lang="zh-CN" altLang="en-US" sz="2000" dirty="0" smtClean="0"/>
          </a:p>
          <a:p>
            <a:pPr>
              <a:buNone/>
            </a:pPr>
            <a:r>
              <a:rPr lang="en-US" sz="2000" dirty="0" smtClean="0"/>
              <a:t>3.1GB</a:t>
            </a:r>
            <a:r>
              <a:rPr lang="zh-CN" altLang="en-US" sz="2000" dirty="0" smtClean="0"/>
              <a:t>相当于</a:t>
            </a:r>
            <a:r>
              <a:rPr lang="zh-CN" altLang="en-US" sz="2000" u="sng" dirty="0" smtClean="0"/>
              <a:t>　　</a:t>
            </a:r>
            <a:r>
              <a:rPr lang="zh-CN" altLang="en-US" sz="2000" dirty="0" smtClean="0"/>
              <a:t>。</a:t>
            </a:r>
            <a:r>
              <a:rPr lang="en-US" sz="2000" dirty="0" smtClean="0"/>
              <a:t> </a:t>
            </a:r>
            <a:endParaRPr lang="zh-CN" altLang="en-US" sz="2000" dirty="0" smtClean="0"/>
          </a:p>
          <a:p>
            <a:pPr>
              <a:buNone/>
            </a:pPr>
            <a:r>
              <a:rPr lang="en-US" sz="2000" dirty="0" smtClean="0"/>
              <a:t>A. 1 024MB	B. 1 024B	C. 1 024KB	D. 1 024TB</a:t>
            </a:r>
            <a:endParaRPr lang="zh-CN" altLang="en-US" sz="2000" dirty="0" smtClean="0"/>
          </a:p>
          <a:p>
            <a:pPr>
              <a:buNone/>
            </a:pPr>
            <a:r>
              <a:rPr lang="en-US" sz="2000" dirty="0" smtClean="0"/>
              <a:t>4.</a:t>
            </a:r>
            <a:r>
              <a:rPr lang="zh-CN" altLang="en-US" sz="2000" dirty="0" smtClean="0"/>
              <a:t>微机的性能主要取决于</a:t>
            </a:r>
            <a:r>
              <a:rPr lang="zh-CN" altLang="en-US" sz="2000" u="sng" dirty="0" smtClean="0"/>
              <a:t>　　</a:t>
            </a:r>
            <a:r>
              <a:rPr lang="zh-CN" altLang="en-US" sz="2000" dirty="0" smtClean="0"/>
              <a:t>。</a:t>
            </a:r>
            <a:r>
              <a:rPr lang="en-US" sz="2000" dirty="0" smtClean="0"/>
              <a:t> </a:t>
            </a:r>
            <a:endParaRPr lang="zh-CN" altLang="en-US" sz="2000" dirty="0" smtClean="0"/>
          </a:p>
          <a:p>
            <a:pPr>
              <a:buNone/>
            </a:pPr>
            <a:r>
              <a:rPr lang="en-US" sz="2000" dirty="0" smtClean="0"/>
              <a:t>A. RAM	B. CPU	C.</a:t>
            </a:r>
            <a:r>
              <a:rPr lang="zh-CN" altLang="en-US" sz="2000" dirty="0" smtClean="0"/>
              <a:t>显示器</a:t>
            </a:r>
            <a:r>
              <a:rPr lang="en-US" sz="2000" dirty="0" smtClean="0"/>
              <a:t>	D.</a:t>
            </a:r>
            <a:r>
              <a:rPr lang="zh-CN" altLang="en-US" sz="2000" dirty="0" smtClean="0"/>
              <a:t>硬盘</a:t>
            </a:r>
            <a:endParaRPr lang="zh-CN" altLang="en-US" sz="2000" dirty="0" smtClean="0"/>
          </a:p>
          <a:p>
            <a:pPr>
              <a:buNone/>
            </a:pPr>
            <a:r>
              <a:rPr lang="en-US" sz="2000" dirty="0" smtClean="0"/>
              <a:t>5.ASCII</a:t>
            </a:r>
            <a:r>
              <a:rPr lang="zh-CN" altLang="en-US" sz="2000" dirty="0" smtClean="0"/>
              <a:t>码是表示</a:t>
            </a:r>
            <a:r>
              <a:rPr lang="zh-CN" altLang="en-US" sz="2000" u="sng" dirty="0" smtClean="0"/>
              <a:t>　　</a:t>
            </a:r>
            <a:r>
              <a:rPr lang="zh-CN" altLang="en-US" sz="2000" dirty="0" smtClean="0"/>
              <a:t>的代码。</a:t>
            </a:r>
            <a:r>
              <a:rPr lang="en-US" sz="2000" dirty="0" smtClean="0"/>
              <a:t> </a:t>
            </a:r>
            <a:endParaRPr lang="zh-CN" altLang="en-US" sz="2000" dirty="0" smtClean="0"/>
          </a:p>
          <a:p>
            <a:pPr>
              <a:buNone/>
            </a:pPr>
            <a:r>
              <a:rPr lang="en-US" sz="2000" dirty="0" smtClean="0"/>
              <a:t>A.</a:t>
            </a:r>
            <a:r>
              <a:rPr lang="zh-CN" altLang="en-US" sz="2000" dirty="0" smtClean="0"/>
              <a:t>汉字</a:t>
            </a:r>
            <a:r>
              <a:rPr lang="en-US" sz="2000" dirty="0" smtClean="0"/>
              <a:t>	B.</a:t>
            </a:r>
            <a:r>
              <a:rPr lang="zh-CN" altLang="en-US" sz="2000" dirty="0" smtClean="0"/>
              <a:t>标点符号</a:t>
            </a:r>
            <a:r>
              <a:rPr lang="en-US" sz="2000" dirty="0" smtClean="0"/>
              <a:t>	C.</a:t>
            </a:r>
            <a:r>
              <a:rPr lang="zh-CN" altLang="en-US" sz="2000" dirty="0" smtClean="0"/>
              <a:t>英文字符</a:t>
            </a:r>
            <a:r>
              <a:rPr lang="en-US" sz="2000" dirty="0" smtClean="0"/>
              <a:t>	D.</a:t>
            </a:r>
            <a:r>
              <a:rPr lang="zh-CN" altLang="en-US" sz="2000" dirty="0" smtClean="0"/>
              <a:t>制表符</a:t>
            </a:r>
            <a:endParaRPr lang="en-US" altLang="zh-CN" sz="2000" dirty="0" smtClean="0"/>
          </a:p>
          <a:p>
            <a:pPr>
              <a:buNone/>
            </a:pPr>
            <a:r>
              <a:rPr lang="en-US" altLang="zh-CN" sz="2800" dirty="0" smtClean="0"/>
              <a:t>……</a:t>
            </a:r>
            <a:endParaRPr lang="zh-CN" altLang="en-US" sz="2800" dirty="0"/>
          </a:p>
        </p:txBody>
      </p:sp>
      <p:pic>
        <p:nvPicPr>
          <p:cNvPr id="5" name="Z.EPS" descr="id:2147491553;FounderCES"/>
          <p:cNvPicPr/>
          <p:nvPr/>
        </p:nvPicPr>
        <p:blipFill>
          <a:blip r:embed="rId2" cstate="print"/>
          <a:stretch>
            <a:fillRect/>
          </a:stretch>
        </p:blipFill>
        <p:spPr>
          <a:xfrm>
            <a:off x="1703512" y="188640"/>
            <a:ext cx="1079640" cy="1250640"/>
          </a:xfrm>
          <a:prstGeom prst="rect">
            <a:avLst/>
          </a:prstGeom>
        </p:spPr>
      </p:pic>
    </p:spTree>
  </p:cSld>
  <p:clrMapOvr>
    <a:masterClrMapping/>
  </p:clrMapOvr>
</p:sld>
</file>

<file path=ppt/tags/tag1.xml><?xml version="1.0" encoding="utf-8"?>
<p:tagLst xmlns:p="http://schemas.openxmlformats.org/presentationml/2006/main">
  <p:tag name="WM_BEAUTIFY_ZORDER_FLAG_TAG" val="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5773</Words>
  <Application>WPS 演示</Application>
  <PresentationFormat>宽屏</PresentationFormat>
  <Paragraphs>324</Paragraphs>
  <Slides>39</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39</vt:i4>
      </vt:variant>
    </vt:vector>
  </HeadingPairs>
  <TitlesOfParts>
    <vt:vector size="48" baseType="lpstr">
      <vt:lpstr>Arial</vt:lpstr>
      <vt:lpstr>宋体</vt:lpstr>
      <vt:lpstr>Wingdings</vt:lpstr>
      <vt:lpstr>Arial Unicode MS</vt:lpstr>
      <vt:lpstr>Calibri</vt:lpstr>
      <vt:lpstr>微软雅黑</vt:lpstr>
      <vt:lpstr>方正姚体</vt:lpstr>
      <vt:lpstr>Segoe UI</vt:lpstr>
      <vt:lpstr>WPS</vt:lpstr>
      <vt:lpstr>PowerPoint 演示文稿</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lpstr>  第1章    计算机基础知识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18900819605</cp:lastModifiedBy>
  <cp:revision>24</cp:revision>
  <dcterms:created xsi:type="dcterms:W3CDTF">2023-08-09T12:44:00Z</dcterms:created>
  <dcterms:modified xsi:type="dcterms:W3CDTF">2025-01-19T07:45:18Z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2052-12.1.0.19770</vt:lpwstr>
  </property>
</Properties>
</file>